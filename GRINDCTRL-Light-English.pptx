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reports that Zoho is used for ticketing only, and that callers’ records/history do not pop up for employees in Genesys. The user also confirmed that manually searching the phone number finds the previous Zoho tickets. These are reported observations, not independently verified logs.</a:t>
            </a:r>
          </a:p>
          <a:p/>
          <a:p>
            <a:r>
              <a:t>The initial offer is to inspect the existing contracted pop-up and make caller/ticket context appear at call assignment, using supported native configuration where suitable. No active Zoho CRM product is assumed.</a:t>
            </a:r>
          </a:p>
          <a:p/>
          <a:p>
            <a:r>
              <a:t>Proposed first collaboration. GRINDCTRL has no existing Concrete/Centro relationship or completed implementation. All contacts, masked phone numbers, tickets, notes, statuses and conversation examples are fictional. Screens are independent proposed workspace mock-ups, not official vendor screenshots.</a:t>
            </a:r>
          </a:p>
          <a:p/>
          <a:p>
            <a:r>
              <a:t>Motion demonstrates event order, not measured system speed. This presentation has no live vendor connector, backend or AI model. Caller-number association suggests a contact; it is not authentication. Existing employee permissions and caller-verification procedures apply.</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reports that Zoho is used for ticketing only, and that callers’ records/history do not pop up for employees in Genesys. The user also confirmed that manually searching the phone number finds the previous Zoho tickets. These are reported observations, not independently verified logs.</a:t>
            </a:r>
          </a:p>
          <a:p/>
          <a:p>
            <a:r>
              <a:t>The initial offer is to inspect the existing contracted pop-up and make caller/ticket context appear at call assignment, using supported native configuration where suitable. No active Zoho CRM product is assumed.</a:t>
            </a:r>
          </a:p>
          <a:p/>
          <a:p>
            <a:r>
              <a:t>The before sequence represents the user-reported missing automatic context and working manual phone search. The after sequence is a proposed experience with synthetic records. It does not claim that the current employee interface has been inspected.</a:t>
            </a:r>
          </a:p>
          <a:p/>
          <a:p>
            <a:r>
              <a:t>Expected value: fewer manual search steps and earlier access to prior notes. Handling time, retrieval latency, match reliability and any quality/cost effect must be measured during an authorized pilot; no percentage or cost saving is promised.</a:t>
            </a:r>
          </a:p>
          <a:p/>
          <a:p>
            <a:r>
              <a:t>Proposed first collaboration. GRINDCTRL has no existing Concrete/Centro relationship or completed implementation. All contacts, masked phone numbers, tickets, notes, statuses and conversation examples are fictional. Screens are independent proposed workspace mock-ups, not official vendor screenshots.</a:t>
            </a:r>
          </a:p>
          <a:p/>
          <a:p>
            <a:r>
              <a:t>Motion demonstrates event order, not measured system speed. This presentation has no live vendor connector, backend or AI model. Caller-number association suggests a contact; it is not authentication. Existing employee permissions and caller-verification procedures apply.</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reports that Zoho is used for ticketing only, and that callers’ records/history do not pop up for employees in Genesys. The user also confirmed that manually searching the phone number finds the previous Zoho tickets. These are reported observations, not independently verified logs.</a:t>
            </a:r>
          </a:p>
          <a:p/>
          <a:p>
            <a:r>
              <a:t>The initial offer is to inspect the existing contracted pop-up and make caller/ticket context appear at call assignment, using supported native configuration where suitable. No active Zoho CRM product is assumed.</a:t>
            </a:r>
          </a:p>
          <a:p/>
          <a:p>
            <a:r>
              <a:t>The agent preview is an independent proposed workspace, not an official Genesys/Zoho screenshot. The implementation may use an existing URL pop-up or a supported embedded panel after assessing the actual desktop. It reads Desk contacts/tickets rather than assuming Zoho CRM.</a:t>
            </a:r>
          </a:p>
          <a:p/>
          <a:p>
            <a:r>
              <a:t>The fictional workspace shows Contact A, two open tickets and one closed ticket. T101 is an exchange follow-up with branch review pending. The visible note is an existing-record illustration. Reading it does not close, reopen or change a ticket, verify caller identity or authorize a commercial decision.</a:t>
            </a:r>
          </a:p>
          <a:p/>
          <a:p>
            <a:r>
              <a:t>Production design depends on the Genesys edition/desktop and its supported URL pop-up, event/SDK and caller-number availability, plus Zoho Desk permissions/API/search behavior. No unverified API endpoint or license entitlement is asserted. The UI fixture does not run a vendor connector or a backend.</a:t>
            </a:r>
          </a:p>
          <a:p/>
          <a:p>
            <a:r>
              <a:t>Normalize equivalent phone forms under agreed numbering rules. A phone match is a candidate association, not authentication. Only the assigned employee’s permitted Desk records should be accessible. Record linking is explicit and should be idempotent for conversation/ticket in live implementation.</a:t>
            </a:r>
          </a:p>
          <a:p/>
          <a:p>
            <a:r>
              <a:t>This deck illustrates a successful lookup. Acceptance for the live implementation should also cover a shared number with multiple candidate contacts, an unknown or missing number, and unavailable Desk lookup. Multiple contacts need employee choice. Unknown numbers need manual phone/name/ticket search. An unavailable lookup must be distinguished from no tickets. Calls continue.</a:t>
            </a:r>
          </a:p>
          <a:p/>
          <a:p>
            <a:r>
              <a:t>Follow Concrete’s caller-verification and employee record-access rules. These presentation mock-ups do not authenticate a caller or read or write real service records.</a:t>
            </a:r>
          </a:p>
          <a:p/>
          <a:p>
            <a:r>
              <a:t>Proposed first collaboration. GRINDCTRL has no existing Concrete/Centro relationship or completed implementation. All contacts, masked phone numbers, tickets, notes, statuses and conversation examples are fictional. Screens are independent proposed workspace mock-ups, not official vendor screenshots.</a:t>
            </a:r>
          </a:p>
          <a:p/>
          <a:p>
            <a:r>
              <a:t>Motion demonstrates event order, not measured system speed. This presentation has no live vendor connector, backend or AI model. Caller-number association suggests a contact; it is not authentication. Existing employee permissions and caller-verification procedures apply.</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design depends on the Genesys edition/desktop and its supported URL pop-up, event/SDK and caller-number availability, plus Zoho Desk permissions/API/search behavior. No unverified API endpoint or license entitlement is asserted. The UI fixture does not run a vendor connector or a backend.</a:t>
            </a:r>
          </a:p>
          <a:p/>
          <a:p>
            <a:r>
              <a:t>Normalize equivalent phone forms under agreed numbering rules. A phone match is a candidate association, not authentication. Only the assigned employee’s permitted Desk records should be accessible. Record linking is explicit and should be idempotent for conversation/ticket in live implementation.</a:t>
            </a:r>
          </a:p>
          <a:p/>
          <a:p>
            <a:r>
              <a:t>The November 2023 contract, PDF page 4, explicitly lists “CRM URL pop up integration.” That proves it was in scope, not that it currently works, or that it includes two-way data synchronization. The reported symptom could arise from configuration, mapping, user access or another cause; inspect the actual setup before deciding whether to repair native configuration or build an adapter.</a:t>
            </a:r>
          </a:p>
          <a:p/>
          <a:p>
            <a:r>
              <a:t>Acceptance should cover real approved test calls, correct caller candidates and ticket visibility, duplicate/missing-number behavior, error fallback, permitted employee access and explicit nonduplicate call linking if included. Compare manual search actions/time with the delivered workflow and check actual lookup latency and match results. Agree thresholds and pilot scope with Concrete rather than inventing them.</a:t>
            </a:r>
          </a:p>
          <a:p/>
          <a:p>
            <a:r>
              <a:t>After context works, an optional AI summary can cite existing ticket notes and show missing/conflicting information for review. It must not invent actions, promises or case status. No live model, savings result or SaaS product validation exists yet.</a:t>
            </a:r>
          </a:p>
          <a:p/>
          <a:p>
            <a:r>
              <a:t>Proposed first collaboration. GRINDCTRL has no existing Concrete/Centro relationship or completed implementation. All contacts, masked phone numbers, tickets, notes, statuses and conversation examples are fictional. Screens are independent proposed workspace mock-ups, not official vendor screenshots.</a:t>
            </a:r>
          </a:p>
          <a:p/>
          <a:p>
            <a:r>
              <a:t>Motion demonstrates event order, not measured system speed. This presentation has no live vendor connector, backend or AI model. Caller-number association suggests a contact; it is not authentication. Existing employee permissions and caller-verification procedures apply.</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preview is an independent proposed workspace, not an official Genesys/Zoho screenshot. The implementation may use an existing URL pop-up or a supported embedded panel after assessing the actual desktop. It reads Desk contacts/tickets rather than assuming Zoho CRM.</a:t>
            </a:r>
          </a:p>
          <a:p/>
          <a:p>
            <a:r>
              <a:t>The fictional workspace shows Contact A, two open tickets and one closed ticket. T101 is an exchange follow-up with branch review pending. The visible note is an existing-record illustration. Reading it does not close, reopen or change a ticket, verify caller identity or authorize a commercial decision.</a:t>
            </a:r>
          </a:p>
          <a:p/>
          <a:p>
            <a:r>
              <a:t>This deck illustrates a successful lookup. Acceptance for the live implementation should also cover a shared number with multiple candidate contacts, an unknown or missing number, and unavailable Desk lookup. Multiple contacts need employee choice. Unknown numbers need manual phone/name/ticket search. An unavailable lookup must be distinguished from no tickets. Calls continue.</a:t>
            </a:r>
          </a:p>
          <a:p/>
          <a:p>
            <a:r>
              <a:t>Follow Concrete’s caller-verification and employee record-access rules. These presentation mock-ups do not authenticate a caller or read or write real service records.</a:t>
            </a:r>
          </a:p>
          <a:p/>
          <a:p>
            <a:r>
              <a:t>Proposed first collaboration. GRINDCTRL has no existing Concrete/Centro relationship or completed implementation. All contacts, masked phone numbers, tickets, notes, statuses and conversation examples are fictional. Screens are independent proposed workspace mock-ups, not official vendor screenshots.</a:t>
            </a:r>
          </a:p>
          <a:p/>
          <a:p>
            <a:r>
              <a:t>Motion demonstrates event order, not measured system speed. This presentation has no live vendor connector, backend or AI model. Caller-number association suggests a contact; it is not authentication. Existing employee permissions and caller-verification procedures apply.</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before sequence represents the user-reported missing automatic context and working manual phone search. The after sequence is a proposed experience with synthetic records. It does not claim that the current employee interface has been inspected.</a:t>
            </a:r>
          </a:p>
          <a:p/>
          <a:p>
            <a:r>
              <a:t>Expected value: fewer manual search steps and earlier access to prior notes. Handling time, retrieval latency, match reliability and any quality/cost effect must be measured during an authorized pilot; no percentage or cost saving is promised.</a:t>
            </a:r>
          </a:p>
          <a:p/>
          <a:p>
            <a:r>
              <a:t>The agent preview is an independent proposed workspace, not an official Genesys/Zoho screenshot. The implementation may use an existing URL pop-up or a supported embedded panel after assessing the actual desktop. It reads Desk contacts/tickets rather than assuming Zoho CRM.</a:t>
            </a:r>
          </a:p>
          <a:p/>
          <a:p>
            <a:r>
              <a:t>The fictional workspace shows Contact A, two open tickets and one closed ticket. T101 is an exchange follow-up with branch review pending. The visible note is an existing-record illustration. Reading it does not close, reopen or change a ticket, verify caller identity or authorize a commercial decision.</a:t>
            </a:r>
          </a:p>
          <a:p/>
          <a:p>
            <a:r>
              <a:t>Proposed first collaboration. GRINDCTRL has no existing Concrete/Centro relationship or completed implementation. All contacts, masked phone numbers, tickets, notes, statuses and conversation examples are fictional. Screens are independent proposed workspace mock-ups, not official vendor screenshots.</a:t>
            </a:r>
          </a:p>
          <a:p/>
          <a:p>
            <a:r>
              <a:t>Motion demonstrates event order, not measured system speed. This presentation has no live vendor connector, backend or AI model. Caller-number association suggests a contact; it is not authentication. Existing employee permissions and caller-verification procedures apply.</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before sequence represents the user-reported missing automatic context and working manual phone search. The after sequence is a proposed experience with synthetic records. It does not claim that the current employee interface has been inspected.</a:t>
            </a:r>
          </a:p>
          <a:p/>
          <a:p>
            <a:r>
              <a:t>Expected value: fewer manual search steps and earlier access to prior notes. Handling time, retrieval latency, match reliability and any quality/cost effect must be measured during an authorized pilot; no percentage or cost saving is promised.</a:t>
            </a:r>
          </a:p>
          <a:p/>
          <a:p>
            <a:r>
              <a:t>The November 2023 contract, PDF page 4, explicitly lists “CRM URL pop up integration.” That proves it was in scope, not that it currently works, or that it includes two-way data synchronization. The reported symptom could arise from configuration, mapping, user access or another cause; inspect the actual setup before deciding whether to repair native configuration or build an adapter.</a:t>
            </a:r>
          </a:p>
          <a:p/>
          <a:p>
            <a:r>
              <a:t>Acceptance should cover real approved test calls, correct caller candidates and ticket visibility, duplicate/missing-number behavior, error fallback, permitted employee access and explicit nonduplicate call linking if included. Compare manual search actions/time with the delivered workflow and check actual lookup latency and match results. Agree thresholds and pilot scope with Concrete rather than inventing them.</a:t>
            </a:r>
          </a:p>
          <a:p/>
          <a:p>
            <a:r>
              <a:t>After context works, an optional AI summary can cite existing ticket notes and show missing/conflicting information for review. It must not invent actions, promises or case status. No live model, savings result or SaaS product validation exists yet.</a:t>
            </a:r>
          </a:p>
          <a:p/>
          <a:p>
            <a:r>
              <a:t>Proposed first collaboration. GRINDCTRL has no existing Concrete/Centro relationship or completed implementation. All contacts, masked phone numbers, tickets, notes, statuses and conversation examples are fictional. Screens are independent proposed workspace mock-ups, not official vendor screenshots.</a:t>
            </a:r>
          </a:p>
          <a:p/>
          <a:p>
            <a:r>
              <a:t>Motion demonstrates event order, not measured system speed. This presentation has no live vendor connector, backend or AI model. Caller-number association suggests a contact; it is not authentication. Existing employee permissions and caller-verification procedures apply.</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November 2023 contract, PDF page 4, explicitly lists “CRM URL pop up integration.” That proves it was in scope, not that it currently works, or that it includes two-way data synchronization. The reported symptom could arise from configuration, mapping, user access or another cause; inspect the actual setup before deciding whether to repair native configuration or build an adapter.</a:t>
            </a:r>
          </a:p>
          <a:p/>
          <a:p>
            <a:r>
              <a:t>Acceptance should cover real approved test calls, correct caller candidates and ticket visibility, duplicate/missing-number behavior, error fallback, permitted employee access and explicit nonduplicate call linking if included. Compare manual search actions/time with the delivered workflow and check actual lookup latency and match results. Agree thresholds and pilot scope with Concrete rather than inventing them.</a:t>
            </a:r>
          </a:p>
          <a:p/>
          <a:p>
            <a:r>
              <a:t>After context works, an optional AI summary can cite existing ticket notes and show missing/conflicting information for review. It must not invent actions, promises or case status. No live model, savings result or SaaS product validation exists yet.</a:t>
            </a:r>
          </a:p>
          <a:p/>
          <a:p>
            <a:r>
              <a:t>Proposed first collaboration. GRINDCTRL has no existing Concrete/Centro relationship or completed implementation. All contacts, masked phone numbers, tickets, notes, statuses and conversation examples are fictional. Screens are independent proposed workspace mock-ups, not official vendor screenshots.</a:t>
            </a:r>
          </a:p>
          <a:p/>
          <a:p>
            <a:r>
              <a:t>Motion demonstrates event order, not measured system speed. This presentation has no live vendor connector, backend or AI model. Caller-number association suggests a contact; it is not authentication. Existing employee permissions and caller-verification procedures apply.</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illustrates a successful lookup. Acceptance for the live implementation should also cover a shared number with multiple candidate contacts, an unknown or missing number, and unavailable Desk lookup. Multiple contacts need employee choice. Unknown numbers need manual phone/name/ticket search. An unavailable lookup must be distinguished from no tickets. Calls continue.</a:t>
            </a:r>
          </a:p>
          <a:p/>
          <a:p>
            <a:r>
              <a:t>Follow Concrete’s caller-verification and employee record-access rules. These presentation mock-ups do not authenticate a caller or read or write real service records.</a:t>
            </a:r>
          </a:p>
          <a:p/>
          <a:p>
            <a:r>
              <a:t>The November 2023 contract, PDF page 4, explicitly lists “CRM URL pop up integration.” That proves it was in scope, not that it currently works, or that it includes two-way data synchronization. The reported symptom could arise from configuration, mapping, user access or another cause; inspect the actual setup before deciding whether to repair native configuration or build an adapter.</a:t>
            </a:r>
          </a:p>
          <a:p/>
          <a:p>
            <a:r>
              <a:t>Acceptance should cover real approved test calls, correct caller candidates and ticket visibility, duplicate/missing-number behavior, error fallback, permitted employee access and explicit nonduplicate call linking if included. Compare manual search actions/time with the delivered workflow and check actual lookup latency and match results. Agree thresholds and pilot scope with Concrete rather than inventing them.</a:t>
            </a:r>
          </a:p>
          <a:p/>
          <a:p>
            <a:r>
              <a:t>After context works, an optional AI summary can cite existing ticket notes and show missing/conflicting information for review. It must not invent actions, promises or case status. No live model, savings result or SaaS product validation exists yet.</a:t>
            </a:r>
          </a:p>
          <a:p/>
          <a:p>
            <a:r>
              <a:t>Proposed first collaboration. GRINDCTRL has no existing Concrete/Centro relationship or completed implementation. All contacts, masked phone numbers, tickets, notes, statuses and conversation examples are fictional. Screens are independent proposed workspace mock-ups, not official vendor screenshots.</a:t>
            </a:r>
          </a:p>
          <a:p/>
          <a:p>
            <a:r>
              <a:t>Motion demonstrates event order, not measured system speed. This presentation has no live vendor connector, backend or AI model. Caller-number association suggests a contact; it is not authentication. Existing employee permissions and caller-verification procedures apply.</a:t>
            </a:r>
          </a:p>
          <a:p/>
          <a:p>
            <a:r>
              <a:t>SOURCES (PDF pages):</a:t>
            </a:r>
          </a:p>
          <a:p/>
          <a:p>
            <a:r>
              <a:t>User report in this session —  — Zoho used for ticketing; caller history does not pop up; manual phone search finds tickets. Not independently tested.</a:t>
            </a:r>
          </a:p>
          <a:p/>
          <a:p>
            <a:r>
              <a:t>Concrete contract (29-11-2023).pdf — 4 — Exact scope line: “CRM URL pop up integration.” Not proof of current operation or two-way synchronization.</a:t>
            </a:r>
          </a:p>
          <a:p/>
          <a:p>
            <a:r>
              <a:t>Concrete contract (06-09-2022).pdf — 7 — Zoho ticketing/integration scope. Not proof of an active Zoho CRM app or current field mapping.</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571500" y="292100"/>
            <a:ext cx="409575" cy="273050"/>
          </a:xfrm>
          <a:prstGeom prst="rect">
            <a:avLst/>
          </a:prstGeom>
          <a:effectLst/>
        </p:spPr>
      </p:pic>
      <p:sp>
        <p:nvSpPr>
          <p:cNvPr id="3" name="TextBox 2"/>
          <p:cNvSpPr txBox="1"/>
          <p:nvPr/>
        </p:nvSpPr>
        <p:spPr>
          <a:xfrm>
            <a:off x="1095375" y="323850"/>
            <a:ext cx="1466850" cy="2571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1" lang="en-US">
                <a:solidFill>
                  <a:srgbClr val="29302D"/>
                </a:solidFill>
                <a:latin typeface="Manrope"/>
              </a:rPr>
              <a:t>GRINDCTRL</a:t>
            </a:r>
          </a:p>
        </p:txBody>
      </p:sp>
      <p:sp>
        <p:nvSpPr>
          <p:cNvPr id="4" name="TextBox 3"/>
          <p:cNvSpPr txBox="1"/>
          <p:nvPr/>
        </p:nvSpPr>
        <p:spPr>
          <a:xfrm>
            <a:off x="7448550" y="333375"/>
            <a:ext cx="4171950" cy="247650"/>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CUSTOMER SERVICE PROPOSAL</a:t>
            </a:r>
          </a:p>
        </p:txBody>
      </p:sp>
      <p:cxnSp>
        <p:nvCxnSpPr>
          <p:cNvPr id="5" name="Connector 4"/>
          <p:cNvCxnSpPr/>
          <p:nvPr/>
        </p:nvCxnSpPr>
        <p:spPr>
          <a:xfrm>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71500" y="6534150"/>
            <a:ext cx="9525000" cy="219075"/>
          </a:xfrm>
          <a:prstGeom prst="rect">
            <a:avLst/>
          </a:prstGeom>
          <a:noFill/>
          <a:effectLst/>
        </p:spPr>
        <p:txBody>
          <a:bodyPr wrap="square" lIns="0" rIns="0" tIns="0" bIns="0" anchor="t">
            <a:spAutoFit/>
          </a:bodyPr>
          <a:lstStyle/>
          <a:p>
            <a:pPr algn="l" rtl="0">
              <a:lnSpc>
                <a:spcPts val="1008"/>
              </a:lnSpc>
              <a:spcBef>
                <a:spcPts val="0"/>
              </a:spcBef>
              <a:spcAft>
                <a:spcPts val="0"/>
              </a:spcAft>
            </a:pPr>
            <a:r>
              <a:rPr sz="900" b="0" lang="en-US">
                <a:solidFill>
                  <a:srgbClr val="68716B"/>
                </a:solidFill>
                <a:latin typeface="Manrope"/>
              </a:rPr>
              <a:t>CONCRETE · PROPOSED COLLABORATION</a:t>
            </a:r>
          </a:p>
        </p:txBody>
      </p:sp>
      <p:sp>
        <p:nvSpPr>
          <p:cNvPr id="7" name="TextBox 6"/>
          <p:cNvSpPr txBox="1"/>
          <p:nvPr/>
        </p:nvSpPr>
        <p:spPr>
          <a:xfrm>
            <a:off x="10782300" y="6515100"/>
            <a:ext cx="838200" cy="238125"/>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01 / 09</a:t>
            </a:r>
          </a:p>
        </p:txBody>
      </p:sp>
      <p:sp>
        <p:nvSpPr>
          <p:cNvPr id="8" name="TextBox 7"/>
          <p:cNvSpPr txBox="1"/>
          <p:nvPr/>
        </p:nvSpPr>
        <p:spPr>
          <a:xfrm>
            <a:off x="571500" y="1581150"/>
            <a:ext cx="4695825" cy="3238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1" lang="en-US">
                <a:solidFill>
                  <a:srgbClr val="9F5836"/>
                </a:solidFill>
                <a:latin typeface="Manrope"/>
              </a:rPr>
              <a:t>FOR CONCRETE</a:t>
            </a:r>
          </a:p>
        </p:txBody>
      </p:sp>
      <p:sp>
        <p:nvSpPr>
          <p:cNvPr id="9" name="TextBox 8"/>
          <p:cNvSpPr txBox="1"/>
          <p:nvPr/>
        </p:nvSpPr>
        <p:spPr>
          <a:xfrm>
            <a:off x="571500" y="2066925"/>
            <a:ext cx="4791075" cy="1343025"/>
          </a:xfrm>
          <a:prstGeom prst="rect">
            <a:avLst/>
          </a:prstGeom>
          <a:noFill/>
          <a:effectLst/>
        </p:spPr>
        <p:txBody>
          <a:bodyPr wrap="square" lIns="0" rIns="0" tIns="0" bIns="0" anchor="t">
            <a:spAutoFit/>
          </a:bodyPr>
          <a:lstStyle/>
          <a:p>
            <a:pPr algn="l" rtl="0">
              <a:lnSpc>
                <a:spcPts val="4200"/>
              </a:lnSpc>
              <a:spcBef>
                <a:spcPts val="0"/>
              </a:spcBef>
              <a:spcAft>
                <a:spcPts val="0"/>
              </a:spcAft>
            </a:pPr>
            <a:r>
              <a:rPr sz="3750" b="1" lang="en-US">
                <a:solidFill>
                  <a:srgbClr val="29302D"/>
                </a:solidFill>
                <a:latin typeface="Manrope"/>
              </a:rPr>
              <a:t>Customer context,</a:t>
            </a:r>
          </a:p>
          <a:p>
            <a:pPr algn="l" rtl="0">
              <a:lnSpc>
                <a:spcPts val="4200"/>
              </a:lnSpc>
              <a:spcBef>
                <a:spcPts val="0"/>
              </a:spcBef>
              <a:spcAft>
                <a:spcPts val="0"/>
              </a:spcAft>
            </a:pPr>
            <a:r>
              <a:rPr sz="3750" b="1" lang="en-US">
                <a:solidFill>
                  <a:srgbClr val="29302D"/>
                </a:solidFill>
                <a:latin typeface="Manrope"/>
              </a:rPr>
              <a:t>with every call.</a:t>
            </a:r>
          </a:p>
        </p:txBody>
      </p:sp>
      <p:sp>
        <p:nvSpPr>
          <p:cNvPr id="10" name="TextBox 9"/>
          <p:cNvSpPr txBox="1"/>
          <p:nvPr/>
        </p:nvSpPr>
        <p:spPr>
          <a:xfrm>
            <a:off x="571500" y="3629025"/>
            <a:ext cx="4600575" cy="7905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0" lang="en-US">
                <a:solidFill>
                  <a:srgbClr val="68716B"/>
                </a:solidFill>
                <a:latin typeface="Manrope"/>
              </a:rPr>
              <a:t>Bring existing service history</a:t>
            </a:r>
          </a:p>
          <a:p>
            <a:pPr algn="l" rtl="0">
              <a:lnSpc>
                <a:spcPts val="2016"/>
              </a:lnSpc>
              <a:spcBef>
                <a:spcPts val="0"/>
              </a:spcBef>
              <a:spcAft>
                <a:spcPts val="0"/>
              </a:spcAft>
            </a:pPr>
            <a:r>
              <a:rPr sz="1800" b="0" lang="en-US">
                <a:solidFill>
                  <a:srgbClr val="68716B"/>
                </a:solidFill>
                <a:latin typeface="Manrope"/>
              </a:rPr>
              <a:t>into the employee’s call experience.</a:t>
            </a:r>
          </a:p>
        </p:txBody>
      </p:sp>
      <p:pic>
        <p:nvPicPr>
          <p:cNvPr id="11" name="Picture 10" descr="genesys.png"/>
          <p:cNvPicPr>
            <a:picLocks noChangeAspect="1"/>
          </p:cNvPicPr>
          <p:nvPr/>
        </p:nvPicPr>
        <p:blipFill>
          <a:blip r:embed="rId3"/>
          <a:stretch>
            <a:fillRect/>
          </a:stretch>
        </p:blipFill>
        <p:spPr>
          <a:xfrm>
            <a:off x="571500" y="4955103"/>
            <a:ext cx="1543050" cy="300594"/>
          </a:xfrm>
          <a:prstGeom prst="rect">
            <a:avLst/>
          </a:prstGeom>
          <a:effectLst/>
        </p:spPr>
      </p:pic>
      <p:cxnSp>
        <p:nvCxnSpPr>
          <p:cNvPr id="12" name="Connector 11"/>
          <p:cNvCxnSpPr/>
          <p:nvPr/>
        </p:nvCxnSpPr>
        <p:spPr>
          <a:xfrm>
            <a:off x="2333625" y="5105400"/>
            <a:ext cx="333375" cy="0"/>
          </a:xfrm>
          <a:prstGeom prst="line">
            <a:avLst/>
          </a:prstGeom>
          <a:ln w="19050">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13" name="Picture 12" descr="zoho.png"/>
          <p:cNvPicPr>
            <a:picLocks noChangeAspect="1"/>
          </p:cNvPicPr>
          <p:nvPr/>
        </p:nvPicPr>
        <p:blipFill>
          <a:blip r:embed="rId4"/>
          <a:stretch>
            <a:fillRect/>
          </a:stretch>
        </p:blipFill>
        <p:spPr>
          <a:xfrm>
            <a:off x="2942879" y="4895850"/>
            <a:ext cx="953193" cy="409575"/>
          </a:xfrm>
          <a:prstGeom prst="rect">
            <a:avLst/>
          </a:prstGeom>
          <a:effectLst/>
        </p:spPr>
      </p:pic>
      <p:sp>
        <p:nvSpPr>
          <p:cNvPr id="14" name="TextBox 13"/>
          <p:cNvSpPr txBox="1"/>
          <p:nvPr/>
        </p:nvSpPr>
        <p:spPr>
          <a:xfrm>
            <a:off x="571500" y="5572125"/>
            <a:ext cx="4791075" cy="304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716B"/>
                </a:solidFill>
                <a:latin typeface="Manrope"/>
              </a:rPr>
              <a:t>A focused first collaboration.</a:t>
            </a:r>
          </a:p>
        </p:txBody>
      </p:sp>
      <p:sp>
        <p:nvSpPr>
          <p:cNvPr id="15" name="Rounded Rectangle 14"/>
          <p:cNvSpPr/>
          <p:nvPr/>
        </p:nvSpPr>
        <p:spPr>
          <a:xfrm>
            <a:off x="6238875" y="1476375"/>
            <a:ext cx="5391150" cy="4314825"/>
          </a:xfrm>
          <a:prstGeom prst="roundRect">
            <a:avLst>
              <a:gd name="adj" fmla="val 3532"/>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229350" y="1428750"/>
            <a:ext cx="5391150" cy="4314825"/>
          </a:xfrm>
          <a:prstGeom prst="roundRect">
            <a:avLst>
              <a:gd name="adj" fmla="val 3532"/>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genesys.png"/>
          <p:cNvPicPr>
            <a:picLocks noChangeAspect="1"/>
          </p:cNvPicPr>
          <p:nvPr/>
        </p:nvPicPr>
        <p:blipFill>
          <a:blip r:embed="rId3"/>
          <a:stretch>
            <a:fillRect/>
          </a:stretch>
        </p:blipFill>
        <p:spPr>
          <a:xfrm>
            <a:off x="6477000" y="1669287"/>
            <a:ext cx="1295400" cy="252351"/>
          </a:xfrm>
          <a:prstGeom prst="rect">
            <a:avLst/>
          </a:prstGeom>
          <a:effectLst/>
        </p:spPr>
      </p:pic>
      <p:sp>
        <p:nvSpPr>
          <p:cNvPr id="18" name="Oval 17"/>
          <p:cNvSpPr/>
          <p:nvPr/>
        </p:nvSpPr>
        <p:spPr>
          <a:xfrm>
            <a:off x="10048875" y="1762125"/>
            <a:ext cx="66675" cy="66675"/>
          </a:xfrm>
          <a:prstGeom prst="ellipse">
            <a:avLst/>
          </a:prstGeom>
          <a:solidFill>
            <a:srgbClr val="54745C"/>
          </a:solidFill>
          <a:ln w="9525">
            <a:solidFill>
              <a:srgbClr val="54745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210800" y="1695450"/>
            <a:ext cx="1190625" cy="27622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0" lang="en-US">
                <a:solidFill>
                  <a:srgbClr val="54745C"/>
                </a:solidFill>
                <a:latin typeface="Manrope"/>
              </a:rPr>
              <a:t>Incoming call</a:t>
            </a:r>
          </a:p>
        </p:txBody>
      </p:sp>
      <p:cxnSp>
        <p:nvCxnSpPr>
          <p:cNvPr id="20" name="Connector 19"/>
          <p:cNvCxnSpPr/>
          <p:nvPr/>
        </p:nvCxnSpPr>
        <p:spPr>
          <a:xfrm>
            <a:off x="6229350" y="2181225"/>
            <a:ext cx="539115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1" name="Oval 20"/>
          <p:cNvSpPr/>
          <p:nvPr/>
        </p:nvSpPr>
        <p:spPr>
          <a:xfrm>
            <a:off x="6477000" y="2419350"/>
            <a:ext cx="457200" cy="45720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77000" y="2495550"/>
            <a:ext cx="457200" cy="41910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en-US">
                <a:solidFill>
                  <a:srgbClr val="54745C"/>
                </a:solidFill>
                <a:latin typeface="Manrope"/>
              </a:rPr>
              <a:t>A</a:t>
            </a:r>
          </a:p>
        </p:txBody>
      </p:sp>
      <p:sp>
        <p:nvSpPr>
          <p:cNvPr id="23" name="TextBox 22"/>
          <p:cNvSpPr txBox="1"/>
          <p:nvPr/>
        </p:nvSpPr>
        <p:spPr>
          <a:xfrm>
            <a:off x="7067550" y="2428875"/>
            <a:ext cx="4105275" cy="381000"/>
          </a:xfrm>
          <a:prstGeom prst="rect">
            <a:avLst/>
          </a:prstGeom>
          <a:noFill/>
          <a:effectLst/>
        </p:spPr>
        <p:txBody>
          <a:bodyPr wrap="square" lIns="0" rIns="0" tIns="0" bIns="0" anchor="t">
            <a:spAutoFit/>
          </a:bodyPr>
          <a:lstStyle/>
          <a:p>
            <a:pPr algn="l" rtl="0">
              <a:lnSpc>
                <a:spcPts val="2184"/>
              </a:lnSpc>
              <a:spcBef>
                <a:spcPts val="0"/>
              </a:spcBef>
              <a:spcAft>
                <a:spcPts val="0"/>
              </a:spcAft>
            </a:pPr>
            <a:r>
              <a:rPr sz="1950" b="1" lang="en-US">
                <a:solidFill>
                  <a:srgbClr val="29302D"/>
                </a:solidFill>
                <a:latin typeface="Manrope"/>
              </a:rPr>
              <a:t>Contact A</a:t>
            </a:r>
          </a:p>
        </p:txBody>
      </p:sp>
      <p:sp>
        <p:nvSpPr>
          <p:cNvPr id="24" name="TextBox 23"/>
          <p:cNvSpPr txBox="1"/>
          <p:nvPr/>
        </p:nvSpPr>
        <p:spPr>
          <a:xfrm>
            <a:off x="7067550" y="2800350"/>
            <a:ext cx="4105275" cy="28575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716B"/>
                </a:solidFill>
                <a:latin typeface="Manrope"/>
              </a:rPr>
              <a:t>+20 ••• 410</a:t>
            </a:r>
          </a:p>
        </p:txBody>
      </p:sp>
      <p:cxnSp>
        <p:nvCxnSpPr>
          <p:cNvPr id="25" name="Connector 24"/>
          <p:cNvCxnSpPr/>
          <p:nvPr/>
        </p:nvCxnSpPr>
        <p:spPr>
          <a:xfrm>
            <a:off x="6477000" y="3333750"/>
            <a:ext cx="489585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26" name="Picture 25" descr="zoho.png"/>
          <p:cNvPicPr>
            <a:picLocks noChangeAspect="1"/>
          </p:cNvPicPr>
          <p:nvPr/>
        </p:nvPicPr>
        <p:blipFill>
          <a:blip r:embed="rId4"/>
          <a:stretch>
            <a:fillRect/>
          </a:stretch>
        </p:blipFill>
        <p:spPr>
          <a:xfrm>
            <a:off x="6560474" y="3514725"/>
            <a:ext cx="709353" cy="304800"/>
          </a:xfrm>
          <a:prstGeom prst="rect">
            <a:avLst/>
          </a:prstGeom>
          <a:effectLst/>
        </p:spPr>
      </p:pic>
      <p:sp>
        <p:nvSpPr>
          <p:cNvPr id="27" name="TextBox 26"/>
          <p:cNvSpPr txBox="1"/>
          <p:nvPr/>
        </p:nvSpPr>
        <p:spPr>
          <a:xfrm>
            <a:off x="7515225" y="3543300"/>
            <a:ext cx="384810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29302D"/>
                </a:solidFill>
                <a:latin typeface="Manrope"/>
              </a:rPr>
              <a:t>Ticket history</a:t>
            </a:r>
          </a:p>
        </p:txBody>
      </p:sp>
      <p:sp>
        <p:nvSpPr>
          <p:cNvPr id="28" name="Rounded Rectangle 27"/>
          <p:cNvSpPr/>
          <p:nvPr/>
        </p:nvSpPr>
        <p:spPr>
          <a:xfrm>
            <a:off x="6477000" y="4000500"/>
            <a:ext cx="4895850" cy="695325"/>
          </a:xfrm>
          <a:prstGeom prst="roundRect">
            <a:avLst>
              <a:gd name="adj" fmla="val 12000"/>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638925" y="4086225"/>
            <a:ext cx="4572000" cy="30480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9302D"/>
                </a:solidFill>
                <a:latin typeface="Manrope"/>
              </a:rPr>
              <a:t>T101 · Exchange follow-up</a:t>
            </a:r>
          </a:p>
        </p:txBody>
      </p:sp>
      <p:sp>
        <p:nvSpPr>
          <p:cNvPr id="30" name="TextBox 29"/>
          <p:cNvSpPr txBox="1"/>
          <p:nvPr/>
        </p:nvSpPr>
        <p:spPr>
          <a:xfrm>
            <a:off x="6638925" y="4410075"/>
            <a:ext cx="4572000" cy="238125"/>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0" lang="en-US">
                <a:solidFill>
                  <a:srgbClr val="54745C"/>
                </a:solidFill>
                <a:latin typeface="Manrope"/>
              </a:rPr>
              <a:t>Waiting on the branch</a:t>
            </a:r>
          </a:p>
        </p:txBody>
      </p:sp>
      <p:sp>
        <p:nvSpPr>
          <p:cNvPr id="31" name="TextBox 30"/>
          <p:cNvSpPr txBox="1"/>
          <p:nvPr/>
        </p:nvSpPr>
        <p:spPr>
          <a:xfrm>
            <a:off x="6477000" y="4905375"/>
            <a:ext cx="4895850" cy="238125"/>
          </a:xfrm>
          <a:prstGeom prst="rect">
            <a:avLst/>
          </a:prstGeom>
          <a:noFill/>
          <a:effectLst/>
        </p:spPr>
        <p:txBody>
          <a:bodyPr wrap="square" lIns="0" rIns="0" tIns="0" bIns="0" anchor="t">
            <a:spAutoFit/>
          </a:bodyPr>
          <a:lstStyle/>
          <a:p>
            <a:pPr algn="l" rtl="0">
              <a:lnSpc>
                <a:spcPts val="1092"/>
              </a:lnSpc>
              <a:spcBef>
                <a:spcPts val="0"/>
              </a:spcBef>
              <a:spcAft>
                <a:spcPts val="0"/>
              </a:spcAft>
            </a:pPr>
            <a:r>
              <a:rPr sz="975" b="1" lang="en-US">
                <a:solidFill>
                  <a:srgbClr val="68716B"/>
                </a:solidFill>
                <a:latin typeface="Manrope"/>
              </a:rPr>
              <a:t>LATEST NOTE</a:t>
            </a:r>
          </a:p>
        </p:txBody>
      </p:sp>
      <p:sp>
        <p:nvSpPr>
          <p:cNvPr id="32" name="TextBox 31"/>
          <p:cNvSpPr txBox="1"/>
          <p:nvPr/>
        </p:nvSpPr>
        <p:spPr>
          <a:xfrm>
            <a:off x="6477000" y="5153025"/>
            <a:ext cx="4895850" cy="3333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29302D"/>
                </a:solidFill>
                <a:latin typeface="Manrope"/>
              </a:rPr>
              <a:t>Branch review is still pending.</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7"/>
                                  </p:tgtEl>
                                  <p:attrNameLst>
                                    <p:attrName>style.visibility</p:attrName>
                                  </p:attrNameLst>
                                </p:cBhvr>
                                <p:to>
                                  <p:strVal val="visible"/>
                                </p:to>
                              </p:set>
                              <p:animEffect transition="in" filter="fade">
                                <p:cBhvr>
                                  <p:cTn id="6" dur="500"/>
                                  <p:tgtEl>
                                    <p:spTgt spid="17"/>
                                  </p:tgtEl>
                                </p:cBhvr>
                              </p:animEffect>
                            </p:childTnLst>
                          </p:cTn>
                        </p:par>
                        <p:par>
                          <p:cTn id="7" presetID="10" presetClass="entr" presetSubtype="0" fill="hold" nodeType="withEffect">
                            <p:stCondLst>
                              <p:cond delay="0"/>
                            </p:stCondLst>
                            <p:childTnLst>
                              <p:set>
                                <p:cBhvr>
                                  <p:cTn id="8" dur="1" fill="hold"/>
                                  <p:tgtEl>
                                    <p:spTgt spid="18"/>
                                  </p:tgtEl>
                                  <p:attrNameLst>
                                    <p:attrName>style.visibility</p:attrName>
                                  </p:attrNameLst>
                                </p:cBhvr>
                                <p:to>
                                  <p:strVal val="visible"/>
                                </p:to>
                              </p:set>
                              <p:animEffect transition="in" filter="fade">
                                <p:cBhvr>
                                  <p:cTn id="9" dur="500"/>
                                  <p:tgtEl>
                                    <p:spTgt spid="18"/>
                                  </p:tgtEl>
                                </p:cBhvr>
                              </p:animEffect>
                            </p:childTnLst>
                          </p:cTn>
                        </p:par>
                        <p:par>
                          <p:cTn id="10" presetID="10" presetClass="entr" presetSubtype="0" fill="hold" nodeType="withEffect">
                            <p:stCondLst>
                              <p:cond delay="0"/>
                            </p:stCondLst>
                            <p:childTnLst>
                              <p:set>
                                <p:cBhvr>
                                  <p:cTn id="11" dur="1" fill="hold"/>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nodeType="withEffect">
                            <p:stCondLst>
                              <p:cond delay="1250"/>
                            </p:stCondLst>
                            <p:childTnLst>
                              <p:set>
                                <p:cBhvr>
                                  <p:cTn id="14" dur="1" fill="hold"/>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nodeType="withEffect">
                            <p:stCondLst>
                              <p:cond delay="1250"/>
                            </p:stCondLst>
                            <p:childTnLst>
                              <p:set>
                                <p:cBhvr>
                                  <p:cTn id="17" dur="1" fill="hold"/>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nodeType="withEffect">
                            <p:stCondLst>
                              <p:cond delay="1250"/>
                            </p:stCondLst>
                            <p:childTnLst>
                              <p:set>
                                <p:cBhvr>
                                  <p:cTn id="20" dur="1" fill="hold"/>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nodeType="withEffect">
                            <p:stCondLst>
                              <p:cond delay="1250"/>
                            </p:stCondLst>
                            <p:childTnLst>
                              <p:set>
                                <p:cBhvr>
                                  <p:cTn id="23" dur="1" fill="hold"/>
                                  <p:tgtEl>
                                    <p:spTgt spid="24"/>
                                  </p:tgtEl>
                                  <p:attrNameLst>
                                    <p:attrName>style.visibility</p:attrName>
                                  </p:attrNameLst>
                                </p:cBhvr>
                                <p:to>
                                  <p:strVal val="visible"/>
                                </p:to>
                              </p:set>
                              <p:animEffect transition="in" filter="fade">
                                <p:cBhvr>
                                  <p:cTn id="24" dur="500"/>
                                  <p:tgtEl>
                                    <p:spTgt spid="24"/>
                                  </p:tgtEl>
                                </p:cBhvr>
                              </p:animEffect>
                            </p:childTnLst>
                          </p:cTn>
                        </p:par>
                        <p:par>
                          <p:cTn id="25" presetID="10" presetClass="entr" presetSubtype="0" fill="hold" nodeType="withEffect">
                            <p:stCondLst>
                              <p:cond delay="2500"/>
                            </p:stCondLst>
                            <p:childTnLst>
                              <p:set>
                                <p:cBhvr>
                                  <p:cTn id="26" dur="1" fill="hold"/>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10" presetClass="entr" presetSubtype="0" fill="hold" nodeType="withEffect">
                            <p:stCondLst>
                              <p:cond delay="2500"/>
                            </p:stCondLst>
                            <p:childTnLst>
                              <p:set>
                                <p:cBhvr>
                                  <p:cTn id="29" dur="1" fill="hold"/>
                                  <p:tgtEl>
                                    <p:spTgt spid="27"/>
                                  </p:tgtEl>
                                  <p:attrNameLst>
                                    <p:attrName>style.visibility</p:attrName>
                                  </p:attrNameLst>
                                </p:cBhvr>
                                <p:to>
                                  <p:strVal val="visible"/>
                                </p:to>
                              </p:set>
                              <p:animEffect transition="in" filter="fade">
                                <p:cBhvr>
                                  <p:cTn id="30" dur="500"/>
                                  <p:tgtEl>
                                    <p:spTgt spid="27"/>
                                  </p:tgtEl>
                                </p:cBhvr>
                              </p:animEffect>
                            </p:childTnLst>
                          </p:cTn>
                        </p:par>
                        <p:par>
                          <p:cTn id="31" presetID="10" presetClass="entr" presetSubtype="0" fill="hold" nodeType="withEffect">
                            <p:stCondLst>
                              <p:cond delay="2500"/>
                            </p:stCondLst>
                            <p:childTnLst>
                              <p:set>
                                <p:cBhvr>
                                  <p:cTn id="32" dur="1" fill="hold"/>
                                  <p:tgtEl>
                                    <p:spTgt spid="28"/>
                                  </p:tgtEl>
                                  <p:attrNameLst>
                                    <p:attrName>style.visibility</p:attrName>
                                  </p:attrNameLst>
                                </p:cBhvr>
                                <p:to>
                                  <p:strVal val="visible"/>
                                </p:to>
                              </p:set>
                              <p:animEffect transition="in" filter="fade">
                                <p:cBhvr>
                                  <p:cTn id="33" dur="500"/>
                                  <p:tgtEl>
                                    <p:spTgt spid="28"/>
                                  </p:tgtEl>
                                </p:cBhvr>
                              </p:animEffect>
                            </p:childTnLst>
                          </p:cTn>
                        </p:par>
                        <p:par>
                          <p:cTn id="34" presetID="10" presetClass="entr" presetSubtype="0" fill="hold" nodeType="withEffect">
                            <p:stCondLst>
                              <p:cond delay="2500"/>
                            </p:stCondLst>
                            <p:childTnLst>
                              <p:set>
                                <p:cBhvr>
                                  <p:cTn id="35" dur="1" fill="hold"/>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nodeType="withEffect">
                            <p:stCondLst>
                              <p:cond delay="2500"/>
                            </p:stCondLst>
                            <p:childTnLst>
                              <p:set>
                                <p:cBhvr>
                                  <p:cTn id="38" dur="1" fill="hold"/>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nodeType="withEffect">
                            <p:stCondLst>
                              <p:cond delay="3750"/>
                            </p:stCondLst>
                            <p:childTnLst>
                              <p:set>
                                <p:cBhvr>
                                  <p:cTn id="41" dur="1" fill="hold"/>
                                  <p:tgtEl>
                                    <p:spTgt spid="31"/>
                                  </p:tgtEl>
                                  <p:attrNameLst>
                                    <p:attrName>style.visibility</p:attrName>
                                  </p:attrNameLst>
                                </p:cBhvr>
                                <p:to>
                                  <p:strVal val="visible"/>
                                </p:to>
                              </p:set>
                              <p:animEffect transition="in" filter="fade">
                                <p:cBhvr>
                                  <p:cTn id="42" dur="500"/>
                                  <p:tgtEl>
                                    <p:spTgt spid="31"/>
                                  </p:tgtEl>
                                </p:cBhvr>
                              </p:animEffect>
                            </p:childTnLst>
                          </p:cTn>
                        </p:par>
                        <p:par>
                          <p:cTn id="43" presetID="10" presetClass="entr" presetSubtype="0" fill="hold" nodeType="withEffect">
                            <p:stCondLst>
                              <p:cond delay="3750"/>
                            </p:stCondLst>
                            <p:childTnLst>
                              <p:set>
                                <p:cBhvr>
                                  <p:cTn id="44" dur="1" fill="hold"/>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571500" y="292100"/>
            <a:ext cx="409575" cy="273050"/>
          </a:xfrm>
          <a:prstGeom prst="rect">
            <a:avLst/>
          </a:prstGeom>
          <a:effectLst/>
        </p:spPr>
      </p:pic>
      <p:sp>
        <p:nvSpPr>
          <p:cNvPr id="3" name="TextBox 2"/>
          <p:cNvSpPr txBox="1"/>
          <p:nvPr/>
        </p:nvSpPr>
        <p:spPr>
          <a:xfrm>
            <a:off x="1095375" y="323850"/>
            <a:ext cx="1466850" cy="2571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1" lang="en-US">
                <a:solidFill>
                  <a:srgbClr val="29302D"/>
                </a:solidFill>
                <a:latin typeface="Manrope"/>
              </a:rPr>
              <a:t>GRINDCTRL</a:t>
            </a:r>
          </a:p>
        </p:txBody>
      </p:sp>
      <p:sp>
        <p:nvSpPr>
          <p:cNvPr id="4" name="TextBox 3"/>
          <p:cNvSpPr txBox="1"/>
          <p:nvPr/>
        </p:nvSpPr>
        <p:spPr>
          <a:xfrm>
            <a:off x="7448550" y="333375"/>
            <a:ext cx="4171950" cy="247650"/>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01 · CURRENT WORKFLOW</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9302D"/>
                </a:solidFill>
                <a:latin typeface="Manrope"/>
              </a:rPr>
              <a:t>The history exists. Finding it takes a manual step.</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716B"/>
                </a:solidFill>
                <a:latin typeface="Manrope"/>
              </a:rPr>
              <a:t>The employee can already find previous tickets by searching the phone number.</a:t>
            </a:r>
          </a:p>
        </p:txBody>
      </p:sp>
      <p:cxnSp>
        <p:nvCxnSpPr>
          <p:cNvPr id="7" name="Connector 6"/>
          <p:cNvCxnSpPr/>
          <p:nvPr/>
        </p:nvCxnSpPr>
        <p:spPr>
          <a:xfrm>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1500" y="6534150"/>
            <a:ext cx="9525000" cy="219075"/>
          </a:xfrm>
          <a:prstGeom prst="rect">
            <a:avLst/>
          </a:prstGeom>
          <a:noFill/>
          <a:effectLst/>
        </p:spPr>
        <p:txBody>
          <a:bodyPr wrap="square" lIns="0" rIns="0" tIns="0" bIns="0" anchor="t">
            <a:spAutoFit/>
          </a:bodyPr>
          <a:lstStyle/>
          <a:p>
            <a:pPr algn="l" rtl="0">
              <a:lnSpc>
                <a:spcPts val="1008"/>
              </a:lnSpc>
              <a:spcBef>
                <a:spcPts val="0"/>
              </a:spcBef>
              <a:spcAft>
                <a:spcPts val="0"/>
              </a:spcAft>
            </a:pPr>
            <a:r>
              <a:rPr sz="900" b="0" lang="en-US">
                <a:solidFill>
                  <a:srgbClr val="68716B"/>
                </a:solidFill>
                <a:latin typeface="Manrope"/>
              </a:rPr>
              <a:t>CONCRETE · PROPOSED COLLABORATION</a:t>
            </a:r>
          </a:p>
        </p:txBody>
      </p:sp>
      <p:sp>
        <p:nvSpPr>
          <p:cNvPr id="9" name="TextBox 8"/>
          <p:cNvSpPr txBox="1"/>
          <p:nvPr/>
        </p:nvSpPr>
        <p:spPr>
          <a:xfrm>
            <a:off x="10782300" y="6515100"/>
            <a:ext cx="838200" cy="238125"/>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02 / 09</a:t>
            </a:r>
          </a:p>
        </p:txBody>
      </p:sp>
      <p:sp>
        <p:nvSpPr>
          <p:cNvPr id="10" name="Rounded Rectangle 9"/>
          <p:cNvSpPr/>
          <p:nvPr/>
        </p:nvSpPr>
        <p:spPr>
          <a:xfrm>
            <a:off x="581025" y="2314575"/>
            <a:ext cx="11049000" cy="3362325"/>
          </a:xfrm>
          <a:prstGeom prst="roundRect">
            <a:avLst>
              <a:gd name="adj" fmla="val 4532"/>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66950"/>
            <a:ext cx="11049000" cy="3362325"/>
          </a:xfrm>
          <a:prstGeom prst="roundRect">
            <a:avLst>
              <a:gd name="adj" fmla="val 4532"/>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9150" y="2457450"/>
            <a:ext cx="6838950" cy="333375"/>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1" lang="en-US">
                <a:solidFill>
                  <a:srgbClr val="29302D"/>
                </a:solidFill>
                <a:latin typeface="Manrope"/>
              </a:rPr>
              <a:t>The call and the service history</a:t>
            </a:r>
          </a:p>
        </p:txBody>
      </p:sp>
      <p:sp>
        <p:nvSpPr>
          <p:cNvPr id="13" name="TextBox 12"/>
          <p:cNvSpPr txBox="1"/>
          <p:nvPr/>
        </p:nvSpPr>
        <p:spPr>
          <a:xfrm>
            <a:off x="8382000" y="2495550"/>
            <a:ext cx="2990850" cy="266700"/>
          </a:xfrm>
          <a:prstGeom prst="rect">
            <a:avLst/>
          </a:prstGeom>
          <a:noFill/>
          <a:effectLst/>
        </p:spPr>
        <p:txBody>
          <a:bodyPr wrap="square" lIns="0" rIns="0" tIns="0" bIns="0" anchor="t">
            <a:spAutoFit/>
          </a:bodyPr>
          <a:lstStyle/>
          <a:p>
            <a:pPr algn="r" rtl="0">
              <a:lnSpc>
                <a:spcPts val="1092"/>
              </a:lnSpc>
              <a:spcBef>
                <a:spcPts val="0"/>
              </a:spcBef>
              <a:spcAft>
                <a:spcPts val="0"/>
              </a:spcAft>
            </a:pPr>
            <a:r>
              <a:rPr sz="975" b="0" lang="en-US">
                <a:solidFill>
                  <a:srgbClr val="68716B"/>
                </a:solidFill>
                <a:latin typeface="Manrope"/>
              </a:rPr>
              <a:t>REPORTED WORKFLOW</a:t>
            </a:r>
          </a:p>
        </p:txBody>
      </p:sp>
      <p:cxnSp>
        <p:nvCxnSpPr>
          <p:cNvPr id="14" name="Connector 13"/>
          <p:cNvCxnSpPr/>
          <p:nvPr/>
        </p:nvCxnSpPr>
        <p:spPr>
          <a:xfrm>
            <a:off x="571500" y="28956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15" name="Picture 14" descr="genesys.png"/>
          <p:cNvPicPr>
            <a:picLocks noChangeAspect="1"/>
          </p:cNvPicPr>
          <p:nvPr/>
        </p:nvPicPr>
        <p:blipFill>
          <a:blip r:embed="rId3"/>
          <a:stretch>
            <a:fillRect/>
          </a:stretch>
        </p:blipFill>
        <p:spPr>
          <a:xfrm>
            <a:off x="819150" y="3142075"/>
            <a:ext cx="1381125" cy="269050"/>
          </a:xfrm>
          <a:prstGeom prst="rect">
            <a:avLst/>
          </a:prstGeom>
          <a:effectLst/>
        </p:spPr>
      </p:pic>
      <p:sp>
        <p:nvSpPr>
          <p:cNvPr id="16" name="Oval 15"/>
          <p:cNvSpPr/>
          <p:nvPr/>
        </p:nvSpPr>
        <p:spPr>
          <a:xfrm>
            <a:off x="819150" y="3800475"/>
            <a:ext cx="466725" cy="46672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call.png"/>
          <p:cNvPicPr>
            <a:picLocks noChangeAspect="1"/>
          </p:cNvPicPr>
          <p:nvPr/>
        </p:nvPicPr>
        <p:blipFill>
          <a:blip r:embed="rId4"/>
          <a:stretch>
            <a:fillRect/>
          </a:stretch>
        </p:blipFill>
        <p:spPr>
          <a:xfrm>
            <a:off x="914400" y="3895725"/>
            <a:ext cx="276225" cy="276225"/>
          </a:xfrm>
          <a:prstGeom prst="rect">
            <a:avLst/>
          </a:prstGeom>
          <a:effectLst/>
        </p:spPr>
      </p:pic>
      <p:sp>
        <p:nvSpPr>
          <p:cNvPr id="18" name="TextBox 17"/>
          <p:cNvSpPr txBox="1"/>
          <p:nvPr/>
        </p:nvSpPr>
        <p:spPr>
          <a:xfrm>
            <a:off x="1428750" y="3819525"/>
            <a:ext cx="2390775" cy="371475"/>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9302D"/>
                </a:solidFill>
                <a:latin typeface="Manrope"/>
              </a:rPr>
              <a:t>Customer calling</a:t>
            </a:r>
          </a:p>
        </p:txBody>
      </p:sp>
      <p:sp>
        <p:nvSpPr>
          <p:cNvPr id="19" name="TextBox 18"/>
          <p:cNvSpPr txBox="1"/>
          <p:nvPr/>
        </p:nvSpPr>
        <p:spPr>
          <a:xfrm>
            <a:off x="819150" y="4495800"/>
            <a:ext cx="3009900" cy="381000"/>
          </a:xfrm>
          <a:prstGeom prst="rect">
            <a:avLst/>
          </a:prstGeom>
          <a:noFill/>
          <a:effectLst/>
        </p:spPr>
        <p:txBody>
          <a:bodyPr wrap="square" lIns="0" rIns="0" tIns="0" bIns="0" anchor="t">
            <a:spAutoFit/>
          </a:bodyPr>
          <a:lstStyle/>
          <a:p>
            <a:pPr algn="l" rtl="0">
              <a:lnSpc>
                <a:spcPts val="2352"/>
              </a:lnSpc>
              <a:spcBef>
                <a:spcPts val="0"/>
              </a:spcBef>
              <a:spcAft>
                <a:spcPts val="0"/>
              </a:spcAft>
            </a:pPr>
            <a:r>
              <a:rPr sz="2100" b="0" lang="en-US">
                <a:solidFill>
                  <a:srgbClr val="29302D"/>
                </a:solidFill>
                <a:latin typeface="Manrope"/>
              </a:rPr>
              <a:t>+20 ••• 410</a:t>
            </a:r>
          </a:p>
        </p:txBody>
      </p:sp>
      <p:sp>
        <p:nvSpPr>
          <p:cNvPr id="20" name="TextBox 19"/>
          <p:cNvSpPr txBox="1"/>
          <p:nvPr/>
        </p:nvSpPr>
        <p:spPr>
          <a:xfrm>
            <a:off x="819150" y="5029200"/>
            <a:ext cx="3009900" cy="27622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0" lang="en-US">
                <a:solidFill>
                  <a:srgbClr val="68716B"/>
                </a:solidFill>
                <a:latin typeface="Manrope"/>
              </a:rPr>
              <a:t>Call assigned to employee</a:t>
            </a:r>
          </a:p>
        </p:txBody>
      </p:sp>
      <p:cxnSp>
        <p:nvCxnSpPr>
          <p:cNvPr id="21" name="Connector 20"/>
          <p:cNvCxnSpPr/>
          <p:nvPr/>
        </p:nvCxnSpPr>
        <p:spPr>
          <a:xfrm>
            <a:off x="4010025" y="4476750"/>
            <a:ext cx="552450" cy="0"/>
          </a:xfrm>
          <a:prstGeom prst="line">
            <a:avLst/>
          </a:prstGeom>
          <a:ln w="23812">
            <a:solidFill>
              <a:srgbClr val="9F583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3914775" y="4857750"/>
            <a:ext cx="942975" cy="257175"/>
          </a:xfrm>
          <a:prstGeom prst="rect">
            <a:avLst/>
          </a:prstGeom>
          <a:noFill/>
          <a:effectLst/>
        </p:spPr>
        <p:txBody>
          <a:bodyPr wrap="square" lIns="0" rIns="0" tIns="0" bIns="0" anchor="t">
            <a:spAutoFit/>
          </a:bodyPr>
          <a:lstStyle/>
          <a:p>
            <a:pPr algn="ctr" rtl="0">
              <a:lnSpc>
                <a:spcPts val="1260"/>
              </a:lnSpc>
              <a:spcBef>
                <a:spcPts val="0"/>
              </a:spcBef>
              <a:spcAft>
                <a:spcPts val="0"/>
              </a:spcAft>
            </a:pPr>
            <a:r>
              <a:rPr sz="1125" b="0" lang="en-US">
                <a:solidFill>
                  <a:srgbClr val="9F5836"/>
                </a:solidFill>
                <a:latin typeface="Manrope"/>
              </a:rPr>
              <a:t>Manual</a:t>
            </a:r>
          </a:p>
        </p:txBody>
      </p:sp>
      <p:cxnSp>
        <p:nvCxnSpPr>
          <p:cNvPr id="23" name="Connector 22"/>
          <p:cNvCxnSpPr/>
          <p:nvPr/>
        </p:nvCxnSpPr>
        <p:spPr>
          <a:xfrm>
            <a:off x="4857750" y="3124200"/>
            <a:ext cx="0" cy="223837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24" name="Picture 23" descr="zoho.png"/>
          <p:cNvPicPr>
            <a:picLocks noChangeAspect="1"/>
          </p:cNvPicPr>
          <p:nvPr/>
        </p:nvPicPr>
        <p:blipFill>
          <a:blip r:embed="rId5"/>
          <a:stretch>
            <a:fillRect/>
          </a:stretch>
        </p:blipFill>
        <p:spPr>
          <a:xfrm>
            <a:off x="5211214" y="3095625"/>
            <a:ext cx="798022" cy="342900"/>
          </a:xfrm>
          <a:prstGeom prst="rect">
            <a:avLst/>
          </a:prstGeom>
          <a:effectLst/>
        </p:spPr>
      </p:pic>
      <p:sp>
        <p:nvSpPr>
          <p:cNvPr id="25" name="TextBox 24"/>
          <p:cNvSpPr txBox="1"/>
          <p:nvPr/>
        </p:nvSpPr>
        <p:spPr>
          <a:xfrm>
            <a:off x="6276975" y="3162300"/>
            <a:ext cx="4857750" cy="2952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9302D"/>
                </a:solidFill>
                <a:latin typeface="Manrope"/>
              </a:rPr>
              <a:t>Desk · ticket history</a:t>
            </a:r>
          </a:p>
        </p:txBody>
      </p:sp>
      <p:sp>
        <p:nvSpPr>
          <p:cNvPr id="26" name="Rounded Rectangle 25"/>
          <p:cNvSpPr/>
          <p:nvPr/>
        </p:nvSpPr>
        <p:spPr>
          <a:xfrm>
            <a:off x="5143500" y="3724275"/>
            <a:ext cx="6210300" cy="514350"/>
          </a:xfrm>
          <a:prstGeom prst="roundRect">
            <a:avLst>
              <a:gd name="adj" fmla="val 12000"/>
            </a:avLst>
          </a:prstGeom>
          <a:solidFill>
            <a:srgbClr val="FFFFFF"/>
          </a:solidFill>
          <a:ln w="9525">
            <a:solidFill>
              <a:srgbClr val="9F58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search.png"/>
          <p:cNvPicPr>
            <a:picLocks noChangeAspect="1"/>
          </p:cNvPicPr>
          <p:nvPr/>
        </p:nvPicPr>
        <p:blipFill>
          <a:blip r:embed="rId6"/>
          <a:stretch>
            <a:fillRect/>
          </a:stretch>
        </p:blipFill>
        <p:spPr>
          <a:xfrm>
            <a:off x="5305425" y="3876675"/>
            <a:ext cx="219075" cy="219075"/>
          </a:xfrm>
          <a:prstGeom prst="rect">
            <a:avLst/>
          </a:prstGeom>
          <a:effectLst/>
        </p:spPr>
      </p:pic>
      <p:sp>
        <p:nvSpPr>
          <p:cNvPr id="28" name="TextBox 27"/>
          <p:cNvSpPr txBox="1"/>
          <p:nvPr/>
        </p:nvSpPr>
        <p:spPr>
          <a:xfrm>
            <a:off x="5686425" y="3848100"/>
            <a:ext cx="3981450" cy="30480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29302D"/>
                </a:solidFill>
                <a:latin typeface="Manrope"/>
              </a:rPr>
              <a:t>Search: +20 ••• 410</a:t>
            </a:r>
          </a:p>
        </p:txBody>
      </p:sp>
      <p:sp>
        <p:nvSpPr>
          <p:cNvPr id="29" name="Rounded Rectangle 28"/>
          <p:cNvSpPr/>
          <p:nvPr/>
        </p:nvSpPr>
        <p:spPr>
          <a:xfrm>
            <a:off x="10401300" y="3800475"/>
            <a:ext cx="866775" cy="361950"/>
          </a:xfrm>
          <a:prstGeom prst="roundRect">
            <a:avLst>
              <a:gd name="adj" fmla="val 12000"/>
            </a:avLst>
          </a:prstGeom>
          <a:solidFill>
            <a:srgbClr val="F8F1E8"/>
          </a:solidFill>
          <a:ln w="9525">
            <a:solidFill>
              <a:srgbClr val="F8F1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439400" y="3857625"/>
            <a:ext cx="790575" cy="285750"/>
          </a:xfrm>
          <a:prstGeom prst="rect">
            <a:avLst/>
          </a:prstGeom>
          <a:noFill/>
          <a:effectLst/>
        </p:spPr>
        <p:txBody>
          <a:bodyPr wrap="square" lIns="0" rIns="0" tIns="0" bIns="0" anchor="t">
            <a:spAutoFit/>
          </a:bodyPr>
          <a:lstStyle/>
          <a:p>
            <a:pPr algn="ctr" rtl="0">
              <a:lnSpc>
                <a:spcPts val="1428"/>
              </a:lnSpc>
              <a:spcBef>
                <a:spcPts val="0"/>
              </a:spcBef>
              <a:spcAft>
                <a:spcPts val="0"/>
              </a:spcAft>
            </a:pPr>
            <a:r>
              <a:rPr sz="1275" b="1" lang="en-US">
                <a:solidFill>
                  <a:srgbClr val="9F5836"/>
                </a:solidFill>
                <a:latin typeface="Manrope"/>
              </a:rPr>
              <a:t>Search</a:t>
            </a:r>
          </a:p>
        </p:txBody>
      </p:sp>
      <p:cxnSp>
        <p:nvCxnSpPr>
          <p:cNvPr id="31" name="Connector 30"/>
          <p:cNvCxnSpPr/>
          <p:nvPr/>
        </p:nvCxnSpPr>
        <p:spPr>
          <a:xfrm>
            <a:off x="5143500" y="4476750"/>
            <a:ext cx="62103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32" name="Picture 31" descr="icon-case.png"/>
          <p:cNvPicPr>
            <a:picLocks noChangeAspect="1"/>
          </p:cNvPicPr>
          <p:nvPr/>
        </p:nvPicPr>
        <p:blipFill>
          <a:blip r:embed="rId7"/>
          <a:stretch>
            <a:fillRect/>
          </a:stretch>
        </p:blipFill>
        <p:spPr>
          <a:xfrm>
            <a:off x="5143500" y="4705350"/>
            <a:ext cx="276225" cy="276225"/>
          </a:xfrm>
          <a:prstGeom prst="rect">
            <a:avLst/>
          </a:prstGeom>
          <a:effectLst/>
        </p:spPr>
      </p:pic>
      <p:sp>
        <p:nvSpPr>
          <p:cNvPr id="33" name="TextBox 32"/>
          <p:cNvSpPr txBox="1"/>
          <p:nvPr/>
        </p:nvSpPr>
        <p:spPr>
          <a:xfrm>
            <a:off x="5610225" y="4657725"/>
            <a:ext cx="5600700" cy="323850"/>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9302D"/>
                </a:solidFill>
                <a:latin typeface="Manrope"/>
              </a:rPr>
              <a:t>T101 · Exchange follow-up</a:t>
            </a:r>
          </a:p>
        </p:txBody>
      </p:sp>
      <p:sp>
        <p:nvSpPr>
          <p:cNvPr id="34" name="TextBox 33"/>
          <p:cNvSpPr txBox="1"/>
          <p:nvPr/>
        </p:nvSpPr>
        <p:spPr>
          <a:xfrm>
            <a:off x="5610225" y="5038725"/>
            <a:ext cx="5600700"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Latest update: branch review pending</a:t>
            </a:r>
          </a:p>
        </p:txBody>
      </p:sp>
      <p:sp>
        <p:nvSpPr>
          <p:cNvPr id="35" name="TextBox 34"/>
          <p:cNvSpPr txBox="1"/>
          <p:nvPr/>
        </p:nvSpPr>
        <p:spPr>
          <a:xfrm>
            <a:off x="571500" y="5876925"/>
            <a:ext cx="11049000" cy="3619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716B"/>
                </a:solidFill>
                <a:latin typeface="Manrope"/>
              </a:rPr>
              <a:t>The employee searches before they can pick up the previous conversation.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0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00"/>
                                  <p:tgtEl>
                                    <p:spTgt spid="16"/>
                                  </p:tgtEl>
                                </p:cBhvr>
                              </p:animEffect>
                            </p:childTnLst>
                          </p:cTn>
                        </p:par>
                        <p:par>
                          <p:cTn id="10" presetID="10" presetClass="entr" presetSubtype="0" fill="hold" nodeType="withEffect">
                            <p:stCondLst>
                              <p:cond delay="0"/>
                            </p:stCondLst>
                            <p:childTnLst>
                              <p:set>
                                <p:cBhvr>
                                  <p:cTn id="11" dur="1" fill="hold"/>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1250"/>
                            </p:stCondLst>
                            <p:childTnLst>
                              <p:set>
                                <p:cBhvr>
                                  <p:cTn id="17" dur="1" fill="hold"/>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0"/>
                            </p:stCondLst>
                            <p:childTnLst>
                              <p:set>
                                <p:cBhvr>
                                  <p:cTn id="20" dur="1" fill="hold"/>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nodeType="withEffect">
                            <p:stCondLst>
                              <p:cond delay="2500"/>
                            </p:stCondLst>
                            <p:childTnLst>
                              <p:set>
                                <p:cBhvr>
                                  <p:cTn id="23" dur="1" fill="hold"/>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nodeType="withEffect">
                            <p:stCondLst>
                              <p:cond delay="2500"/>
                            </p:stCondLst>
                            <p:childTnLst>
                              <p:set>
                                <p:cBhvr>
                                  <p:cTn id="26" dur="1" fill="hold"/>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10" presetClass="entr" presetSubtype="0" fill="hold" nodeType="withEffect">
                            <p:stCondLst>
                              <p:cond delay="0"/>
                            </p:stCondLst>
                            <p:childTnLst>
                              <p:set>
                                <p:cBhvr>
                                  <p:cTn id="32" dur="1" fill="hold"/>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nodeType="withEffect">
                            <p:stCondLst>
                              <p:cond delay="2500"/>
                            </p:stCondLst>
                            <p:childTnLst>
                              <p:set>
                                <p:cBhvr>
                                  <p:cTn id="35" dur="1" fill="hold"/>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2500"/>
                            </p:stCondLst>
                            <p:childTnLst>
                              <p:set>
                                <p:cBhvr>
                                  <p:cTn id="38" dur="1" fill="hold"/>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nodeType="withEffect">
                            <p:stCondLst>
                              <p:cond delay="2500"/>
                            </p:stCondLst>
                            <p:childTnLst>
                              <p:set>
                                <p:cBhvr>
                                  <p:cTn id="41" dur="1" fill="hold"/>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nodeType="withEffect">
                            <p:stCondLst>
                              <p:cond delay="2500"/>
                            </p:stCondLst>
                            <p:childTnLst>
                              <p:set>
                                <p:cBhvr>
                                  <p:cTn id="44" dur="1" fill="hold"/>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nodeType="withEffect">
                            <p:stCondLst>
                              <p:cond delay="2500"/>
                            </p:stCondLst>
                            <p:childTnLst>
                              <p:set>
                                <p:cBhvr>
                                  <p:cTn id="47" dur="1" fill="hold"/>
                                  <p:tgtEl>
                                    <p:spTgt spid="30"/>
                                  </p:tgtEl>
                                  <p:attrNameLst>
                                    <p:attrName>style.visibility</p:attrName>
                                  </p:attrNameLst>
                                </p:cBhvr>
                                <p:to>
                                  <p:strVal val="visible"/>
                                </p:to>
                              </p:set>
                              <p:animEffect transition="in" filter="fade">
                                <p:cBhvr>
                                  <p:cTn id="48" dur="500"/>
                                  <p:tgtEl>
                                    <p:spTgt spid="30"/>
                                  </p:tgtEl>
                                </p:cBhvr>
                              </p:animEffect>
                            </p:childTnLst>
                          </p:cTn>
                        </p:par>
                        <p:par>
                          <p:cTn id="49" presetID="10" presetClass="entr" presetSubtype="0" fill="hold" nodeType="withEffect">
                            <p:stCondLst>
                              <p:cond delay="3750"/>
                            </p:stCondLst>
                            <p:childTnLst>
                              <p:set>
                                <p:cBhvr>
                                  <p:cTn id="50" dur="1" fill="hold"/>
                                  <p:tgtEl>
                                    <p:spTgt spid="31"/>
                                  </p:tgtEl>
                                  <p:attrNameLst>
                                    <p:attrName>style.visibility</p:attrName>
                                  </p:attrNameLst>
                                </p:cBhvr>
                                <p:to>
                                  <p:strVal val="visible"/>
                                </p:to>
                              </p:set>
                              <p:animEffect transition="in" filter="fade">
                                <p:cBhvr>
                                  <p:cTn id="51" dur="500"/>
                                  <p:tgtEl>
                                    <p:spTgt spid="31"/>
                                  </p:tgtEl>
                                </p:cBhvr>
                              </p:animEffect>
                            </p:childTnLst>
                          </p:cTn>
                        </p:par>
                        <p:par>
                          <p:cTn id="52" presetID="10" presetClass="entr" presetSubtype="0" fill="hold" nodeType="withEffect">
                            <p:stCondLst>
                              <p:cond delay="3750"/>
                            </p:stCondLst>
                            <p:childTnLst>
                              <p:set>
                                <p:cBhvr>
                                  <p:cTn id="53" dur="1" fill="hold"/>
                                  <p:tgtEl>
                                    <p:spTgt spid="32"/>
                                  </p:tgtEl>
                                  <p:attrNameLst>
                                    <p:attrName>style.visibility</p:attrName>
                                  </p:attrNameLst>
                                </p:cBhvr>
                                <p:to>
                                  <p:strVal val="visible"/>
                                </p:to>
                              </p:set>
                              <p:animEffect transition="in" filter="fade">
                                <p:cBhvr>
                                  <p:cTn id="54" dur="500"/>
                                  <p:tgtEl>
                                    <p:spTgt spid="32"/>
                                  </p:tgtEl>
                                </p:cBhvr>
                              </p:animEffect>
                            </p:childTnLst>
                          </p:cTn>
                        </p:par>
                        <p:par>
                          <p:cTn id="55" presetID="10" presetClass="entr" presetSubtype="0" fill="hold" nodeType="withEffect">
                            <p:stCondLst>
                              <p:cond delay="3750"/>
                            </p:stCondLst>
                            <p:childTnLst>
                              <p:set>
                                <p:cBhvr>
                                  <p:cTn id="56" dur="1" fill="hold"/>
                                  <p:tgtEl>
                                    <p:spTgt spid="33"/>
                                  </p:tgtEl>
                                  <p:attrNameLst>
                                    <p:attrName>style.visibility</p:attrName>
                                  </p:attrNameLst>
                                </p:cBhvr>
                                <p:to>
                                  <p:strVal val="visible"/>
                                </p:to>
                              </p:set>
                              <p:animEffect transition="in" filter="fade">
                                <p:cBhvr>
                                  <p:cTn id="57" dur="500"/>
                                  <p:tgtEl>
                                    <p:spTgt spid="33"/>
                                  </p:tgtEl>
                                </p:cBhvr>
                              </p:animEffect>
                            </p:childTnLst>
                          </p:cTn>
                        </p:par>
                        <p:par>
                          <p:cTn id="58" presetID="10" presetClass="entr" presetSubtype="0" fill="hold" nodeType="withEffect">
                            <p:stCondLst>
                              <p:cond delay="3750"/>
                            </p:stCondLst>
                            <p:childTnLst>
                              <p:set>
                                <p:cBhvr>
                                  <p:cTn id="59" dur="1" fill="hold"/>
                                  <p:tgtEl>
                                    <p:spTgt spid="34"/>
                                  </p:tgtEl>
                                  <p:attrNameLst>
                                    <p:attrName>style.visibility</p:attrName>
                                  </p:attrNameLst>
                                </p:cBhvr>
                                <p:to>
                                  <p:strVal val="visible"/>
                                </p:to>
                              </p:set>
                              <p:animEffect transition="in" filter="fade">
                                <p:cBhvr>
                                  <p:cTn id="60" dur="500"/>
                                  <p:tgtEl>
                                    <p:spTgt spid="3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571500" y="292100"/>
            <a:ext cx="409575" cy="273050"/>
          </a:xfrm>
          <a:prstGeom prst="rect">
            <a:avLst/>
          </a:prstGeom>
          <a:effectLst/>
        </p:spPr>
      </p:pic>
      <p:sp>
        <p:nvSpPr>
          <p:cNvPr id="3" name="TextBox 2"/>
          <p:cNvSpPr txBox="1"/>
          <p:nvPr/>
        </p:nvSpPr>
        <p:spPr>
          <a:xfrm>
            <a:off x="1095375" y="323850"/>
            <a:ext cx="1466850" cy="2571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1" lang="en-US">
                <a:solidFill>
                  <a:srgbClr val="29302D"/>
                </a:solidFill>
                <a:latin typeface="Manrope"/>
              </a:rPr>
              <a:t>GRINDCTRL</a:t>
            </a:r>
          </a:p>
        </p:txBody>
      </p:sp>
      <p:sp>
        <p:nvSpPr>
          <p:cNvPr id="4" name="TextBox 3"/>
          <p:cNvSpPr txBox="1"/>
          <p:nvPr/>
        </p:nvSpPr>
        <p:spPr>
          <a:xfrm>
            <a:off x="7448550" y="333375"/>
            <a:ext cx="4171950" cy="247650"/>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02 · PROPOSED EXPERIENCE</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9302D"/>
                </a:solidFill>
                <a:latin typeface="Manrope"/>
              </a:rPr>
              <a:t>The call arrives. The context comes with it.</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716B"/>
                </a:solidFill>
                <a:latin typeface="Manrope"/>
              </a:rPr>
              <a:t>The caller’s number triggers the lookup in Zoho Desk.</a:t>
            </a:r>
          </a:p>
        </p:txBody>
      </p:sp>
      <p:cxnSp>
        <p:nvCxnSpPr>
          <p:cNvPr id="7" name="Connector 6"/>
          <p:cNvCxnSpPr/>
          <p:nvPr/>
        </p:nvCxnSpPr>
        <p:spPr>
          <a:xfrm>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1500" y="6534150"/>
            <a:ext cx="9525000" cy="219075"/>
          </a:xfrm>
          <a:prstGeom prst="rect">
            <a:avLst/>
          </a:prstGeom>
          <a:noFill/>
          <a:effectLst/>
        </p:spPr>
        <p:txBody>
          <a:bodyPr wrap="square" lIns="0" rIns="0" tIns="0" bIns="0" anchor="t">
            <a:spAutoFit/>
          </a:bodyPr>
          <a:lstStyle/>
          <a:p>
            <a:pPr algn="l" rtl="0">
              <a:lnSpc>
                <a:spcPts val="1008"/>
              </a:lnSpc>
              <a:spcBef>
                <a:spcPts val="0"/>
              </a:spcBef>
              <a:spcAft>
                <a:spcPts val="0"/>
              </a:spcAft>
            </a:pPr>
            <a:r>
              <a:rPr sz="900" b="0" lang="en-US">
                <a:solidFill>
                  <a:srgbClr val="68716B"/>
                </a:solidFill>
                <a:latin typeface="Manrope"/>
              </a:rPr>
              <a:t>CONCRETE · PROPOSED COLLABORATION</a:t>
            </a:r>
          </a:p>
        </p:txBody>
      </p:sp>
      <p:sp>
        <p:nvSpPr>
          <p:cNvPr id="9" name="TextBox 8"/>
          <p:cNvSpPr txBox="1"/>
          <p:nvPr/>
        </p:nvSpPr>
        <p:spPr>
          <a:xfrm>
            <a:off x="10782300" y="6515100"/>
            <a:ext cx="838200" cy="238125"/>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03 / 09</a:t>
            </a:r>
          </a:p>
        </p:txBody>
      </p:sp>
      <p:sp>
        <p:nvSpPr>
          <p:cNvPr id="10" name="Rounded Rectangle 9"/>
          <p:cNvSpPr/>
          <p:nvPr/>
        </p:nvSpPr>
        <p:spPr>
          <a:xfrm>
            <a:off x="581025" y="2305050"/>
            <a:ext cx="11049000" cy="3333750"/>
          </a:xfrm>
          <a:prstGeom prst="roundRect">
            <a:avLst>
              <a:gd name="adj" fmla="val 4571"/>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57425"/>
            <a:ext cx="11049000" cy="3333750"/>
          </a:xfrm>
          <a:prstGeom prst="roundRect">
            <a:avLst>
              <a:gd name="adj" fmla="val 4571"/>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png"/>
          <p:cNvPicPr>
            <a:picLocks noChangeAspect="1"/>
          </p:cNvPicPr>
          <p:nvPr/>
        </p:nvPicPr>
        <p:blipFill>
          <a:blip r:embed="rId3"/>
          <a:stretch>
            <a:fillRect/>
          </a:stretch>
        </p:blipFill>
        <p:spPr>
          <a:xfrm>
            <a:off x="819150" y="2494375"/>
            <a:ext cx="1381125" cy="269050"/>
          </a:xfrm>
          <a:prstGeom prst="rect">
            <a:avLst/>
          </a:prstGeom>
          <a:effectLst/>
        </p:spPr>
      </p:pic>
      <p:sp>
        <p:nvSpPr>
          <p:cNvPr id="13" name="Oval 12"/>
          <p:cNvSpPr/>
          <p:nvPr/>
        </p:nvSpPr>
        <p:spPr>
          <a:xfrm>
            <a:off x="2505075" y="2600325"/>
            <a:ext cx="66675" cy="66675"/>
          </a:xfrm>
          <a:prstGeom prst="ellipse">
            <a:avLst/>
          </a:prstGeom>
          <a:solidFill>
            <a:srgbClr val="54745C"/>
          </a:solidFill>
          <a:ln w="9525">
            <a:solidFill>
              <a:srgbClr val="54745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2667000" y="2533650"/>
            <a:ext cx="4886325" cy="27622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0" lang="en-US">
                <a:solidFill>
                  <a:srgbClr val="54745C"/>
                </a:solidFill>
                <a:latin typeface="Manrope"/>
              </a:rPr>
              <a:t>Call assigned to employee</a:t>
            </a:r>
          </a:p>
        </p:txBody>
      </p:sp>
      <p:sp>
        <p:nvSpPr>
          <p:cNvPr id="15" name="TextBox 14"/>
          <p:cNvSpPr txBox="1"/>
          <p:nvPr/>
        </p:nvSpPr>
        <p:spPr>
          <a:xfrm>
            <a:off x="8705850" y="2552700"/>
            <a:ext cx="2686050" cy="257175"/>
          </a:xfrm>
          <a:prstGeom prst="rect">
            <a:avLst/>
          </a:prstGeom>
          <a:noFill/>
          <a:effectLst/>
        </p:spPr>
        <p:txBody>
          <a:bodyPr wrap="square" lIns="0" rIns="0" tIns="0" bIns="0" anchor="t">
            <a:spAutoFit/>
          </a:bodyPr>
          <a:lstStyle/>
          <a:p>
            <a:pPr algn="r" rtl="0">
              <a:lnSpc>
                <a:spcPts val="1092"/>
              </a:lnSpc>
              <a:spcBef>
                <a:spcPts val="0"/>
              </a:spcBef>
              <a:spcAft>
                <a:spcPts val="0"/>
              </a:spcAft>
            </a:pPr>
            <a:r>
              <a:rPr sz="975" b="0" lang="en-US">
                <a:solidFill>
                  <a:srgbClr val="68716B"/>
                </a:solidFill>
                <a:latin typeface="Manrope"/>
              </a:rPr>
              <a:t>PROPOSED WORKSPACE</a:t>
            </a:r>
          </a:p>
        </p:txBody>
      </p:sp>
      <p:cxnSp>
        <p:nvCxnSpPr>
          <p:cNvPr id="16" name="Connector 15"/>
          <p:cNvCxnSpPr/>
          <p:nvPr/>
        </p:nvCxnSpPr>
        <p:spPr>
          <a:xfrm>
            <a:off x="571500" y="30099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7" name="Oval 16"/>
          <p:cNvSpPr/>
          <p:nvPr/>
        </p:nvSpPr>
        <p:spPr>
          <a:xfrm>
            <a:off x="838200" y="3486150"/>
            <a:ext cx="533400" cy="53340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icon-call.png"/>
          <p:cNvPicPr>
            <a:picLocks noChangeAspect="1"/>
          </p:cNvPicPr>
          <p:nvPr/>
        </p:nvPicPr>
        <p:blipFill>
          <a:blip r:embed="rId4"/>
          <a:stretch>
            <a:fillRect/>
          </a:stretch>
        </p:blipFill>
        <p:spPr>
          <a:xfrm>
            <a:off x="933450" y="3581400"/>
            <a:ext cx="342900" cy="342900"/>
          </a:xfrm>
          <a:prstGeom prst="rect">
            <a:avLst/>
          </a:prstGeom>
          <a:effectLst/>
        </p:spPr>
      </p:pic>
      <p:sp>
        <p:nvSpPr>
          <p:cNvPr id="19" name="TextBox 18"/>
          <p:cNvSpPr txBox="1"/>
          <p:nvPr/>
        </p:nvSpPr>
        <p:spPr>
          <a:xfrm>
            <a:off x="838200" y="4257675"/>
            <a:ext cx="2762250" cy="400050"/>
          </a:xfrm>
          <a:prstGeom prst="rect">
            <a:avLst/>
          </a:prstGeom>
          <a:noFill/>
          <a:effectLst/>
        </p:spPr>
        <p:txBody>
          <a:bodyPr wrap="square" lIns="0" rIns="0" tIns="0" bIns="0" anchor="t">
            <a:spAutoFit/>
          </a:bodyPr>
          <a:lstStyle/>
          <a:p>
            <a:pPr algn="l" rtl="0">
              <a:lnSpc>
                <a:spcPts val="2436"/>
              </a:lnSpc>
              <a:spcBef>
                <a:spcPts val="0"/>
              </a:spcBef>
              <a:spcAft>
                <a:spcPts val="0"/>
              </a:spcAft>
            </a:pPr>
            <a:r>
              <a:rPr sz="2175" b="0" lang="en-US">
                <a:solidFill>
                  <a:srgbClr val="29302D"/>
                </a:solidFill>
                <a:latin typeface="Manrope"/>
              </a:rPr>
              <a:t>+20 ••• 410</a:t>
            </a:r>
          </a:p>
        </p:txBody>
      </p:sp>
      <p:sp>
        <p:nvSpPr>
          <p:cNvPr id="20" name="TextBox 19"/>
          <p:cNvSpPr txBox="1"/>
          <p:nvPr/>
        </p:nvSpPr>
        <p:spPr>
          <a:xfrm>
            <a:off x="838200" y="4772025"/>
            <a:ext cx="276225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Caller number available</a:t>
            </a:r>
          </a:p>
        </p:txBody>
      </p:sp>
      <p:cxnSp>
        <p:nvCxnSpPr>
          <p:cNvPr id="21" name="Connector 20"/>
          <p:cNvCxnSpPr/>
          <p:nvPr/>
        </p:nvCxnSpPr>
        <p:spPr>
          <a:xfrm>
            <a:off x="3714750" y="4238625"/>
            <a:ext cx="904875" cy="0"/>
          </a:xfrm>
          <a:prstGeom prst="line">
            <a:avLst/>
          </a:prstGeom>
          <a:ln w="23812">
            <a:solidFill>
              <a:srgbClr val="54745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3638550" y="3743325"/>
            <a:ext cx="1066800" cy="266700"/>
          </a:xfrm>
          <a:prstGeom prst="rect">
            <a:avLst/>
          </a:prstGeom>
          <a:noFill/>
          <a:effectLst/>
        </p:spPr>
        <p:txBody>
          <a:bodyPr wrap="square" lIns="0" rIns="0" tIns="0" bIns="0" anchor="t">
            <a:spAutoFit/>
          </a:bodyPr>
          <a:lstStyle/>
          <a:p>
            <a:pPr algn="ctr" rtl="0">
              <a:lnSpc>
                <a:spcPts val="1344"/>
              </a:lnSpc>
              <a:spcBef>
                <a:spcPts val="0"/>
              </a:spcBef>
              <a:spcAft>
                <a:spcPts val="0"/>
              </a:spcAft>
            </a:pPr>
            <a:r>
              <a:rPr sz="1200" b="1" lang="en-US">
                <a:solidFill>
                  <a:srgbClr val="54745C"/>
                </a:solidFill>
                <a:latin typeface="Manrope"/>
              </a:rPr>
              <a:t>Auto lookup</a:t>
            </a:r>
          </a:p>
        </p:txBody>
      </p:sp>
      <p:cxnSp>
        <p:nvCxnSpPr>
          <p:cNvPr id="23" name="Connector 22"/>
          <p:cNvCxnSpPr/>
          <p:nvPr/>
        </p:nvCxnSpPr>
        <p:spPr>
          <a:xfrm>
            <a:off x="4857750" y="3228975"/>
            <a:ext cx="0" cy="20955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24" name="Picture 23" descr="zoho.png"/>
          <p:cNvPicPr>
            <a:picLocks noChangeAspect="1"/>
          </p:cNvPicPr>
          <p:nvPr/>
        </p:nvPicPr>
        <p:blipFill>
          <a:blip r:embed="rId5"/>
          <a:stretch>
            <a:fillRect/>
          </a:stretch>
        </p:blipFill>
        <p:spPr>
          <a:xfrm>
            <a:off x="5214331" y="3248025"/>
            <a:ext cx="753687" cy="323850"/>
          </a:xfrm>
          <a:prstGeom prst="rect">
            <a:avLst/>
          </a:prstGeom>
          <a:effectLst/>
        </p:spPr>
      </p:pic>
      <p:sp>
        <p:nvSpPr>
          <p:cNvPr id="25" name="TextBox 24"/>
          <p:cNvSpPr txBox="1"/>
          <p:nvPr/>
        </p:nvSpPr>
        <p:spPr>
          <a:xfrm>
            <a:off x="6229350" y="3276600"/>
            <a:ext cx="5076825" cy="29527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1" lang="en-US">
                <a:solidFill>
                  <a:srgbClr val="29302D"/>
                </a:solidFill>
                <a:latin typeface="Manrope"/>
              </a:rPr>
              <a:t>Desk records found</a:t>
            </a:r>
          </a:p>
        </p:txBody>
      </p:sp>
      <p:sp>
        <p:nvSpPr>
          <p:cNvPr id="26" name="Rounded Rectangle 25"/>
          <p:cNvSpPr/>
          <p:nvPr/>
        </p:nvSpPr>
        <p:spPr>
          <a:xfrm>
            <a:off x="5143500" y="3800475"/>
            <a:ext cx="2905125" cy="1266825"/>
          </a:xfrm>
          <a:prstGeom prst="roundRect">
            <a:avLst>
              <a:gd name="adj" fmla="val 7518"/>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5314950" y="3952875"/>
            <a:ext cx="2562225" cy="2476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1" lang="en-US">
                <a:solidFill>
                  <a:srgbClr val="68716B"/>
                </a:solidFill>
                <a:latin typeface="Manrope"/>
              </a:rPr>
              <a:t>T101</a:t>
            </a:r>
          </a:p>
        </p:txBody>
      </p:sp>
      <p:sp>
        <p:nvSpPr>
          <p:cNvPr id="28" name="TextBox 27"/>
          <p:cNvSpPr txBox="1"/>
          <p:nvPr/>
        </p:nvSpPr>
        <p:spPr>
          <a:xfrm>
            <a:off x="5314950" y="4267200"/>
            <a:ext cx="2562225" cy="333375"/>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9302D"/>
                </a:solidFill>
                <a:latin typeface="Manrope"/>
              </a:rPr>
              <a:t>Exchange follow-up</a:t>
            </a:r>
          </a:p>
        </p:txBody>
      </p:sp>
      <p:sp>
        <p:nvSpPr>
          <p:cNvPr id="29" name="TextBox 28"/>
          <p:cNvSpPr txBox="1"/>
          <p:nvPr/>
        </p:nvSpPr>
        <p:spPr>
          <a:xfrm>
            <a:off x="5314950" y="4676775"/>
            <a:ext cx="2562225" cy="2857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9F5836"/>
                </a:solidFill>
                <a:latin typeface="Manrope"/>
              </a:rPr>
              <a:t>Waiting on branch</a:t>
            </a:r>
          </a:p>
        </p:txBody>
      </p:sp>
      <p:sp>
        <p:nvSpPr>
          <p:cNvPr id="30" name="Oval 29"/>
          <p:cNvSpPr/>
          <p:nvPr/>
        </p:nvSpPr>
        <p:spPr>
          <a:xfrm>
            <a:off x="8334375" y="3838575"/>
            <a:ext cx="381000" cy="38100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334375" y="3914775"/>
            <a:ext cx="381000" cy="34290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en-US">
                <a:solidFill>
                  <a:srgbClr val="54745C"/>
                </a:solidFill>
                <a:latin typeface="Manrope"/>
              </a:rPr>
              <a:t>A</a:t>
            </a:r>
          </a:p>
        </p:txBody>
      </p:sp>
      <p:sp>
        <p:nvSpPr>
          <p:cNvPr id="32" name="TextBox 31"/>
          <p:cNvSpPr txBox="1"/>
          <p:nvPr/>
        </p:nvSpPr>
        <p:spPr>
          <a:xfrm>
            <a:off x="8867775" y="3867150"/>
            <a:ext cx="2400300" cy="3143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9302D"/>
                </a:solidFill>
                <a:latin typeface="Manrope"/>
              </a:rPr>
              <a:t>Contact A</a:t>
            </a:r>
          </a:p>
        </p:txBody>
      </p:sp>
      <p:sp>
        <p:nvSpPr>
          <p:cNvPr id="33" name="TextBox 32"/>
          <p:cNvSpPr txBox="1"/>
          <p:nvPr/>
        </p:nvSpPr>
        <p:spPr>
          <a:xfrm>
            <a:off x="8334375" y="4371975"/>
            <a:ext cx="2981325" cy="257175"/>
          </a:xfrm>
          <a:prstGeom prst="rect">
            <a:avLst/>
          </a:prstGeom>
          <a:noFill/>
          <a:effectLst/>
        </p:spPr>
        <p:txBody>
          <a:bodyPr wrap="square" lIns="0" rIns="0" tIns="0" bIns="0" anchor="t">
            <a:spAutoFit/>
          </a:bodyPr>
          <a:lstStyle/>
          <a:p>
            <a:pPr algn="l" rtl="0">
              <a:lnSpc>
                <a:spcPts val="1092"/>
              </a:lnSpc>
              <a:spcBef>
                <a:spcPts val="0"/>
              </a:spcBef>
              <a:spcAft>
                <a:spcPts val="0"/>
              </a:spcAft>
            </a:pPr>
            <a:r>
              <a:rPr sz="975" b="1" lang="en-US">
                <a:solidFill>
                  <a:srgbClr val="68716B"/>
                </a:solidFill>
                <a:latin typeface="Manrope"/>
              </a:rPr>
              <a:t>LATEST RECORDED NOTE</a:t>
            </a:r>
          </a:p>
        </p:txBody>
      </p:sp>
      <p:sp>
        <p:nvSpPr>
          <p:cNvPr id="34" name="TextBox 33"/>
          <p:cNvSpPr txBox="1"/>
          <p:nvPr/>
        </p:nvSpPr>
        <p:spPr>
          <a:xfrm>
            <a:off x="8334375" y="4648200"/>
            <a:ext cx="2981325" cy="6667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29302D"/>
                </a:solidFill>
                <a:latin typeface="Manrope"/>
              </a:rPr>
              <a:t>Branch review is</a:t>
            </a:r>
          </a:p>
          <a:p>
            <a:pPr algn="l" rtl="0">
              <a:lnSpc>
                <a:spcPts val="1764"/>
              </a:lnSpc>
              <a:spcBef>
                <a:spcPts val="0"/>
              </a:spcBef>
              <a:spcAft>
                <a:spcPts val="0"/>
              </a:spcAft>
            </a:pPr>
            <a:r>
              <a:rPr sz="1575" b="0" lang="en-US">
                <a:solidFill>
                  <a:srgbClr val="29302D"/>
                </a:solidFill>
                <a:latin typeface="Manrope"/>
              </a:rPr>
              <a:t>still pending.</a:t>
            </a:r>
          </a:p>
        </p:txBody>
      </p:sp>
      <p:pic>
        <p:nvPicPr>
          <p:cNvPr id="35" name="Picture 34" descr="icon-actor.png"/>
          <p:cNvPicPr>
            <a:picLocks noChangeAspect="1"/>
          </p:cNvPicPr>
          <p:nvPr/>
        </p:nvPicPr>
        <p:blipFill>
          <a:blip r:embed="rId6"/>
          <a:stretch>
            <a:fillRect/>
          </a:stretch>
        </p:blipFill>
        <p:spPr>
          <a:xfrm>
            <a:off x="723900" y="5857875"/>
            <a:ext cx="276225" cy="276225"/>
          </a:xfrm>
          <a:prstGeom prst="rect">
            <a:avLst/>
          </a:prstGeom>
          <a:effectLst/>
        </p:spPr>
      </p:pic>
      <p:sp>
        <p:nvSpPr>
          <p:cNvPr id="36" name="TextBox 35"/>
          <p:cNvSpPr txBox="1"/>
          <p:nvPr/>
        </p:nvSpPr>
        <p:spPr>
          <a:xfrm>
            <a:off x="1162050" y="5810250"/>
            <a:ext cx="10382250" cy="409575"/>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0" lang="en-US">
                <a:solidFill>
                  <a:srgbClr val="54745C"/>
                </a:solidFill>
                <a:latin typeface="Manrope"/>
              </a:rPr>
              <a:t>“I can see your earlier ticket. The branch review is still pending.”</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00"/>
                                  <p:tgtEl>
                                    <p:spTgt spid="12"/>
                                  </p:tgtEl>
                                </p:cBhvr>
                              </p:animEffect>
                            </p:childTnLst>
                          </p:cTn>
                        </p:par>
                        <p:par>
                          <p:cTn id="7" presetID="10" presetClass="entr" presetSubtype="0" fill="hold" nodeType="withEffect">
                            <p:stCondLst>
                              <p:cond delay="0"/>
                            </p:stCondLst>
                            <p:childTnLst>
                              <p:set>
                                <p:cBhvr>
                                  <p:cTn id="8" dur="1" fill="hold"/>
                                  <p:tgtEl>
                                    <p:spTgt spid="13"/>
                                  </p:tgtEl>
                                  <p:attrNameLst>
                                    <p:attrName>style.visibility</p:attrName>
                                  </p:attrNameLst>
                                </p:cBhvr>
                                <p:to>
                                  <p:strVal val="visible"/>
                                </p:to>
                              </p:set>
                              <p:animEffect transition="in" filter="fade">
                                <p:cBhvr>
                                  <p:cTn id="9" dur="500"/>
                                  <p:tgtEl>
                                    <p:spTgt spid="13"/>
                                  </p:tgtEl>
                                </p:cBhvr>
                              </p:animEffect>
                            </p:childTnLst>
                          </p:cTn>
                        </p:par>
                        <p:par>
                          <p:cTn id="10" presetID="10" presetClass="entr" presetSubtype="0" fill="hold" nodeType="withEffect">
                            <p:stCondLst>
                              <p:cond delay="0"/>
                            </p:stCondLst>
                            <p:childTnLst>
                              <p:set>
                                <p:cBhvr>
                                  <p:cTn id="11" dur="1" fill="hold"/>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nodeType="withEffect">
                            <p:stCondLst>
                              <p:cond delay="1250"/>
                            </p:stCondLst>
                            <p:childTnLst>
                              <p:set>
                                <p:cBhvr>
                                  <p:cTn id="20" dur="1" fill="hold"/>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1250"/>
                            </p:stCondLst>
                            <p:childTnLst>
                              <p:set>
                                <p:cBhvr>
                                  <p:cTn id="23" dur="1" fill="hold"/>
                                  <p:tgtEl>
                                    <p:spTgt spid="20"/>
                                  </p:tgtEl>
                                  <p:attrNameLst>
                                    <p:attrName>style.visibility</p:attrName>
                                  </p:attrNameLst>
                                </p:cBhvr>
                                <p:to>
                                  <p:strVal val="visible"/>
                                </p:to>
                              </p:set>
                              <p:animEffect transition="in" filter="fade">
                                <p:cBhvr>
                                  <p:cTn id="24" dur="500"/>
                                  <p:tgtEl>
                                    <p:spTgt spid="20"/>
                                  </p:tgtEl>
                                </p:cBhvr>
                              </p:animEffect>
                            </p:childTnLst>
                          </p:cTn>
                        </p:par>
                        <p:par>
                          <p:cTn id="25" presetID="10" presetClass="entr" presetSubtype="0" fill="hold" nodeType="withEffect">
                            <p:stCondLst>
                              <p:cond delay="2500"/>
                            </p:stCondLst>
                            <p:childTnLst>
                              <p:set>
                                <p:cBhvr>
                                  <p:cTn id="26" dur="1" fill="hold"/>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nodeType="withEffect">
                            <p:stCondLst>
                              <p:cond delay="2500"/>
                            </p:stCondLst>
                            <p:childTnLst>
                              <p:set>
                                <p:cBhvr>
                                  <p:cTn id="29" dur="1" fill="hold"/>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10" presetClass="entr" presetSubtype="0" fill="hold" nodeType="withEffect">
                            <p:stCondLst>
                              <p:cond delay="3750"/>
                            </p:stCondLst>
                            <p:childTnLst>
                              <p:set>
                                <p:cBhvr>
                                  <p:cTn id="32" dur="1" fill="hold"/>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nodeType="withEffect">
                            <p:stCondLst>
                              <p:cond delay="3750"/>
                            </p:stCondLst>
                            <p:childTnLst>
                              <p:set>
                                <p:cBhvr>
                                  <p:cTn id="35" dur="1" fill="hold"/>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3750"/>
                            </p:stCondLst>
                            <p:childTnLst>
                              <p:set>
                                <p:cBhvr>
                                  <p:cTn id="38" dur="1" fill="hold"/>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nodeType="withEffect">
                            <p:stCondLst>
                              <p:cond delay="3750"/>
                            </p:stCondLst>
                            <p:childTnLst>
                              <p:set>
                                <p:cBhvr>
                                  <p:cTn id="41" dur="1" fill="hold"/>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nodeType="withEffect">
                            <p:stCondLst>
                              <p:cond delay="3750"/>
                            </p:stCondLst>
                            <p:childTnLst>
                              <p:set>
                                <p:cBhvr>
                                  <p:cTn id="44" dur="1" fill="hold"/>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nodeType="withEffect">
                            <p:stCondLst>
                              <p:cond delay="3750"/>
                            </p:stCondLst>
                            <p:childTnLst>
                              <p:set>
                                <p:cBhvr>
                                  <p:cTn id="47" dur="1" fill="hold"/>
                                  <p:tgtEl>
                                    <p:spTgt spid="29"/>
                                  </p:tgtEl>
                                  <p:attrNameLst>
                                    <p:attrName>style.visibility</p:attrName>
                                  </p:attrNameLst>
                                </p:cBhvr>
                                <p:to>
                                  <p:strVal val="visible"/>
                                </p:to>
                              </p:set>
                              <p:animEffect transition="in" filter="fade">
                                <p:cBhvr>
                                  <p:cTn id="48" dur="500"/>
                                  <p:tgtEl>
                                    <p:spTgt spid="29"/>
                                  </p:tgtEl>
                                </p:cBhvr>
                              </p:animEffect>
                            </p:childTnLst>
                          </p:cTn>
                        </p:par>
                        <p:par>
                          <p:cTn id="49" presetID="10" presetClass="entr" presetSubtype="0" fill="hold" nodeType="withEffect">
                            <p:stCondLst>
                              <p:cond delay="5000"/>
                            </p:stCondLst>
                            <p:childTnLst>
                              <p:set>
                                <p:cBhvr>
                                  <p:cTn id="50" dur="1" fill="hold"/>
                                  <p:tgtEl>
                                    <p:spTgt spid="30"/>
                                  </p:tgtEl>
                                  <p:attrNameLst>
                                    <p:attrName>style.visibility</p:attrName>
                                  </p:attrNameLst>
                                </p:cBhvr>
                                <p:to>
                                  <p:strVal val="visible"/>
                                </p:to>
                              </p:set>
                              <p:animEffect transition="in" filter="fade">
                                <p:cBhvr>
                                  <p:cTn id="51" dur="500"/>
                                  <p:tgtEl>
                                    <p:spTgt spid="30"/>
                                  </p:tgtEl>
                                </p:cBhvr>
                              </p:animEffect>
                            </p:childTnLst>
                          </p:cTn>
                        </p:par>
                        <p:par>
                          <p:cTn id="52" presetID="10" presetClass="entr" presetSubtype="0" fill="hold" nodeType="withEffect">
                            <p:stCondLst>
                              <p:cond delay="5000"/>
                            </p:stCondLst>
                            <p:childTnLst>
                              <p:set>
                                <p:cBhvr>
                                  <p:cTn id="53" dur="1" fill="hold"/>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nodeType="withEffect">
                            <p:stCondLst>
                              <p:cond delay="5000"/>
                            </p:stCondLst>
                            <p:childTnLst>
                              <p:set>
                                <p:cBhvr>
                                  <p:cTn id="56" dur="1" fill="hold"/>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nodeType="withEffect">
                            <p:stCondLst>
                              <p:cond delay="5000"/>
                            </p:stCondLst>
                            <p:childTnLst>
                              <p:set>
                                <p:cBhvr>
                                  <p:cTn id="59" dur="1" fill="hold"/>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nodeType="withEffect">
                            <p:stCondLst>
                              <p:cond delay="5000"/>
                            </p:stCondLst>
                            <p:childTnLst>
                              <p:set>
                                <p:cBhvr>
                                  <p:cTn id="62" dur="1" fill="hold"/>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nodeType="withEffect">
                            <p:stCondLst>
                              <p:cond delay="6250"/>
                            </p:stCondLst>
                            <p:childTnLst>
                              <p:set>
                                <p:cBhvr>
                                  <p:cTn id="65" dur="1" fill="hold"/>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10" presetClass="entr" presetSubtype="0" fill="hold" nodeType="withEffect">
                            <p:stCondLst>
                              <p:cond delay="6250"/>
                            </p:stCondLst>
                            <p:childTnLst>
                              <p:set>
                                <p:cBhvr>
                                  <p:cTn id="68" dur="1" fill="hold"/>
                                  <p:tgtEl>
                                    <p:spTgt spid="36"/>
                                  </p:tgtEl>
                                  <p:attrNameLst>
                                    <p:attrName>style.visibility</p:attrName>
                                  </p:attrNameLst>
                                </p:cBhvr>
                                <p:to>
                                  <p:strVal val="visible"/>
                                </p:to>
                              </p:set>
                              <p:animEffect transition="in" filter="fade">
                                <p:cBhvr>
                                  <p:cTn id="69" dur="500"/>
                                  <p:tgtEl>
                                    <p:spTgt spid="3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571500" y="292100"/>
            <a:ext cx="409575" cy="273050"/>
          </a:xfrm>
          <a:prstGeom prst="rect">
            <a:avLst/>
          </a:prstGeom>
          <a:effectLst/>
        </p:spPr>
      </p:pic>
      <p:sp>
        <p:nvSpPr>
          <p:cNvPr id="3" name="TextBox 2"/>
          <p:cNvSpPr txBox="1"/>
          <p:nvPr/>
        </p:nvSpPr>
        <p:spPr>
          <a:xfrm>
            <a:off x="1095375" y="323850"/>
            <a:ext cx="1466850" cy="2571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1" lang="en-US">
                <a:solidFill>
                  <a:srgbClr val="29302D"/>
                </a:solidFill>
                <a:latin typeface="Manrope"/>
              </a:rPr>
              <a:t>GRINDCTRL</a:t>
            </a:r>
          </a:p>
        </p:txBody>
      </p:sp>
      <p:sp>
        <p:nvSpPr>
          <p:cNvPr id="4" name="TextBox 3"/>
          <p:cNvSpPr txBox="1"/>
          <p:nvPr/>
        </p:nvSpPr>
        <p:spPr>
          <a:xfrm>
            <a:off x="7448550" y="333375"/>
            <a:ext cx="4171950" cy="247650"/>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03 · HOW IT WORKS</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9302D"/>
                </a:solidFill>
                <a:latin typeface="Manrope"/>
              </a:rPr>
              <a:t>Connect the call to the service history.</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716B"/>
                </a:solidFill>
                <a:latin typeface="Manrope"/>
              </a:rPr>
              <a:t>Each system keeps its role. GRINDCTRL completes the workflow.</a:t>
            </a:r>
          </a:p>
        </p:txBody>
      </p:sp>
      <p:cxnSp>
        <p:nvCxnSpPr>
          <p:cNvPr id="7" name="Connector 6"/>
          <p:cNvCxnSpPr/>
          <p:nvPr/>
        </p:nvCxnSpPr>
        <p:spPr>
          <a:xfrm>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1500" y="6534150"/>
            <a:ext cx="9525000" cy="219075"/>
          </a:xfrm>
          <a:prstGeom prst="rect">
            <a:avLst/>
          </a:prstGeom>
          <a:noFill/>
          <a:effectLst/>
        </p:spPr>
        <p:txBody>
          <a:bodyPr wrap="square" lIns="0" rIns="0" tIns="0" bIns="0" anchor="t">
            <a:spAutoFit/>
          </a:bodyPr>
          <a:lstStyle/>
          <a:p>
            <a:pPr algn="l" rtl="0">
              <a:lnSpc>
                <a:spcPts val="1008"/>
              </a:lnSpc>
              <a:spcBef>
                <a:spcPts val="0"/>
              </a:spcBef>
              <a:spcAft>
                <a:spcPts val="0"/>
              </a:spcAft>
            </a:pPr>
            <a:r>
              <a:rPr sz="900" b="0" lang="en-US">
                <a:solidFill>
                  <a:srgbClr val="68716B"/>
                </a:solidFill>
                <a:latin typeface="Manrope"/>
              </a:rPr>
              <a:t>CONCRETE · PROPOSED COLLABORATION</a:t>
            </a:r>
          </a:p>
        </p:txBody>
      </p:sp>
      <p:sp>
        <p:nvSpPr>
          <p:cNvPr id="9" name="TextBox 8"/>
          <p:cNvSpPr txBox="1"/>
          <p:nvPr/>
        </p:nvSpPr>
        <p:spPr>
          <a:xfrm>
            <a:off x="10782300" y="6515100"/>
            <a:ext cx="838200" cy="238125"/>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04 / 09</a:t>
            </a:r>
          </a:p>
        </p:txBody>
      </p:sp>
      <p:sp>
        <p:nvSpPr>
          <p:cNvPr id="10" name="Rounded Rectangle 9"/>
          <p:cNvSpPr/>
          <p:nvPr/>
        </p:nvSpPr>
        <p:spPr>
          <a:xfrm>
            <a:off x="581025" y="2343150"/>
            <a:ext cx="11049000" cy="3457575"/>
          </a:xfrm>
          <a:prstGeom prst="roundRect">
            <a:avLst>
              <a:gd name="adj" fmla="val 4407"/>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95525"/>
            <a:ext cx="11049000" cy="3457575"/>
          </a:xfrm>
          <a:prstGeom prst="roundRect">
            <a:avLst>
              <a:gd name="adj" fmla="val 4407"/>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png"/>
          <p:cNvPicPr>
            <a:picLocks noChangeAspect="1"/>
          </p:cNvPicPr>
          <p:nvPr/>
        </p:nvPicPr>
        <p:blipFill>
          <a:blip r:embed="rId3"/>
          <a:stretch>
            <a:fillRect/>
          </a:stretch>
        </p:blipFill>
        <p:spPr>
          <a:xfrm>
            <a:off x="1085850" y="3040825"/>
            <a:ext cx="1638300" cy="319149"/>
          </a:xfrm>
          <a:prstGeom prst="rect">
            <a:avLst/>
          </a:prstGeom>
          <a:effectLst/>
        </p:spPr>
      </p:pic>
      <p:sp>
        <p:nvSpPr>
          <p:cNvPr id="13" name="TextBox 12"/>
          <p:cNvSpPr txBox="1"/>
          <p:nvPr/>
        </p:nvSpPr>
        <p:spPr>
          <a:xfrm>
            <a:off x="762000" y="3743325"/>
            <a:ext cx="2286000" cy="3619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en-US">
                <a:solidFill>
                  <a:srgbClr val="29302D"/>
                </a:solidFill>
                <a:latin typeface="Manrope"/>
              </a:rPr>
              <a:t>Genesys</a:t>
            </a:r>
          </a:p>
        </p:txBody>
      </p:sp>
      <p:sp>
        <p:nvSpPr>
          <p:cNvPr id="14" name="TextBox 13"/>
          <p:cNvSpPr txBox="1"/>
          <p:nvPr/>
        </p:nvSpPr>
        <p:spPr>
          <a:xfrm>
            <a:off x="657225" y="4200525"/>
            <a:ext cx="2495550" cy="361950"/>
          </a:xfrm>
          <a:prstGeom prst="rect">
            <a:avLst/>
          </a:prstGeom>
          <a:noFill/>
          <a:effectLst/>
        </p:spPr>
        <p:txBody>
          <a:bodyPr wrap="square" lIns="0" rIns="0" tIns="0" bIns="0" anchor="t">
            <a:spAutoFit/>
          </a:bodyPr>
          <a:lstStyle/>
          <a:p>
            <a:pPr algn="ctr" rtl="0">
              <a:lnSpc>
                <a:spcPts val="1596"/>
              </a:lnSpc>
              <a:spcBef>
                <a:spcPts val="0"/>
              </a:spcBef>
              <a:spcAft>
                <a:spcPts val="0"/>
              </a:spcAft>
            </a:pPr>
            <a:r>
              <a:rPr sz="1425" b="0" lang="en-US">
                <a:solidFill>
                  <a:srgbClr val="68716B"/>
                </a:solidFill>
                <a:latin typeface="Manrope"/>
              </a:rPr>
              <a:t>Caller number</a:t>
            </a:r>
          </a:p>
        </p:txBody>
      </p:sp>
      <p:cxnSp>
        <p:nvCxnSpPr>
          <p:cNvPr id="15" name="Connector 14"/>
          <p:cNvCxnSpPr/>
          <p:nvPr/>
        </p:nvCxnSpPr>
        <p:spPr>
          <a:xfrm>
            <a:off x="2971800" y="3219450"/>
            <a:ext cx="609600" cy="0"/>
          </a:xfrm>
          <a:prstGeom prst="line">
            <a:avLst/>
          </a:prstGeom>
          <a:ln w="19050">
            <a:solidFill>
              <a:srgbClr val="54745C"/>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16" name="Picture 15" descr="brand.png"/>
          <p:cNvPicPr>
            <a:picLocks noChangeAspect="1"/>
          </p:cNvPicPr>
          <p:nvPr/>
        </p:nvPicPr>
        <p:blipFill>
          <a:blip r:embed="rId2"/>
          <a:stretch>
            <a:fillRect/>
          </a:stretch>
        </p:blipFill>
        <p:spPr>
          <a:xfrm>
            <a:off x="4314825" y="2941638"/>
            <a:ext cx="704850" cy="469900"/>
          </a:xfrm>
          <a:prstGeom prst="rect">
            <a:avLst/>
          </a:prstGeom>
          <a:effectLst/>
        </p:spPr>
      </p:pic>
      <p:sp>
        <p:nvSpPr>
          <p:cNvPr id="17" name="TextBox 16"/>
          <p:cNvSpPr txBox="1"/>
          <p:nvPr/>
        </p:nvSpPr>
        <p:spPr>
          <a:xfrm>
            <a:off x="3524250" y="3743325"/>
            <a:ext cx="2286000" cy="3619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en-US">
                <a:solidFill>
                  <a:srgbClr val="29302D"/>
                </a:solidFill>
                <a:latin typeface="Manrope"/>
              </a:rPr>
              <a:t>GRINDCTRL</a:t>
            </a:r>
          </a:p>
        </p:txBody>
      </p:sp>
      <p:sp>
        <p:nvSpPr>
          <p:cNvPr id="18" name="TextBox 17"/>
          <p:cNvSpPr txBox="1"/>
          <p:nvPr/>
        </p:nvSpPr>
        <p:spPr>
          <a:xfrm>
            <a:off x="3419475" y="4200525"/>
            <a:ext cx="2495550" cy="361950"/>
          </a:xfrm>
          <a:prstGeom prst="rect">
            <a:avLst/>
          </a:prstGeom>
          <a:noFill/>
          <a:effectLst/>
        </p:spPr>
        <p:txBody>
          <a:bodyPr wrap="square" lIns="0" rIns="0" tIns="0" bIns="0" anchor="t">
            <a:spAutoFit/>
          </a:bodyPr>
          <a:lstStyle/>
          <a:p>
            <a:pPr algn="ctr" rtl="0">
              <a:lnSpc>
                <a:spcPts val="1596"/>
              </a:lnSpc>
              <a:spcBef>
                <a:spcPts val="0"/>
              </a:spcBef>
              <a:spcAft>
                <a:spcPts val="0"/>
              </a:spcAft>
            </a:pPr>
            <a:r>
              <a:rPr sz="1425" b="0" lang="en-US">
                <a:solidFill>
                  <a:srgbClr val="68716B"/>
                </a:solidFill>
                <a:latin typeface="Manrope"/>
              </a:rPr>
              <a:t>Connect the context</a:t>
            </a:r>
          </a:p>
        </p:txBody>
      </p:sp>
      <p:cxnSp>
        <p:nvCxnSpPr>
          <p:cNvPr id="19" name="Connector 18"/>
          <p:cNvCxnSpPr/>
          <p:nvPr/>
        </p:nvCxnSpPr>
        <p:spPr>
          <a:xfrm>
            <a:off x="5734050" y="3219450"/>
            <a:ext cx="609600" cy="0"/>
          </a:xfrm>
          <a:prstGeom prst="line">
            <a:avLst/>
          </a:prstGeom>
          <a:ln w="19050">
            <a:solidFill>
              <a:srgbClr val="54745C"/>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20" name="Picture 19" descr="zoho.png"/>
          <p:cNvPicPr>
            <a:picLocks noChangeAspect="1"/>
          </p:cNvPicPr>
          <p:nvPr/>
        </p:nvPicPr>
        <p:blipFill>
          <a:blip r:embed="rId4"/>
          <a:stretch>
            <a:fillRect/>
          </a:stretch>
        </p:blipFill>
        <p:spPr>
          <a:xfrm>
            <a:off x="6908569" y="2952750"/>
            <a:ext cx="1041862" cy="447675"/>
          </a:xfrm>
          <a:prstGeom prst="rect">
            <a:avLst/>
          </a:prstGeom>
          <a:effectLst/>
        </p:spPr>
      </p:pic>
      <p:sp>
        <p:nvSpPr>
          <p:cNvPr id="21" name="TextBox 20"/>
          <p:cNvSpPr txBox="1"/>
          <p:nvPr/>
        </p:nvSpPr>
        <p:spPr>
          <a:xfrm>
            <a:off x="6286500" y="3743325"/>
            <a:ext cx="2286000" cy="3619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en-US">
                <a:solidFill>
                  <a:srgbClr val="29302D"/>
                </a:solidFill>
                <a:latin typeface="Manrope"/>
              </a:rPr>
              <a:t>Zoho Desk</a:t>
            </a:r>
          </a:p>
        </p:txBody>
      </p:sp>
      <p:sp>
        <p:nvSpPr>
          <p:cNvPr id="22" name="TextBox 21"/>
          <p:cNvSpPr txBox="1"/>
          <p:nvPr/>
        </p:nvSpPr>
        <p:spPr>
          <a:xfrm>
            <a:off x="6181725" y="4200525"/>
            <a:ext cx="2495550" cy="361950"/>
          </a:xfrm>
          <a:prstGeom prst="rect">
            <a:avLst/>
          </a:prstGeom>
          <a:noFill/>
          <a:effectLst/>
        </p:spPr>
        <p:txBody>
          <a:bodyPr wrap="square" lIns="0" rIns="0" tIns="0" bIns="0" anchor="t">
            <a:spAutoFit/>
          </a:bodyPr>
          <a:lstStyle/>
          <a:p>
            <a:pPr algn="ctr" rtl="0">
              <a:lnSpc>
                <a:spcPts val="1596"/>
              </a:lnSpc>
              <a:spcBef>
                <a:spcPts val="0"/>
              </a:spcBef>
              <a:spcAft>
                <a:spcPts val="0"/>
              </a:spcAft>
            </a:pPr>
            <a:r>
              <a:rPr sz="1425" b="0" lang="en-US">
                <a:solidFill>
                  <a:srgbClr val="68716B"/>
                </a:solidFill>
                <a:latin typeface="Manrope"/>
              </a:rPr>
              <a:t>Existing tickets</a:t>
            </a:r>
          </a:p>
        </p:txBody>
      </p:sp>
      <p:cxnSp>
        <p:nvCxnSpPr>
          <p:cNvPr id="23" name="Connector 22"/>
          <p:cNvCxnSpPr/>
          <p:nvPr/>
        </p:nvCxnSpPr>
        <p:spPr>
          <a:xfrm>
            <a:off x="8496300" y="3219450"/>
            <a:ext cx="609600" cy="0"/>
          </a:xfrm>
          <a:prstGeom prst="line">
            <a:avLst/>
          </a:prstGeom>
          <a:ln w="19050">
            <a:solidFill>
              <a:srgbClr val="54745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9915525" y="2876550"/>
            <a:ext cx="552450" cy="5524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actor.png"/>
          <p:cNvPicPr>
            <a:picLocks noChangeAspect="1"/>
          </p:cNvPicPr>
          <p:nvPr/>
        </p:nvPicPr>
        <p:blipFill>
          <a:blip r:embed="rId5"/>
          <a:stretch>
            <a:fillRect/>
          </a:stretch>
        </p:blipFill>
        <p:spPr>
          <a:xfrm>
            <a:off x="10010775" y="2971800"/>
            <a:ext cx="361950" cy="361950"/>
          </a:xfrm>
          <a:prstGeom prst="rect">
            <a:avLst/>
          </a:prstGeom>
          <a:effectLst/>
        </p:spPr>
      </p:pic>
      <p:sp>
        <p:nvSpPr>
          <p:cNvPr id="26" name="TextBox 25"/>
          <p:cNvSpPr txBox="1"/>
          <p:nvPr/>
        </p:nvSpPr>
        <p:spPr>
          <a:xfrm>
            <a:off x="9048750" y="3743325"/>
            <a:ext cx="2286000" cy="3619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en-US">
                <a:solidFill>
                  <a:srgbClr val="29302D"/>
                </a:solidFill>
                <a:latin typeface="Manrope"/>
              </a:rPr>
              <a:t>Employee view</a:t>
            </a:r>
          </a:p>
        </p:txBody>
      </p:sp>
      <p:sp>
        <p:nvSpPr>
          <p:cNvPr id="27" name="TextBox 26"/>
          <p:cNvSpPr txBox="1"/>
          <p:nvPr/>
        </p:nvSpPr>
        <p:spPr>
          <a:xfrm>
            <a:off x="8943975" y="4200525"/>
            <a:ext cx="2495550" cy="361950"/>
          </a:xfrm>
          <a:prstGeom prst="rect">
            <a:avLst/>
          </a:prstGeom>
          <a:noFill/>
          <a:effectLst/>
        </p:spPr>
        <p:txBody>
          <a:bodyPr wrap="square" lIns="0" rIns="0" tIns="0" bIns="0" anchor="t">
            <a:spAutoFit/>
          </a:bodyPr>
          <a:lstStyle/>
          <a:p>
            <a:pPr algn="ctr" rtl="0">
              <a:lnSpc>
                <a:spcPts val="1596"/>
              </a:lnSpc>
              <a:spcBef>
                <a:spcPts val="0"/>
              </a:spcBef>
              <a:spcAft>
                <a:spcPts val="0"/>
              </a:spcAft>
            </a:pPr>
            <a:r>
              <a:rPr sz="1425" b="0" lang="en-US">
                <a:solidFill>
                  <a:srgbClr val="68716B"/>
                </a:solidFill>
                <a:latin typeface="Manrope"/>
              </a:rPr>
              <a:t>History with the call</a:t>
            </a:r>
          </a:p>
        </p:txBody>
      </p:sp>
      <p:cxnSp>
        <p:nvCxnSpPr>
          <p:cNvPr id="28" name="Connector 27"/>
          <p:cNvCxnSpPr/>
          <p:nvPr/>
        </p:nvCxnSpPr>
        <p:spPr>
          <a:xfrm>
            <a:off x="838200" y="4905375"/>
            <a:ext cx="105156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29" name="Picture 28" descr="icon-link.png"/>
          <p:cNvPicPr>
            <a:picLocks noChangeAspect="1"/>
          </p:cNvPicPr>
          <p:nvPr/>
        </p:nvPicPr>
        <p:blipFill>
          <a:blip r:embed="rId6"/>
          <a:stretch>
            <a:fillRect/>
          </a:stretch>
        </p:blipFill>
        <p:spPr>
          <a:xfrm>
            <a:off x="847725" y="5191125"/>
            <a:ext cx="257175" cy="257175"/>
          </a:xfrm>
          <a:prstGeom prst="rect">
            <a:avLst/>
          </a:prstGeom>
          <a:effectLst/>
        </p:spPr>
      </p:pic>
      <p:sp>
        <p:nvSpPr>
          <p:cNvPr id="30" name="TextBox 29"/>
          <p:cNvSpPr txBox="1"/>
          <p:nvPr/>
        </p:nvSpPr>
        <p:spPr>
          <a:xfrm>
            <a:off x="1266825" y="5133975"/>
            <a:ext cx="9991725" cy="4953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68716B"/>
                </a:solidFill>
                <a:latin typeface="Manrope"/>
              </a:rPr>
              <a:t>Start with the contracted pop-up; choose the supported connection after checking the setup.</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00"/>
                                  <p:tgtEl>
                                    <p:spTgt spid="12"/>
                                  </p:tgtEl>
                                </p:cBhvr>
                              </p:animEffect>
                            </p:childTnLst>
                          </p:cTn>
                        </p:par>
                        <p:par>
                          <p:cTn id="7" presetID="10" presetClass="entr" presetSubtype="0" fill="hold" nodeType="withEffect">
                            <p:stCondLst>
                              <p:cond delay="0"/>
                            </p:stCondLst>
                            <p:childTnLst>
                              <p:set>
                                <p:cBhvr>
                                  <p:cTn id="8" dur="1" fill="hold"/>
                                  <p:tgtEl>
                                    <p:spTgt spid="13"/>
                                  </p:tgtEl>
                                  <p:attrNameLst>
                                    <p:attrName>style.visibility</p:attrName>
                                  </p:attrNameLst>
                                </p:cBhvr>
                                <p:to>
                                  <p:strVal val="visible"/>
                                </p:to>
                              </p:set>
                              <p:animEffect transition="in" filter="fade">
                                <p:cBhvr>
                                  <p:cTn id="9" dur="500"/>
                                  <p:tgtEl>
                                    <p:spTgt spid="13"/>
                                  </p:tgtEl>
                                </p:cBhvr>
                              </p:animEffect>
                            </p:childTnLst>
                          </p:cTn>
                        </p:par>
                        <p:par>
                          <p:cTn id="10" presetID="10" presetClass="entr" presetSubtype="0" fill="hold" nodeType="withEffect">
                            <p:stCondLst>
                              <p:cond delay="0"/>
                            </p:stCondLst>
                            <p:childTnLst>
                              <p:set>
                                <p:cBhvr>
                                  <p:cTn id="11" dur="1" fill="hold"/>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1250"/>
                            </p:stCondLst>
                            <p:childTnLst>
                              <p:set>
                                <p:cBhvr>
                                  <p:cTn id="14" dur="1" fill="hold"/>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1250"/>
                            </p:stCondLst>
                            <p:childTnLst>
                              <p:set>
                                <p:cBhvr>
                                  <p:cTn id="17" dur="1" fill="hold"/>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nodeType="withEffect">
                            <p:stCondLst>
                              <p:cond delay="1250"/>
                            </p:stCondLst>
                            <p:childTnLst>
                              <p:set>
                                <p:cBhvr>
                                  <p:cTn id="20" dur="1" fill="hold"/>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1250"/>
                            </p:stCondLst>
                            <p:childTnLst>
                              <p:set>
                                <p:cBhvr>
                                  <p:cTn id="23" dur="1" fill="hold"/>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nodeType="withEffect">
                            <p:stCondLst>
                              <p:cond delay="2500"/>
                            </p:stCondLst>
                            <p:childTnLst>
                              <p:set>
                                <p:cBhvr>
                                  <p:cTn id="26" dur="1" fill="hold"/>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2500"/>
                            </p:stCondLst>
                            <p:childTnLst>
                              <p:set>
                                <p:cBhvr>
                                  <p:cTn id="29" dur="1" fill="hold"/>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nodeType="withEffect">
                            <p:stCondLst>
                              <p:cond delay="2500"/>
                            </p:stCondLst>
                            <p:childTnLst>
                              <p:set>
                                <p:cBhvr>
                                  <p:cTn id="32" dur="1" fill="hold"/>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nodeType="withEffect">
                            <p:stCondLst>
                              <p:cond delay="2500"/>
                            </p:stCondLst>
                            <p:childTnLst>
                              <p:set>
                                <p:cBhvr>
                                  <p:cTn id="35" dur="1" fill="hold"/>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nodeType="withEffect">
                            <p:stCondLst>
                              <p:cond delay="3750"/>
                            </p:stCondLst>
                            <p:childTnLst>
                              <p:set>
                                <p:cBhvr>
                                  <p:cTn id="38" dur="1" fill="hold"/>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nodeType="withEffect">
                            <p:stCondLst>
                              <p:cond delay="3750"/>
                            </p:stCondLst>
                            <p:childTnLst>
                              <p:set>
                                <p:cBhvr>
                                  <p:cTn id="41" dur="1" fill="hold"/>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nodeType="withEffect">
                            <p:stCondLst>
                              <p:cond delay="3750"/>
                            </p:stCondLst>
                            <p:childTnLst>
                              <p:set>
                                <p:cBhvr>
                                  <p:cTn id="44" dur="1" fill="hold"/>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nodeType="withEffect">
                            <p:stCondLst>
                              <p:cond delay="3750"/>
                            </p:stCondLst>
                            <p:childTnLst>
                              <p:set>
                                <p:cBhvr>
                                  <p:cTn id="47" dur="1" fill="hold"/>
                                  <p:tgtEl>
                                    <p:spTgt spid="26"/>
                                  </p:tgtEl>
                                  <p:attrNameLst>
                                    <p:attrName>style.visibility</p:attrName>
                                  </p:attrNameLst>
                                </p:cBhvr>
                                <p:to>
                                  <p:strVal val="visible"/>
                                </p:to>
                              </p:set>
                              <p:animEffect transition="in" filter="fade">
                                <p:cBhvr>
                                  <p:cTn id="48" dur="500"/>
                                  <p:tgtEl>
                                    <p:spTgt spid="26"/>
                                  </p:tgtEl>
                                </p:cBhvr>
                              </p:animEffect>
                            </p:childTnLst>
                          </p:cTn>
                        </p:par>
                        <p:par>
                          <p:cTn id="49" presetID="10" presetClass="entr" presetSubtype="0" fill="hold" nodeType="withEffect">
                            <p:stCondLst>
                              <p:cond delay="3750"/>
                            </p:stCondLst>
                            <p:childTnLst>
                              <p:set>
                                <p:cBhvr>
                                  <p:cTn id="50" dur="1" fill="hold"/>
                                  <p:tgtEl>
                                    <p:spTgt spid="27"/>
                                  </p:tgtEl>
                                  <p:attrNameLst>
                                    <p:attrName>style.visibility</p:attrName>
                                  </p:attrNameLst>
                                </p:cBhvr>
                                <p:to>
                                  <p:strVal val="visible"/>
                                </p:to>
                              </p:set>
                              <p:animEffect transition="in" filter="fade">
                                <p:cBhvr>
                                  <p:cTn id="51" dur="500"/>
                                  <p:tgtEl>
                                    <p:spTgt spid="2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571500" y="292100"/>
            <a:ext cx="409575" cy="273050"/>
          </a:xfrm>
          <a:prstGeom prst="rect">
            <a:avLst/>
          </a:prstGeom>
          <a:effectLst/>
        </p:spPr>
      </p:pic>
      <p:sp>
        <p:nvSpPr>
          <p:cNvPr id="3" name="TextBox 2"/>
          <p:cNvSpPr txBox="1"/>
          <p:nvPr/>
        </p:nvSpPr>
        <p:spPr>
          <a:xfrm>
            <a:off x="1095375" y="323850"/>
            <a:ext cx="1466850" cy="2571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1" lang="en-US">
                <a:solidFill>
                  <a:srgbClr val="29302D"/>
                </a:solidFill>
                <a:latin typeface="Manrope"/>
              </a:rPr>
              <a:t>GRINDCTRL</a:t>
            </a:r>
          </a:p>
        </p:txBody>
      </p:sp>
      <p:sp>
        <p:nvSpPr>
          <p:cNvPr id="4" name="TextBox 3"/>
          <p:cNvSpPr txBox="1"/>
          <p:nvPr/>
        </p:nvSpPr>
        <p:spPr>
          <a:xfrm>
            <a:off x="7448550" y="333375"/>
            <a:ext cx="4171950" cy="247650"/>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04 · THE EMPLOYEE EXPERIENCE</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9302D"/>
                </a:solidFill>
                <a:latin typeface="Manrope"/>
              </a:rPr>
              <a:t>See the history. Continue from the latest update.</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716B"/>
                </a:solidFill>
                <a:latin typeface="Manrope"/>
              </a:rPr>
              <a:t>Customer details, previous tickets and follow-up context in one view.</a:t>
            </a:r>
          </a:p>
        </p:txBody>
      </p:sp>
      <p:cxnSp>
        <p:nvCxnSpPr>
          <p:cNvPr id="7" name="Connector 6"/>
          <p:cNvCxnSpPr/>
          <p:nvPr/>
        </p:nvCxnSpPr>
        <p:spPr>
          <a:xfrm>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1500" y="6534150"/>
            <a:ext cx="9525000" cy="219075"/>
          </a:xfrm>
          <a:prstGeom prst="rect">
            <a:avLst/>
          </a:prstGeom>
          <a:noFill/>
          <a:effectLst/>
        </p:spPr>
        <p:txBody>
          <a:bodyPr wrap="square" lIns="0" rIns="0" tIns="0" bIns="0" anchor="t">
            <a:spAutoFit/>
          </a:bodyPr>
          <a:lstStyle/>
          <a:p>
            <a:pPr algn="l" rtl="0">
              <a:lnSpc>
                <a:spcPts val="1008"/>
              </a:lnSpc>
              <a:spcBef>
                <a:spcPts val="0"/>
              </a:spcBef>
              <a:spcAft>
                <a:spcPts val="0"/>
              </a:spcAft>
            </a:pPr>
            <a:r>
              <a:rPr sz="900" b="0" lang="en-US">
                <a:solidFill>
                  <a:srgbClr val="68716B"/>
                </a:solidFill>
                <a:latin typeface="Manrope"/>
              </a:rPr>
              <a:t>CONCRETE · PROPOSED COLLABORATION</a:t>
            </a:r>
          </a:p>
        </p:txBody>
      </p:sp>
      <p:sp>
        <p:nvSpPr>
          <p:cNvPr id="9" name="TextBox 8"/>
          <p:cNvSpPr txBox="1"/>
          <p:nvPr/>
        </p:nvSpPr>
        <p:spPr>
          <a:xfrm>
            <a:off x="10782300" y="6515100"/>
            <a:ext cx="838200" cy="238125"/>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05 / 09</a:t>
            </a:r>
          </a:p>
        </p:txBody>
      </p:sp>
      <p:sp>
        <p:nvSpPr>
          <p:cNvPr id="10" name="Rounded Rectangle 9"/>
          <p:cNvSpPr/>
          <p:nvPr/>
        </p:nvSpPr>
        <p:spPr>
          <a:xfrm>
            <a:off x="581025" y="2286000"/>
            <a:ext cx="11049000" cy="3848100"/>
          </a:xfrm>
          <a:prstGeom prst="roundRect">
            <a:avLst>
              <a:gd name="adj" fmla="val 3960"/>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38375"/>
            <a:ext cx="11049000" cy="3848100"/>
          </a:xfrm>
          <a:prstGeom prst="roundRect">
            <a:avLst>
              <a:gd name="adj" fmla="val 3960"/>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png"/>
          <p:cNvPicPr>
            <a:picLocks noChangeAspect="1"/>
          </p:cNvPicPr>
          <p:nvPr/>
        </p:nvPicPr>
        <p:blipFill>
          <a:blip r:embed="rId3"/>
          <a:stretch>
            <a:fillRect/>
          </a:stretch>
        </p:blipFill>
        <p:spPr>
          <a:xfrm>
            <a:off x="800100" y="2438833"/>
            <a:ext cx="1266825" cy="246784"/>
          </a:xfrm>
          <a:prstGeom prst="rect">
            <a:avLst/>
          </a:prstGeom>
          <a:effectLst/>
        </p:spPr>
      </p:pic>
      <p:sp>
        <p:nvSpPr>
          <p:cNvPr id="13" name="TextBox 12"/>
          <p:cNvSpPr txBox="1"/>
          <p:nvPr/>
        </p:nvSpPr>
        <p:spPr>
          <a:xfrm>
            <a:off x="2333625" y="2457450"/>
            <a:ext cx="4629150" cy="3143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29302D"/>
                </a:solidFill>
                <a:latin typeface="Manrope"/>
              </a:rPr>
              <a:t>Service workspace</a:t>
            </a:r>
          </a:p>
        </p:txBody>
      </p:sp>
      <p:sp>
        <p:nvSpPr>
          <p:cNvPr id="14" name="Oval 13"/>
          <p:cNvSpPr/>
          <p:nvPr/>
        </p:nvSpPr>
        <p:spPr>
          <a:xfrm>
            <a:off x="9972675" y="2543175"/>
            <a:ext cx="66675" cy="66675"/>
          </a:xfrm>
          <a:prstGeom prst="ellipse">
            <a:avLst/>
          </a:prstGeom>
          <a:solidFill>
            <a:srgbClr val="54745C"/>
          </a:solidFill>
          <a:ln w="9525">
            <a:solidFill>
              <a:srgbClr val="54745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134600" y="2476500"/>
            <a:ext cx="1257300" cy="27622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0" lang="en-US">
                <a:solidFill>
                  <a:srgbClr val="54745C"/>
                </a:solidFill>
                <a:latin typeface="Manrope"/>
              </a:rPr>
              <a:t>Call active</a:t>
            </a:r>
          </a:p>
        </p:txBody>
      </p:sp>
      <p:cxnSp>
        <p:nvCxnSpPr>
          <p:cNvPr id="16" name="Connector 15"/>
          <p:cNvCxnSpPr/>
          <p:nvPr/>
        </p:nvCxnSpPr>
        <p:spPr>
          <a:xfrm>
            <a:off x="571500" y="2905125"/>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3333750" y="2905125"/>
            <a:ext cx="0" cy="280987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6981825" y="2905125"/>
            <a:ext cx="0" cy="280987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800100" y="3114675"/>
            <a:ext cx="2238375" cy="228600"/>
          </a:xfrm>
          <a:prstGeom prst="rect">
            <a:avLst/>
          </a:prstGeom>
          <a:noFill/>
          <a:effectLst/>
        </p:spPr>
        <p:txBody>
          <a:bodyPr wrap="square" lIns="0" rIns="0" tIns="0" bIns="0" anchor="t">
            <a:spAutoFit/>
          </a:bodyPr>
          <a:lstStyle/>
          <a:p>
            <a:pPr algn="l" rtl="0">
              <a:lnSpc>
                <a:spcPts val="1092"/>
              </a:lnSpc>
              <a:spcBef>
                <a:spcPts val="0"/>
              </a:spcBef>
              <a:spcAft>
                <a:spcPts val="0"/>
              </a:spcAft>
            </a:pPr>
            <a:r>
              <a:rPr sz="975" b="1" lang="en-US">
                <a:solidFill>
                  <a:srgbClr val="68716B"/>
                </a:solidFill>
                <a:latin typeface="Manrope"/>
              </a:rPr>
              <a:t>CUSTOMER</a:t>
            </a:r>
          </a:p>
        </p:txBody>
      </p:sp>
      <p:sp>
        <p:nvSpPr>
          <p:cNvPr id="20" name="Oval 19"/>
          <p:cNvSpPr/>
          <p:nvPr/>
        </p:nvSpPr>
        <p:spPr>
          <a:xfrm>
            <a:off x="800100" y="3495675"/>
            <a:ext cx="409575" cy="40957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00100" y="3571875"/>
            <a:ext cx="409575" cy="371475"/>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en-US">
                <a:solidFill>
                  <a:srgbClr val="54745C"/>
                </a:solidFill>
                <a:latin typeface="Manrope"/>
              </a:rPr>
              <a:t>A</a:t>
            </a:r>
          </a:p>
        </p:txBody>
      </p:sp>
      <p:sp>
        <p:nvSpPr>
          <p:cNvPr id="22" name="TextBox 21"/>
          <p:cNvSpPr txBox="1"/>
          <p:nvPr/>
        </p:nvSpPr>
        <p:spPr>
          <a:xfrm>
            <a:off x="1352550" y="3505200"/>
            <a:ext cx="1752600" cy="342900"/>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9302D"/>
                </a:solidFill>
                <a:latin typeface="Manrope"/>
              </a:rPr>
              <a:t>Contact A</a:t>
            </a:r>
          </a:p>
        </p:txBody>
      </p:sp>
      <p:sp>
        <p:nvSpPr>
          <p:cNvPr id="23" name="TextBox 22"/>
          <p:cNvSpPr txBox="1"/>
          <p:nvPr/>
        </p:nvSpPr>
        <p:spPr>
          <a:xfrm>
            <a:off x="1352550" y="3876675"/>
            <a:ext cx="1752600" cy="295275"/>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+20 ••• 410</a:t>
            </a:r>
          </a:p>
        </p:txBody>
      </p:sp>
      <p:sp>
        <p:nvSpPr>
          <p:cNvPr id="24" name="TextBox 23"/>
          <p:cNvSpPr txBox="1"/>
          <p:nvPr/>
        </p:nvSpPr>
        <p:spPr>
          <a:xfrm>
            <a:off x="800100" y="4457700"/>
            <a:ext cx="2276475" cy="2952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0" lang="en-US">
                <a:solidFill>
                  <a:srgbClr val="68716B"/>
                </a:solidFill>
                <a:latin typeface="Manrope"/>
              </a:rPr>
              <a:t>Matched by caller number</a:t>
            </a:r>
          </a:p>
        </p:txBody>
      </p:sp>
      <p:cxnSp>
        <p:nvCxnSpPr>
          <p:cNvPr id="25" name="Connector 24"/>
          <p:cNvCxnSpPr/>
          <p:nvPr/>
        </p:nvCxnSpPr>
        <p:spPr>
          <a:xfrm>
            <a:off x="800100" y="4924425"/>
            <a:ext cx="2295525"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00100" y="5143500"/>
            <a:ext cx="971550" cy="314325"/>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9302D"/>
                </a:solidFill>
                <a:latin typeface="Manrope"/>
              </a:rPr>
              <a:t>2 open</a:t>
            </a:r>
          </a:p>
        </p:txBody>
      </p:sp>
      <p:sp>
        <p:nvSpPr>
          <p:cNvPr id="27" name="TextBox 26"/>
          <p:cNvSpPr txBox="1"/>
          <p:nvPr/>
        </p:nvSpPr>
        <p:spPr>
          <a:xfrm>
            <a:off x="2009775" y="5143500"/>
            <a:ext cx="1085850" cy="314325"/>
          </a:xfrm>
          <a:prstGeom prst="rect">
            <a:avLst/>
          </a:prstGeom>
          <a:noFill/>
          <a:effectLst/>
        </p:spPr>
        <p:txBody>
          <a:bodyPr wrap="square" lIns="0" rIns="0" tIns="0" bIns="0" anchor="t">
            <a:spAutoFit/>
          </a:bodyPr>
          <a:lstStyle/>
          <a:p>
            <a:pPr algn="r" rtl="0">
              <a:lnSpc>
                <a:spcPts val="1680"/>
              </a:lnSpc>
              <a:spcBef>
                <a:spcPts val="0"/>
              </a:spcBef>
              <a:spcAft>
                <a:spcPts val="0"/>
              </a:spcAft>
            </a:pPr>
            <a:r>
              <a:rPr sz="1500" b="0" lang="en-US">
                <a:solidFill>
                  <a:srgbClr val="68716B"/>
                </a:solidFill>
                <a:latin typeface="Manrope"/>
              </a:rPr>
              <a:t>1 closed</a:t>
            </a:r>
          </a:p>
        </p:txBody>
      </p:sp>
      <p:pic>
        <p:nvPicPr>
          <p:cNvPr id="28" name="Picture 27" descr="zoho.png"/>
          <p:cNvPicPr>
            <a:picLocks noChangeAspect="1"/>
          </p:cNvPicPr>
          <p:nvPr/>
        </p:nvPicPr>
        <p:blipFill>
          <a:blip r:embed="rId4"/>
          <a:stretch>
            <a:fillRect/>
          </a:stretch>
        </p:blipFill>
        <p:spPr>
          <a:xfrm>
            <a:off x="3607724" y="3086100"/>
            <a:ext cx="709353" cy="304800"/>
          </a:xfrm>
          <a:prstGeom prst="rect">
            <a:avLst/>
          </a:prstGeom>
          <a:effectLst/>
        </p:spPr>
      </p:pic>
      <p:sp>
        <p:nvSpPr>
          <p:cNvPr id="29" name="TextBox 28"/>
          <p:cNvSpPr txBox="1"/>
          <p:nvPr/>
        </p:nvSpPr>
        <p:spPr>
          <a:xfrm>
            <a:off x="4552950" y="3124200"/>
            <a:ext cx="2200275"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29302D"/>
                </a:solidFill>
                <a:latin typeface="Manrope"/>
              </a:rPr>
              <a:t>Ticket history</a:t>
            </a:r>
          </a:p>
        </p:txBody>
      </p:sp>
      <p:sp>
        <p:nvSpPr>
          <p:cNvPr id="30" name="TextBox 29"/>
          <p:cNvSpPr txBox="1"/>
          <p:nvPr/>
        </p:nvSpPr>
        <p:spPr>
          <a:xfrm>
            <a:off x="3562350" y="3619500"/>
            <a:ext cx="1514475" cy="26670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1" lang="en-US">
                <a:solidFill>
                  <a:srgbClr val="54745C"/>
                </a:solidFill>
                <a:latin typeface="Manrope"/>
              </a:rPr>
              <a:t>Open tickets (2)</a:t>
            </a:r>
          </a:p>
        </p:txBody>
      </p:sp>
      <p:sp>
        <p:nvSpPr>
          <p:cNvPr id="31" name="TextBox 30"/>
          <p:cNvSpPr txBox="1"/>
          <p:nvPr/>
        </p:nvSpPr>
        <p:spPr>
          <a:xfrm>
            <a:off x="5438775" y="3619500"/>
            <a:ext cx="1323975" cy="26670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0" lang="en-US">
                <a:solidFill>
                  <a:srgbClr val="68716B"/>
                </a:solidFill>
                <a:latin typeface="Manrope"/>
              </a:rPr>
              <a:t>All history (3)</a:t>
            </a:r>
          </a:p>
        </p:txBody>
      </p:sp>
      <p:cxnSp>
        <p:nvCxnSpPr>
          <p:cNvPr id="32" name="Connector 31"/>
          <p:cNvCxnSpPr/>
          <p:nvPr/>
        </p:nvCxnSpPr>
        <p:spPr>
          <a:xfrm>
            <a:off x="3552825" y="3943350"/>
            <a:ext cx="3209925"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33" name="Rounded Rectangle 32"/>
          <p:cNvSpPr/>
          <p:nvPr/>
        </p:nvSpPr>
        <p:spPr>
          <a:xfrm>
            <a:off x="3495675" y="4076700"/>
            <a:ext cx="3352800" cy="885825"/>
          </a:xfrm>
          <a:prstGeom prst="roundRect">
            <a:avLst>
              <a:gd name="adj" fmla="val 9677"/>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3657600" y="4200525"/>
            <a:ext cx="3028950" cy="238125"/>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29302D"/>
                </a:solidFill>
                <a:latin typeface="Manrope"/>
              </a:rPr>
              <a:t>T101 · Exchange follow-up</a:t>
            </a:r>
          </a:p>
        </p:txBody>
      </p:sp>
      <p:sp>
        <p:nvSpPr>
          <p:cNvPr id="35" name="Oval 34"/>
          <p:cNvSpPr/>
          <p:nvPr/>
        </p:nvSpPr>
        <p:spPr>
          <a:xfrm>
            <a:off x="3657600" y="4667250"/>
            <a:ext cx="66675" cy="66675"/>
          </a:xfrm>
          <a:prstGeom prst="ellipse">
            <a:avLst/>
          </a:prstGeom>
          <a:solidFill>
            <a:srgbClr val="54745C"/>
          </a:solidFill>
          <a:ln w="9525">
            <a:solidFill>
              <a:srgbClr val="54745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819525" y="4600575"/>
            <a:ext cx="2867025" cy="27622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0" lang="en-US">
                <a:solidFill>
                  <a:srgbClr val="54745C"/>
                </a:solidFill>
                <a:latin typeface="Manrope"/>
              </a:rPr>
              <a:t>Waiting on branch</a:t>
            </a:r>
          </a:p>
        </p:txBody>
      </p:sp>
      <p:sp>
        <p:nvSpPr>
          <p:cNvPr id="37" name="TextBox 36"/>
          <p:cNvSpPr txBox="1"/>
          <p:nvPr/>
        </p:nvSpPr>
        <p:spPr>
          <a:xfrm>
            <a:off x="3657600" y="5153025"/>
            <a:ext cx="30289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0" lang="en-US">
                <a:solidFill>
                  <a:srgbClr val="29302D"/>
                </a:solidFill>
                <a:latin typeface="Manrope"/>
              </a:rPr>
              <a:t>T102 · Product enquiry</a:t>
            </a:r>
          </a:p>
        </p:txBody>
      </p:sp>
      <p:sp>
        <p:nvSpPr>
          <p:cNvPr id="38" name="TextBox 37"/>
          <p:cNvSpPr txBox="1"/>
          <p:nvPr/>
        </p:nvSpPr>
        <p:spPr>
          <a:xfrm>
            <a:off x="3657600" y="5505450"/>
            <a:ext cx="3028950" cy="228600"/>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716B"/>
                </a:solidFill>
                <a:latin typeface="Manrope"/>
              </a:rPr>
              <a:t>Open</a:t>
            </a:r>
          </a:p>
        </p:txBody>
      </p:sp>
      <p:sp>
        <p:nvSpPr>
          <p:cNvPr id="39" name="TextBox 38"/>
          <p:cNvSpPr txBox="1"/>
          <p:nvPr/>
        </p:nvSpPr>
        <p:spPr>
          <a:xfrm>
            <a:off x="7248525" y="3114675"/>
            <a:ext cx="4095750" cy="342900"/>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9302D"/>
                </a:solidFill>
                <a:latin typeface="Manrope"/>
              </a:rPr>
              <a:t>T101 · Exchange follow-up</a:t>
            </a:r>
          </a:p>
        </p:txBody>
      </p:sp>
      <p:sp>
        <p:nvSpPr>
          <p:cNvPr id="40" name="TextBox 39"/>
          <p:cNvSpPr txBox="1"/>
          <p:nvPr/>
        </p:nvSpPr>
        <p:spPr>
          <a:xfrm>
            <a:off x="7248525" y="3552825"/>
            <a:ext cx="4095750" cy="257175"/>
          </a:xfrm>
          <a:prstGeom prst="rect">
            <a:avLst/>
          </a:prstGeom>
          <a:noFill/>
          <a:effectLst/>
        </p:spPr>
        <p:txBody>
          <a:bodyPr wrap="square" lIns="0" rIns="0" tIns="0" bIns="0" anchor="t">
            <a:spAutoFit/>
          </a:bodyPr>
          <a:lstStyle/>
          <a:p>
            <a:pPr algn="l" rtl="0">
              <a:lnSpc>
                <a:spcPts val="1092"/>
              </a:lnSpc>
              <a:spcBef>
                <a:spcPts val="0"/>
              </a:spcBef>
              <a:spcAft>
                <a:spcPts val="0"/>
              </a:spcAft>
            </a:pPr>
            <a:r>
              <a:rPr sz="975" b="1" lang="en-US">
                <a:solidFill>
                  <a:srgbClr val="68716B"/>
                </a:solidFill>
                <a:latin typeface="Manrope"/>
              </a:rPr>
              <a:t>LATEST RECORDED NOTE</a:t>
            </a:r>
          </a:p>
        </p:txBody>
      </p:sp>
      <p:sp>
        <p:nvSpPr>
          <p:cNvPr id="41" name="Rounded Rectangle 40"/>
          <p:cNvSpPr/>
          <p:nvPr/>
        </p:nvSpPr>
        <p:spPr>
          <a:xfrm>
            <a:off x="7191375" y="3905250"/>
            <a:ext cx="4171950" cy="942975"/>
          </a:xfrm>
          <a:prstGeom prst="roundRect">
            <a:avLst>
              <a:gd name="adj" fmla="val 9090"/>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7391400" y="4086225"/>
            <a:ext cx="3771900" cy="6762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9302D"/>
                </a:solidFill>
                <a:latin typeface="Manrope"/>
              </a:rPr>
              <a:t>Branch review is</a:t>
            </a:r>
          </a:p>
          <a:p>
            <a:pPr algn="l" rtl="0">
              <a:lnSpc>
                <a:spcPts val="2100"/>
              </a:lnSpc>
              <a:spcBef>
                <a:spcPts val="0"/>
              </a:spcBef>
              <a:spcAft>
                <a:spcPts val="0"/>
              </a:spcAft>
            </a:pPr>
            <a:r>
              <a:rPr sz="1875" b="1" lang="en-US">
                <a:solidFill>
                  <a:srgbClr val="29302D"/>
                </a:solidFill>
                <a:latin typeface="Manrope"/>
              </a:rPr>
              <a:t>still pending.</a:t>
            </a:r>
          </a:p>
        </p:txBody>
      </p:sp>
      <p:pic>
        <p:nvPicPr>
          <p:cNvPr id="43" name="Picture 42" descr="icon-file.png"/>
          <p:cNvPicPr>
            <a:picLocks noChangeAspect="1"/>
          </p:cNvPicPr>
          <p:nvPr/>
        </p:nvPicPr>
        <p:blipFill>
          <a:blip r:embed="rId5"/>
          <a:stretch>
            <a:fillRect/>
          </a:stretch>
        </p:blipFill>
        <p:spPr>
          <a:xfrm>
            <a:off x="7258050" y="5133975"/>
            <a:ext cx="228600" cy="228600"/>
          </a:xfrm>
          <a:prstGeom prst="rect">
            <a:avLst/>
          </a:prstGeom>
          <a:effectLst/>
        </p:spPr>
      </p:pic>
      <p:sp>
        <p:nvSpPr>
          <p:cNvPr id="44" name="TextBox 43"/>
          <p:cNvSpPr txBox="1"/>
          <p:nvPr/>
        </p:nvSpPr>
        <p:spPr>
          <a:xfrm>
            <a:off x="7620000" y="5114925"/>
            <a:ext cx="3714750" cy="304800"/>
          </a:xfrm>
          <a:prstGeom prst="rect">
            <a:avLst/>
          </a:prstGeom>
          <a:noFill/>
          <a:effectLst/>
        </p:spPr>
        <p:txBody>
          <a:bodyPr wrap="square" lIns="0" rIns="0" tIns="0" bIns="0" anchor="t">
            <a:spAutoFit/>
          </a:bodyPr>
          <a:lstStyle/>
          <a:p>
            <a:pPr algn="l" rtl="0">
              <a:lnSpc>
                <a:spcPts val="1680"/>
              </a:lnSpc>
              <a:spcBef>
                <a:spcPts val="0"/>
              </a:spcBef>
              <a:spcAft>
                <a:spcPts val="0"/>
              </a:spcAft>
            </a:pPr>
            <a:r>
              <a:rPr sz="1500" b="1" lang="en-US">
                <a:solidFill>
                  <a:srgbClr val="54745C"/>
                </a:solidFill>
                <a:latin typeface="Manrope"/>
              </a:rPr>
              <a:t>Continue from this update</a:t>
            </a:r>
          </a:p>
        </p:txBody>
      </p:sp>
      <p:sp>
        <p:nvSpPr>
          <p:cNvPr id="45" name="TextBox 44"/>
          <p:cNvSpPr txBox="1"/>
          <p:nvPr/>
        </p:nvSpPr>
        <p:spPr>
          <a:xfrm>
            <a:off x="7248525" y="5505450"/>
            <a:ext cx="4095750" cy="238125"/>
          </a:xfrm>
          <a:prstGeom prst="rect">
            <a:avLst/>
          </a:prstGeom>
          <a:noFill/>
          <a:effectLst/>
        </p:spPr>
        <p:txBody>
          <a:bodyPr wrap="square" lIns="0" rIns="0" tIns="0" bIns="0" anchor="t">
            <a:spAutoFit/>
          </a:bodyPr>
          <a:lstStyle/>
          <a:p>
            <a:pPr algn="l" rtl="0">
              <a:lnSpc>
                <a:spcPts val="1260"/>
              </a:lnSpc>
              <a:spcBef>
                <a:spcPts val="0"/>
              </a:spcBef>
              <a:spcAft>
                <a:spcPts val="0"/>
              </a:spcAft>
            </a:pPr>
            <a:r>
              <a:rPr sz="1125" b="0" lang="en-US">
                <a:solidFill>
                  <a:srgbClr val="68716B"/>
                </a:solidFill>
                <a:latin typeface="Manrope"/>
              </a:rPr>
              <a:t>Recorded in Zoho Desk</a:t>
            </a:r>
          </a:p>
        </p:txBody>
      </p:sp>
      <p:cxnSp>
        <p:nvCxnSpPr>
          <p:cNvPr id="46" name="Connector 45"/>
          <p:cNvCxnSpPr/>
          <p:nvPr/>
        </p:nvCxnSpPr>
        <p:spPr>
          <a:xfrm>
            <a:off x="571500" y="57912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809625" y="5867400"/>
            <a:ext cx="6391275" cy="209550"/>
          </a:xfrm>
          <a:prstGeom prst="rect">
            <a:avLst/>
          </a:prstGeom>
          <a:noFill/>
          <a:effectLst/>
        </p:spPr>
        <p:txBody>
          <a:bodyPr wrap="square" lIns="0" rIns="0" tIns="0" bIns="0" anchor="t">
            <a:spAutoFit/>
          </a:bodyPr>
          <a:lstStyle/>
          <a:p>
            <a:pPr algn="l" rtl="0">
              <a:lnSpc>
                <a:spcPts val="1092"/>
              </a:lnSpc>
              <a:spcBef>
                <a:spcPts val="0"/>
              </a:spcBef>
              <a:spcAft>
                <a:spcPts val="0"/>
              </a:spcAft>
            </a:pPr>
            <a:r>
              <a:rPr sz="975" b="0" lang="en-US">
                <a:solidFill>
                  <a:srgbClr val="68716B"/>
                </a:solidFill>
                <a:latin typeface="Manrope"/>
              </a:rPr>
              <a:t>Existing Desk records · Call stays active</a:t>
            </a:r>
          </a:p>
        </p:txBody>
      </p:sp>
      <p:sp>
        <p:nvSpPr>
          <p:cNvPr id="48" name="TextBox 47"/>
          <p:cNvSpPr txBox="1"/>
          <p:nvPr/>
        </p:nvSpPr>
        <p:spPr>
          <a:xfrm>
            <a:off x="7800975" y="5867400"/>
            <a:ext cx="3581400" cy="209550"/>
          </a:xfrm>
          <a:prstGeom prst="rect">
            <a:avLst/>
          </a:prstGeom>
          <a:noFill/>
          <a:effectLst/>
        </p:spPr>
        <p:txBody>
          <a:bodyPr wrap="square" lIns="0" rIns="0" tIns="0" bIns="0" anchor="t">
            <a:spAutoFit/>
          </a:bodyPr>
          <a:lstStyle/>
          <a:p>
            <a:pPr algn="r" rtl="0">
              <a:lnSpc>
                <a:spcPts val="1008"/>
              </a:lnSpc>
              <a:spcBef>
                <a:spcPts val="0"/>
              </a:spcBef>
              <a:spcAft>
                <a:spcPts val="0"/>
              </a:spcAft>
            </a:pPr>
            <a:r>
              <a:rPr sz="900" b="0" lang="en-US">
                <a:solidFill>
                  <a:srgbClr val="68716B"/>
                </a:solidFill>
                <a:latin typeface="Manrope"/>
              </a:rPr>
              <a:t>ILLUSTRATIVE WORKSPACE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00"/>
                                  <p:tgtEl>
                                    <p:spTgt spid="12"/>
                                  </p:tgtEl>
                                </p:cBhvr>
                              </p:animEffect>
                            </p:childTnLst>
                          </p:cTn>
                        </p:par>
                        <p:par>
                          <p:cTn id="7" presetID="10" presetClass="entr" presetSubtype="0" fill="hold" nodeType="withEffect">
                            <p:stCondLst>
                              <p:cond delay="0"/>
                            </p:stCondLst>
                            <p:childTnLst>
                              <p:set>
                                <p:cBhvr>
                                  <p:cTn id="8" dur="1" fill="hold"/>
                                  <p:tgtEl>
                                    <p:spTgt spid="14"/>
                                  </p:tgtEl>
                                  <p:attrNameLst>
                                    <p:attrName>style.visibility</p:attrName>
                                  </p:attrNameLst>
                                </p:cBhvr>
                                <p:to>
                                  <p:strVal val="visible"/>
                                </p:to>
                              </p:set>
                              <p:animEffect transition="in" filter="fade">
                                <p:cBhvr>
                                  <p:cTn id="9" dur="500"/>
                                  <p:tgtEl>
                                    <p:spTgt spid="14"/>
                                  </p:tgtEl>
                                </p:cBhvr>
                              </p:animEffect>
                            </p:childTnLst>
                          </p:cTn>
                        </p:par>
                        <p:par>
                          <p:cTn id="10" presetID="10" presetClass="entr" presetSubtype="0" fill="hold" nodeType="withEffect">
                            <p:stCondLst>
                              <p:cond delay="0"/>
                            </p:stCondLst>
                            <p:childTnLst>
                              <p:set>
                                <p:cBhvr>
                                  <p:cTn id="11" dur="1" fill="hold"/>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1250"/>
                            </p:stCondLst>
                            <p:childTnLst>
                              <p:set>
                                <p:cBhvr>
                                  <p:cTn id="14" dur="1" fill="hold"/>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1250"/>
                            </p:stCondLst>
                            <p:childTnLst>
                              <p:set>
                                <p:cBhvr>
                                  <p:cTn id="17" dur="1" fill="hold"/>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nodeType="withEffect">
                            <p:stCondLst>
                              <p:cond delay="1250"/>
                            </p:stCondLst>
                            <p:childTnLst>
                              <p:set>
                                <p:cBhvr>
                                  <p:cTn id="20" dur="1" fill="hold"/>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nodeType="withEffect">
                            <p:stCondLst>
                              <p:cond delay="1250"/>
                            </p:stCondLst>
                            <p:childTnLst>
                              <p:set>
                                <p:cBhvr>
                                  <p:cTn id="23" dur="1" fill="hold"/>
                                  <p:tgtEl>
                                    <p:spTgt spid="22"/>
                                  </p:tgtEl>
                                  <p:attrNameLst>
                                    <p:attrName>style.visibility</p:attrName>
                                  </p:attrNameLst>
                                </p:cBhvr>
                                <p:to>
                                  <p:strVal val="visible"/>
                                </p:to>
                              </p:set>
                              <p:animEffect transition="in" filter="fade">
                                <p:cBhvr>
                                  <p:cTn id="24" dur="500"/>
                                  <p:tgtEl>
                                    <p:spTgt spid="22"/>
                                  </p:tgtEl>
                                </p:cBhvr>
                              </p:animEffect>
                            </p:childTnLst>
                          </p:cTn>
                        </p:par>
                        <p:par>
                          <p:cTn id="25" presetID="10" presetClass="entr" presetSubtype="0" fill="hold" nodeType="withEffect">
                            <p:stCondLst>
                              <p:cond delay="1250"/>
                            </p:stCondLst>
                            <p:childTnLst>
                              <p:set>
                                <p:cBhvr>
                                  <p:cTn id="26" dur="1" fill="hold"/>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nodeType="withEffect">
                            <p:stCondLst>
                              <p:cond delay="1250"/>
                            </p:stCondLst>
                            <p:childTnLst>
                              <p:set>
                                <p:cBhvr>
                                  <p:cTn id="29" dur="1" fill="hold"/>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10" presetClass="entr" presetSubtype="0" fill="hold" nodeType="withEffect">
                            <p:stCondLst>
                              <p:cond delay="1250"/>
                            </p:stCondLst>
                            <p:childTnLst>
                              <p:set>
                                <p:cBhvr>
                                  <p:cTn id="32" dur="1" fill="hold"/>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nodeType="withEffect">
                            <p:stCondLst>
                              <p:cond delay="2500"/>
                            </p:stCondLst>
                            <p:childTnLst>
                              <p:set>
                                <p:cBhvr>
                                  <p:cTn id="35" dur="1" fill="hold"/>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2500"/>
                            </p:stCondLst>
                            <p:childTnLst>
                              <p:set>
                                <p:cBhvr>
                                  <p:cTn id="38" dur="1" fill="hold"/>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nodeType="withEffect">
                            <p:stCondLst>
                              <p:cond delay="2500"/>
                            </p:stCondLst>
                            <p:childTnLst>
                              <p:set>
                                <p:cBhvr>
                                  <p:cTn id="41" dur="1" fill="hold"/>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nodeType="withEffect">
                            <p:stCondLst>
                              <p:cond delay="2500"/>
                            </p:stCondLst>
                            <p:childTnLst>
                              <p:set>
                                <p:cBhvr>
                                  <p:cTn id="44" dur="1" fill="hold"/>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nodeType="withEffect">
                            <p:stCondLst>
                              <p:cond delay="2500"/>
                            </p:stCondLst>
                            <p:childTnLst>
                              <p:set>
                                <p:cBhvr>
                                  <p:cTn id="47" dur="1" fill="hold"/>
                                  <p:tgtEl>
                                    <p:spTgt spid="30"/>
                                  </p:tgtEl>
                                  <p:attrNameLst>
                                    <p:attrName>style.visibility</p:attrName>
                                  </p:attrNameLst>
                                </p:cBhvr>
                                <p:to>
                                  <p:strVal val="visible"/>
                                </p:to>
                              </p:set>
                              <p:animEffect transition="in" filter="fade">
                                <p:cBhvr>
                                  <p:cTn id="48" dur="500"/>
                                  <p:tgtEl>
                                    <p:spTgt spid="30"/>
                                  </p:tgtEl>
                                </p:cBhvr>
                              </p:animEffect>
                            </p:childTnLst>
                          </p:cTn>
                        </p:par>
                        <p:par>
                          <p:cTn id="49" presetID="10" presetClass="entr" presetSubtype="0" fill="hold" nodeType="withEffect">
                            <p:stCondLst>
                              <p:cond delay="2500"/>
                            </p:stCondLst>
                            <p:childTnLst>
                              <p:set>
                                <p:cBhvr>
                                  <p:cTn id="50" dur="1" fill="hold"/>
                                  <p:tgtEl>
                                    <p:spTgt spid="31"/>
                                  </p:tgtEl>
                                  <p:attrNameLst>
                                    <p:attrName>style.visibility</p:attrName>
                                  </p:attrNameLst>
                                </p:cBhvr>
                                <p:to>
                                  <p:strVal val="visible"/>
                                </p:to>
                              </p:set>
                              <p:animEffect transition="in" filter="fade">
                                <p:cBhvr>
                                  <p:cTn id="51" dur="500"/>
                                  <p:tgtEl>
                                    <p:spTgt spid="31"/>
                                  </p:tgtEl>
                                </p:cBhvr>
                              </p:animEffect>
                            </p:childTnLst>
                          </p:cTn>
                        </p:par>
                        <p:par>
                          <p:cTn id="52" presetID="10" presetClass="entr" presetSubtype="0" fill="hold" nodeType="withEffect">
                            <p:stCondLst>
                              <p:cond delay="2500"/>
                            </p:stCondLst>
                            <p:childTnLst>
                              <p:set>
                                <p:cBhvr>
                                  <p:cTn id="53" dur="1" fill="hold"/>
                                  <p:tgtEl>
                                    <p:spTgt spid="32"/>
                                  </p:tgtEl>
                                  <p:attrNameLst>
                                    <p:attrName>style.visibility</p:attrName>
                                  </p:attrNameLst>
                                </p:cBhvr>
                                <p:to>
                                  <p:strVal val="visible"/>
                                </p:to>
                              </p:set>
                              <p:animEffect transition="in" filter="fade">
                                <p:cBhvr>
                                  <p:cTn id="54" dur="500"/>
                                  <p:tgtEl>
                                    <p:spTgt spid="32"/>
                                  </p:tgtEl>
                                </p:cBhvr>
                              </p:animEffect>
                            </p:childTnLst>
                          </p:cTn>
                        </p:par>
                        <p:par>
                          <p:cTn id="55" presetID="10" presetClass="entr" presetSubtype="0" fill="hold" nodeType="withEffect">
                            <p:stCondLst>
                              <p:cond delay="2500"/>
                            </p:stCondLst>
                            <p:childTnLst>
                              <p:set>
                                <p:cBhvr>
                                  <p:cTn id="56" dur="1" fill="hold"/>
                                  <p:tgtEl>
                                    <p:spTgt spid="33"/>
                                  </p:tgtEl>
                                  <p:attrNameLst>
                                    <p:attrName>style.visibility</p:attrName>
                                  </p:attrNameLst>
                                </p:cBhvr>
                                <p:to>
                                  <p:strVal val="visible"/>
                                </p:to>
                              </p:set>
                              <p:animEffect transition="in" filter="fade">
                                <p:cBhvr>
                                  <p:cTn id="57" dur="500"/>
                                  <p:tgtEl>
                                    <p:spTgt spid="33"/>
                                  </p:tgtEl>
                                </p:cBhvr>
                              </p:animEffect>
                            </p:childTnLst>
                          </p:cTn>
                        </p:par>
                        <p:par>
                          <p:cTn id="58" presetID="10" presetClass="entr" presetSubtype="0" fill="hold" nodeType="withEffect">
                            <p:stCondLst>
                              <p:cond delay="2500"/>
                            </p:stCondLst>
                            <p:childTnLst>
                              <p:set>
                                <p:cBhvr>
                                  <p:cTn id="59" dur="1" fill="hold"/>
                                  <p:tgtEl>
                                    <p:spTgt spid="34"/>
                                  </p:tgtEl>
                                  <p:attrNameLst>
                                    <p:attrName>style.visibility</p:attrName>
                                  </p:attrNameLst>
                                </p:cBhvr>
                                <p:to>
                                  <p:strVal val="visible"/>
                                </p:to>
                              </p:set>
                              <p:animEffect transition="in" filter="fade">
                                <p:cBhvr>
                                  <p:cTn id="60" dur="500"/>
                                  <p:tgtEl>
                                    <p:spTgt spid="34"/>
                                  </p:tgtEl>
                                </p:cBhvr>
                              </p:animEffect>
                            </p:childTnLst>
                          </p:cTn>
                        </p:par>
                        <p:par>
                          <p:cTn id="61" presetID="10" presetClass="entr" presetSubtype="0" fill="hold" nodeType="withEffect">
                            <p:stCondLst>
                              <p:cond delay="2500"/>
                            </p:stCondLst>
                            <p:childTnLst>
                              <p:set>
                                <p:cBhvr>
                                  <p:cTn id="62" dur="1" fill="hold"/>
                                  <p:tgtEl>
                                    <p:spTgt spid="35"/>
                                  </p:tgtEl>
                                  <p:attrNameLst>
                                    <p:attrName>style.visibility</p:attrName>
                                  </p:attrNameLst>
                                </p:cBhvr>
                                <p:to>
                                  <p:strVal val="visible"/>
                                </p:to>
                              </p:set>
                              <p:animEffect transition="in" filter="fade">
                                <p:cBhvr>
                                  <p:cTn id="63" dur="500"/>
                                  <p:tgtEl>
                                    <p:spTgt spid="35"/>
                                  </p:tgtEl>
                                </p:cBhvr>
                              </p:animEffect>
                            </p:childTnLst>
                          </p:cTn>
                        </p:par>
                        <p:par>
                          <p:cTn id="64" presetID="10" presetClass="entr" presetSubtype="0" fill="hold" nodeType="withEffect">
                            <p:stCondLst>
                              <p:cond delay="2500"/>
                            </p:stCondLst>
                            <p:childTnLst>
                              <p:set>
                                <p:cBhvr>
                                  <p:cTn id="65" dur="1" fill="hold"/>
                                  <p:tgtEl>
                                    <p:spTgt spid="36"/>
                                  </p:tgtEl>
                                  <p:attrNameLst>
                                    <p:attrName>style.visibility</p:attrName>
                                  </p:attrNameLst>
                                </p:cBhvr>
                                <p:to>
                                  <p:strVal val="visible"/>
                                </p:to>
                              </p:set>
                              <p:animEffect transition="in" filter="fade">
                                <p:cBhvr>
                                  <p:cTn id="66" dur="500"/>
                                  <p:tgtEl>
                                    <p:spTgt spid="36"/>
                                  </p:tgtEl>
                                </p:cBhvr>
                              </p:animEffect>
                            </p:childTnLst>
                          </p:cTn>
                        </p:par>
                        <p:par>
                          <p:cTn id="67" presetID="10" presetClass="entr" presetSubtype="0" fill="hold" nodeType="withEffect">
                            <p:stCondLst>
                              <p:cond delay="2500"/>
                            </p:stCondLst>
                            <p:childTnLst>
                              <p:set>
                                <p:cBhvr>
                                  <p:cTn id="68" dur="1" fill="hold"/>
                                  <p:tgtEl>
                                    <p:spTgt spid="37"/>
                                  </p:tgtEl>
                                  <p:attrNameLst>
                                    <p:attrName>style.visibility</p:attrName>
                                  </p:attrNameLst>
                                </p:cBhvr>
                                <p:to>
                                  <p:strVal val="visible"/>
                                </p:to>
                              </p:set>
                              <p:animEffect transition="in" filter="fade">
                                <p:cBhvr>
                                  <p:cTn id="69" dur="500"/>
                                  <p:tgtEl>
                                    <p:spTgt spid="37"/>
                                  </p:tgtEl>
                                </p:cBhvr>
                              </p:animEffect>
                            </p:childTnLst>
                          </p:cTn>
                        </p:par>
                        <p:par>
                          <p:cTn id="70" presetID="10" presetClass="entr" presetSubtype="0" fill="hold" nodeType="withEffect">
                            <p:stCondLst>
                              <p:cond delay="2500"/>
                            </p:stCondLst>
                            <p:childTnLst>
                              <p:set>
                                <p:cBhvr>
                                  <p:cTn id="71" dur="1" fill="hold"/>
                                  <p:tgtEl>
                                    <p:spTgt spid="38"/>
                                  </p:tgtEl>
                                  <p:attrNameLst>
                                    <p:attrName>style.visibility</p:attrName>
                                  </p:attrNameLst>
                                </p:cBhvr>
                                <p:to>
                                  <p:strVal val="visible"/>
                                </p:to>
                              </p:set>
                              <p:animEffect transition="in" filter="fade">
                                <p:cBhvr>
                                  <p:cTn id="72" dur="500"/>
                                  <p:tgtEl>
                                    <p:spTgt spid="38"/>
                                  </p:tgtEl>
                                </p:cBhvr>
                              </p:animEffect>
                            </p:childTnLst>
                          </p:cTn>
                        </p:par>
                        <p:par>
                          <p:cTn id="73" presetID="10" presetClass="entr" presetSubtype="0" fill="hold" nodeType="withEffect">
                            <p:stCondLst>
                              <p:cond delay="3750"/>
                            </p:stCondLst>
                            <p:childTnLst>
                              <p:set>
                                <p:cBhvr>
                                  <p:cTn id="74" dur="1" fill="hold"/>
                                  <p:tgtEl>
                                    <p:spTgt spid="39"/>
                                  </p:tgtEl>
                                  <p:attrNameLst>
                                    <p:attrName>style.visibility</p:attrName>
                                  </p:attrNameLst>
                                </p:cBhvr>
                                <p:to>
                                  <p:strVal val="visible"/>
                                </p:to>
                              </p:set>
                              <p:animEffect transition="in" filter="fade">
                                <p:cBhvr>
                                  <p:cTn id="75" dur="500"/>
                                  <p:tgtEl>
                                    <p:spTgt spid="39"/>
                                  </p:tgtEl>
                                </p:cBhvr>
                              </p:animEffect>
                            </p:childTnLst>
                          </p:cTn>
                        </p:par>
                        <p:par>
                          <p:cTn id="76" presetID="10" presetClass="entr" presetSubtype="0" fill="hold" nodeType="withEffect">
                            <p:stCondLst>
                              <p:cond delay="3750"/>
                            </p:stCondLst>
                            <p:childTnLst>
                              <p:set>
                                <p:cBhvr>
                                  <p:cTn id="77" dur="1" fill="hold"/>
                                  <p:tgtEl>
                                    <p:spTgt spid="40"/>
                                  </p:tgtEl>
                                  <p:attrNameLst>
                                    <p:attrName>style.visibility</p:attrName>
                                  </p:attrNameLst>
                                </p:cBhvr>
                                <p:to>
                                  <p:strVal val="visible"/>
                                </p:to>
                              </p:set>
                              <p:animEffect transition="in" filter="fade">
                                <p:cBhvr>
                                  <p:cTn id="78" dur="500"/>
                                  <p:tgtEl>
                                    <p:spTgt spid="40"/>
                                  </p:tgtEl>
                                </p:cBhvr>
                              </p:animEffect>
                            </p:childTnLst>
                          </p:cTn>
                        </p:par>
                        <p:par>
                          <p:cTn id="79" presetID="10" presetClass="entr" presetSubtype="0" fill="hold" nodeType="withEffect">
                            <p:stCondLst>
                              <p:cond delay="3750"/>
                            </p:stCondLst>
                            <p:childTnLst>
                              <p:set>
                                <p:cBhvr>
                                  <p:cTn id="80" dur="1" fill="hold"/>
                                  <p:tgtEl>
                                    <p:spTgt spid="41"/>
                                  </p:tgtEl>
                                  <p:attrNameLst>
                                    <p:attrName>style.visibility</p:attrName>
                                  </p:attrNameLst>
                                </p:cBhvr>
                                <p:to>
                                  <p:strVal val="visible"/>
                                </p:to>
                              </p:set>
                              <p:animEffect transition="in" filter="fade">
                                <p:cBhvr>
                                  <p:cTn id="81" dur="500"/>
                                  <p:tgtEl>
                                    <p:spTgt spid="41"/>
                                  </p:tgtEl>
                                </p:cBhvr>
                              </p:animEffect>
                            </p:childTnLst>
                          </p:cTn>
                        </p:par>
                        <p:par>
                          <p:cTn id="82" presetID="10" presetClass="entr" presetSubtype="0" fill="hold" nodeType="withEffect">
                            <p:stCondLst>
                              <p:cond delay="3750"/>
                            </p:stCondLst>
                            <p:childTnLst>
                              <p:set>
                                <p:cBhvr>
                                  <p:cTn id="83" dur="1" fill="hold"/>
                                  <p:tgtEl>
                                    <p:spTgt spid="42"/>
                                  </p:tgtEl>
                                  <p:attrNameLst>
                                    <p:attrName>style.visibility</p:attrName>
                                  </p:attrNameLst>
                                </p:cBhvr>
                                <p:to>
                                  <p:strVal val="visible"/>
                                </p:to>
                              </p:set>
                              <p:animEffect transition="in" filter="fade">
                                <p:cBhvr>
                                  <p:cTn id="84" dur="500"/>
                                  <p:tgtEl>
                                    <p:spTgt spid="42"/>
                                  </p:tgtEl>
                                </p:cBhvr>
                              </p:animEffect>
                            </p:childTnLst>
                          </p:cTn>
                        </p:par>
                        <p:par>
                          <p:cTn id="85" presetID="10" presetClass="entr" presetSubtype="0" fill="hold" nodeType="withEffect">
                            <p:stCondLst>
                              <p:cond delay="5000"/>
                            </p:stCondLst>
                            <p:childTnLst>
                              <p:set>
                                <p:cBhvr>
                                  <p:cTn id="86" dur="1" fill="hold"/>
                                  <p:tgtEl>
                                    <p:spTgt spid="43"/>
                                  </p:tgtEl>
                                  <p:attrNameLst>
                                    <p:attrName>style.visibility</p:attrName>
                                  </p:attrNameLst>
                                </p:cBhvr>
                                <p:to>
                                  <p:strVal val="visible"/>
                                </p:to>
                              </p:set>
                              <p:animEffect transition="in" filter="fade">
                                <p:cBhvr>
                                  <p:cTn id="87" dur="500"/>
                                  <p:tgtEl>
                                    <p:spTgt spid="43"/>
                                  </p:tgtEl>
                                </p:cBhvr>
                              </p:animEffect>
                            </p:childTnLst>
                          </p:cTn>
                        </p:par>
                        <p:par>
                          <p:cTn id="88" presetID="10" presetClass="entr" presetSubtype="0" fill="hold" nodeType="withEffect">
                            <p:stCondLst>
                              <p:cond delay="5000"/>
                            </p:stCondLst>
                            <p:childTnLst>
                              <p:set>
                                <p:cBhvr>
                                  <p:cTn id="89" dur="1" fill="hold"/>
                                  <p:tgtEl>
                                    <p:spTgt spid="44"/>
                                  </p:tgtEl>
                                  <p:attrNameLst>
                                    <p:attrName>style.visibility</p:attrName>
                                  </p:attrNameLst>
                                </p:cBhvr>
                                <p:to>
                                  <p:strVal val="visible"/>
                                </p:to>
                              </p:set>
                              <p:animEffect transition="in" filter="fade">
                                <p:cBhvr>
                                  <p:cTn id="90" dur="500"/>
                                  <p:tgtEl>
                                    <p:spTgt spid="44"/>
                                  </p:tgtEl>
                                </p:cBhvr>
                              </p:animEffect>
                            </p:childTnLst>
                          </p:cTn>
                        </p:par>
                        <p:par>
                          <p:cTn id="91" presetID="10" presetClass="entr" presetSubtype="0" fill="hold" nodeType="withEffect">
                            <p:stCondLst>
                              <p:cond delay="5000"/>
                            </p:stCondLst>
                            <p:childTnLst>
                              <p:set>
                                <p:cBhvr>
                                  <p:cTn id="92" dur="1" fill="hold"/>
                                  <p:tgtEl>
                                    <p:spTgt spid="45"/>
                                  </p:tgtEl>
                                  <p:attrNameLst>
                                    <p:attrName>style.visibility</p:attrName>
                                  </p:attrNameLst>
                                </p:cBhvr>
                                <p:to>
                                  <p:strVal val="visible"/>
                                </p:to>
                              </p:set>
                              <p:animEffect transition="in" filter="fade">
                                <p:cBhvr>
                                  <p:cTn id="93" dur="500"/>
                                  <p:tgtEl>
                                    <p:spTgt spid="4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571500" y="292100"/>
            <a:ext cx="409575" cy="273050"/>
          </a:xfrm>
          <a:prstGeom prst="rect">
            <a:avLst/>
          </a:prstGeom>
          <a:effectLst/>
        </p:spPr>
      </p:pic>
      <p:sp>
        <p:nvSpPr>
          <p:cNvPr id="3" name="TextBox 2"/>
          <p:cNvSpPr txBox="1"/>
          <p:nvPr/>
        </p:nvSpPr>
        <p:spPr>
          <a:xfrm>
            <a:off x="1095375" y="323850"/>
            <a:ext cx="1466850" cy="2571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1" lang="en-US">
                <a:solidFill>
                  <a:srgbClr val="29302D"/>
                </a:solidFill>
                <a:latin typeface="Manrope"/>
              </a:rPr>
              <a:t>GRINDCTRL</a:t>
            </a:r>
          </a:p>
        </p:txBody>
      </p:sp>
      <p:sp>
        <p:nvSpPr>
          <p:cNvPr id="4" name="TextBox 3"/>
          <p:cNvSpPr txBox="1"/>
          <p:nvPr/>
        </p:nvSpPr>
        <p:spPr>
          <a:xfrm>
            <a:off x="7448550" y="333375"/>
            <a:ext cx="4171950" cy="247650"/>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05 · BEFORE / AFTER</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9302D"/>
                </a:solidFill>
                <a:latin typeface="Manrope"/>
              </a:rPr>
              <a:t>The same information. A better start.</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716B"/>
                </a:solidFill>
                <a:latin typeface="Manrope"/>
              </a:rPr>
              <a:t>Fewer manual retrieval steps before an informed response.</a:t>
            </a:r>
          </a:p>
        </p:txBody>
      </p:sp>
      <p:cxnSp>
        <p:nvCxnSpPr>
          <p:cNvPr id="7" name="Connector 6"/>
          <p:cNvCxnSpPr/>
          <p:nvPr/>
        </p:nvCxnSpPr>
        <p:spPr>
          <a:xfrm>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1500" y="6534150"/>
            <a:ext cx="9525000" cy="219075"/>
          </a:xfrm>
          <a:prstGeom prst="rect">
            <a:avLst/>
          </a:prstGeom>
          <a:noFill/>
          <a:effectLst/>
        </p:spPr>
        <p:txBody>
          <a:bodyPr wrap="square" lIns="0" rIns="0" tIns="0" bIns="0" anchor="t">
            <a:spAutoFit/>
          </a:bodyPr>
          <a:lstStyle/>
          <a:p>
            <a:pPr algn="l" rtl="0">
              <a:lnSpc>
                <a:spcPts val="1008"/>
              </a:lnSpc>
              <a:spcBef>
                <a:spcPts val="0"/>
              </a:spcBef>
              <a:spcAft>
                <a:spcPts val="0"/>
              </a:spcAft>
            </a:pPr>
            <a:r>
              <a:rPr sz="900" b="0" lang="en-US">
                <a:solidFill>
                  <a:srgbClr val="68716B"/>
                </a:solidFill>
                <a:latin typeface="Manrope"/>
              </a:rPr>
              <a:t>CONCRETE · PROPOSED COLLABORATION</a:t>
            </a:r>
          </a:p>
        </p:txBody>
      </p:sp>
      <p:sp>
        <p:nvSpPr>
          <p:cNvPr id="9" name="TextBox 8"/>
          <p:cNvSpPr txBox="1"/>
          <p:nvPr/>
        </p:nvSpPr>
        <p:spPr>
          <a:xfrm>
            <a:off x="10782300" y="6515100"/>
            <a:ext cx="838200" cy="238125"/>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06 / 09</a:t>
            </a:r>
          </a:p>
        </p:txBody>
      </p:sp>
      <p:sp>
        <p:nvSpPr>
          <p:cNvPr id="10" name="Rounded Rectangle 9"/>
          <p:cNvSpPr/>
          <p:nvPr/>
        </p:nvSpPr>
        <p:spPr>
          <a:xfrm>
            <a:off x="581025" y="2324100"/>
            <a:ext cx="11049000" cy="3457575"/>
          </a:xfrm>
          <a:prstGeom prst="roundRect">
            <a:avLst>
              <a:gd name="adj" fmla="val 4407"/>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76475"/>
            <a:ext cx="11049000" cy="3457575"/>
          </a:xfrm>
          <a:prstGeom prst="roundRect">
            <a:avLst>
              <a:gd name="adj" fmla="val 4407"/>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096000" y="2514600"/>
            <a:ext cx="0" cy="298132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76300" y="2524125"/>
            <a:ext cx="4800600" cy="3333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9302D"/>
                </a:solidFill>
                <a:latin typeface="Manrope"/>
              </a:rPr>
              <a:t>Before</a:t>
            </a:r>
          </a:p>
        </p:txBody>
      </p:sp>
      <p:sp>
        <p:nvSpPr>
          <p:cNvPr id="14" name="TextBox 13"/>
          <p:cNvSpPr txBox="1"/>
          <p:nvPr/>
        </p:nvSpPr>
        <p:spPr>
          <a:xfrm>
            <a:off x="6448425" y="2524125"/>
            <a:ext cx="4800600" cy="3333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54745C"/>
                </a:solidFill>
                <a:latin typeface="Manrope"/>
              </a:rPr>
              <a:t>Proposed after</a:t>
            </a:r>
          </a:p>
        </p:txBody>
      </p:sp>
      <p:sp>
        <p:nvSpPr>
          <p:cNvPr id="15" name="Oval 14"/>
          <p:cNvSpPr/>
          <p:nvPr/>
        </p:nvSpPr>
        <p:spPr>
          <a:xfrm>
            <a:off x="876300" y="3076575"/>
            <a:ext cx="361950" cy="36195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con-call.png"/>
          <p:cNvPicPr>
            <a:picLocks noChangeAspect="1"/>
          </p:cNvPicPr>
          <p:nvPr/>
        </p:nvPicPr>
        <p:blipFill>
          <a:blip r:embed="rId3"/>
          <a:stretch>
            <a:fillRect/>
          </a:stretch>
        </p:blipFill>
        <p:spPr>
          <a:xfrm>
            <a:off x="971550" y="3171825"/>
            <a:ext cx="171450" cy="171450"/>
          </a:xfrm>
          <a:prstGeom prst="rect">
            <a:avLst/>
          </a:prstGeom>
          <a:effectLst/>
        </p:spPr>
      </p:pic>
      <p:cxnSp>
        <p:nvCxnSpPr>
          <p:cNvPr id="17" name="Connector 16"/>
          <p:cNvCxnSpPr/>
          <p:nvPr/>
        </p:nvCxnSpPr>
        <p:spPr>
          <a:xfrm>
            <a:off x="1057275" y="34671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1428750" y="3105150"/>
            <a:ext cx="4257675"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9302D"/>
                </a:solidFill>
                <a:latin typeface="Manrope"/>
              </a:rPr>
              <a:t>Receive the call</a:t>
            </a:r>
          </a:p>
        </p:txBody>
      </p:sp>
      <p:sp>
        <p:nvSpPr>
          <p:cNvPr id="19" name="Oval 18"/>
          <p:cNvSpPr/>
          <p:nvPr/>
        </p:nvSpPr>
        <p:spPr>
          <a:xfrm>
            <a:off x="876300" y="3686175"/>
            <a:ext cx="361950" cy="36195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search.png"/>
          <p:cNvPicPr>
            <a:picLocks noChangeAspect="1"/>
          </p:cNvPicPr>
          <p:nvPr/>
        </p:nvPicPr>
        <p:blipFill>
          <a:blip r:embed="rId4"/>
          <a:stretch>
            <a:fillRect/>
          </a:stretch>
        </p:blipFill>
        <p:spPr>
          <a:xfrm>
            <a:off x="971550" y="3781425"/>
            <a:ext cx="171450" cy="171450"/>
          </a:xfrm>
          <a:prstGeom prst="rect">
            <a:avLst/>
          </a:prstGeom>
          <a:effectLst/>
        </p:spPr>
      </p:pic>
      <p:cxnSp>
        <p:nvCxnSpPr>
          <p:cNvPr id="21" name="Connector 20"/>
          <p:cNvCxnSpPr/>
          <p:nvPr/>
        </p:nvCxnSpPr>
        <p:spPr>
          <a:xfrm>
            <a:off x="1057275" y="40767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1428750" y="3714750"/>
            <a:ext cx="4257675"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9302D"/>
                </a:solidFill>
                <a:latin typeface="Manrope"/>
              </a:rPr>
              <a:t>Search manually</a:t>
            </a:r>
          </a:p>
        </p:txBody>
      </p:sp>
      <p:sp>
        <p:nvSpPr>
          <p:cNvPr id="23" name="Oval 22"/>
          <p:cNvSpPr/>
          <p:nvPr/>
        </p:nvSpPr>
        <p:spPr>
          <a:xfrm>
            <a:off x="876300" y="4295775"/>
            <a:ext cx="361950" cy="36195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case.png"/>
          <p:cNvPicPr>
            <a:picLocks noChangeAspect="1"/>
          </p:cNvPicPr>
          <p:nvPr/>
        </p:nvPicPr>
        <p:blipFill>
          <a:blip r:embed="rId5"/>
          <a:stretch>
            <a:fillRect/>
          </a:stretch>
        </p:blipFill>
        <p:spPr>
          <a:xfrm>
            <a:off x="971550" y="4391025"/>
            <a:ext cx="171450" cy="171450"/>
          </a:xfrm>
          <a:prstGeom prst="rect">
            <a:avLst/>
          </a:prstGeom>
          <a:effectLst/>
        </p:spPr>
      </p:pic>
      <p:cxnSp>
        <p:nvCxnSpPr>
          <p:cNvPr id="25" name="Connector 24"/>
          <p:cNvCxnSpPr/>
          <p:nvPr/>
        </p:nvCxnSpPr>
        <p:spPr>
          <a:xfrm>
            <a:off x="1057275" y="46863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1428750" y="4324350"/>
            <a:ext cx="4257675"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9302D"/>
                </a:solidFill>
                <a:latin typeface="Manrope"/>
              </a:rPr>
              <a:t>Find the right ticket</a:t>
            </a:r>
          </a:p>
        </p:txBody>
      </p:sp>
      <p:sp>
        <p:nvSpPr>
          <p:cNvPr id="27" name="Oval 26"/>
          <p:cNvSpPr/>
          <p:nvPr/>
        </p:nvSpPr>
        <p:spPr>
          <a:xfrm>
            <a:off x="876300" y="4905375"/>
            <a:ext cx="361950" cy="36195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con-file.png"/>
          <p:cNvPicPr>
            <a:picLocks noChangeAspect="1"/>
          </p:cNvPicPr>
          <p:nvPr/>
        </p:nvPicPr>
        <p:blipFill>
          <a:blip r:embed="rId6"/>
          <a:stretch>
            <a:fillRect/>
          </a:stretch>
        </p:blipFill>
        <p:spPr>
          <a:xfrm>
            <a:off x="971550" y="5000625"/>
            <a:ext cx="171450" cy="171450"/>
          </a:xfrm>
          <a:prstGeom prst="rect">
            <a:avLst/>
          </a:prstGeom>
          <a:effectLst/>
        </p:spPr>
      </p:pic>
      <p:sp>
        <p:nvSpPr>
          <p:cNvPr id="29" name="TextBox 28"/>
          <p:cNvSpPr txBox="1"/>
          <p:nvPr/>
        </p:nvSpPr>
        <p:spPr>
          <a:xfrm>
            <a:off x="1428750" y="4933950"/>
            <a:ext cx="4257675"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9302D"/>
                </a:solidFill>
                <a:latin typeface="Manrope"/>
              </a:rPr>
              <a:t>Read the latest update</a:t>
            </a:r>
          </a:p>
        </p:txBody>
      </p:sp>
      <p:sp>
        <p:nvSpPr>
          <p:cNvPr id="30" name="Oval 29"/>
          <p:cNvSpPr/>
          <p:nvPr/>
        </p:nvSpPr>
        <p:spPr>
          <a:xfrm>
            <a:off x="6448425" y="3076575"/>
            <a:ext cx="361950" cy="3619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call.png"/>
          <p:cNvPicPr>
            <a:picLocks noChangeAspect="1"/>
          </p:cNvPicPr>
          <p:nvPr/>
        </p:nvPicPr>
        <p:blipFill>
          <a:blip r:embed="rId3"/>
          <a:stretch>
            <a:fillRect/>
          </a:stretch>
        </p:blipFill>
        <p:spPr>
          <a:xfrm>
            <a:off x="6543675" y="3171825"/>
            <a:ext cx="171450" cy="171450"/>
          </a:xfrm>
          <a:prstGeom prst="rect">
            <a:avLst/>
          </a:prstGeom>
          <a:effectLst/>
        </p:spPr>
      </p:pic>
      <p:cxnSp>
        <p:nvCxnSpPr>
          <p:cNvPr id="32" name="Connector 31"/>
          <p:cNvCxnSpPr/>
          <p:nvPr/>
        </p:nvCxnSpPr>
        <p:spPr>
          <a:xfrm>
            <a:off x="6629400" y="34671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000875" y="3105150"/>
            <a:ext cx="4257675"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9302D"/>
                </a:solidFill>
                <a:latin typeface="Manrope"/>
              </a:rPr>
              <a:t>Receive the call</a:t>
            </a:r>
          </a:p>
        </p:txBody>
      </p:sp>
      <p:sp>
        <p:nvSpPr>
          <p:cNvPr id="34" name="Oval 33"/>
          <p:cNvSpPr/>
          <p:nvPr/>
        </p:nvSpPr>
        <p:spPr>
          <a:xfrm>
            <a:off x="6448425" y="3686175"/>
            <a:ext cx="361950" cy="3619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con-case.png"/>
          <p:cNvPicPr>
            <a:picLocks noChangeAspect="1"/>
          </p:cNvPicPr>
          <p:nvPr/>
        </p:nvPicPr>
        <p:blipFill>
          <a:blip r:embed="rId5"/>
          <a:stretch>
            <a:fillRect/>
          </a:stretch>
        </p:blipFill>
        <p:spPr>
          <a:xfrm>
            <a:off x="6543675" y="3781425"/>
            <a:ext cx="171450" cy="171450"/>
          </a:xfrm>
          <a:prstGeom prst="rect">
            <a:avLst/>
          </a:prstGeom>
          <a:effectLst/>
        </p:spPr>
      </p:pic>
      <p:cxnSp>
        <p:nvCxnSpPr>
          <p:cNvPr id="36" name="Connector 35"/>
          <p:cNvCxnSpPr/>
          <p:nvPr/>
        </p:nvCxnSpPr>
        <p:spPr>
          <a:xfrm>
            <a:off x="6629400" y="40767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7000875" y="3714750"/>
            <a:ext cx="4257675"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9302D"/>
                </a:solidFill>
                <a:latin typeface="Manrope"/>
              </a:rPr>
              <a:t>Customer context appears</a:t>
            </a:r>
          </a:p>
        </p:txBody>
      </p:sp>
      <p:sp>
        <p:nvSpPr>
          <p:cNvPr id="38" name="Oval 37"/>
          <p:cNvSpPr/>
          <p:nvPr/>
        </p:nvSpPr>
        <p:spPr>
          <a:xfrm>
            <a:off x="6448425" y="4295775"/>
            <a:ext cx="361950" cy="3619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9" name="Picture 38" descr="icon-file.png"/>
          <p:cNvPicPr>
            <a:picLocks noChangeAspect="1"/>
          </p:cNvPicPr>
          <p:nvPr/>
        </p:nvPicPr>
        <p:blipFill>
          <a:blip r:embed="rId6"/>
          <a:stretch>
            <a:fillRect/>
          </a:stretch>
        </p:blipFill>
        <p:spPr>
          <a:xfrm>
            <a:off x="6543675" y="4391025"/>
            <a:ext cx="171450" cy="171450"/>
          </a:xfrm>
          <a:prstGeom prst="rect">
            <a:avLst/>
          </a:prstGeom>
          <a:effectLst/>
        </p:spPr>
      </p:pic>
      <p:cxnSp>
        <p:nvCxnSpPr>
          <p:cNvPr id="40" name="Connector 39"/>
          <p:cNvCxnSpPr/>
          <p:nvPr/>
        </p:nvCxnSpPr>
        <p:spPr>
          <a:xfrm>
            <a:off x="6629400" y="46863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7000875" y="4324350"/>
            <a:ext cx="4257675"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9302D"/>
                </a:solidFill>
                <a:latin typeface="Manrope"/>
              </a:rPr>
              <a:t>Read the latest update</a:t>
            </a:r>
          </a:p>
        </p:txBody>
      </p:sp>
      <p:sp>
        <p:nvSpPr>
          <p:cNvPr id="42" name="Oval 41"/>
          <p:cNvSpPr/>
          <p:nvPr/>
        </p:nvSpPr>
        <p:spPr>
          <a:xfrm>
            <a:off x="6448425" y="4905375"/>
            <a:ext cx="361950" cy="3619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3" name="Picture 42" descr="icon-actor.png"/>
          <p:cNvPicPr>
            <a:picLocks noChangeAspect="1"/>
          </p:cNvPicPr>
          <p:nvPr/>
        </p:nvPicPr>
        <p:blipFill>
          <a:blip r:embed="rId7"/>
          <a:stretch>
            <a:fillRect/>
          </a:stretch>
        </p:blipFill>
        <p:spPr>
          <a:xfrm>
            <a:off x="6543675" y="5000625"/>
            <a:ext cx="171450" cy="171450"/>
          </a:xfrm>
          <a:prstGeom prst="rect">
            <a:avLst/>
          </a:prstGeom>
          <a:effectLst/>
        </p:spPr>
      </p:pic>
      <p:sp>
        <p:nvSpPr>
          <p:cNvPr id="44" name="TextBox 43"/>
          <p:cNvSpPr txBox="1"/>
          <p:nvPr/>
        </p:nvSpPr>
        <p:spPr>
          <a:xfrm>
            <a:off x="7000875" y="4933950"/>
            <a:ext cx="4257675" cy="3524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9302D"/>
                </a:solidFill>
                <a:latin typeface="Manrope"/>
              </a:rPr>
              <a:t>Continue with context</a:t>
            </a:r>
          </a:p>
        </p:txBody>
      </p:sp>
      <p:sp>
        <p:nvSpPr>
          <p:cNvPr id="45" name="TextBox 44"/>
          <p:cNvSpPr txBox="1"/>
          <p:nvPr/>
        </p:nvSpPr>
        <p:spPr>
          <a:xfrm>
            <a:off x="571500" y="5953125"/>
            <a:ext cx="11049000" cy="314325"/>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54745C"/>
                </a:solidFill>
                <a:latin typeface="Manrope"/>
              </a:rPr>
              <a:t>Spend less of the call finding the context.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0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00"/>
                                  <p:tgtEl>
                                    <p:spTgt spid="16"/>
                                  </p:tgtEl>
                                </p:cBhvr>
                              </p:animEffect>
                            </p:childTnLst>
                          </p:cTn>
                        </p:par>
                        <p:par>
                          <p:cTn id="10" presetID="10" presetClass="entr" presetSubtype="0" fill="hold" nodeType="withEffect">
                            <p:stCondLst>
                              <p:cond delay="1250"/>
                            </p:stCondLst>
                            <p:childTnLst>
                              <p:set>
                                <p:cBhvr>
                                  <p:cTn id="11" dur="1" fill="hold"/>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1250"/>
                            </p:stCondLst>
                            <p:childTnLst>
                              <p:set>
                                <p:cBhvr>
                                  <p:cTn id="17" dur="1" fill="hold"/>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1250"/>
                            </p:stCondLst>
                            <p:childTnLst>
                              <p:set>
                                <p:cBhvr>
                                  <p:cTn id="20" dur="1" fill="hold"/>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nodeType="withEffect">
                            <p:stCondLst>
                              <p:cond delay="2500"/>
                            </p:stCondLst>
                            <p:childTnLst>
                              <p:set>
                                <p:cBhvr>
                                  <p:cTn id="23" dur="1" fill="hold"/>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nodeType="withEffect">
                            <p:stCondLst>
                              <p:cond delay="1250"/>
                            </p:stCondLst>
                            <p:childTnLst>
                              <p:set>
                                <p:cBhvr>
                                  <p:cTn id="26" dur="1" fill="hold"/>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2500"/>
                            </p:stCondLst>
                            <p:childTnLst>
                              <p:set>
                                <p:cBhvr>
                                  <p:cTn id="29" dur="1" fill="hold"/>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nodeType="withEffect">
                            <p:stCondLst>
                              <p:cond delay="2500"/>
                            </p:stCondLst>
                            <p:childTnLst>
                              <p:set>
                                <p:cBhvr>
                                  <p:cTn id="32" dur="1" fill="hold"/>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nodeType="withEffect">
                            <p:stCondLst>
                              <p:cond delay="3750"/>
                            </p:stCondLst>
                            <p:childTnLst>
                              <p:set>
                                <p:cBhvr>
                                  <p:cTn id="35" dur="1" fill="hold"/>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2500"/>
                            </p:stCondLst>
                            <p:childTnLst>
                              <p:set>
                                <p:cBhvr>
                                  <p:cTn id="38" dur="1" fill="hold"/>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nodeType="withEffect">
                            <p:stCondLst>
                              <p:cond delay="3750"/>
                            </p:stCondLst>
                            <p:childTnLst>
                              <p:set>
                                <p:cBhvr>
                                  <p:cTn id="41" dur="1" fill="hold"/>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nodeType="withEffect">
                            <p:stCondLst>
                              <p:cond delay="3750"/>
                            </p:stCondLst>
                            <p:childTnLst>
                              <p:set>
                                <p:cBhvr>
                                  <p:cTn id="44" dur="1" fill="hold"/>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nodeType="withEffect">
                            <p:stCondLst>
                              <p:cond delay="3750"/>
                            </p:stCondLst>
                            <p:childTnLst>
                              <p:set>
                                <p:cBhvr>
                                  <p:cTn id="47" dur="1" fill="hold"/>
                                  <p:tgtEl>
                                    <p:spTgt spid="29"/>
                                  </p:tgtEl>
                                  <p:attrNameLst>
                                    <p:attrName>style.visibility</p:attrName>
                                  </p:attrNameLst>
                                </p:cBhvr>
                                <p:to>
                                  <p:strVal val="visible"/>
                                </p:to>
                              </p:set>
                              <p:animEffect transition="in" filter="fade">
                                <p:cBhvr>
                                  <p:cTn id="48" dur="500"/>
                                  <p:tgtEl>
                                    <p:spTgt spid="29"/>
                                  </p:tgtEl>
                                </p:cBhvr>
                              </p:animEffect>
                            </p:childTnLst>
                          </p:cTn>
                        </p:par>
                        <p:par>
                          <p:cTn id="49" presetID="10" presetClass="entr" presetSubtype="0" fill="hold" nodeType="withEffect">
                            <p:stCondLst>
                              <p:cond delay="0"/>
                            </p:stCondLst>
                            <p:childTnLst>
                              <p:set>
                                <p:cBhvr>
                                  <p:cTn id="50" dur="1" fill="hold"/>
                                  <p:tgtEl>
                                    <p:spTgt spid="30"/>
                                  </p:tgtEl>
                                  <p:attrNameLst>
                                    <p:attrName>style.visibility</p:attrName>
                                  </p:attrNameLst>
                                </p:cBhvr>
                                <p:to>
                                  <p:strVal val="visible"/>
                                </p:to>
                              </p:set>
                              <p:animEffect transition="in" filter="fade">
                                <p:cBhvr>
                                  <p:cTn id="51" dur="500"/>
                                  <p:tgtEl>
                                    <p:spTgt spid="30"/>
                                  </p:tgtEl>
                                </p:cBhvr>
                              </p:animEffect>
                            </p:childTnLst>
                          </p:cTn>
                        </p:par>
                        <p:par>
                          <p:cTn id="52" presetID="10" presetClass="entr" presetSubtype="0" fill="hold" nodeType="withEffect">
                            <p:stCondLst>
                              <p:cond delay="0"/>
                            </p:stCondLst>
                            <p:childTnLst>
                              <p:set>
                                <p:cBhvr>
                                  <p:cTn id="53" dur="1" fill="hold"/>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nodeType="withEffect">
                            <p:stCondLst>
                              <p:cond delay="1250"/>
                            </p:stCondLst>
                            <p:childTnLst>
                              <p:set>
                                <p:cBhvr>
                                  <p:cTn id="56" dur="1" fill="hold"/>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nodeType="withEffect">
                            <p:stCondLst>
                              <p:cond delay="0"/>
                            </p:stCondLst>
                            <p:childTnLst>
                              <p:set>
                                <p:cBhvr>
                                  <p:cTn id="59" dur="1" fill="hold"/>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nodeType="withEffect">
                            <p:stCondLst>
                              <p:cond delay="1250"/>
                            </p:stCondLst>
                            <p:childTnLst>
                              <p:set>
                                <p:cBhvr>
                                  <p:cTn id="62" dur="1" fill="hold"/>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nodeType="withEffect">
                            <p:stCondLst>
                              <p:cond delay="1250"/>
                            </p:stCondLst>
                            <p:childTnLst>
                              <p:set>
                                <p:cBhvr>
                                  <p:cTn id="65" dur="1" fill="hold"/>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10" presetClass="entr" presetSubtype="0" fill="hold" nodeType="withEffect">
                            <p:stCondLst>
                              <p:cond delay="2500"/>
                            </p:stCondLst>
                            <p:childTnLst>
                              <p:set>
                                <p:cBhvr>
                                  <p:cTn id="68" dur="1" fill="hold"/>
                                  <p:tgtEl>
                                    <p:spTgt spid="36"/>
                                  </p:tgtEl>
                                  <p:attrNameLst>
                                    <p:attrName>style.visibility</p:attrName>
                                  </p:attrNameLst>
                                </p:cBhvr>
                                <p:to>
                                  <p:strVal val="visible"/>
                                </p:to>
                              </p:set>
                              <p:animEffect transition="in" filter="fade">
                                <p:cBhvr>
                                  <p:cTn id="69" dur="500"/>
                                  <p:tgtEl>
                                    <p:spTgt spid="36"/>
                                  </p:tgtEl>
                                </p:cBhvr>
                              </p:animEffect>
                            </p:childTnLst>
                          </p:cTn>
                        </p:par>
                        <p:par>
                          <p:cTn id="70" presetID="10" presetClass="entr" presetSubtype="0" fill="hold" nodeType="withEffect">
                            <p:stCondLst>
                              <p:cond delay="1250"/>
                            </p:stCondLst>
                            <p:childTnLst>
                              <p:set>
                                <p:cBhvr>
                                  <p:cTn id="71" dur="1" fill="hold"/>
                                  <p:tgtEl>
                                    <p:spTgt spid="37"/>
                                  </p:tgtEl>
                                  <p:attrNameLst>
                                    <p:attrName>style.visibility</p:attrName>
                                  </p:attrNameLst>
                                </p:cBhvr>
                                <p:to>
                                  <p:strVal val="visible"/>
                                </p:to>
                              </p:set>
                              <p:animEffect transition="in" filter="fade">
                                <p:cBhvr>
                                  <p:cTn id="72" dur="500"/>
                                  <p:tgtEl>
                                    <p:spTgt spid="37"/>
                                  </p:tgtEl>
                                </p:cBhvr>
                              </p:animEffect>
                            </p:childTnLst>
                          </p:cTn>
                        </p:par>
                        <p:par>
                          <p:cTn id="73" presetID="10" presetClass="entr" presetSubtype="0" fill="hold" nodeType="withEffect">
                            <p:stCondLst>
                              <p:cond delay="2500"/>
                            </p:stCondLst>
                            <p:childTnLst>
                              <p:set>
                                <p:cBhvr>
                                  <p:cTn id="74" dur="1" fill="hold"/>
                                  <p:tgtEl>
                                    <p:spTgt spid="38"/>
                                  </p:tgtEl>
                                  <p:attrNameLst>
                                    <p:attrName>style.visibility</p:attrName>
                                  </p:attrNameLst>
                                </p:cBhvr>
                                <p:to>
                                  <p:strVal val="visible"/>
                                </p:to>
                              </p:set>
                              <p:animEffect transition="in" filter="fade">
                                <p:cBhvr>
                                  <p:cTn id="75" dur="500"/>
                                  <p:tgtEl>
                                    <p:spTgt spid="38"/>
                                  </p:tgtEl>
                                </p:cBhvr>
                              </p:animEffect>
                            </p:childTnLst>
                          </p:cTn>
                        </p:par>
                        <p:par>
                          <p:cTn id="76" presetID="10" presetClass="entr" presetSubtype="0" fill="hold" nodeType="withEffect">
                            <p:stCondLst>
                              <p:cond delay="2500"/>
                            </p:stCondLst>
                            <p:childTnLst>
                              <p:set>
                                <p:cBhvr>
                                  <p:cTn id="77" dur="1" fill="hold"/>
                                  <p:tgtEl>
                                    <p:spTgt spid="39"/>
                                  </p:tgtEl>
                                  <p:attrNameLst>
                                    <p:attrName>style.visibility</p:attrName>
                                  </p:attrNameLst>
                                </p:cBhvr>
                                <p:to>
                                  <p:strVal val="visible"/>
                                </p:to>
                              </p:set>
                              <p:animEffect transition="in" filter="fade">
                                <p:cBhvr>
                                  <p:cTn id="78" dur="500"/>
                                  <p:tgtEl>
                                    <p:spTgt spid="39"/>
                                  </p:tgtEl>
                                </p:cBhvr>
                              </p:animEffect>
                            </p:childTnLst>
                          </p:cTn>
                        </p:par>
                        <p:par>
                          <p:cTn id="79" presetID="10" presetClass="entr" presetSubtype="0" fill="hold" nodeType="withEffect">
                            <p:stCondLst>
                              <p:cond delay="3750"/>
                            </p:stCondLst>
                            <p:childTnLst>
                              <p:set>
                                <p:cBhvr>
                                  <p:cTn id="80" dur="1" fill="hold"/>
                                  <p:tgtEl>
                                    <p:spTgt spid="40"/>
                                  </p:tgtEl>
                                  <p:attrNameLst>
                                    <p:attrName>style.visibility</p:attrName>
                                  </p:attrNameLst>
                                </p:cBhvr>
                                <p:to>
                                  <p:strVal val="visible"/>
                                </p:to>
                              </p:set>
                              <p:animEffect transition="in" filter="fade">
                                <p:cBhvr>
                                  <p:cTn id="81" dur="500"/>
                                  <p:tgtEl>
                                    <p:spTgt spid="40"/>
                                  </p:tgtEl>
                                </p:cBhvr>
                              </p:animEffect>
                            </p:childTnLst>
                          </p:cTn>
                        </p:par>
                        <p:par>
                          <p:cTn id="82" presetID="10" presetClass="entr" presetSubtype="0" fill="hold" nodeType="withEffect">
                            <p:stCondLst>
                              <p:cond delay="2500"/>
                            </p:stCondLst>
                            <p:childTnLst>
                              <p:set>
                                <p:cBhvr>
                                  <p:cTn id="83" dur="1" fill="hold"/>
                                  <p:tgtEl>
                                    <p:spTgt spid="41"/>
                                  </p:tgtEl>
                                  <p:attrNameLst>
                                    <p:attrName>style.visibility</p:attrName>
                                  </p:attrNameLst>
                                </p:cBhvr>
                                <p:to>
                                  <p:strVal val="visible"/>
                                </p:to>
                              </p:set>
                              <p:animEffect transition="in" filter="fade">
                                <p:cBhvr>
                                  <p:cTn id="84" dur="500"/>
                                  <p:tgtEl>
                                    <p:spTgt spid="41"/>
                                  </p:tgtEl>
                                </p:cBhvr>
                              </p:animEffect>
                            </p:childTnLst>
                          </p:cTn>
                        </p:par>
                        <p:par>
                          <p:cTn id="85" presetID="10" presetClass="entr" presetSubtype="0" fill="hold" nodeType="withEffect">
                            <p:stCondLst>
                              <p:cond delay="3750"/>
                            </p:stCondLst>
                            <p:childTnLst>
                              <p:set>
                                <p:cBhvr>
                                  <p:cTn id="86" dur="1" fill="hold"/>
                                  <p:tgtEl>
                                    <p:spTgt spid="42"/>
                                  </p:tgtEl>
                                  <p:attrNameLst>
                                    <p:attrName>style.visibility</p:attrName>
                                  </p:attrNameLst>
                                </p:cBhvr>
                                <p:to>
                                  <p:strVal val="visible"/>
                                </p:to>
                              </p:set>
                              <p:animEffect transition="in" filter="fade">
                                <p:cBhvr>
                                  <p:cTn id="87" dur="500"/>
                                  <p:tgtEl>
                                    <p:spTgt spid="42"/>
                                  </p:tgtEl>
                                </p:cBhvr>
                              </p:animEffect>
                            </p:childTnLst>
                          </p:cTn>
                        </p:par>
                        <p:par>
                          <p:cTn id="88" presetID="10" presetClass="entr" presetSubtype="0" fill="hold" nodeType="withEffect">
                            <p:stCondLst>
                              <p:cond delay="3750"/>
                            </p:stCondLst>
                            <p:childTnLst>
                              <p:set>
                                <p:cBhvr>
                                  <p:cTn id="89" dur="1" fill="hold"/>
                                  <p:tgtEl>
                                    <p:spTgt spid="43"/>
                                  </p:tgtEl>
                                  <p:attrNameLst>
                                    <p:attrName>style.visibility</p:attrName>
                                  </p:attrNameLst>
                                </p:cBhvr>
                                <p:to>
                                  <p:strVal val="visible"/>
                                </p:to>
                              </p:set>
                              <p:animEffect transition="in" filter="fade">
                                <p:cBhvr>
                                  <p:cTn id="90" dur="500"/>
                                  <p:tgtEl>
                                    <p:spTgt spid="43"/>
                                  </p:tgtEl>
                                </p:cBhvr>
                              </p:animEffect>
                            </p:childTnLst>
                          </p:cTn>
                        </p:par>
                        <p:par>
                          <p:cTn id="91" presetID="10" presetClass="entr" presetSubtype="0" fill="hold" nodeType="withEffect">
                            <p:stCondLst>
                              <p:cond delay="3750"/>
                            </p:stCondLst>
                            <p:childTnLst>
                              <p:set>
                                <p:cBhvr>
                                  <p:cTn id="92" dur="1" fill="hold"/>
                                  <p:tgtEl>
                                    <p:spTgt spid="44"/>
                                  </p:tgtEl>
                                  <p:attrNameLst>
                                    <p:attrName>style.visibility</p:attrName>
                                  </p:attrNameLst>
                                </p:cBhvr>
                                <p:to>
                                  <p:strVal val="visible"/>
                                </p:to>
                              </p:set>
                              <p:animEffect transition="in" filter="fade">
                                <p:cBhvr>
                                  <p:cTn id="93" dur="500"/>
                                  <p:tgtEl>
                                    <p:spTgt spid="4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571500" y="292100"/>
            <a:ext cx="409575" cy="273050"/>
          </a:xfrm>
          <a:prstGeom prst="rect">
            <a:avLst/>
          </a:prstGeom>
          <a:effectLst/>
        </p:spPr>
      </p:pic>
      <p:sp>
        <p:nvSpPr>
          <p:cNvPr id="3" name="TextBox 2"/>
          <p:cNvSpPr txBox="1"/>
          <p:nvPr/>
        </p:nvSpPr>
        <p:spPr>
          <a:xfrm>
            <a:off x="1095375" y="323850"/>
            <a:ext cx="1466850" cy="2571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1" lang="en-US">
                <a:solidFill>
                  <a:srgbClr val="29302D"/>
                </a:solidFill>
                <a:latin typeface="Manrope"/>
              </a:rPr>
              <a:t>GRINDCTRL</a:t>
            </a:r>
          </a:p>
        </p:txBody>
      </p:sp>
      <p:sp>
        <p:nvSpPr>
          <p:cNvPr id="4" name="TextBox 3"/>
          <p:cNvSpPr txBox="1"/>
          <p:nvPr/>
        </p:nvSpPr>
        <p:spPr>
          <a:xfrm>
            <a:off x="7448550" y="333375"/>
            <a:ext cx="4171950" cy="247650"/>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06 · VALUE FOR CONCRETE</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9302D"/>
                </a:solidFill>
                <a:latin typeface="Manrope"/>
              </a:rPr>
              <a:t>More attention to the customer.</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716B"/>
                </a:solidFill>
                <a:latin typeface="Manrope"/>
              </a:rPr>
              <a:t>Practical benefits for the employee and the service experience.</a:t>
            </a:r>
          </a:p>
        </p:txBody>
      </p:sp>
      <p:cxnSp>
        <p:nvCxnSpPr>
          <p:cNvPr id="7" name="Connector 6"/>
          <p:cNvCxnSpPr/>
          <p:nvPr/>
        </p:nvCxnSpPr>
        <p:spPr>
          <a:xfrm>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1500" y="6534150"/>
            <a:ext cx="9525000" cy="219075"/>
          </a:xfrm>
          <a:prstGeom prst="rect">
            <a:avLst/>
          </a:prstGeom>
          <a:noFill/>
          <a:effectLst/>
        </p:spPr>
        <p:txBody>
          <a:bodyPr wrap="square" lIns="0" rIns="0" tIns="0" bIns="0" anchor="t">
            <a:spAutoFit/>
          </a:bodyPr>
          <a:lstStyle/>
          <a:p>
            <a:pPr algn="l" rtl="0">
              <a:lnSpc>
                <a:spcPts val="1008"/>
              </a:lnSpc>
              <a:spcBef>
                <a:spcPts val="0"/>
              </a:spcBef>
              <a:spcAft>
                <a:spcPts val="0"/>
              </a:spcAft>
            </a:pPr>
            <a:r>
              <a:rPr sz="900" b="0" lang="en-US">
                <a:solidFill>
                  <a:srgbClr val="68716B"/>
                </a:solidFill>
                <a:latin typeface="Manrope"/>
              </a:rPr>
              <a:t>CONCRETE · PROPOSED COLLABORATION</a:t>
            </a:r>
          </a:p>
        </p:txBody>
      </p:sp>
      <p:sp>
        <p:nvSpPr>
          <p:cNvPr id="9" name="TextBox 8"/>
          <p:cNvSpPr txBox="1"/>
          <p:nvPr/>
        </p:nvSpPr>
        <p:spPr>
          <a:xfrm>
            <a:off x="10782300" y="6515100"/>
            <a:ext cx="838200" cy="238125"/>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07 / 09</a:t>
            </a:r>
          </a:p>
        </p:txBody>
      </p:sp>
      <p:sp>
        <p:nvSpPr>
          <p:cNvPr id="10" name="Rounded Rectangle 9"/>
          <p:cNvSpPr/>
          <p:nvPr/>
        </p:nvSpPr>
        <p:spPr>
          <a:xfrm>
            <a:off x="581025" y="2371725"/>
            <a:ext cx="5181600" cy="3181350"/>
          </a:xfrm>
          <a:prstGeom prst="roundRect">
            <a:avLst>
              <a:gd name="adj" fmla="val 4790"/>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324100"/>
            <a:ext cx="5181600" cy="3181350"/>
          </a:xfrm>
          <a:prstGeom prst="roundRect">
            <a:avLst>
              <a:gd name="adj" fmla="val 4790"/>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47725" y="2638425"/>
            <a:ext cx="400050" cy="4000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47725" y="2714625"/>
            <a:ext cx="400050" cy="3619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en-US">
                <a:solidFill>
                  <a:srgbClr val="54745C"/>
                </a:solidFill>
                <a:latin typeface="Manrope"/>
              </a:rPr>
              <a:t>A</a:t>
            </a:r>
          </a:p>
        </p:txBody>
      </p:sp>
      <p:sp>
        <p:nvSpPr>
          <p:cNvPr id="14" name="TextBox 13"/>
          <p:cNvSpPr txBox="1"/>
          <p:nvPr/>
        </p:nvSpPr>
        <p:spPr>
          <a:xfrm>
            <a:off x="1390650" y="2686050"/>
            <a:ext cx="4010025" cy="333375"/>
          </a:xfrm>
          <a:prstGeom prst="rect">
            <a:avLst/>
          </a:prstGeom>
          <a:noFill/>
          <a:effectLst/>
        </p:spPr>
        <p:txBody>
          <a:bodyPr wrap="square" lIns="0" rIns="0" tIns="0" bIns="0" anchor="t">
            <a:spAutoFit/>
          </a:bodyPr>
          <a:lstStyle/>
          <a:p>
            <a:pPr algn="l" rtl="0">
              <a:lnSpc>
                <a:spcPts val="1848"/>
              </a:lnSpc>
              <a:spcBef>
                <a:spcPts val="0"/>
              </a:spcBef>
              <a:spcAft>
                <a:spcPts val="0"/>
              </a:spcAft>
            </a:pPr>
            <a:r>
              <a:rPr sz="1650" b="1" lang="en-US">
                <a:solidFill>
                  <a:srgbClr val="29302D"/>
                </a:solidFill>
                <a:latin typeface="Manrope"/>
              </a:rPr>
              <a:t>A conversation with context</a:t>
            </a:r>
          </a:p>
        </p:txBody>
      </p:sp>
      <p:sp>
        <p:nvSpPr>
          <p:cNvPr id="15" name="Rounded Rectangle 14"/>
          <p:cNvSpPr/>
          <p:nvPr/>
        </p:nvSpPr>
        <p:spPr>
          <a:xfrm>
            <a:off x="838200" y="3305175"/>
            <a:ext cx="4648200" cy="1247775"/>
          </a:xfrm>
          <a:prstGeom prst="roundRect">
            <a:avLst>
              <a:gd name="adj" fmla="val 9160"/>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57275" y="3505200"/>
            <a:ext cx="4229100" cy="885825"/>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0" lang="en-US">
                <a:solidFill>
                  <a:srgbClr val="29302D"/>
                </a:solidFill>
                <a:latin typeface="Manrope"/>
              </a:rPr>
              <a:t>“I can see your earlier ticket.</a:t>
            </a:r>
          </a:p>
          <a:p>
            <a:pPr algn="l" rtl="0">
              <a:lnSpc>
                <a:spcPts val="1932"/>
              </a:lnSpc>
              <a:spcBef>
                <a:spcPts val="0"/>
              </a:spcBef>
              <a:spcAft>
                <a:spcPts val="0"/>
              </a:spcAft>
            </a:pPr>
            <a:r>
              <a:rPr sz="1725" b="0" lang="en-US">
                <a:solidFill>
                  <a:srgbClr val="29302D"/>
                </a:solidFill>
                <a:latin typeface="Manrope"/>
              </a:rPr>
              <a:t>The branch review is</a:t>
            </a:r>
          </a:p>
          <a:p>
            <a:pPr algn="l" rtl="0">
              <a:lnSpc>
                <a:spcPts val="1932"/>
              </a:lnSpc>
              <a:spcBef>
                <a:spcPts val="0"/>
              </a:spcBef>
              <a:spcAft>
                <a:spcPts val="0"/>
              </a:spcAft>
            </a:pPr>
            <a:r>
              <a:rPr sz="1725" b="0" lang="en-US">
                <a:solidFill>
                  <a:srgbClr val="29302D"/>
                </a:solidFill>
                <a:latin typeface="Manrope"/>
              </a:rPr>
              <a:t>still pending.”</a:t>
            </a:r>
          </a:p>
        </p:txBody>
      </p:sp>
      <p:pic>
        <p:nvPicPr>
          <p:cNvPr id="17" name="Picture 16" descr="zoho.png"/>
          <p:cNvPicPr>
            <a:picLocks noChangeAspect="1"/>
          </p:cNvPicPr>
          <p:nvPr/>
        </p:nvPicPr>
        <p:blipFill>
          <a:blip r:embed="rId3"/>
          <a:stretch>
            <a:fillRect/>
          </a:stretch>
        </p:blipFill>
        <p:spPr>
          <a:xfrm>
            <a:off x="932671" y="4895850"/>
            <a:ext cx="620684" cy="266700"/>
          </a:xfrm>
          <a:prstGeom prst="rect">
            <a:avLst/>
          </a:prstGeom>
          <a:effectLst/>
        </p:spPr>
      </p:pic>
      <p:sp>
        <p:nvSpPr>
          <p:cNvPr id="18" name="TextBox 17"/>
          <p:cNvSpPr txBox="1"/>
          <p:nvPr/>
        </p:nvSpPr>
        <p:spPr>
          <a:xfrm>
            <a:off x="1847850" y="4905375"/>
            <a:ext cx="3629025" cy="30480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Grounded in the recorded note</a:t>
            </a:r>
          </a:p>
        </p:txBody>
      </p:sp>
      <p:sp>
        <p:nvSpPr>
          <p:cNvPr id="19" name="Oval 18"/>
          <p:cNvSpPr/>
          <p:nvPr/>
        </p:nvSpPr>
        <p:spPr>
          <a:xfrm>
            <a:off x="6257925" y="2495550"/>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clock.png"/>
          <p:cNvPicPr>
            <a:picLocks noChangeAspect="1"/>
          </p:cNvPicPr>
          <p:nvPr/>
        </p:nvPicPr>
        <p:blipFill>
          <a:blip r:embed="rId4"/>
          <a:stretch>
            <a:fillRect/>
          </a:stretch>
        </p:blipFill>
        <p:spPr>
          <a:xfrm>
            <a:off x="6353175" y="2590800"/>
            <a:ext cx="228600" cy="228600"/>
          </a:xfrm>
          <a:prstGeom prst="rect">
            <a:avLst/>
          </a:prstGeom>
          <a:effectLst/>
        </p:spPr>
      </p:pic>
      <p:sp>
        <p:nvSpPr>
          <p:cNvPr id="21" name="TextBox 20"/>
          <p:cNvSpPr txBox="1"/>
          <p:nvPr/>
        </p:nvSpPr>
        <p:spPr>
          <a:xfrm>
            <a:off x="6867525" y="2466975"/>
            <a:ext cx="4638675" cy="3714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9302D"/>
                </a:solidFill>
                <a:latin typeface="Manrope"/>
              </a:rPr>
              <a:t>Less manual searching</a:t>
            </a:r>
          </a:p>
        </p:txBody>
      </p:sp>
      <p:sp>
        <p:nvSpPr>
          <p:cNvPr id="22" name="TextBox 21"/>
          <p:cNvSpPr txBox="1"/>
          <p:nvPr/>
        </p:nvSpPr>
        <p:spPr>
          <a:xfrm>
            <a:off x="6867525" y="2924175"/>
            <a:ext cx="4638675" cy="4762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Fewer steps before the informed response.</a:t>
            </a:r>
          </a:p>
        </p:txBody>
      </p:sp>
      <p:cxnSp>
        <p:nvCxnSpPr>
          <p:cNvPr id="23" name="Connector 22"/>
          <p:cNvCxnSpPr/>
          <p:nvPr/>
        </p:nvCxnSpPr>
        <p:spPr>
          <a:xfrm>
            <a:off x="6867525" y="3352800"/>
            <a:ext cx="4752975"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6257925" y="3562350"/>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file.png"/>
          <p:cNvPicPr>
            <a:picLocks noChangeAspect="1"/>
          </p:cNvPicPr>
          <p:nvPr/>
        </p:nvPicPr>
        <p:blipFill>
          <a:blip r:embed="rId5"/>
          <a:stretch>
            <a:fillRect/>
          </a:stretch>
        </p:blipFill>
        <p:spPr>
          <a:xfrm>
            <a:off x="6353175" y="3657600"/>
            <a:ext cx="228600" cy="228600"/>
          </a:xfrm>
          <a:prstGeom prst="rect">
            <a:avLst/>
          </a:prstGeom>
          <a:effectLst/>
        </p:spPr>
      </p:pic>
      <p:sp>
        <p:nvSpPr>
          <p:cNvPr id="26" name="TextBox 25"/>
          <p:cNvSpPr txBox="1"/>
          <p:nvPr/>
        </p:nvSpPr>
        <p:spPr>
          <a:xfrm>
            <a:off x="6867525" y="3533775"/>
            <a:ext cx="4638675" cy="3714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9302D"/>
                </a:solidFill>
                <a:latin typeface="Manrope"/>
              </a:rPr>
              <a:t>Faster case understanding</a:t>
            </a:r>
          </a:p>
        </p:txBody>
      </p:sp>
      <p:sp>
        <p:nvSpPr>
          <p:cNvPr id="27" name="TextBox 26"/>
          <p:cNvSpPr txBox="1"/>
          <p:nvPr/>
        </p:nvSpPr>
        <p:spPr>
          <a:xfrm>
            <a:off x="6867525" y="3990975"/>
            <a:ext cx="4638675" cy="4762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The latest ticket note is already in view.</a:t>
            </a:r>
          </a:p>
        </p:txBody>
      </p:sp>
      <p:cxnSp>
        <p:nvCxnSpPr>
          <p:cNvPr id="28" name="Connector 27"/>
          <p:cNvCxnSpPr/>
          <p:nvPr/>
        </p:nvCxnSpPr>
        <p:spPr>
          <a:xfrm>
            <a:off x="6867525" y="4419600"/>
            <a:ext cx="4752975"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9" name="Oval 28"/>
          <p:cNvSpPr/>
          <p:nvPr/>
        </p:nvSpPr>
        <p:spPr>
          <a:xfrm>
            <a:off x="6257925" y="4629150"/>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actor.png"/>
          <p:cNvPicPr>
            <a:picLocks noChangeAspect="1"/>
          </p:cNvPicPr>
          <p:nvPr/>
        </p:nvPicPr>
        <p:blipFill>
          <a:blip r:embed="rId6"/>
          <a:stretch>
            <a:fillRect/>
          </a:stretch>
        </p:blipFill>
        <p:spPr>
          <a:xfrm>
            <a:off x="6353175" y="4724400"/>
            <a:ext cx="228600" cy="228600"/>
          </a:xfrm>
          <a:prstGeom prst="rect">
            <a:avLst/>
          </a:prstGeom>
          <a:effectLst/>
        </p:spPr>
      </p:pic>
      <p:sp>
        <p:nvSpPr>
          <p:cNvPr id="31" name="TextBox 30"/>
          <p:cNvSpPr txBox="1"/>
          <p:nvPr/>
        </p:nvSpPr>
        <p:spPr>
          <a:xfrm>
            <a:off x="6867525" y="4600575"/>
            <a:ext cx="4638675" cy="371475"/>
          </a:xfrm>
          <a:prstGeom prst="rect">
            <a:avLst/>
          </a:prstGeom>
          <a:noFill/>
          <a:effectLst/>
        </p:spPr>
        <p:txBody>
          <a:bodyPr wrap="square" lIns="0" rIns="0" tIns="0" bIns="0" anchor="t">
            <a:spAutoFit/>
          </a:bodyPr>
          <a:lstStyle/>
          <a:p>
            <a:pPr algn="l" rtl="0">
              <a:lnSpc>
                <a:spcPts val="2100"/>
              </a:lnSpc>
              <a:spcBef>
                <a:spcPts val="0"/>
              </a:spcBef>
              <a:spcAft>
                <a:spcPts val="0"/>
              </a:spcAft>
            </a:pPr>
            <a:r>
              <a:rPr sz="1875" b="1" lang="en-US">
                <a:solidFill>
                  <a:srgbClr val="29302D"/>
                </a:solidFill>
                <a:latin typeface="Manrope"/>
              </a:rPr>
              <a:t>Smoother follow-up</a:t>
            </a:r>
          </a:p>
        </p:txBody>
      </p:sp>
      <p:sp>
        <p:nvSpPr>
          <p:cNvPr id="32" name="TextBox 31"/>
          <p:cNvSpPr txBox="1"/>
          <p:nvPr/>
        </p:nvSpPr>
        <p:spPr>
          <a:xfrm>
            <a:off x="6867525" y="5057775"/>
            <a:ext cx="4638675" cy="47625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Continue from the existing service record.</a:t>
            </a:r>
          </a:p>
        </p:txBody>
      </p:sp>
      <p:sp>
        <p:nvSpPr>
          <p:cNvPr id="33" name="TextBox 32"/>
          <p:cNvSpPr txBox="1"/>
          <p:nvPr/>
        </p:nvSpPr>
        <p:spPr>
          <a:xfrm>
            <a:off x="571500" y="5924550"/>
            <a:ext cx="11049000" cy="30480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Expected benefits · measure the change in an agreed pilot.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00"/>
                                  <p:tgtEl>
                                    <p:spTgt spid="12"/>
                                  </p:tgtEl>
                                </p:cBhvr>
                              </p:animEffect>
                            </p:childTnLst>
                          </p:cTn>
                        </p:par>
                        <p:par>
                          <p:cTn id="7" presetID="10" presetClass="entr" presetSubtype="0" fill="hold" nodeType="withEffect">
                            <p:stCondLst>
                              <p:cond delay="0"/>
                            </p:stCondLst>
                            <p:childTnLst>
                              <p:set>
                                <p:cBhvr>
                                  <p:cTn id="8" dur="1" fill="hold"/>
                                  <p:tgtEl>
                                    <p:spTgt spid="13"/>
                                  </p:tgtEl>
                                  <p:attrNameLst>
                                    <p:attrName>style.visibility</p:attrName>
                                  </p:attrNameLst>
                                </p:cBhvr>
                                <p:to>
                                  <p:strVal val="visible"/>
                                </p:to>
                              </p:set>
                              <p:animEffect transition="in" filter="fade">
                                <p:cBhvr>
                                  <p:cTn id="9" dur="500"/>
                                  <p:tgtEl>
                                    <p:spTgt spid="13"/>
                                  </p:tgtEl>
                                </p:cBhvr>
                              </p:animEffect>
                            </p:childTnLst>
                          </p:cTn>
                        </p:par>
                        <p:par>
                          <p:cTn id="10" presetID="10" presetClass="entr" presetSubtype="0" fill="hold" nodeType="withEffect">
                            <p:stCondLst>
                              <p:cond delay="0"/>
                            </p:stCondLst>
                            <p:childTnLst>
                              <p:set>
                                <p:cBhvr>
                                  <p:cTn id="11" dur="1" fill="hold"/>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nodeType="withEffect">
                            <p:stCondLst>
                              <p:cond delay="0"/>
                            </p:stCondLst>
                            <p:childTnLst>
                              <p:set>
                                <p:cBhvr>
                                  <p:cTn id="20" dur="1" fill="hold"/>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0"/>
                            </p:stCondLst>
                            <p:childTnLst>
                              <p:set>
                                <p:cBhvr>
                                  <p:cTn id="23" dur="1" fill="hold"/>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nodeType="withEffect">
                            <p:stCondLst>
                              <p:cond delay="0"/>
                            </p:stCondLst>
                            <p:childTnLst>
                              <p:set>
                                <p:cBhvr>
                                  <p:cTn id="26" dur="1" fill="hold"/>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0"/>
                            </p:stCondLst>
                            <p:childTnLst>
                              <p:set>
                                <p:cBhvr>
                                  <p:cTn id="29" dur="1" fill="hold"/>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nodeType="withEffect">
                            <p:stCondLst>
                              <p:cond delay="0"/>
                            </p:stCondLst>
                            <p:childTnLst>
                              <p:set>
                                <p:cBhvr>
                                  <p:cTn id="32" dur="1" fill="hold"/>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nodeType="withEffect">
                            <p:stCondLst>
                              <p:cond delay="0"/>
                            </p:stCondLst>
                            <p:childTnLst>
                              <p:set>
                                <p:cBhvr>
                                  <p:cTn id="35" dur="1" fill="hold"/>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nodeType="withEffect">
                            <p:stCondLst>
                              <p:cond delay="1250"/>
                            </p:stCondLst>
                            <p:childTnLst>
                              <p:set>
                                <p:cBhvr>
                                  <p:cTn id="38" dur="1" fill="hold"/>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nodeType="withEffect">
                            <p:stCondLst>
                              <p:cond delay="1250"/>
                            </p:stCondLst>
                            <p:childTnLst>
                              <p:set>
                                <p:cBhvr>
                                  <p:cTn id="41" dur="1" fill="hold"/>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nodeType="withEffect">
                            <p:stCondLst>
                              <p:cond delay="1250"/>
                            </p:stCondLst>
                            <p:childTnLst>
                              <p:set>
                                <p:cBhvr>
                                  <p:cTn id="44" dur="1" fill="hold"/>
                                  <p:tgtEl>
                                    <p:spTgt spid="26"/>
                                  </p:tgtEl>
                                  <p:attrNameLst>
                                    <p:attrName>style.visibility</p:attrName>
                                  </p:attrNameLst>
                                </p:cBhvr>
                                <p:to>
                                  <p:strVal val="visible"/>
                                </p:to>
                              </p:set>
                              <p:animEffect transition="in" filter="fade">
                                <p:cBhvr>
                                  <p:cTn id="45" dur="500"/>
                                  <p:tgtEl>
                                    <p:spTgt spid="26"/>
                                  </p:tgtEl>
                                </p:cBhvr>
                              </p:animEffect>
                            </p:childTnLst>
                          </p:cTn>
                        </p:par>
                        <p:par>
                          <p:cTn id="46" presetID="10" presetClass="entr" presetSubtype="0" fill="hold" nodeType="withEffect">
                            <p:stCondLst>
                              <p:cond delay="1250"/>
                            </p:stCondLst>
                            <p:childTnLst>
                              <p:set>
                                <p:cBhvr>
                                  <p:cTn id="47" dur="1" fill="hold"/>
                                  <p:tgtEl>
                                    <p:spTgt spid="27"/>
                                  </p:tgtEl>
                                  <p:attrNameLst>
                                    <p:attrName>style.visibility</p:attrName>
                                  </p:attrNameLst>
                                </p:cBhvr>
                                <p:to>
                                  <p:strVal val="visible"/>
                                </p:to>
                              </p:set>
                              <p:animEffect transition="in" filter="fade">
                                <p:cBhvr>
                                  <p:cTn id="48" dur="500"/>
                                  <p:tgtEl>
                                    <p:spTgt spid="27"/>
                                  </p:tgtEl>
                                </p:cBhvr>
                              </p:animEffect>
                            </p:childTnLst>
                          </p:cTn>
                        </p:par>
                        <p:par>
                          <p:cTn id="49" presetID="10" presetClass="entr" presetSubtype="0" fill="hold" nodeType="withEffect">
                            <p:stCondLst>
                              <p:cond delay="2500"/>
                            </p:stCondLst>
                            <p:childTnLst>
                              <p:set>
                                <p:cBhvr>
                                  <p:cTn id="50" dur="1" fill="hold"/>
                                  <p:tgtEl>
                                    <p:spTgt spid="29"/>
                                  </p:tgtEl>
                                  <p:attrNameLst>
                                    <p:attrName>style.visibility</p:attrName>
                                  </p:attrNameLst>
                                </p:cBhvr>
                                <p:to>
                                  <p:strVal val="visible"/>
                                </p:to>
                              </p:set>
                              <p:animEffect transition="in" filter="fade">
                                <p:cBhvr>
                                  <p:cTn id="51" dur="500"/>
                                  <p:tgtEl>
                                    <p:spTgt spid="29"/>
                                  </p:tgtEl>
                                </p:cBhvr>
                              </p:animEffect>
                            </p:childTnLst>
                          </p:cTn>
                        </p:par>
                        <p:par>
                          <p:cTn id="52" presetID="10" presetClass="entr" presetSubtype="0" fill="hold" nodeType="withEffect">
                            <p:stCondLst>
                              <p:cond delay="2500"/>
                            </p:stCondLst>
                            <p:childTnLst>
                              <p:set>
                                <p:cBhvr>
                                  <p:cTn id="53" dur="1" fill="hold"/>
                                  <p:tgtEl>
                                    <p:spTgt spid="30"/>
                                  </p:tgtEl>
                                  <p:attrNameLst>
                                    <p:attrName>style.visibility</p:attrName>
                                  </p:attrNameLst>
                                </p:cBhvr>
                                <p:to>
                                  <p:strVal val="visible"/>
                                </p:to>
                              </p:set>
                              <p:animEffect transition="in" filter="fade">
                                <p:cBhvr>
                                  <p:cTn id="54" dur="500"/>
                                  <p:tgtEl>
                                    <p:spTgt spid="30"/>
                                  </p:tgtEl>
                                </p:cBhvr>
                              </p:animEffect>
                            </p:childTnLst>
                          </p:cTn>
                        </p:par>
                        <p:par>
                          <p:cTn id="55" presetID="10" presetClass="entr" presetSubtype="0" fill="hold" nodeType="withEffect">
                            <p:stCondLst>
                              <p:cond delay="2500"/>
                            </p:stCondLst>
                            <p:childTnLst>
                              <p:set>
                                <p:cBhvr>
                                  <p:cTn id="56" dur="1" fill="hold"/>
                                  <p:tgtEl>
                                    <p:spTgt spid="31"/>
                                  </p:tgtEl>
                                  <p:attrNameLst>
                                    <p:attrName>style.visibility</p:attrName>
                                  </p:attrNameLst>
                                </p:cBhvr>
                                <p:to>
                                  <p:strVal val="visible"/>
                                </p:to>
                              </p:set>
                              <p:animEffect transition="in" filter="fade">
                                <p:cBhvr>
                                  <p:cTn id="57" dur="500"/>
                                  <p:tgtEl>
                                    <p:spTgt spid="31"/>
                                  </p:tgtEl>
                                </p:cBhvr>
                              </p:animEffect>
                            </p:childTnLst>
                          </p:cTn>
                        </p:par>
                        <p:par>
                          <p:cTn id="58" presetID="10" presetClass="entr" presetSubtype="0" fill="hold" nodeType="withEffect">
                            <p:stCondLst>
                              <p:cond delay="2500"/>
                            </p:stCondLst>
                            <p:childTnLst>
                              <p:set>
                                <p:cBhvr>
                                  <p:cTn id="59" dur="1" fill="hold"/>
                                  <p:tgtEl>
                                    <p:spTgt spid="32"/>
                                  </p:tgtEl>
                                  <p:attrNameLst>
                                    <p:attrName>style.visibility</p:attrName>
                                  </p:attrNameLst>
                                </p:cBhvr>
                                <p:to>
                                  <p:strVal val="visible"/>
                                </p:to>
                              </p:set>
                              <p:animEffect transition="in" filter="fade">
                                <p:cBhvr>
                                  <p:cTn id="60" dur="500"/>
                                  <p:tgtEl>
                                    <p:spTgt spid="3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571500" y="292100"/>
            <a:ext cx="409575" cy="273050"/>
          </a:xfrm>
          <a:prstGeom prst="rect">
            <a:avLst/>
          </a:prstGeom>
          <a:effectLst/>
        </p:spPr>
      </p:pic>
      <p:sp>
        <p:nvSpPr>
          <p:cNvPr id="3" name="TextBox 2"/>
          <p:cNvSpPr txBox="1"/>
          <p:nvPr/>
        </p:nvSpPr>
        <p:spPr>
          <a:xfrm>
            <a:off x="1095375" y="323850"/>
            <a:ext cx="1466850" cy="2571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1" lang="en-US">
                <a:solidFill>
                  <a:srgbClr val="29302D"/>
                </a:solidFill>
                <a:latin typeface="Manrope"/>
              </a:rPr>
              <a:t>GRINDCTRL</a:t>
            </a:r>
          </a:p>
        </p:txBody>
      </p:sp>
      <p:sp>
        <p:nvSpPr>
          <p:cNvPr id="4" name="TextBox 3"/>
          <p:cNvSpPr txBox="1"/>
          <p:nvPr/>
        </p:nvSpPr>
        <p:spPr>
          <a:xfrm>
            <a:off x="7448550" y="333375"/>
            <a:ext cx="4171950" cy="247650"/>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07 · OPTIONAL NEXT LAYER</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l" rtl="0">
              <a:lnSpc>
                <a:spcPts val="3528"/>
              </a:lnSpc>
              <a:spcBef>
                <a:spcPts val="0"/>
              </a:spcBef>
              <a:spcAft>
                <a:spcPts val="0"/>
              </a:spcAft>
            </a:pPr>
            <a:r>
              <a:rPr sz="3150" b="1" lang="en-US">
                <a:solidFill>
                  <a:srgbClr val="29302D"/>
                </a:solidFill>
                <a:latin typeface="Manrope"/>
              </a:rPr>
              <a:t>A foundation for future improvements.</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68716B"/>
                </a:solidFill>
                <a:latin typeface="Manrope"/>
              </a:rPr>
              <a:t>Optional capabilities, scoped separately from the first delivery.</a:t>
            </a:r>
          </a:p>
        </p:txBody>
      </p:sp>
      <p:cxnSp>
        <p:nvCxnSpPr>
          <p:cNvPr id="7" name="Connector 6"/>
          <p:cNvCxnSpPr/>
          <p:nvPr/>
        </p:nvCxnSpPr>
        <p:spPr>
          <a:xfrm>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71500" y="6534150"/>
            <a:ext cx="9525000" cy="219075"/>
          </a:xfrm>
          <a:prstGeom prst="rect">
            <a:avLst/>
          </a:prstGeom>
          <a:noFill/>
          <a:effectLst/>
        </p:spPr>
        <p:txBody>
          <a:bodyPr wrap="square" lIns="0" rIns="0" tIns="0" bIns="0" anchor="t">
            <a:spAutoFit/>
          </a:bodyPr>
          <a:lstStyle/>
          <a:p>
            <a:pPr algn="l" rtl="0">
              <a:lnSpc>
                <a:spcPts val="1008"/>
              </a:lnSpc>
              <a:spcBef>
                <a:spcPts val="0"/>
              </a:spcBef>
              <a:spcAft>
                <a:spcPts val="0"/>
              </a:spcAft>
            </a:pPr>
            <a:r>
              <a:rPr sz="900" b="0" lang="en-US">
                <a:solidFill>
                  <a:srgbClr val="68716B"/>
                </a:solidFill>
                <a:latin typeface="Manrope"/>
              </a:rPr>
              <a:t>CONCRETE · PROPOSED COLLABORATION</a:t>
            </a:r>
          </a:p>
        </p:txBody>
      </p:sp>
      <p:sp>
        <p:nvSpPr>
          <p:cNvPr id="9" name="TextBox 8"/>
          <p:cNvSpPr txBox="1"/>
          <p:nvPr/>
        </p:nvSpPr>
        <p:spPr>
          <a:xfrm>
            <a:off x="10782300" y="6515100"/>
            <a:ext cx="838200" cy="238125"/>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08 / 09</a:t>
            </a:r>
          </a:p>
        </p:txBody>
      </p:sp>
      <p:sp>
        <p:nvSpPr>
          <p:cNvPr id="10" name="Rounded Rectangle 9"/>
          <p:cNvSpPr/>
          <p:nvPr/>
        </p:nvSpPr>
        <p:spPr>
          <a:xfrm>
            <a:off x="581025" y="2371725"/>
            <a:ext cx="11049000" cy="3409950"/>
          </a:xfrm>
          <a:prstGeom prst="roundRect">
            <a:avLst>
              <a:gd name="adj" fmla="val 4469"/>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324100"/>
            <a:ext cx="11049000" cy="3409950"/>
          </a:xfrm>
          <a:prstGeom prst="roundRect">
            <a:avLst>
              <a:gd name="adj" fmla="val 4469"/>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096000" y="2571750"/>
            <a:ext cx="0" cy="29337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828675" y="4029075"/>
            <a:ext cx="1053465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866775" y="2638425"/>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file.png"/>
          <p:cNvPicPr>
            <a:picLocks noChangeAspect="1"/>
          </p:cNvPicPr>
          <p:nvPr/>
        </p:nvPicPr>
        <p:blipFill>
          <a:blip r:embed="rId3"/>
          <a:stretch>
            <a:fillRect/>
          </a:stretch>
        </p:blipFill>
        <p:spPr>
          <a:xfrm>
            <a:off x="962025" y="2733675"/>
            <a:ext cx="228600" cy="228600"/>
          </a:xfrm>
          <a:prstGeom prst="rect">
            <a:avLst/>
          </a:prstGeom>
          <a:effectLst/>
        </p:spPr>
      </p:pic>
      <p:sp>
        <p:nvSpPr>
          <p:cNvPr id="16" name="TextBox 15"/>
          <p:cNvSpPr txBox="1"/>
          <p:nvPr/>
        </p:nvSpPr>
        <p:spPr>
          <a:xfrm>
            <a:off x="1495425" y="2657475"/>
            <a:ext cx="4381500" cy="381000"/>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9302D"/>
                </a:solidFill>
                <a:latin typeface="Manrope"/>
              </a:rPr>
              <a:t>AI ticket summaries</a:t>
            </a:r>
          </a:p>
        </p:txBody>
      </p:sp>
      <p:sp>
        <p:nvSpPr>
          <p:cNvPr id="17" name="TextBox 16"/>
          <p:cNvSpPr txBox="1"/>
          <p:nvPr/>
        </p:nvSpPr>
        <p:spPr>
          <a:xfrm>
            <a:off x="1495425" y="3171825"/>
            <a:ext cx="4381500" cy="685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716B"/>
                </a:solidFill>
                <a:latin typeface="Manrope"/>
              </a:rPr>
              <a:t>Short summaries with links to the original notes.</a:t>
            </a:r>
          </a:p>
        </p:txBody>
      </p:sp>
      <p:sp>
        <p:nvSpPr>
          <p:cNvPr id="18" name="Oval 17"/>
          <p:cNvSpPr/>
          <p:nvPr/>
        </p:nvSpPr>
        <p:spPr>
          <a:xfrm>
            <a:off x="6391275" y="2638425"/>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quality.png"/>
          <p:cNvPicPr>
            <a:picLocks noChangeAspect="1"/>
          </p:cNvPicPr>
          <p:nvPr/>
        </p:nvPicPr>
        <p:blipFill>
          <a:blip r:embed="rId4"/>
          <a:stretch>
            <a:fillRect/>
          </a:stretch>
        </p:blipFill>
        <p:spPr>
          <a:xfrm>
            <a:off x="6486525" y="2733675"/>
            <a:ext cx="228600" cy="228600"/>
          </a:xfrm>
          <a:prstGeom prst="rect">
            <a:avLst/>
          </a:prstGeom>
          <a:effectLst/>
        </p:spPr>
      </p:pic>
      <p:sp>
        <p:nvSpPr>
          <p:cNvPr id="20" name="TextBox 19"/>
          <p:cNvSpPr txBox="1"/>
          <p:nvPr/>
        </p:nvSpPr>
        <p:spPr>
          <a:xfrm>
            <a:off x="7019925" y="2657475"/>
            <a:ext cx="4381500" cy="381000"/>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9302D"/>
                </a:solidFill>
                <a:latin typeface="Manrope"/>
              </a:rPr>
              <a:t>Recurring issue detection</a:t>
            </a:r>
          </a:p>
        </p:txBody>
      </p:sp>
      <p:sp>
        <p:nvSpPr>
          <p:cNvPr id="21" name="TextBox 20"/>
          <p:cNvSpPr txBox="1"/>
          <p:nvPr/>
        </p:nvSpPr>
        <p:spPr>
          <a:xfrm>
            <a:off x="7019925" y="3171825"/>
            <a:ext cx="4381500" cy="685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716B"/>
                </a:solidFill>
                <a:latin typeface="Manrope"/>
              </a:rPr>
              <a:t>Find patterns across existing service tickets.</a:t>
            </a:r>
          </a:p>
        </p:txBody>
      </p:sp>
      <p:sp>
        <p:nvSpPr>
          <p:cNvPr id="22" name="Oval 21"/>
          <p:cNvSpPr/>
          <p:nvPr/>
        </p:nvSpPr>
        <p:spPr>
          <a:xfrm>
            <a:off x="866775" y="4314825"/>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actor.png"/>
          <p:cNvPicPr>
            <a:picLocks noChangeAspect="1"/>
          </p:cNvPicPr>
          <p:nvPr/>
        </p:nvPicPr>
        <p:blipFill>
          <a:blip r:embed="rId5"/>
          <a:stretch>
            <a:fillRect/>
          </a:stretch>
        </p:blipFill>
        <p:spPr>
          <a:xfrm>
            <a:off x="962025" y="4410075"/>
            <a:ext cx="228600" cy="228600"/>
          </a:xfrm>
          <a:prstGeom prst="rect">
            <a:avLst/>
          </a:prstGeom>
          <a:effectLst/>
        </p:spPr>
      </p:pic>
      <p:sp>
        <p:nvSpPr>
          <p:cNvPr id="24" name="TextBox 23"/>
          <p:cNvSpPr txBox="1"/>
          <p:nvPr/>
        </p:nvSpPr>
        <p:spPr>
          <a:xfrm>
            <a:off x="1495425" y="4333875"/>
            <a:ext cx="4381500" cy="381000"/>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9302D"/>
                </a:solidFill>
                <a:latin typeface="Manrope"/>
              </a:rPr>
              <a:t>Management visibility</a:t>
            </a:r>
          </a:p>
        </p:txBody>
      </p:sp>
      <p:sp>
        <p:nvSpPr>
          <p:cNvPr id="25" name="TextBox 24"/>
          <p:cNvSpPr txBox="1"/>
          <p:nvPr/>
        </p:nvSpPr>
        <p:spPr>
          <a:xfrm>
            <a:off x="1495425" y="4848225"/>
            <a:ext cx="4381500" cy="685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716B"/>
                </a:solidFill>
                <a:latin typeface="Manrope"/>
              </a:rPr>
              <a:t>A clearer view of service and follow-up patterns.</a:t>
            </a:r>
          </a:p>
        </p:txBody>
      </p:sp>
      <p:sp>
        <p:nvSpPr>
          <p:cNvPr id="26" name="Oval 25"/>
          <p:cNvSpPr/>
          <p:nvPr/>
        </p:nvSpPr>
        <p:spPr>
          <a:xfrm>
            <a:off x="6391275" y="4314825"/>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clock.png"/>
          <p:cNvPicPr>
            <a:picLocks noChangeAspect="1"/>
          </p:cNvPicPr>
          <p:nvPr/>
        </p:nvPicPr>
        <p:blipFill>
          <a:blip r:embed="rId6"/>
          <a:stretch>
            <a:fillRect/>
          </a:stretch>
        </p:blipFill>
        <p:spPr>
          <a:xfrm>
            <a:off x="6486525" y="4410075"/>
            <a:ext cx="228600" cy="228600"/>
          </a:xfrm>
          <a:prstGeom prst="rect">
            <a:avLst/>
          </a:prstGeom>
          <a:effectLst/>
        </p:spPr>
      </p:pic>
      <p:sp>
        <p:nvSpPr>
          <p:cNvPr id="28" name="TextBox 27"/>
          <p:cNvSpPr txBox="1"/>
          <p:nvPr/>
        </p:nvSpPr>
        <p:spPr>
          <a:xfrm>
            <a:off x="7019925" y="4333875"/>
            <a:ext cx="4381500" cy="381000"/>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1" lang="en-US">
                <a:solidFill>
                  <a:srgbClr val="29302D"/>
                </a:solidFill>
                <a:latin typeface="Manrope"/>
              </a:rPr>
              <a:t>Follow-up support</a:t>
            </a:r>
          </a:p>
        </p:txBody>
      </p:sp>
      <p:sp>
        <p:nvSpPr>
          <p:cNvPr id="29" name="TextBox 28"/>
          <p:cNvSpPr txBox="1"/>
          <p:nvPr/>
        </p:nvSpPr>
        <p:spPr>
          <a:xfrm>
            <a:off x="7019925" y="4848225"/>
            <a:ext cx="4381500" cy="685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716B"/>
                </a:solidFill>
                <a:latin typeface="Manrope"/>
              </a:rPr>
              <a:t>Suggested next steps for employee review.</a:t>
            </a:r>
          </a:p>
        </p:txBody>
      </p:sp>
      <p:sp>
        <p:nvSpPr>
          <p:cNvPr id="30" name="TextBox 29"/>
          <p:cNvSpPr txBox="1"/>
          <p:nvPr/>
        </p:nvSpPr>
        <p:spPr>
          <a:xfrm>
            <a:off x="571500" y="5962650"/>
            <a:ext cx="11049000" cy="304800"/>
          </a:xfrm>
          <a:prstGeom prst="rect">
            <a:avLst/>
          </a:prstGeom>
          <a:noFill/>
          <a:effectLst/>
        </p:spPr>
        <p:txBody>
          <a:bodyPr wrap="square" lIns="0" rIns="0" tIns="0" bIns="0" anchor="t">
            <a:spAutoFit/>
          </a:bodyPr>
          <a:lstStyle/>
          <a:p>
            <a:pPr algn="l" rtl="0">
              <a:lnSpc>
                <a:spcPts val="1596"/>
              </a:lnSpc>
              <a:spcBef>
                <a:spcPts val="0"/>
              </a:spcBef>
              <a:spcAft>
                <a:spcPts val="0"/>
              </a:spcAft>
            </a:pPr>
            <a:r>
              <a:rPr sz="1425" b="0" lang="en-US">
                <a:solidFill>
                  <a:srgbClr val="68716B"/>
                </a:solidFill>
                <a:latin typeface="Manrope"/>
              </a:rPr>
              <a:t>The first delivery stays focused on caller context.</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4"/>
                                  </p:tgtEl>
                                  <p:attrNameLst>
                                    <p:attrName>style.visibility</p:attrName>
                                  </p:attrNameLst>
                                </p:cBhvr>
                                <p:to>
                                  <p:strVal val="visible"/>
                                </p:to>
                              </p:set>
                              <p:animEffect transition="in" filter="fade">
                                <p:cBhvr>
                                  <p:cTn id="6" dur="500"/>
                                  <p:tgtEl>
                                    <p:spTgt spid="14"/>
                                  </p:tgtEl>
                                </p:cBhvr>
                              </p:animEffect>
                            </p:childTnLst>
                          </p:cTn>
                        </p:par>
                        <p:par>
                          <p:cTn id="7" presetID="10" presetClass="entr" presetSubtype="0" fill="hold" nodeType="withEffect">
                            <p:stCondLst>
                              <p:cond delay="0"/>
                            </p:stCondLst>
                            <p:childTnLst>
                              <p:set>
                                <p:cBhvr>
                                  <p:cTn id="8" dur="1" fill="hold"/>
                                  <p:tgtEl>
                                    <p:spTgt spid="15"/>
                                  </p:tgtEl>
                                  <p:attrNameLst>
                                    <p:attrName>style.visibility</p:attrName>
                                  </p:attrNameLst>
                                </p:cBhvr>
                                <p:to>
                                  <p:strVal val="visible"/>
                                </p:to>
                              </p:set>
                              <p:animEffect transition="in" filter="fade">
                                <p:cBhvr>
                                  <p:cTn id="9" dur="500"/>
                                  <p:tgtEl>
                                    <p:spTgt spid="15"/>
                                  </p:tgtEl>
                                </p:cBhvr>
                              </p:animEffect>
                            </p:childTnLst>
                          </p:cTn>
                        </p:par>
                        <p:par>
                          <p:cTn id="10" presetID="10" presetClass="entr" presetSubtype="0" fill="hold" nodeType="withEffect">
                            <p:stCondLst>
                              <p:cond delay="0"/>
                            </p:stCondLst>
                            <p:childTnLst>
                              <p:set>
                                <p:cBhvr>
                                  <p:cTn id="11" dur="1" fill="hold"/>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nodeType="withEffect">
                            <p:stCondLst>
                              <p:cond delay="0"/>
                            </p:stCondLst>
                            <p:childTnLst>
                              <p:set>
                                <p:cBhvr>
                                  <p:cTn id="14" dur="1" fill="hold"/>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1250"/>
                            </p:stCondLst>
                            <p:childTnLst>
                              <p:set>
                                <p:cBhvr>
                                  <p:cTn id="17" dur="1" fill="hold"/>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nodeType="withEffect">
                            <p:stCondLst>
                              <p:cond delay="1250"/>
                            </p:stCondLst>
                            <p:childTnLst>
                              <p:set>
                                <p:cBhvr>
                                  <p:cTn id="20" dur="1" fill="hold"/>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1250"/>
                            </p:stCondLst>
                            <p:childTnLst>
                              <p:set>
                                <p:cBhvr>
                                  <p:cTn id="23" dur="1" fill="hold"/>
                                  <p:tgtEl>
                                    <p:spTgt spid="20"/>
                                  </p:tgtEl>
                                  <p:attrNameLst>
                                    <p:attrName>style.visibility</p:attrName>
                                  </p:attrNameLst>
                                </p:cBhvr>
                                <p:to>
                                  <p:strVal val="visible"/>
                                </p:to>
                              </p:set>
                              <p:animEffect transition="in" filter="fade">
                                <p:cBhvr>
                                  <p:cTn id="24" dur="500"/>
                                  <p:tgtEl>
                                    <p:spTgt spid="20"/>
                                  </p:tgtEl>
                                </p:cBhvr>
                              </p:animEffect>
                            </p:childTnLst>
                          </p:cTn>
                        </p:par>
                        <p:par>
                          <p:cTn id="25" presetID="10" presetClass="entr" presetSubtype="0" fill="hold" nodeType="withEffect">
                            <p:stCondLst>
                              <p:cond delay="1250"/>
                            </p:stCondLst>
                            <p:childTnLst>
                              <p:set>
                                <p:cBhvr>
                                  <p:cTn id="26" dur="1" fill="hold"/>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nodeType="withEffect">
                            <p:stCondLst>
                              <p:cond delay="2500"/>
                            </p:stCondLst>
                            <p:childTnLst>
                              <p:set>
                                <p:cBhvr>
                                  <p:cTn id="29" dur="1" fill="hold"/>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10" presetClass="entr" presetSubtype="0" fill="hold" nodeType="withEffect">
                            <p:stCondLst>
                              <p:cond delay="2500"/>
                            </p:stCondLst>
                            <p:childTnLst>
                              <p:set>
                                <p:cBhvr>
                                  <p:cTn id="32" dur="1" fill="hold"/>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nodeType="withEffect">
                            <p:stCondLst>
                              <p:cond delay="2500"/>
                            </p:stCondLst>
                            <p:childTnLst>
                              <p:set>
                                <p:cBhvr>
                                  <p:cTn id="35" dur="1" fill="hold"/>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nodeType="withEffect">
                            <p:stCondLst>
                              <p:cond delay="2500"/>
                            </p:stCondLst>
                            <p:childTnLst>
                              <p:set>
                                <p:cBhvr>
                                  <p:cTn id="38" dur="1" fill="hold"/>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nodeType="withEffect">
                            <p:stCondLst>
                              <p:cond delay="3750"/>
                            </p:stCondLst>
                            <p:childTnLst>
                              <p:set>
                                <p:cBhvr>
                                  <p:cTn id="41" dur="1" fill="hold"/>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nodeType="withEffect">
                            <p:stCondLst>
                              <p:cond delay="3750"/>
                            </p:stCondLst>
                            <p:childTnLst>
                              <p:set>
                                <p:cBhvr>
                                  <p:cTn id="44" dur="1" fill="hold"/>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10" presetClass="entr" presetSubtype="0" fill="hold" nodeType="withEffect">
                            <p:stCondLst>
                              <p:cond delay="3750"/>
                            </p:stCondLst>
                            <p:childTnLst>
                              <p:set>
                                <p:cBhvr>
                                  <p:cTn id="47" dur="1" fill="hold"/>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nodeType="withEffect">
                            <p:stCondLst>
                              <p:cond delay="3750"/>
                            </p:stCondLst>
                            <p:childTnLst>
                              <p:set>
                                <p:cBhvr>
                                  <p:cTn id="50" dur="1" fill="hold"/>
                                  <p:tgtEl>
                                    <p:spTgt spid="29"/>
                                  </p:tgtEl>
                                  <p:attrNameLst>
                                    <p:attrName>style.visibility</p:attrName>
                                  </p:attrNameLst>
                                </p:cBhvr>
                                <p:to>
                                  <p:strVal val="visible"/>
                                </p:to>
                              </p:set>
                              <p:animEffect transition="in" filter="fade">
                                <p:cBhvr>
                                  <p:cTn id="51" dur="50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571500" y="292100"/>
            <a:ext cx="409575" cy="273050"/>
          </a:xfrm>
          <a:prstGeom prst="rect">
            <a:avLst/>
          </a:prstGeom>
          <a:effectLst/>
        </p:spPr>
      </p:pic>
      <p:sp>
        <p:nvSpPr>
          <p:cNvPr id="3" name="TextBox 2"/>
          <p:cNvSpPr txBox="1"/>
          <p:nvPr/>
        </p:nvSpPr>
        <p:spPr>
          <a:xfrm>
            <a:off x="1095375" y="323850"/>
            <a:ext cx="1466850" cy="257175"/>
          </a:xfrm>
          <a:prstGeom prst="rect">
            <a:avLst/>
          </a:prstGeom>
          <a:noFill/>
          <a:effectLst/>
        </p:spPr>
        <p:txBody>
          <a:bodyPr wrap="square" lIns="0" rIns="0" tIns="0" bIns="0" anchor="t">
            <a:spAutoFit/>
          </a:bodyPr>
          <a:lstStyle/>
          <a:p>
            <a:pPr algn="l" rtl="0">
              <a:lnSpc>
                <a:spcPts val="1428"/>
              </a:lnSpc>
              <a:spcBef>
                <a:spcPts val="0"/>
              </a:spcBef>
              <a:spcAft>
                <a:spcPts val="0"/>
              </a:spcAft>
            </a:pPr>
            <a:r>
              <a:rPr sz="1275" b="1" lang="en-US">
                <a:solidFill>
                  <a:srgbClr val="29302D"/>
                </a:solidFill>
                <a:latin typeface="Manrope"/>
              </a:rPr>
              <a:t>GRINDCTRL</a:t>
            </a:r>
          </a:p>
        </p:txBody>
      </p:sp>
      <p:sp>
        <p:nvSpPr>
          <p:cNvPr id="4" name="TextBox 3"/>
          <p:cNvSpPr txBox="1"/>
          <p:nvPr/>
        </p:nvSpPr>
        <p:spPr>
          <a:xfrm>
            <a:off x="7448550" y="333375"/>
            <a:ext cx="4171950" cy="247650"/>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08 · A FOCUSED FIRST COLLABORATION</a:t>
            </a:r>
          </a:p>
        </p:txBody>
      </p:sp>
      <p:cxnSp>
        <p:nvCxnSpPr>
          <p:cNvPr id="5" name="Connector 4"/>
          <p:cNvCxnSpPr/>
          <p:nvPr/>
        </p:nvCxnSpPr>
        <p:spPr>
          <a:xfrm>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71500" y="6534150"/>
            <a:ext cx="9525000" cy="219075"/>
          </a:xfrm>
          <a:prstGeom prst="rect">
            <a:avLst/>
          </a:prstGeom>
          <a:noFill/>
          <a:effectLst/>
        </p:spPr>
        <p:txBody>
          <a:bodyPr wrap="square" lIns="0" rIns="0" tIns="0" bIns="0" anchor="t">
            <a:spAutoFit/>
          </a:bodyPr>
          <a:lstStyle/>
          <a:p>
            <a:pPr algn="l" rtl="0">
              <a:lnSpc>
                <a:spcPts val="1008"/>
              </a:lnSpc>
              <a:spcBef>
                <a:spcPts val="0"/>
              </a:spcBef>
              <a:spcAft>
                <a:spcPts val="0"/>
              </a:spcAft>
            </a:pPr>
            <a:r>
              <a:rPr sz="900" b="0" lang="en-US">
                <a:solidFill>
                  <a:srgbClr val="68716B"/>
                </a:solidFill>
                <a:latin typeface="Manrope"/>
              </a:rPr>
              <a:t>CONCRETE · PROPOSED COLLABORATION</a:t>
            </a:r>
          </a:p>
        </p:txBody>
      </p:sp>
      <p:sp>
        <p:nvSpPr>
          <p:cNvPr id="7" name="TextBox 6"/>
          <p:cNvSpPr txBox="1"/>
          <p:nvPr/>
        </p:nvSpPr>
        <p:spPr>
          <a:xfrm>
            <a:off x="10782300" y="6515100"/>
            <a:ext cx="838200" cy="238125"/>
          </a:xfrm>
          <a:prstGeom prst="rect">
            <a:avLst/>
          </a:prstGeom>
          <a:noFill/>
          <a:effectLst/>
        </p:spPr>
        <p:txBody>
          <a:bodyPr wrap="square" lIns="0" rIns="0" tIns="0" bIns="0" anchor="t">
            <a:spAutoFit/>
          </a:bodyPr>
          <a:lstStyle/>
          <a:p>
            <a:pPr algn="r" rtl="0">
              <a:lnSpc>
                <a:spcPts val="1176"/>
              </a:lnSpc>
              <a:spcBef>
                <a:spcPts val="0"/>
              </a:spcBef>
              <a:spcAft>
                <a:spcPts val="0"/>
              </a:spcAft>
            </a:pPr>
            <a:r>
              <a:rPr sz="1050" b="0" lang="en-US">
                <a:solidFill>
                  <a:srgbClr val="68716B"/>
                </a:solidFill>
                <a:latin typeface="Manrope"/>
              </a:rPr>
              <a:t>09 / 09</a:t>
            </a:r>
          </a:p>
        </p:txBody>
      </p:sp>
      <p:sp>
        <p:nvSpPr>
          <p:cNvPr id="8" name="TextBox 7"/>
          <p:cNvSpPr txBox="1"/>
          <p:nvPr/>
        </p:nvSpPr>
        <p:spPr>
          <a:xfrm>
            <a:off x="571500" y="1600200"/>
            <a:ext cx="5010150" cy="285750"/>
          </a:xfrm>
          <a:prstGeom prst="rect">
            <a:avLst/>
          </a:prstGeom>
          <a:noFill/>
          <a:effectLst/>
        </p:spPr>
        <p:txBody>
          <a:bodyPr wrap="square" lIns="0" rIns="0" tIns="0" bIns="0" anchor="t">
            <a:spAutoFit/>
          </a:bodyPr>
          <a:lstStyle/>
          <a:p>
            <a:pPr algn="l" rtl="0">
              <a:lnSpc>
                <a:spcPts val="1344"/>
              </a:lnSpc>
              <a:spcBef>
                <a:spcPts val="0"/>
              </a:spcBef>
              <a:spcAft>
                <a:spcPts val="0"/>
              </a:spcAft>
            </a:pPr>
            <a:r>
              <a:rPr sz="1200" b="1" lang="en-US">
                <a:solidFill>
                  <a:srgbClr val="9F5836"/>
                </a:solidFill>
                <a:latin typeface="Manrope"/>
              </a:rPr>
              <a:t>THE FIRST DELIVERY</a:t>
            </a:r>
          </a:p>
        </p:txBody>
      </p:sp>
      <p:sp>
        <p:nvSpPr>
          <p:cNvPr id="9" name="TextBox 8"/>
          <p:cNvSpPr txBox="1"/>
          <p:nvPr/>
        </p:nvSpPr>
        <p:spPr>
          <a:xfrm>
            <a:off x="571500" y="2143125"/>
            <a:ext cx="5181600" cy="1257300"/>
          </a:xfrm>
          <a:prstGeom prst="rect">
            <a:avLst/>
          </a:prstGeom>
          <a:noFill/>
          <a:effectLst/>
        </p:spPr>
        <p:txBody>
          <a:bodyPr wrap="square" lIns="0" rIns="0" tIns="0" bIns="0" anchor="t">
            <a:spAutoFit/>
          </a:bodyPr>
          <a:lstStyle/>
          <a:p>
            <a:pPr algn="l" rtl="0">
              <a:lnSpc>
                <a:spcPts val="3864"/>
              </a:lnSpc>
              <a:spcBef>
                <a:spcPts val="0"/>
              </a:spcBef>
              <a:spcAft>
                <a:spcPts val="0"/>
              </a:spcAft>
            </a:pPr>
            <a:r>
              <a:rPr sz="3450" b="1" lang="en-US">
                <a:solidFill>
                  <a:srgbClr val="29302D"/>
                </a:solidFill>
                <a:latin typeface="Manrope"/>
              </a:rPr>
              <a:t>Start the call</a:t>
            </a:r>
          </a:p>
          <a:p>
            <a:pPr algn="l" rtl="0">
              <a:lnSpc>
                <a:spcPts val="3864"/>
              </a:lnSpc>
              <a:spcBef>
                <a:spcPts val="0"/>
              </a:spcBef>
              <a:spcAft>
                <a:spcPts val="0"/>
              </a:spcAft>
            </a:pPr>
            <a:r>
              <a:rPr sz="3450" b="1" lang="en-US">
                <a:solidFill>
                  <a:srgbClr val="29302D"/>
                </a:solidFill>
                <a:latin typeface="Manrope"/>
              </a:rPr>
              <a:t>with customer context.</a:t>
            </a:r>
          </a:p>
        </p:txBody>
      </p:sp>
      <p:sp>
        <p:nvSpPr>
          <p:cNvPr id="10" name="TextBox 9"/>
          <p:cNvSpPr txBox="1"/>
          <p:nvPr/>
        </p:nvSpPr>
        <p:spPr>
          <a:xfrm>
            <a:off x="571500" y="3676650"/>
            <a:ext cx="4667250" cy="742950"/>
          </a:xfrm>
          <a:prstGeom prst="rect">
            <a:avLst/>
          </a:prstGeom>
          <a:noFill/>
          <a:effectLst/>
        </p:spPr>
        <p:txBody>
          <a:bodyPr wrap="square" lIns="0" rIns="0" tIns="0" bIns="0" anchor="t">
            <a:spAutoFit/>
          </a:bodyPr>
          <a:lstStyle/>
          <a:p>
            <a:pPr algn="l" rtl="0">
              <a:lnSpc>
                <a:spcPts val="2016"/>
              </a:lnSpc>
              <a:spcBef>
                <a:spcPts val="0"/>
              </a:spcBef>
              <a:spcAft>
                <a:spcPts val="0"/>
              </a:spcAft>
            </a:pPr>
            <a:r>
              <a:rPr sz="1800" b="0" lang="en-US">
                <a:solidFill>
                  <a:srgbClr val="68716B"/>
                </a:solidFill>
                <a:latin typeface="Manrope"/>
              </a:rPr>
              <a:t>A better start for the employee.</a:t>
            </a:r>
          </a:p>
          <a:p>
            <a:pPr algn="l" rtl="0">
              <a:lnSpc>
                <a:spcPts val="2016"/>
              </a:lnSpc>
              <a:spcBef>
                <a:spcPts val="0"/>
              </a:spcBef>
              <a:spcAft>
                <a:spcPts val="0"/>
              </a:spcAft>
            </a:pPr>
            <a:r>
              <a:rPr sz="1800" b="0" lang="en-US">
                <a:solidFill>
                  <a:srgbClr val="68716B"/>
                </a:solidFill>
                <a:latin typeface="Manrope"/>
              </a:rPr>
              <a:t>Better continuity for the customer.</a:t>
            </a:r>
          </a:p>
        </p:txBody>
      </p:sp>
      <p:pic>
        <p:nvPicPr>
          <p:cNvPr id="11" name="Picture 10" descr="genesys.png"/>
          <p:cNvPicPr>
            <a:picLocks noChangeAspect="1"/>
          </p:cNvPicPr>
          <p:nvPr/>
        </p:nvPicPr>
        <p:blipFill>
          <a:blip r:embed="rId3"/>
          <a:stretch>
            <a:fillRect/>
          </a:stretch>
        </p:blipFill>
        <p:spPr>
          <a:xfrm>
            <a:off x="571500" y="4991224"/>
            <a:ext cx="1514475" cy="295028"/>
          </a:xfrm>
          <a:prstGeom prst="rect">
            <a:avLst/>
          </a:prstGeom>
          <a:effectLst/>
        </p:spPr>
      </p:pic>
      <p:pic>
        <p:nvPicPr>
          <p:cNvPr id="12" name="Picture 11" descr="zoho.png"/>
          <p:cNvPicPr>
            <a:picLocks noChangeAspect="1"/>
          </p:cNvPicPr>
          <p:nvPr/>
        </p:nvPicPr>
        <p:blipFill>
          <a:blip r:embed="rId4"/>
          <a:stretch>
            <a:fillRect/>
          </a:stretch>
        </p:blipFill>
        <p:spPr>
          <a:xfrm>
            <a:off x="2665008" y="4943475"/>
            <a:ext cx="908858" cy="390525"/>
          </a:xfrm>
          <a:prstGeom prst="rect">
            <a:avLst/>
          </a:prstGeom>
          <a:effectLst/>
        </p:spPr>
      </p:pic>
      <p:sp>
        <p:nvSpPr>
          <p:cNvPr id="13" name="Rounded Rectangle 12"/>
          <p:cNvSpPr/>
          <p:nvPr/>
        </p:nvSpPr>
        <p:spPr>
          <a:xfrm>
            <a:off x="6200775" y="1628775"/>
            <a:ext cx="5429250" cy="3924300"/>
          </a:xfrm>
          <a:prstGeom prst="roundRect">
            <a:avLst>
              <a:gd name="adj" fmla="val 3883"/>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6191250" y="1581150"/>
            <a:ext cx="5429250" cy="3924300"/>
          </a:xfrm>
          <a:prstGeom prst="roundRect">
            <a:avLst>
              <a:gd name="adj" fmla="val 3883"/>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6467475" y="1914525"/>
            <a:ext cx="447675" cy="44767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con-file.png"/>
          <p:cNvPicPr>
            <a:picLocks noChangeAspect="1"/>
          </p:cNvPicPr>
          <p:nvPr/>
        </p:nvPicPr>
        <p:blipFill>
          <a:blip r:embed="rId5"/>
          <a:stretch>
            <a:fillRect/>
          </a:stretch>
        </p:blipFill>
        <p:spPr>
          <a:xfrm>
            <a:off x="6562725" y="2009775"/>
            <a:ext cx="257175" cy="257175"/>
          </a:xfrm>
          <a:prstGeom prst="rect">
            <a:avLst/>
          </a:prstGeom>
          <a:effectLst/>
        </p:spPr>
      </p:pic>
      <p:cxnSp>
        <p:nvCxnSpPr>
          <p:cNvPr id="17" name="Connector 16"/>
          <p:cNvCxnSpPr/>
          <p:nvPr/>
        </p:nvCxnSpPr>
        <p:spPr>
          <a:xfrm>
            <a:off x="6686550" y="2419350"/>
            <a:ext cx="0" cy="50482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7105650" y="1924050"/>
            <a:ext cx="4219575" cy="419100"/>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9302D"/>
                </a:solidFill>
                <a:latin typeface="Manrope"/>
              </a:rPr>
              <a:t>Check the existing pop-up</a:t>
            </a:r>
          </a:p>
        </p:txBody>
      </p:sp>
      <p:sp>
        <p:nvSpPr>
          <p:cNvPr id="19" name="TextBox 18"/>
          <p:cNvSpPr txBox="1"/>
          <p:nvPr/>
        </p:nvSpPr>
        <p:spPr>
          <a:xfrm>
            <a:off x="7105650" y="2381250"/>
            <a:ext cx="4219575" cy="53340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Confirm how the current setup behaves.</a:t>
            </a:r>
          </a:p>
        </p:txBody>
      </p:sp>
      <p:sp>
        <p:nvSpPr>
          <p:cNvPr id="20" name="Oval 19"/>
          <p:cNvSpPr/>
          <p:nvPr/>
        </p:nvSpPr>
        <p:spPr>
          <a:xfrm>
            <a:off x="6467475" y="3067050"/>
            <a:ext cx="447675" cy="44767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icon-link.png"/>
          <p:cNvPicPr>
            <a:picLocks noChangeAspect="1"/>
          </p:cNvPicPr>
          <p:nvPr/>
        </p:nvPicPr>
        <p:blipFill>
          <a:blip r:embed="rId6"/>
          <a:stretch>
            <a:fillRect/>
          </a:stretch>
        </p:blipFill>
        <p:spPr>
          <a:xfrm>
            <a:off x="6562725" y="3162300"/>
            <a:ext cx="257175" cy="257175"/>
          </a:xfrm>
          <a:prstGeom prst="rect">
            <a:avLst/>
          </a:prstGeom>
          <a:effectLst/>
        </p:spPr>
      </p:pic>
      <p:cxnSp>
        <p:nvCxnSpPr>
          <p:cNvPr id="22" name="Connector 21"/>
          <p:cNvCxnSpPr/>
          <p:nvPr/>
        </p:nvCxnSpPr>
        <p:spPr>
          <a:xfrm>
            <a:off x="6686550" y="3571875"/>
            <a:ext cx="0" cy="50482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7105650" y="3076575"/>
            <a:ext cx="4219575" cy="419100"/>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9302D"/>
                </a:solidFill>
                <a:latin typeface="Manrope"/>
              </a:rPr>
              <a:t>Complete the supported connection</a:t>
            </a:r>
          </a:p>
        </p:txBody>
      </p:sp>
      <p:sp>
        <p:nvSpPr>
          <p:cNvPr id="24" name="TextBox 23"/>
          <p:cNvSpPr txBox="1"/>
          <p:nvPr/>
        </p:nvSpPr>
        <p:spPr>
          <a:xfrm>
            <a:off x="7105650" y="3533775"/>
            <a:ext cx="4219575" cy="53340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Choose the right native option or adapter.</a:t>
            </a:r>
          </a:p>
        </p:txBody>
      </p:sp>
      <p:sp>
        <p:nvSpPr>
          <p:cNvPr id="25" name="Oval 24"/>
          <p:cNvSpPr/>
          <p:nvPr/>
        </p:nvSpPr>
        <p:spPr>
          <a:xfrm>
            <a:off x="6467475" y="4219575"/>
            <a:ext cx="447675" cy="44767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con-check.png"/>
          <p:cNvPicPr>
            <a:picLocks noChangeAspect="1"/>
          </p:cNvPicPr>
          <p:nvPr/>
        </p:nvPicPr>
        <p:blipFill>
          <a:blip r:embed="rId7"/>
          <a:stretch>
            <a:fillRect/>
          </a:stretch>
        </p:blipFill>
        <p:spPr>
          <a:xfrm>
            <a:off x="6562725" y="4314825"/>
            <a:ext cx="257175" cy="257175"/>
          </a:xfrm>
          <a:prstGeom prst="rect">
            <a:avLst/>
          </a:prstGeom>
          <a:effectLst/>
        </p:spPr>
      </p:pic>
      <p:sp>
        <p:nvSpPr>
          <p:cNvPr id="27" name="TextBox 26"/>
          <p:cNvSpPr txBox="1"/>
          <p:nvPr/>
        </p:nvSpPr>
        <p:spPr>
          <a:xfrm>
            <a:off x="7105650" y="4229100"/>
            <a:ext cx="4219575" cy="419100"/>
          </a:xfrm>
          <a:prstGeom prst="rect">
            <a:avLst/>
          </a:prstGeom>
          <a:noFill/>
          <a:effectLst/>
        </p:spPr>
        <p:txBody>
          <a:bodyPr wrap="square" lIns="0" rIns="0" tIns="0" bIns="0" anchor="t">
            <a:spAutoFit/>
          </a:bodyPr>
          <a:lstStyle/>
          <a:p>
            <a:pPr algn="l" rtl="0">
              <a:lnSpc>
                <a:spcPts val="1932"/>
              </a:lnSpc>
              <a:spcBef>
                <a:spcPts val="0"/>
              </a:spcBef>
              <a:spcAft>
                <a:spcPts val="0"/>
              </a:spcAft>
            </a:pPr>
            <a:r>
              <a:rPr sz="1725" b="1" lang="en-US">
                <a:solidFill>
                  <a:srgbClr val="29302D"/>
                </a:solidFill>
                <a:latin typeface="Manrope"/>
              </a:rPr>
              <a:t>Test agreed calls</a:t>
            </a:r>
          </a:p>
        </p:txBody>
      </p:sp>
      <p:sp>
        <p:nvSpPr>
          <p:cNvPr id="28" name="TextBox 27"/>
          <p:cNvSpPr txBox="1"/>
          <p:nvPr/>
        </p:nvSpPr>
        <p:spPr>
          <a:xfrm>
            <a:off x="7105650" y="4686300"/>
            <a:ext cx="4219575" cy="533400"/>
          </a:xfrm>
          <a:prstGeom prst="rect">
            <a:avLst/>
          </a:prstGeom>
          <a:noFill/>
          <a:effectLst/>
        </p:spPr>
        <p:txBody>
          <a:bodyPr wrap="square" lIns="0" rIns="0" tIns="0" bIns="0" anchor="t">
            <a:spAutoFit/>
          </a:bodyPr>
          <a:lstStyle/>
          <a:p>
            <a:pPr algn="l" rtl="0">
              <a:lnSpc>
                <a:spcPts val="1512"/>
              </a:lnSpc>
              <a:spcBef>
                <a:spcPts val="0"/>
              </a:spcBef>
              <a:spcAft>
                <a:spcPts val="0"/>
              </a:spcAft>
            </a:pPr>
            <a:r>
              <a:rPr sz="1350" b="0" lang="en-US">
                <a:solidFill>
                  <a:srgbClr val="68716B"/>
                </a:solidFill>
                <a:latin typeface="Manrope"/>
              </a:rPr>
              <a:t>Verify the context and the fallback behavior.</a:t>
            </a:r>
          </a:p>
        </p:txBody>
      </p:sp>
      <p:sp>
        <p:nvSpPr>
          <p:cNvPr id="29" name="TextBox 28"/>
          <p:cNvSpPr txBox="1"/>
          <p:nvPr/>
        </p:nvSpPr>
        <p:spPr>
          <a:xfrm>
            <a:off x="571500" y="5848350"/>
            <a:ext cx="11049000" cy="361950"/>
          </a:xfrm>
          <a:prstGeom prst="rect">
            <a:avLst/>
          </a:prstGeom>
          <a:noFill/>
          <a:effectLst/>
        </p:spPr>
        <p:txBody>
          <a:bodyPr wrap="square" lIns="0" rIns="0" tIns="0" bIns="0" anchor="t">
            <a:spAutoFit/>
          </a:bodyPr>
          <a:lstStyle/>
          <a:p>
            <a:pPr algn="l" rtl="0">
              <a:lnSpc>
                <a:spcPts val="1764"/>
              </a:lnSpc>
              <a:spcBef>
                <a:spcPts val="0"/>
              </a:spcBef>
              <a:spcAft>
                <a:spcPts val="0"/>
              </a:spcAft>
            </a:pPr>
            <a:r>
              <a:rPr sz="1575" b="0" lang="en-US">
                <a:solidFill>
                  <a:srgbClr val="54745C"/>
                </a:solidFill>
                <a:latin typeface="Manrope"/>
              </a:rPr>
              <a:t>Existing systems. Existing records. A more informed conversation.</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0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00"/>
                                  <p:tgtEl>
                                    <p:spTgt spid="16"/>
                                  </p:tgtEl>
                                </p:cBhvr>
                              </p:animEffect>
                            </p:childTnLst>
                          </p:cTn>
                        </p:par>
                        <p:par>
                          <p:cTn id="10" presetID="10" presetClass="entr" presetSubtype="0" fill="hold" nodeType="withEffect">
                            <p:stCondLst>
                              <p:cond delay="1250"/>
                            </p:stCondLst>
                            <p:childTnLst>
                              <p:set>
                                <p:cBhvr>
                                  <p:cTn id="11" dur="1" fill="hold"/>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0"/>
                            </p:stCondLst>
                            <p:childTnLst>
                              <p:set>
                                <p:cBhvr>
                                  <p:cTn id="17" dur="1" fill="hold"/>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1250"/>
                            </p:stCondLst>
                            <p:childTnLst>
                              <p:set>
                                <p:cBhvr>
                                  <p:cTn id="20" dur="1" fill="hold"/>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nodeType="withEffect">
                            <p:stCondLst>
                              <p:cond delay="1250"/>
                            </p:stCondLst>
                            <p:childTnLst>
                              <p:set>
                                <p:cBhvr>
                                  <p:cTn id="23" dur="1" fill="hold"/>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nodeType="withEffect">
                            <p:stCondLst>
                              <p:cond delay="2500"/>
                            </p:stCondLst>
                            <p:childTnLst>
                              <p:set>
                                <p:cBhvr>
                                  <p:cTn id="26" dur="1" fill="hold"/>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1250"/>
                            </p:stCondLst>
                            <p:childTnLst>
                              <p:set>
                                <p:cBhvr>
                                  <p:cTn id="29" dur="1" fill="hold"/>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nodeType="withEffect">
                            <p:stCondLst>
                              <p:cond delay="1250"/>
                            </p:stCondLst>
                            <p:childTnLst>
                              <p:set>
                                <p:cBhvr>
                                  <p:cTn id="32" dur="1" fill="hold"/>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nodeType="withEffect">
                            <p:stCondLst>
                              <p:cond delay="2500"/>
                            </p:stCondLst>
                            <p:childTnLst>
                              <p:set>
                                <p:cBhvr>
                                  <p:cTn id="35" dur="1" fill="hold"/>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2500"/>
                            </p:stCondLst>
                            <p:childTnLst>
                              <p:set>
                                <p:cBhvr>
                                  <p:cTn id="38" dur="1" fill="hold"/>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nodeType="withEffect">
                            <p:stCondLst>
                              <p:cond delay="2500"/>
                            </p:stCondLst>
                            <p:childTnLst>
                              <p:set>
                                <p:cBhvr>
                                  <p:cTn id="41" dur="1" fill="hold"/>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nodeType="withEffect">
                            <p:stCondLst>
                              <p:cond delay="2500"/>
                            </p:stCondLst>
                            <p:childTnLst>
                              <p:set>
                                <p:cBhvr>
                                  <p:cTn id="44" dur="1" fill="hold"/>
                                  <p:tgtEl>
                                    <p:spTgt spid="28"/>
                                  </p:tgtEl>
                                  <p:attrNameLst>
                                    <p:attrName>style.visibility</p:attrName>
                                  </p:attrNameLst>
                                </p:cBhvr>
                                <p:to>
                                  <p:strVal val="visible"/>
                                </p:to>
                              </p:set>
                              <p:animEffect transition="in" filter="fade">
                                <p:cBhvr>
                                  <p:cTn id="45" dur="50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GRINDCTRL · Customer context, with every call</dc:title>
  <dc:subject>Reported caller-context gap: Genesys call assignment and Zoho Desk ticket lookup. Proposed workflow; fictional records.</dc:subject>
  <dc:creator>GRINDCTRL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