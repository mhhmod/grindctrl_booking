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grindctrl_voiceover_ar.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GRINDCTRL proposal; no existing Concrete/Centro relationship or implemented integration. The customer workflow is reported, not independently tested. Native product edition, screen-pop target, permissions and actual screen geometry are unverified. All visible data and interfaces are illustrative.</a:t>
            </a:r>
          </a:p>
          <a:p/>
          <a:p>
            <a:r>
              <a:t>Caller-number association is not authentication. Existing verification and permissions apply. No AI, ticket write, refund decision, live connector or measured savings are shown. The first technical step is inspecting the existing contracted CRM URL pop up integration (November 2023, PDF page 4).</a:t>
            </a:r>
          </a:p>
          <a:p/>
          <a:p>
            <a:r>
              <a:t>Narration cues for this scene:</a:t>
            </a:r>
          </a:p>
          <a:p/>
          <a:p>
            <a:r>
              <a:t>C01 · 0.000–2.660s · تخيلوا معايا موظف Customer Service في Concrete، · Show the complete imagined call-and-history workspace immediately.</a:t>
            </a:r>
          </a:p>
          <a:p/>
          <a:p>
            <a:r>
              <a:t>C02 · 2.906–3.857s · جاله Call من عميل. · Focus the already-visible incoming call.</a:t>
            </a:r>
          </a:p>
          <a:p/>
          <a:p>
            <a:r>
              <a:t>C03 · 4.417–6.450s · بدل ما يبدأ يدور على بياناته من الأول، · Hold the outcome-first workspace; no manual search is illustrated here.</a:t>
            </a:r>
          </a:p>
          <a:p/>
          <a:p>
            <a:r>
              <a:t>C04 · 6.900–8.521s · تخيلوا لو الـTickets السابقة، · Focus the existing previous-ticket row.</a:t>
            </a:r>
          </a:p>
          <a:p/>
          <a:p>
            <a:r>
              <a:t>C05 · 8.704–12.844s · والـStatus بتاع كل Ticket، والـLatest Update، ظهروا قدامه مع المكالمة. · Focus status; move focus to the latest note at C05-note.</a:t>
            </a:r>
          </a:p>
          <a:p/>
          <a:p>
            <a:r>
              <a:t>C06 · 13.184–15.860s · دي ببساطة التجربة اللي GRINDCTRL بتقترحها. · Hold the proposed outcome; GRINDCTRL framing confirms a proposal.</a:t>
            </a:r>
          </a:p>
          <a:p/>
          <a:p>
            <a:r>
              <a:t>SOURCES (PDF pages):</a:t>
            </a:r>
          </a:p>
          <a:p/>
          <a:p>
            <a:r>
              <a:t>User report in this session —  — Manual phone search works; automatic call context reportedly absent. Not independently tested.</a:t>
            </a:r>
          </a:p>
          <a:p/>
          <a:p>
            <a:r>
              <a:t>Concrete contract (29-11-2023).pdf — 4 — Exact scope: CRM URL pop up integration. Current operation unverified.</a:t>
            </a:r>
          </a:p>
          <a:p/>
          <a:p>
            <a:r>
              <a:t>No existing Concrete/Centro relationship. All sample records are fictional. No live connector. Reported workflow has not been independently tested.</a:t>
            </a:r>
          </a:p>
          <a:p/>
          <a:p>
            <a:r>
              <a:t>HTML and MP4 are the verified audiovisual masters. This PPTX contains the unchanged original MP3 and native timed fade entrances plus automatic chapter advances. PowerPoint audio continuity and seek/pause behavior have not been verified in Microsoft PowerPoint. The shared-number branch is a separate editable appendix; transient focus traces are simplified. Install the bundled Manrope and IBM Plex Sans Arabic fonts for native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GRINDCTRL proposal; no existing Concrete/Centro relationship or implemented integration. The customer workflow is reported, not independently tested. Native product edition, screen-pop target, permissions and actual screen geometry are unverified. All visible data and interfaces are illustrative.</a:t>
            </a:r>
          </a:p>
          <a:p/>
          <a:p>
            <a:r>
              <a:t>Caller-number association is not authentication. Existing verification and permissions apply. No AI, ticket write, refund decision, live connector or measured savings are shown. The first technical step is inspecting the existing contracted CRM URL pop up integration (November 2023, PDF page 4).</a:t>
            </a:r>
          </a:p>
          <a:p/>
          <a:p>
            <a:r>
              <a:t>Narration cues for this scene:</a:t>
            </a:r>
          </a:p>
          <a:p/>
          <a:p>
            <a:r>
              <a:t>C07 · 16.395–18.951s · النهارده، حسب الـWorkflow الحالي اللي اتشرح لنا، · Cut to the reported current workflow: call and separate Desk search.</a:t>
            </a:r>
          </a:p>
          <a:p/>
          <a:p>
            <a:r>
              <a:t>C08 · 19.179–21.271s · الموظف بيستقبل الـCall على Genesys. · Focus the visible Genesys call.</a:t>
            </a:r>
          </a:p>
          <a:p/>
          <a:p>
            <a:r>
              <a:t>C09 · 21.546–24.179s · ولو محتاج يعرف العميل كان عنده Tickets إيه قبل كده، · Focus the separate Desk search field.</a:t>
            </a:r>
          </a:p>
          <a:p/>
          <a:p>
            <a:r>
              <a:t>C10 · 24.621–27.677s · بيضطر يعمل Manual Search برقم التليفون على Zoho Desk. · Manually carry the masked number into Desk search; pointer chooses search.</a:t>
            </a:r>
          </a:p>
          <a:p/>
          <a:p>
            <a:r>
              <a:t>C11 · 28.108–29.292s · البيانات موجودة بالفعل، · Reveal the existing Contact A ticket result.</a:t>
            </a:r>
          </a:p>
          <a:p/>
          <a:p>
            <a:r>
              <a:t>C12 · 29.636–33.316s · لكن الموظف محتاج يعمل كذا خطوة عشان يوصل للـCustomer History. · Reveal the latest note beneath the manually retrieved ticket.</a:t>
            </a:r>
          </a:p>
          <a:p/>
          <a:p>
            <a:r>
              <a:t>SOURCES (PDF pages):</a:t>
            </a:r>
          </a:p>
          <a:p/>
          <a:p>
            <a:r>
              <a:t>User report in this session —  — Manual phone search works; automatic call context reportedly absent. Not independently tested.</a:t>
            </a:r>
          </a:p>
          <a:p/>
          <a:p>
            <a:r>
              <a:t>Concrete contract (29-11-2023).pdf — 4 — Exact scope: CRM URL pop up integration. Current operation unverified.</a:t>
            </a:r>
          </a:p>
          <a:p/>
          <a:p>
            <a:r>
              <a:t>No existing Concrete/Centro relationship. All sample records are fictional. No live connector. Reported workflow has not been independently tested.</a:t>
            </a:r>
          </a:p>
          <a:p/>
          <a:p>
            <a:r>
              <a:t>HTML and MP4 are the verified audiovisual masters. This PPTX contains the unchanged original MP3 and native timed fade entrances plus automatic chapter advances. PowerPoint audio continuity and seek/pause behavior have not been verified in Microsoft PowerPoint. The shared-number branch is a separate editable appendix; transient focus traces are simplified. Install the bundled Manrope and IBM Plex Sans Arabic fonts for native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GRINDCTRL proposal; no existing Concrete/Centro relationship or implemented integration. The customer workflow is reported, not independently tested. Native product edition, screen-pop target, permissions and actual screen geometry are unverified. All visible data and interfaces are illustrative.</a:t>
            </a:r>
          </a:p>
          <a:p/>
          <a:p>
            <a:r>
              <a:t>Caller-number association is not authentication. Existing verification and permissions apply. No AI, ticket write, refund decision, live connector or measured savings are shown. The first technical step is inspecting the existing contracted CRM URL pop up integration (November 2023, PDF page 4).</a:t>
            </a:r>
          </a:p>
          <a:p/>
          <a:p>
            <a:r>
              <a:t>Narration cues for this scene:</a:t>
            </a:r>
          </a:p>
          <a:p/>
          <a:p>
            <a:r>
              <a:t>C13 · 33.780–35.048s · في الـSolution اللي بنقترحه، · Change to the proposed lookup scenario.</a:t>
            </a:r>
          </a:p>
          <a:p/>
          <a:p>
            <a:r>
              <a:t>C14 · 35.311–36.352s · أول ما الـCall توصل، · Incoming call appears, anchored at the same position.</a:t>
            </a:r>
          </a:p>
          <a:p/>
          <a:p>
            <a:r>
              <a:t>C15 · 36.585–40.510s · النظام يستخدم رقم المتصل عشان يعمل Automatic Lookup في Zoho Desk. · Focus caller number and trace an authorized lookup toward Desk.</a:t>
            </a:r>
          </a:p>
          <a:p/>
          <a:p>
            <a:r>
              <a:t>C16 · 40.905–42.801s · ولما يلاقي الـCustomer Record المناسب، · Associated Contact A record appears; no verified-identity badge.</a:t>
            </a:r>
          </a:p>
          <a:p/>
          <a:p>
            <a:r>
              <a:t>C17 · 43.056–47.687s · الـTicket History والـLatest Updates يظهروا للـAgent، من غير ما يضطر يعمل Search بنفسه. · Reveal ticket history and its source note beside the ongoing call.</a:t>
            </a:r>
          </a:p>
          <a:p/>
          <a:p>
            <a:r>
              <a:t>C18 · 48.104–50.083s · ولو الرقم مرتبط بأكتر من Customer، · Show a two-record chooser for the shared-number scenario.</a:t>
            </a:r>
          </a:p>
          <a:p/>
          <a:p>
            <a:r>
              <a:t>C19 · 50.294–51.957s · الموظف بيختار الـRecord الصحيح. · Highlight employee choice of Contact A; return to its context at the measured end of this phrase.</a:t>
            </a:r>
          </a:p>
          <a:p/>
          <a:p>
            <a:r>
              <a:t>SOURCES (PDF pages):</a:t>
            </a:r>
          </a:p>
          <a:p/>
          <a:p>
            <a:r>
              <a:t>User report in this session —  — Manual phone search works; automatic call context reportedly absent. Not independently tested.</a:t>
            </a:r>
          </a:p>
          <a:p/>
          <a:p>
            <a:r>
              <a:t>Concrete contract (29-11-2023).pdf — 4 — Exact scope: CRM URL pop up integration. Current operation unverified.</a:t>
            </a:r>
          </a:p>
          <a:p/>
          <a:p>
            <a:r>
              <a:t>No existing Concrete/Centro relationship. All sample records are fictional. No live connector. Reported workflow has not been independently tested.</a:t>
            </a:r>
          </a:p>
          <a:p/>
          <a:p>
            <a:r>
              <a:t>HTML and MP4 are the verified audiovisual masters. This PPTX contains the unchanged original MP3 and native timed fade entrances plus automatic chapter advances. PowerPoint audio continuity and seek/pause behavior have not been verified in Microsoft PowerPoint. The shared-number branch is a separate editable appendix; transient focus traces are simplified. Install the bundled Manrope and IBM Plex Sans Arabic fonts for native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GRINDCTRL proposal; no existing Concrete/Centro relationship or implemented integration. The customer workflow is reported, not independently tested. Native product edition, screen-pop target, permissions and actual screen geometry are unverified. All visible data and interfaces are illustrative.</a:t>
            </a:r>
          </a:p>
          <a:p/>
          <a:p>
            <a:r>
              <a:t>Caller-number association is not authentication. Existing verification and permissions apply. No AI, ticket write, refund decision, live connector or measured savings are shown. The first technical step is inspecting the existing contracted CRM URL pop up integration (November 2023, PDF page 4).</a:t>
            </a:r>
          </a:p>
          <a:p/>
          <a:p>
            <a:r>
              <a:t>Narration cues for this scene:</a:t>
            </a:r>
          </a:p>
          <a:p/>
          <a:p>
            <a:r>
              <a:t>C20 · 52.546–53.671s · خلينا ناخد مثال عملي. · Cut to a focused fictional exchange case.</a:t>
            </a:r>
          </a:p>
          <a:p/>
          <a:p>
            <a:r>
              <a:t>C21 · 54.089–57.999s · Customer بيتصل عشان يعمل Follow-up على Exchange Request كان قدمه قبل كده. · Show the exchange follow-up ticket title alongside the ongoing call.</a:t>
            </a:r>
          </a:p>
          <a:p/>
          <a:p>
            <a:r>
              <a:t>C22 · 58.420–61.209s · الـAgent بيشوف الـTicket السابقة، والـStatus بتاعها، · Highlight T101 and its pending branch-review status.</a:t>
            </a:r>
          </a:p>
          <a:p/>
          <a:p>
            <a:r>
              <a:t>C23 · 61.437–64.518s · ويلاقي في الـLatest Note إن الطلب لسه Pending Branch Review. · Reveal and focus the latest recorded note: branch review is still pending.</a:t>
            </a:r>
          </a:p>
          <a:p/>
          <a:p>
            <a:r>
              <a:t>C24 · 64.869–68.112s · بدل ما يبدأ من الصفر ويسأل العميل عن كل التفاصيل تاني، · Keep the case in view; no extra customer-question checklist or ticket mutation.</a:t>
            </a:r>
          </a:p>
          <a:p/>
          <a:p>
            <a:r>
              <a:t>C25 · 68.416–72.613s · يقدر يشوف آخر Update، ويفهم الـCase، ويكمل الـFollow-up من نفس النقطة. · Connect the visible source note to the employee conversation cue.</a:t>
            </a:r>
          </a:p>
          <a:p/>
          <a:p>
            <a:r>
              <a:t>SOURCES (PDF pages):</a:t>
            </a:r>
          </a:p>
          <a:p/>
          <a:p>
            <a:r>
              <a:t>User report in this session —  — Manual phone search works; automatic call context reportedly absent. Not independently tested.</a:t>
            </a:r>
          </a:p>
          <a:p/>
          <a:p>
            <a:r>
              <a:t>Concrete contract (29-11-2023).pdf — 4 — Exact scope: CRM URL pop up integration. Current operation unverified.</a:t>
            </a:r>
          </a:p>
          <a:p/>
          <a:p>
            <a:r>
              <a:t>No existing Concrete/Centro relationship. All sample records are fictional. No live connector. Reported workflow has not been independently tested.</a:t>
            </a:r>
          </a:p>
          <a:p/>
          <a:p>
            <a:r>
              <a:t>HTML and MP4 are the verified audiovisual masters. This PPTX contains the unchanged original MP3 and native timed fade entrances plus automatic chapter advances. PowerPoint audio continuity and seek/pause behavior have not been verified in Microsoft PowerPoint. The shared-number branch is a separate editable appendix; transient focus traces are simplified. Install the bundled Manrope and IBM Plex Sans Arabic fonts for native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GRINDCTRL proposal; no existing Concrete/Centro relationship or implemented integration. The customer workflow is reported, not independently tested. Native product edition, screen-pop target, permissions and actual screen geometry are unverified. All visible data and interfaces are illustrative.</a:t>
            </a:r>
          </a:p>
          <a:p/>
          <a:p>
            <a:r>
              <a:t>Caller-number association is not authentication. Existing verification and permissions apply. No AI, ticket write, refund decision, live connector or measured savings are shown. The first technical step is inspecting the existing contracted CRM URL pop up integration (November 2023, PDF page 4).</a:t>
            </a:r>
          </a:p>
          <a:p/>
          <a:p>
            <a:r>
              <a:t>Narration cues for this scene:</a:t>
            </a:r>
          </a:p>
          <a:p/>
          <a:p>
            <a:r>
              <a:t>C26 · 73.020–74.870s · نفس الـCustomer، ونفس الـTickets، · Cut to a matched current/proposed comparison, with the same masked number and T101.</a:t>
            </a:r>
          </a:p>
          <a:p/>
          <a:p>
            <a:r>
              <a:t>C27 · 75.025–76.716s · لكن الـWorkflow اختلف تمامًا. · Hold the matched comparison; neither side creates new records.</a:t>
            </a:r>
          </a:p>
          <a:p/>
          <a:p>
            <a:r>
              <a:t>C28 · 77.147–77.903s · قبل التحسين، · Focus the current-workflow side.</a:t>
            </a:r>
          </a:p>
          <a:p/>
          <a:p>
            <a:r>
              <a:t>C29 · 78.106–82.363s · الـAgent محتاج يعمل Manual Search، ويفتح الـTicket، ويدور على آخر Update. · Show phone-number search, T101 and its latest note on the current side.</a:t>
            </a:r>
          </a:p>
          <a:p/>
          <a:p>
            <a:r>
              <a:t>C30 · 82.654–84.058s · بعد الـIntegration المقترح، · Focus the proposed-workflow side.</a:t>
            </a:r>
          </a:p>
          <a:p/>
          <a:p>
            <a:r>
              <a:t>C31 · 84.277–86.150s · الـCustomer Context بيظهر مع الـCall. · Reveal context beside the same call on the proposed side.</a:t>
            </a:r>
          </a:p>
          <a:p/>
          <a:p>
            <a:r>
              <a:t>C32 · 86.581–88.485s · الفرق مش إننا بنضيف بيانات جديدة. · Emphasize identical existing ticket identity on both sides; no new-data claim.</a:t>
            </a:r>
          </a:p>
          <a:p/>
          <a:p>
            <a:r>
              <a:t>C33 · 88.871–91.500s · الفرق إننا بنخلي البيانات الموجودة بالفعل · Keep the same ticket and note, with a simple association cue.</a:t>
            </a:r>
          </a:p>
          <a:p/>
          <a:p>
            <a:r>
              <a:t>C34 · 91.656–93.764s · متاحة للموظف في الوقت اللي محتاجها فيه. · Focus the note already available on the proposed side.</a:t>
            </a:r>
          </a:p>
          <a:p/>
          <a:p>
            <a:r>
              <a:t>SOURCES (PDF pages):</a:t>
            </a:r>
          </a:p>
          <a:p/>
          <a:p>
            <a:r>
              <a:t>User report in this session —  — Manual phone search works; automatic call context reportedly absent. Not independently tested.</a:t>
            </a:r>
          </a:p>
          <a:p/>
          <a:p>
            <a:r>
              <a:t>Concrete contract (29-11-2023).pdf — 4 — Exact scope: CRM URL pop up integration. Current operation unverified.</a:t>
            </a:r>
          </a:p>
          <a:p/>
          <a:p>
            <a:r>
              <a:t>No existing Concrete/Centro relationship. All sample records are fictional. No live connector. Reported workflow has not been independently tested.</a:t>
            </a:r>
          </a:p>
          <a:p/>
          <a:p>
            <a:r>
              <a:t>HTML and MP4 are the verified audiovisual masters. This PPTX contains the unchanged original MP3 and native timed fade entrances plus automatic chapter advances. PowerPoint audio continuity and seek/pause behavior have not been verified in Microsoft PowerPoint. The shared-number branch is a separate editable appendix; transient focus traces are simplified. Install the bundled Manrope and IBM Plex Sans Arabic fonts for native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GRINDCTRL proposal; no existing Concrete/Centro relationship or implemented integration. The customer workflow is reported, not independently tested. Native product edition, screen-pop target, permissions and actual screen geometry are unverified. All visible data and interfaces are illustrative.</a:t>
            </a:r>
          </a:p>
          <a:p/>
          <a:p>
            <a:r>
              <a:t>Caller-number association is not authentication. Existing verification and permissions apply. No AI, ticket write, refund decision, live connector or measured savings are shown. The first technical step is inspecting the existing contracted CRM URL pop up integration (November 2023, PDF page 4).</a:t>
            </a:r>
          </a:p>
          <a:p/>
          <a:p>
            <a:r>
              <a:t>Narration cues for this scene:</a:t>
            </a:r>
          </a:p>
          <a:p/>
          <a:p>
            <a:r>
              <a:t>C35 · 94.163–101.396s · بالنسبة لـConcrete، ده ممكن يقلل خطوات الـManual Search، ويسهّل الـFollow-up، ويساعد الـAgents يفهموا الـCustomer Cases بشكل أسرع. · Show the first expected-benefit annotation; disclose follow-up and informed-conversation annotations at C35-followup.</a:t>
            </a:r>
          </a:p>
          <a:p/>
          <a:p>
            <a:r>
              <a:t>C36 · 101.750–105.876s · وده ينعكس على الـAgent Experience، وممكن يحسّن الـCustomer Experience كمان. · Focus the source note in the enlarged workspace.</a:t>
            </a:r>
          </a:p>
          <a:p/>
          <a:p>
            <a:r>
              <a:t>C37 · 106.294–107.977s · وطبعًا دي Expected Benefits، · Show Expected benefits label, replacing any implication of measured outcomes.</a:t>
            </a:r>
          </a:p>
          <a:p/>
          <a:p>
            <a:r>
              <a:t>C38 · 108.229–111.094s · هنحتاج نقيسها ونتأكد منها من خلال Pilot حقيقي، · Hold the pilot-validation label while narration describes measurement.</a:t>
            </a:r>
          </a:p>
          <a:p/>
          <a:p>
            <a:r>
              <a:t>C39 · 111.326–112.850s · مش مجرد أرقام أو وعود. · Hold the pilot expectation label; no percentages or monetary promises.</a:t>
            </a:r>
          </a:p>
          <a:p/>
          <a:p>
            <a:r>
              <a:t>SOURCES (PDF pages):</a:t>
            </a:r>
          </a:p>
          <a:p/>
          <a:p>
            <a:r>
              <a:t>User report in this session —  — Manual phone search works; automatic call context reportedly absent. Not independently tested.</a:t>
            </a:r>
          </a:p>
          <a:p/>
          <a:p>
            <a:r>
              <a:t>Concrete contract (29-11-2023).pdf — 4 — Exact scope: CRM URL pop up integration. Current operation unverified.</a:t>
            </a:r>
          </a:p>
          <a:p/>
          <a:p>
            <a:r>
              <a:t>No existing Concrete/Centro relationship. All sample records are fictional. No live connector. Reported workflow has not been independently tested.</a:t>
            </a:r>
          </a:p>
          <a:p/>
          <a:p>
            <a:r>
              <a:t>HTML and MP4 are the verified audiovisual masters. This PPTX contains the unchanged original MP3 and native timed fade entrances plus automatic chapter advances. PowerPoint audio continuity and seek/pause behavior have not been verified in Microsoft PowerPoint. The shared-number branch is a separate editable appendix; transient focus traces are simplified. Install the bundled Manrope and IBM Plex Sans Arabic fonts for native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GRINDCTRL proposal; no existing Concrete/Centro relationship or implemented integration. The customer workflow is reported, not independently tested. Native product edition, screen-pop target, permissions and actual screen geometry are unverified. All visible data and interfaces are illustrative.</a:t>
            </a:r>
          </a:p>
          <a:p/>
          <a:p>
            <a:r>
              <a:t>Caller-number association is not authentication. Existing verification and permissions apply. No AI, ticket write, refund decision, live connector or measured savings are shown. The first technical step is inspecting the existing contracted CRM URL pop up integration (November 2023, PDF page 4).</a:t>
            </a:r>
          </a:p>
          <a:p/>
          <a:p>
            <a:r>
              <a:t>Narration cues for this scene:</a:t>
            </a:r>
          </a:p>
          <a:p/>
          <a:p>
            <a:r>
              <a:t>C40 · 113.196–115.921s · وأول خطوة مش إننا نبني System جديد من الصفر. · Cut to the practical existing-configuration inspection.</a:t>
            </a:r>
          </a:p>
          <a:p/>
          <a:p>
            <a:r>
              <a:t>C41 · 116.272–120.288s · هنبدأ نراجع الـIntegration والـPop-up الموجودين بالفعل بين Genesys وZoho، · Highlight the exact 2023 contract scope and existing pop-up configuration.</a:t>
            </a:r>
          </a:p>
          <a:p/>
          <a:p>
            <a:r>
              <a:t>C42 · 120.490–122.802s · ونشوف إيه اللي شغال وإيه اللي محتاج يتظبط. · Keep the existing-configuration inspection in view; current operation is unverified.</a:t>
            </a:r>
          </a:p>
          <a:p/>
          <a:p>
            <a:r>
              <a:t>C43 · 123.098–127.510s · بعدها نحدد أنسب Solution، ونجرّبه مع فريق Concrete من خلال Test Calls. · Reveal the smallest-supported-improvement label and authorized test-call workspace.</a:t>
            </a:r>
          </a:p>
          <a:p/>
          <a:p>
            <a:r>
              <a:t>C44 · 127.842–129.135s · هدفنا بسيط وواضح: · Hold the planned test; keep proposal status explicit.</a:t>
            </a:r>
          </a:p>
          <a:p/>
          <a:p>
            <a:r>
              <a:t>C45 · 129.462–130.561s · نخلي الـAgent يبدأ · Focus the employee call in the planned test workspace.</a:t>
            </a:r>
          </a:p>
          <a:p/>
          <a:p>
            <a:r>
              <a:t>C46 · 130.713–134.563s · كل Call وهو عنده الـCustomer Context اللي يساعده يقدم Service أفضل، · Reveal existing ticket context in that test workspace.</a:t>
            </a:r>
          </a:p>
          <a:p/>
          <a:p>
            <a:r>
              <a:t>C47 · 134.819–136.836s · من غير خطوات يدوية مش ضرورية. · Hold the final call plus context; no additional manual search shown.</a:t>
            </a:r>
          </a:p>
          <a:p/>
          <a:p>
            <a:r>
              <a:t>SOURCES (PDF pages):</a:t>
            </a:r>
          </a:p>
          <a:p/>
          <a:p>
            <a:r>
              <a:t>User report in this session —  — Manual phone search works; automatic call context reportedly absent. Not independently tested.</a:t>
            </a:r>
          </a:p>
          <a:p/>
          <a:p>
            <a:r>
              <a:t>Concrete contract (29-11-2023).pdf — 4 — Exact scope: CRM URL pop up integration. Current operation unverified.</a:t>
            </a:r>
          </a:p>
          <a:p/>
          <a:p>
            <a:r>
              <a:t>No existing Concrete/Centro relationship. All sample records are fictional. No live connector. Reported workflow has not been independently tested.</a:t>
            </a:r>
          </a:p>
          <a:p/>
          <a:p>
            <a:r>
              <a:t>HTML and MP4 are the verified audiovisual masters. This PPTX contains the unchanged original MP3 and native timed fade entrances plus automatic chapter advances. PowerPoint audio continuity and seek/pause behavior have not been verified in Microsoft PowerPoint. The shared-number branch is a separate editable appendix; transient focus traces are simplified. Install the bundled Manrope and IBM Plex Sans Arabic fonts for native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GRINDCTRL proposal; no existing Concrete/Centro relationship or implemented integration. The customer workflow is reported, not independently tested. Native product edition, screen-pop target, permissions and actual screen geometry are unverified. All visible data and interfaces are illustrative.</a:t>
            </a:r>
          </a:p>
          <a:p/>
          <a:p>
            <a:r>
              <a:t>Caller-number association is not authentication. Existing verification and permissions apply. No AI, ticket write, refund decision, live connector or measured savings are shown. The first technical step is inspecting the existing contracted CRM URL pop up integration (November 2023, PDF page 4).</a:t>
            </a:r>
          </a:p>
          <a:p/>
          <a:p>
            <a:r>
              <a:t>Narration cues for this scene:</a:t>
            </a:r>
          </a:p>
          <a:p/>
          <a:p>
            <a:r>
              <a:t>C13 · 33.780–35.048s · في الـSolution اللي بنقترحه، · Change to the proposed lookup scenario.</a:t>
            </a:r>
          </a:p>
          <a:p/>
          <a:p>
            <a:r>
              <a:t>C14 · 35.311–36.352s · أول ما الـCall توصل، · Incoming call appears, anchored at the same position.</a:t>
            </a:r>
          </a:p>
          <a:p/>
          <a:p>
            <a:r>
              <a:t>C15 · 36.585–40.510s · النظام يستخدم رقم المتصل عشان يعمل Automatic Lookup في Zoho Desk. · Focus caller number and trace an authorized lookup toward Desk.</a:t>
            </a:r>
          </a:p>
          <a:p/>
          <a:p>
            <a:r>
              <a:t>C16 · 40.905–42.801s · ولما يلاقي الـCustomer Record المناسب، · Associated Contact A record appears; no verified-identity badge.</a:t>
            </a:r>
          </a:p>
          <a:p/>
          <a:p>
            <a:r>
              <a:t>C17 · 43.056–47.687s · الـTicket History والـLatest Updates يظهروا للـAgent، من غير ما يضطر يعمل Search بنفسه. · Reveal ticket history and its source note beside the ongoing call.</a:t>
            </a:r>
          </a:p>
          <a:p/>
          <a:p>
            <a:r>
              <a:t>C18 · 48.104–50.083s · ولو الرقم مرتبط بأكتر من Customer، · Show a two-record chooser for the shared-number scenario.</a:t>
            </a:r>
          </a:p>
          <a:p/>
          <a:p>
            <a:r>
              <a:t>C19 · 50.294–51.957s · الموظف بيختار الـRecord الصحيح. · Highlight employee choice of Contact A; return to its context at the measured end of this phrase.</a:t>
            </a:r>
          </a:p>
          <a:p/>
          <a:p>
            <a:r>
              <a:t>Native appendix: the shared-number branch is integrated in HTML/MP4 at 48.104–51.957 seconds. Phone association is not authentication. This appendix does not extend the audio track.</a:t>
            </a:r>
          </a:p>
          <a:p/>
          <a:p>
            <a:r>
              <a:t>SOURCES (PDF pages):</a:t>
            </a:r>
          </a:p>
          <a:p/>
          <a:p>
            <a:r>
              <a:t>User report in this session —  — Manual phone search works; automatic call context reportedly absent. Not independently tested.</a:t>
            </a:r>
          </a:p>
          <a:p/>
          <a:p>
            <a:r>
              <a:t>Concrete contract (29-11-2023).pdf — 4 — Exact scope: CRM URL pop up integration. Current operation unverified.</a:t>
            </a:r>
          </a:p>
          <a:p/>
          <a:p>
            <a:r>
              <a:t>No existing Concrete/Centro relationship. All sample records are fictional. No live connector. Reported workflow has not been independently tested.</a:t>
            </a:r>
          </a:p>
          <a:p/>
          <a:p>
            <a:r>
              <a:t>HTML and MP4 are the verified audiovisual masters. This PPTX contains the unchanged original MP3 and native timed fade entrances plus automatic chapter advances. PowerPoint audio continuity and seek/pause behavior have not been verified in Microsoft PowerPoint. The shared-number branch is a separate editable appendix; transient focus traces are simplified. Install the bundled Manrope and IBM Plex Sans Arabic fonts for native layout fidelity.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audio" Target="../media/grindctrl_voiceover_ar.mp3"/><Relationship Id="rId14" Type="http://schemas.microsoft.com/office/2007/relationships/media" Target="../media/grindctrl_voiceover_ar.mp3"/><Relationship Id="rId1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8.png"/><Relationship Id="rId9" Type="http://schemas.openxmlformats.org/officeDocument/2006/relationships/image" Target="../media/image14.png"/><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1.png"/><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3.png"/><Relationship Id="rId14"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457200" y="258762"/>
            <a:ext cx="409575" cy="273050"/>
          </a:xfrm>
          <a:prstGeom prst="rect">
            <a:avLst/>
          </a:prstGeom>
          <a:effectLst/>
        </p:spPr>
      </p:pic>
      <p:sp>
        <p:nvSpPr>
          <p:cNvPr id="3" name="TextBox 2"/>
          <p:cNvSpPr txBox="1"/>
          <p:nvPr/>
        </p:nvSpPr>
        <p:spPr>
          <a:xfrm>
            <a:off x="990600" y="276225"/>
            <a:ext cx="2095500" cy="295275"/>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1" lang="en-US">
                <a:solidFill>
                  <a:srgbClr val="262626"/>
                </a:solidFill>
                <a:latin typeface="Manrope"/>
              </a:rPr>
              <a:t>GRINDCTRL</a:t>
            </a:r>
          </a:p>
        </p:txBody>
      </p:sp>
      <p:sp>
        <p:nvSpPr>
          <p:cNvPr id="4" name="TextBox 3"/>
          <p:cNvSpPr txBox="1"/>
          <p:nvPr/>
        </p:nvSpPr>
        <p:spPr>
          <a:xfrm>
            <a:off x="6572250" y="276225"/>
            <a:ext cx="5162550" cy="28575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The imagined employee experience</a:t>
            </a:r>
          </a:p>
        </p:txBody>
      </p:sp>
      <p:sp>
        <p:nvSpPr>
          <p:cNvPr id="5" name="TextBox 4"/>
          <p:cNvSpPr txBox="1"/>
          <p:nvPr/>
        </p:nvSpPr>
        <p:spPr>
          <a:xfrm>
            <a:off x="457200" y="866775"/>
            <a:ext cx="11277600" cy="619125"/>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62626"/>
                </a:solidFill>
                <a:latin typeface="Manrope"/>
              </a:rPr>
              <a:t>The call, with its history.</a:t>
            </a:r>
          </a:p>
        </p:txBody>
      </p:sp>
      <p:cxnSp>
        <p:nvCxnSpPr>
          <p:cNvPr id="6" name="Connector 5"/>
          <p:cNvCxnSpPr/>
          <p:nvPr/>
        </p:nvCxnSpPr>
        <p:spPr>
          <a:xfrm>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6505575"/>
            <a:ext cx="10287000" cy="22860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en-US">
                <a:solidFill>
                  <a:srgbClr val="68645E"/>
                </a:solidFill>
                <a:latin typeface="Manrope"/>
              </a:rPr>
              <a:t>Concrete · Proposed collaboration · Illustrative UI and fictional records</a:t>
            </a:r>
          </a:p>
        </p:txBody>
      </p:sp>
      <p:sp>
        <p:nvSpPr>
          <p:cNvPr id="8" name="TextBox 7"/>
          <p:cNvSpPr txBox="1"/>
          <p:nvPr/>
        </p:nvSpPr>
        <p:spPr>
          <a:xfrm>
            <a:off x="10953750" y="6505575"/>
            <a:ext cx="781050" cy="238125"/>
          </a:xfrm>
          <a:prstGeom prst="rect">
            <a:avLst/>
          </a:prstGeom>
          <a:noFill/>
          <a:effectLst/>
        </p:spPr>
        <p:txBody>
          <a:bodyPr wrap="square" lIns="0" rIns="0" tIns="0" bIns="0" anchor="t">
            <a:spAutoFit/>
          </a:bodyPr>
          <a:lstStyle/>
          <a:p>
            <a:pPr algn="r" rtl="0">
              <a:lnSpc>
                <a:spcPts val="1260"/>
              </a:lnSpc>
              <a:spcBef>
                <a:spcPts val="0"/>
              </a:spcBef>
              <a:spcAft>
                <a:spcPts val="0"/>
              </a:spcAft>
            </a:pPr>
            <a:r>
              <a:rPr sz="1125" b="0" lang="en-US">
                <a:solidFill>
                  <a:srgbClr val="68645E"/>
                </a:solidFill>
                <a:latin typeface="Manrope"/>
              </a:rPr>
              <a:t>01 / 07</a:t>
            </a:r>
          </a:p>
        </p:txBody>
      </p:sp>
      <p:sp>
        <p:nvSpPr>
          <p:cNvPr id="9" name="Rounded Rectangle 8"/>
          <p:cNvSpPr/>
          <p:nvPr/>
        </p:nvSpPr>
        <p:spPr>
          <a:xfrm>
            <a:off x="457200" y="1724025"/>
            <a:ext cx="3067050" cy="4495800"/>
          </a:xfrm>
          <a:prstGeom prst="roundRect">
            <a:avLst>
              <a:gd name="adj" fmla="val 3726"/>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457200" y="1676400"/>
            <a:ext cx="3067050" cy="4495800"/>
          </a:xfrm>
          <a:prstGeom prst="roundRect">
            <a:avLst>
              <a:gd name="adj" fmla="val 3726"/>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685800" y="1881744"/>
            <a:ext cx="1314450" cy="256062"/>
          </a:xfrm>
          <a:prstGeom prst="rect">
            <a:avLst/>
          </a:prstGeom>
          <a:effectLst/>
        </p:spPr>
      </p:pic>
      <p:sp>
        <p:nvSpPr>
          <p:cNvPr id="12" name="TextBox 11"/>
          <p:cNvSpPr txBox="1"/>
          <p:nvPr/>
        </p:nvSpPr>
        <p:spPr>
          <a:xfrm>
            <a:off x="2171700" y="1885950"/>
            <a:ext cx="1123950" cy="304800"/>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0" lang="en-US">
                <a:solidFill>
                  <a:srgbClr val="68645E"/>
                </a:solidFill>
                <a:latin typeface="Manrope"/>
              </a:rPr>
              <a:t>Call</a:t>
            </a:r>
          </a:p>
        </p:txBody>
      </p:sp>
      <p:cxnSp>
        <p:nvCxnSpPr>
          <p:cNvPr id="13" name="Connector 12"/>
          <p:cNvCxnSpPr/>
          <p:nvPr/>
        </p:nvCxnSpPr>
        <p:spPr>
          <a:xfrm>
            <a:off x="457200" y="2362200"/>
            <a:ext cx="30670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704850" y="2667000"/>
            <a:ext cx="781050" cy="78105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call.png"/>
          <p:cNvPicPr>
            <a:picLocks noChangeAspect="1"/>
          </p:cNvPicPr>
          <p:nvPr/>
        </p:nvPicPr>
        <p:blipFill>
          <a:blip r:embed="rId4"/>
          <a:stretch>
            <a:fillRect/>
          </a:stretch>
        </p:blipFill>
        <p:spPr>
          <a:xfrm>
            <a:off x="914400" y="2876550"/>
            <a:ext cx="361950" cy="361950"/>
          </a:xfrm>
          <a:prstGeom prst="rect">
            <a:avLst/>
          </a:prstGeom>
          <a:effectLst/>
        </p:spPr>
      </p:pic>
      <p:sp>
        <p:nvSpPr>
          <p:cNvPr id="16" name="TextBox 15"/>
          <p:cNvSpPr txBox="1"/>
          <p:nvPr/>
        </p:nvSpPr>
        <p:spPr>
          <a:xfrm>
            <a:off x="704850" y="3686175"/>
            <a:ext cx="2571750" cy="409575"/>
          </a:xfrm>
          <a:prstGeom prst="rect">
            <a:avLst/>
          </a:prstGeom>
          <a:noFill/>
          <a:effectLst/>
        </p:spPr>
        <p:txBody>
          <a:bodyPr wrap="square" lIns="0" rIns="0" tIns="0" bIns="0" anchor="t">
            <a:spAutoFit/>
          </a:bodyPr>
          <a:lstStyle/>
          <a:p>
            <a:pPr algn="l" rtl="0">
              <a:lnSpc>
                <a:spcPts val="2100"/>
              </a:lnSpc>
              <a:spcBef>
                <a:spcPts val="0"/>
              </a:spcBef>
              <a:spcAft>
                <a:spcPts val="0"/>
              </a:spcAft>
            </a:pPr>
            <a:r>
              <a:rPr sz="1875" b="1" lang="en-US">
                <a:solidFill>
                  <a:srgbClr val="262626"/>
                </a:solidFill>
                <a:latin typeface="Manrope"/>
              </a:rPr>
              <a:t>Incoming caller</a:t>
            </a:r>
          </a:p>
        </p:txBody>
      </p:sp>
      <p:sp>
        <p:nvSpPr>
          <p:cNvPr id="17" name="TextBox 16"/>
          <p:cNvSpPr txBox="1"/>
          <p:nvPr/>
        </p:nvSpPr>
        <p:spPr>
          <a:xfrm>
            <a:off x="704850" y="4219575"/>
            <a:ext cx="2571750" cy="409575"/>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1" lang="en-US">
                <a:solidFill>
                  <a:srgbClr val="262626"/>
                </a:solidFill>
                <a:latin typeface="Manrope"/>
              </a:rPr>
              <a:t>+20 ••• 410</a:t>
            </a:r>
          </a:p>
        </p:txBody>
      </p:sp>
      <p:sp>
        <p:nvSpPr>
          <p:cNvPr id="18" name="TextBox 17"/>
          <p:cNvSpPr txBox="1"/>
          <p:nvPr/>
        </p:nvSpPr>
        <p:spPr>
          <a:xfrm>
            <a:off x="704850" y="4695825"/>
            <a:ext cx="2571750"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49654E"/>
                </a:solidFill>
                <a:latin typeface="Manrope"/>
              </a:rPr>
              <a:t>Call active</a:t>
            </a:r>
          </a:p>
        </p:txBody>
      </p:sp>
      <p:sp>
        <p:nvSpPr>
          <p:cNvPr id="19" name="Oval 18"/>
          <p:cNvSpPr/>
          <p:nvPr/>
        </p:nvSpPr>
        <p:spPr>
          <a:xfrm>
            <a:off x="70485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icon-mic.png"/>
          <p:cNvPicPr>
            <a:picLocks noChangeAspect="1"/>
          </p:cNvPicPr>
          <p:nvPr/>
        </p:nvPicPr>
        <p:blipFill>
          <a:blip r:embed="rId5"/>
          <a:stretch>
            <a:fillRect/>
          </a:stretch>
        </p:blipFill>
        <p:spPr>
          <a:xfrm>
            <a:off x="819150" y="5467350"/>
            <a:ext cx="209550" cy="209550"/>
          </a:xfrm>
          <a:prstGeom prst="rect">
            <a:avLst/>
          </a:prstGeom>
          <a:effectLst/>
        </p:spPr>
      </p:pic>
      <p:sp>
        <p:nvSpPr>
          <p:cNvPr id="21" name="Oval 20"/>
          <p:cNvSpPr/>
          <p:nvPr/>
        </p:nvSpPr>
        <p:spPr>
          <a:xfrm>
            <a:off x="133350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icon-pause.png"/>
          <p:cNvPicPr>
            <a:picLocks noChangeAspect="1"/>
          </p:cNvPicPr>
          <p:nvPr/>
        </p:nvPicPr>
        <p:blipFill>
          <a:blip r:embed="rId6"/>
          <a:stretch>
            <a:fillRect/>
          </a:stretch>
        </p:blipFill>
        <p:spPr>
          <a:xfrm>
            <a:off x="1447800" y="5467350"/>
            <a:ext cx="209550" cy="209550"/>
          </a:xfrm>
          <a:prstGeom prst="rect">
            <a:avLst/>
          </a:prstGeom>
          <a:effectLst/>
        </p:spPr>
      </p:pic>
      <p:sp>
        <p:nvSpPr>
          <p:cNvPr id="23" name="Oval 22"/>
          <p:cNvSpPr/>
          <p:nvPr/>
        </p:nvSpPr>
        <p:spPr>
          <a:xfrm>
            <a:off x="196215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con-end.png"/>
          <p:cNvPicPr>
            <a:picLocks noChangeAspect="1"/>
          </p:cNvPicPr>
          <p:nvPr/>
        </p:nvPicPr>
        <p:blipFill>
          <a:blip r:embed="rId7"/>
          <a:stretch>
            <a:fillRect/>
          </a:stretch>
        </p:blipFill>
        <p:spPr>
          <a:xfrm>
            <a:off x="2076450" y="5467350"/>
            <a:ext cx="209550" cy="209550"/>
          </a:xfrm>
          <a:prstGeom prst="rect">
            <a:avLst/>
          </a:prstGeom>
          <a:effectLst/>
        </p:spPr>
      </p:pic>
      <p:sp>
        <p:nvSpPr>
          <p:cNvPr id="25" name="Rounded Rectangle 24"/>
          <p:cNvSpPr/>
          <p:nvPr/>
        </p:nvSpPr>
        <p:spPr>
          <a:xfrm>
            <a:off x="3810000" y="1724025"/>
            <a:ext cx="7924800" cy="4495800"/>
          </a:xfrm>
          <a:prstGeom prst="roundRect">
            <a:avLst>
              <a:gd name="adj" fmla="val 2542"/>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3810000" y="1676400"/>
            <a:ext cx="7924800" cy="4495800"/>
          </a:xfrm>
          <a:prstGeom prst="roundRect">
            <a:avLst>
              <a:gd name="adj" fmla="val 2542"/>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zoho.png"/>
          <p:cNvPicPr>
            <a:picLocks noChangeAspect="1"/>
          </p:cNvPicPr>
          <p:nvPr/>
        </p:nvPicPr>
        <p:blipFill>
          <a:blip r:embed="rId8"/>
          <a:stretch>
            <a:fillRect/>
          </a:stretch>
        </p:blipFill>
        <p:spPr>
          <a:xfrm>
            <a:off x="4045874" y="1857375"/>
            <a:ext cx="709353" cy="304800"/>
          </a:xfrm>
          <a:prstGeom prst="rect">
            <a:avLst/>
          </a:prstGeom>
          <a:effectLst/>
        </p:spPr>
      </p:pic>
      <p:sp>
        <p:nvSpPr>
          <p:cNvPr id="28" name="TextBox 27"/>
          <p:cNvSpPr txBox="1"/>
          <p:nvPr/>
        </p:nvSpPr>
        <p:spPr>
          <a:xfrm>
            <a:off x="4924425" y="1857375"/>
            <a:ext cx="6496050" cy="371475"/>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1" lang="en-US">
                <a:solidFill>
                  <a:srgbClr val="262626"/>
                </a:solidFill>
                <a:latin typeface="Manrope"/>
              </a:rPr>
              <a:t>Zoho Desk · Customer context</a:t>
            </a:r>
          </a:p>
        </p:txBody>
      </p:sp>
      <p:cxnSp>
        <p:nvCxnSpPr>
          <p:cNvPr id="29" name="Connector 28"/>
          <p:cNvCxnSpPr/>
          <p:nvPr/>
        </p:nvCxnSpPr>
        <p:spPr>
          <a:xfrm>
            <a:off x="3810000" y="2362200"/>
            <a:ext cx="79248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30" name="Oval 29"/>
          <p:cNvSpPr/>
          <p:nvPr/>
        </p:nvSpPr>
        <p:spPr>
          <a:xfrm>
            <a:off x="4038600" y="2590800"/>
            <a:ext cx="447675" cy="447675"/>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1" name="Picture 30" descr="icon-actor.png"/>
          <p:cNvPicPr>
            <a:picLocks noChangeAspect="1"/>
          </p:cNvPicPr>
          <p:nvPr/>
        </p:nvPicPr>
        <p:blipFill>
          <a:blip r:embed="rId9"/>
          <a:stretch>
            <a:fillRect/>
          </a:stretch>
        </p:blipFill>
        <p:spPr>
          <a:xfrm>
            <a:off x="4137088" y="2689288"/>
            <a:ext cx="250698" cy="250698"/>
          </a:xfrm>
          <a:prstGeom prst="rect">
            <a:avLst/>
          </a:prstGeom>
          <a:effectLst/>
        </p:spPr>
      </p:pic>
      <p:sp>
        <p:nvSpPr>
          <p:cNvPr id="32" name="TextBox 31"/>
          <p:cNvSpPr txBox="1"/>
          <p:nvPr/>
        </p:nvSpPr>
        <p:spPr>
          <a:xfrm>
            <a:off x="4648200" y="2581275"/>
            <a:ext cx="6667500" cy="381000"/>
          </a:xfrm>
          <a:prstGeom prst="rect">
            <a:avLst/>
          </a:prstGeom>
          <a:noFill/>
          <a:effectLst/>
        </p:spPr>
        <p:txBody>
          <a:bodyPr wrap="square" lIns="0" rIns="0" tIns="0" bIns="0" anchor="t">
            <a:spAutoFit/>
          </a:bodyPr>
          <a:lstStyle/>
          <a:p>
            <a:pPr algn="l" rtl="0">
              <a:lnSpc>
                <a:spcPts val="2268"/>
              </a:lnSpc>
              <a:spcBef>
                <a:spcPts val="0"/>
              </a:spcBef>
              <a:spcAft>
                <a:spcPts val="0"/>
              </a:spcAft>
            </a:pPr>
            <a:r>
              <a:rPr sz="2025" b="1" lang="en-US">
                <a:solidFill>
                  <a:srgbClr val="262626"/>
                </a:solidFill>
                <a:latin typeface="Manrope"/>
              </a:rPr>
              <a:t>Contact A</a:t>
            </a:r>
          </a:p>
        </p:txBody>
      </p:sp>
      <p:sp>
        <p:nvSpPr>
          <p:cNvPr id="33" name="TextBox 32"/>
          <p:cNvSpPr txBox="1"/>
          <p:nvPr/>
        </p:nvSpPr>
        <p:spPr>
          <a:xfrm>
            <a:off x="4648200" y="3038475"/>
            <a:ext cx="2143125" cy="304800"/>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0" lang="en-US">
                <a:solidFill>
                  <a:srgbClr val="68645E"/>
                </a:solidFill>
                <a:latin typeface="Manrope"/>
              </a:rPr>
              <a:t>Associated record</a:t>
            </a:r>
          </a:p>
        </p:txBody>
      </p:sp>
      <p:sp>
        <p:nvSpPr>
          <p:cNvPr id="34" name="TextBox 33"/>
          <p:cNvSpPr txBox="1"/>
          <p:nvPr/>
        </p:nvSpPr>
        <p:spPr>
          <a:xfrm>
            <a:off x="6972300" y="3028950"/>
            <a:ext cx="2524125" cy="314325"/>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68645E"/>
                </a:solidFill>
                <a:latin typeface="Manrope"/>
              </a:rPr>
              <a:t>+20 ••• 410</a:t>
            </a:r>
          </a:p>
        </p:txBody>
      </p:sp>
      <p:cxnSp>
        <p:nvCxnSpPr>
          <p:cNvPr id="35" name="Connector 34"/>
          <p:cNvCxnSpPr/>
          <p:nvPr/>
        </p:nvCxnSpPr>
        <p:spPr>
          <a:xfrm>
            <a:off x="4038600" y="3457575"/>
            <a:ext cx="746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4038600" y="3648075"/>
            <a:ext cx="2314575" cy="342900"/>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1" lang="en-US">
                <a:solidFill>
                  <a:srgbClr val="262626"/>
                </a:solidFill>
                <a:latin typeface="Manrope"/>
              </a:rPr>
              <a:t>Previous tickets</a:t>
            </a:r>
          </a:p>
        </p:txBody>
      </p:sp>
      <p:sp>
        <p:nvSpPr>
          <p:cNvPr id="37" name="Rounded Rectangle 36"/>
          <p:cNvSpPr/>
          <p:nvPr/>
        </p:nvSpPr>
        <p:spPr>
          <a:xfrm>
            <a:off x="3962400" y="4076700"/>
            <a:ext cx="2505075" cy="1152525"/>
          </a:xfrm>
          <a:prstGeom prst="roundRect">
            <a:avLst>
              <a:gd name="adj" fmla="val 6611"/>
            </a:avLst>
          </a:prstGeom>
          <a:solidFill>
            <a:srgbClr val="F4F2EE"/>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8" name="Picture 37" descr="icon-case.png"/>
          <p:cNvPicPr>
            <a:picLocks noChangeAspect="1"/>
          </p:cNvPicPr>
          <p:nvPr/>
        </p:nvPicPr>
        <p:blipFill>
          <a:blip r:embed="rId10"/>
          <a:stretch>
            <a:fillRect/>
          </a:stretch>
        </p:blipFill>
        <p:spPr>
          <a:xfrm>
            <a:off x="4095750" y="4248150"/>
            <a:ext cx="257175" cy="257175"/>
          </a:xfrm>
          <a:prstGeom prst="rect">
            <a:avLst/>
          </a:prstGeom>
          <a:effectLst/>
        </p:spPr>
      </p:pic>
      <p:sp>
        <p:nvSpPr>
          <p:cNvPr id="39" name="TextBox 38"/>
          <p:cNvSpPr txBox="1"/>
          <p:nvPr/>
        </p:nvSpPr>
        <p:spPr>
          <a:xfrm>
            <a:off x="4505325" y="4229100"/>
            <a:ext cx="1752600" cy="323850"/>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1" lang="en-US">
                <a:solidFill>
                  <a:srgbClr val="262626"/>
                </a:solidFill>
                <a:latin typeface="Manrope"/>
              </a:rPr>
              <a:t>T101 · Exchange</a:t>
            </a:r>
          </a:p>
        </p:txBody>
      </p:sp>
      <p:sp>
        <p:nvSpPr>
          <p:cNvPr id="40" name="TextBox 39"/>
          <p:cNvSpPr txBox="1"/>
          <p:nvPr/>
        </p:nvSpPr>
        <p:spPr>
          <a:xfrm>
            <a:off x="4095750" y="4676775"/>
            <a:ext cx="2171700" cy="504825"/>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965318"/>
                </a:solidFill>
                <a:latin typeface="Manrope"/>
              </a:rPr>
              <a:t>Branch review</a:t>
            </a:r>
          </a:p>
          <a:p>
            <a:pPr algn="l" rtl="0">
              <a:lnSpc>
                <a:spcPts val="1680"/>
              </a:lnSpc>
              <a:spcBef>
                <a:spcPts val="0"/>
              </a:spcBef>
              <a:spcAft>
                <a:spcPts val="0"/>
              </a:spcAft>
            </a:pPr>
            <a:r>
              <a:rPr sz="1500" b="0" lang="en-US">
                <a:solidFill>
                  <a:srgbClr val="965318"/>
                </a:solidFill>
                <a:latin typeface="Manrope"/>
              </a:rPr>
              <a:t>pending</a:t>
            </a:r>
          </a:p>
        </p:txBody>
      </p:sp>
      <p:pic>
        <p:nvPicPr>
          <p:cNvPr id="41" name="Picture 40" descr="icon-case.png"/>
          <p:cNvPicPr>
            <a:picLocks noChangeAspect="1"/>
          </p:cNvPicPr>
          <p:nvPr/>
        </p:nvPicPr>
        <p:blipFill>
          <a:blip r:embed="rId10"/>
          <a:stretch>
            <a:fillRect/>
          </a:stretch>
        </p:blipFill>
        <p:spPr>
          <a:xfrm>
            <a:off x="4095750" y="5514975"/>
            <a:ext cx="238125" cy="238125"/>
          </a:xfrm>
          <a:prstGeom prst="rect">
            <a:avLst/>
          </a:prstGeom>
          <a:effectLst/>
        </p:spPr>
      </p:pic>
      <p:sp>
        <p:nvSpPr>
          <p:cNvPr id="42" name="TextBox 41"/>
          <p:cNvSpPr txBox="1"/>
          <p:nvPr/>
        </p:nvSpPr>
        <p:spPr>
          <a:xfrm>
            <a:off x="4505325" y="5448300"/>
            <a:ext cx="1809750" cy="333375"/>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0" lang="en-US">
                <a:solidFill>
                  <a:srgbClr val="262626"/>
                </a:solidFill>
                <a:latin typeface="Manrope"/>
              </a:rPr>
              <a:t>T098 · Size query</a:t>
            </a:r>
          </a:p>
        </p:txBody>
      </p:sp>
      <p:sp>
        <p:nvSpPr>
          <p:cNvPr id="43" name="TextBox 42"/>
          <p:cNvSpPr txBox="1"/>
          <p:nvPr/>
        </p:nvSpPr>
        <p:spPr>
          <a:xfrm>
            <a:off x="4505325" y="5781675"/>
            <a:ext cx="1790700" cy="266700"/>
          </a:xfrm>
          <a:prstGeom prst="rect">
            <a:avLst/>
          </a:prstGeom>
          <a:noFill/>
          <a:effectLst/>
        </p:spPr>
        <p:txBody>
          <a:bodyPr wrap="square" lIns="0" rIns="0" tIns="0" bIns="0" anchor="t">
            <a:spAutoFit/>
          </a:bodyPr>
          <a:lstStyle/>
          <a:p>
            <a:pPr algn="l" rtl="0">
              <a:lnSpc>
                <a:spcPts val="1428"/>
              </a:lnSpc>
              <a:spcBef>
                <a:spcPts val="0"/>
              </a:spcBef>
              <a:spcAft>
                <a:spcPts val="0"/>
              </a:spcAft>
            </a:pPr>
            <a:r>
              <a:rPr sz="1275" b="0" lang="en-US">
                <a:solidFill>
                  <a:srgbClr val="68645E"/>
                </a:solidFill>
                <a:latin typeface="Manrope"/>
              </a:rPr>
              <a:t>Closed</a:t>
            </a:r>
          </a:p>
        </p:txBody>
      </p:sp>
      <p:cxnSp>
        <p:nvCxnSpPr>
          <p:cNvPr id="44" name="Connector 43"/>
          <p:cNvCxnSpPr/>
          <p:nvPr/>
        </p:nvCxnSpPr>
        <p:spPr>
          <a:xfrm>
            <a:off x="6686550" y="3714750"/>
            <a:ext cx="0" cy="847725"/>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45" name="Connector 44"/>
          <p:cNvCxnSpPr/>
          <p:nvPr/>
        </p:nvCxnSpPr>
        <p:spPr>
          <a:xfrm>
            <a:off x="6686550" y="4876800"/>
            <a:ext cx="0" cy="104775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46" name="Connector 45"/>
          <p:cNvCxnSpPr/>
          <p:nvPr/>
        </p:nvCxnSpPr>
        <p:spPr>
          <a:xfrm>
            <a:off x="6543675" y="4724400"/>
            <a:ext cx="304800" cy="0"/>
          </a:xfrm>
          <a:prstGeom prst="line">
            <a:avLst/>
          </a:prstGeom>
          <a:ln w="16192">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7" name="TextBox 46"/>
          <p:cNvSpPr txBox="1"/>
          <p:nvPr/>
        </p:nvSpPr>
        <p:spPr>
          <a:xfrm>
            <a:off x="6934200" y="3629025"/>
            <a:ext cx="4552950" cy="381000"/>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1" lang="en-US">
                <a:solidFill>
                  <a:srgbClr val="262626"/>
                </a:solidFill>
                <a:latin typeface="Manrope"/>
              </a:rPr>
              <a:t>T101 · Exchange follow-up</a:t>
            </a:r>
          </a:p>
        </p:txBody>
      </p:sp>
      <p:pic>
        <p:nvPicPr>
          <p:cNvPr id="48" name="Picture 47" descr="icon-clock.png"/>
          <p:cNvPicPr>
            <a:picLocks noChangeAspect="1"/>
          </p:cNvPicPr>
          <p:nvPr/>
        </p:nvPicPr>
        <p:blipFill>
          <a:blip r:embed="rId11"/>
          <a:stretch>
            <a:fillRect/>
          </a:stretch>
        </p:blipFill>
        <p:spPr>
          <a:xfrm>
            <a:off x="6934200" y="4152900"/>
            <a:ext cx="209550" cy="209550"/>
          </a:xfrm>
          <a:prstGeom prst="rect">
            <a:avLst/>
          </a:prstGeom>
          <a:effectLst/>
        </p:spPr>
      </p:pic>
      <p:sp>
        <p:nvSpPr>
          <p:cNvPr id="49" name="TextBox 48"/>
          <p:cNvSpPr txBox="1"/>
          <p:nvPr/>
        </p:nvSpPr>
        <p:spPr>
          <a:xfrm>
            <a:off x="7258050" y="4133850"/>
            <a:ext cx="4257675" cy="333375"/>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965318"/>
                </a:solidFill>
                <a:latin typeface="Manrope"/>
              </a:rPr>
              <a:t>Waiting on the branch</a:t>
            </a:r>
          </a:p>
        </p:txBody>
      </p:sp>
      <p:sp>
        <p:nvSpPr>
          <p:cNvPr id="50" name="Rounded Rectangle 49"/>
          <p:cNvSpPr/>
          <p:nvPr/>
        </p:nvSpPr>
        <p:spPr>
          <a:xfrm>
            <a:off x="6896100" y="4648200"/>
            <a:ext cx="4610100" cy="1257300"/>
          </a:xfrm>
          <a:prstGeom prst="roundRect">
            <a:avLst>
              <a:gd name="adj" fmla="val 6060"/>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1" name="Picture 50" descr="icon-file.png"/>
          <p:cNvPicPr>
            <a:picLocks noChangeAspect="1"/>
          </p:cNvPicPr>
          <p:nvPr/>
        </p:nvPicPr>
        <p:blipFill>
          <a:blip r:embed="rId12"/>
          <a:stretch>
            <a:fillRect/>
          </a:stretch>
        </p:blipFill>
        <p:spPr>
          <a:xfrm>
            <a:off x="7086600" y="4810125"/>
            <a:ext cx="238125" cy="238125"/>
          </a:xfrm>
          <a:prstGeom prst="rect">
            <a:avLst/>
          </a:prstGeom>
          <a:effectLst/>
        </p:spPr>
      </p:pic>
      <p:sp>
        <p:nvSpPr>
          <p:cNvPr id="52" name="TextBox 51"/>
          <p:cNvSpPr txBox="1"/>
          <p:nvPr/>
        </p:nvSpPr>
        <p:spPr>
          <a:xfrm>
            <a:off x="7448550" y="4791075"/>
            <a:ext cx="4057650" cy="314325"/>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965318"/>
                </a:solidFill>
                <a:latin typeface="Manrope"/>
              </a:rPr>
              <a:t>Latest recorded note</a:t>
            </a:r>
          </a:p>
        </p:txBody>
      </p:sp>
      <p:sp>
        <p:nvSpPr>
          <p:cNvPr id="53" name="TextBox 52"/>
          <p:cNvSpPr txBox="1"/>
          <p:nvPr/>
        </p:nvSpPr>
        <p:spPr>
          <a:xfrm>
            <a:off x="7086600" y="5238750"/>
            <a:ext cx="4191000" cy="628650"/>
          </a:xfrm>
          <a:prstGeom prst="rect">
            <a:avLst/>
          </a:prstGeom>
          <a:noFill/>
          <a:effectLst/>
        </p:spPr>
        <p:txBody>
          <a:bodyPr wrap="square" lIns="0" rIns="0" tIns="0" bIns="0" anchor="t">
            <a:spAutoFit/>
          </a:bodyPr>
          <a:lstStyle/>
          <a:p>
            <a:pPr algn="l" rtl="0">
              <a:lnSpc>
                <a:spcPts val="2268"/>
              </a:lnSpc>
              <a:spcBef>
                <a:spcPts val="0"/>
              </a:spcBef>
              <a:spcAft>
                <a:spcPts val="0"/>
              </a:spcAft>
            </a:pPr>
            <a:r>
              <a:rPr sz="2025" b="1" lang="en-US">
                <a:solidFill>
                  <a:srgbClr val="262626"/>
                </a:solidFill>
                <a:latin typeface="Manrope"/>
              </a:rPr>
              <a:t>Branch review</a:t>
            </a:r>
          </a:p>
          <a:p>
            <a:pPr algn="l" rtl="0">
              <a:lnSpc>
                <a:spcPts val="2268"/>
              </a:lnSpc>
              <a:spcBef>
                <a:spcPts val="0"/>
              </a:spcBef>
              <a:spcAft>
                <a:spcPts val="0"/>
              </a:spcAft>
            </a:pPr>
            <a:r>
              <a:rPr sz="2025" b="1" lang="en-US">
                <a:solidFill>
                  <a:srgbClr val="262626"/>
                </a:solidFill>
                <a:latin typeface="Manrope"/>
              </a:rPr>
              <a:t>is still pending.</a:t>
            </a:r>
          </a:p>
        </p:txBody>
      </p:sp>
      <p:pic>
        <p:nvPicPr>
          <p:cNvPr id="54" name="Original Arabic narration — 137 seconds" descr="icon-mic.png">
            <a:hlinkClick action="ppaction://media" r:id=""/>
          </p:cNvPr>
          <p:cNvPicPr>
            <a:picLocks noChangeAspect="1"/>
          </p:cNvPicPr>
          <p:nvPr>
            <a:audioFile r:link="rId13"/>
            <p:extLst>
              <p:ext uri="{DAA4B4D4-6D71-4841-9C94-3DE7FCFB45AD}">
                <p14:media xmlns:p14="http://schemas.microsoft.com/office/powerpoint/2010/main" r:embed="rId14"/>
              </p:ext>
            </p:extLst>
          </p:nvPr>
        </p:nvPicPr>
        <p:blipFill>
          <a:blip r:embed="rId5"/>
          <a:stretch>
            <a:fillRect/>
          </a:stretch>
        </p:blipFill>
        <p:spPr>
          <a:xfrm>
            <a:off x="10572750" y="6486525"/>
            <a:ext cx="209550" cy="209550"/>
          </a:xfrm>
          <a:prstGeom prst="rect">
            <a:avLst/>
          </a:prstGeom>
        </p:spPr>
      </p:pic>
    </p:spTree>
  </p:cSld>
  <p:clrMapOvr>
    <a:masterClrMapping/>
  </p:clrMapOvr>
  <p:transition spd="med" advClick="0" advTm="16395"/>
  <p:timing>
    <p:tnLst>
      <p:par>
        <p:cTn id="1" dur="indefinite" restart="never" nodeType="tmRoot">
          <p:childTnLst>
            <p:seq concurrent="1" nextAc="seek">
              <p:cTn id="2" dur="indefinite" nodeType="mainSeq">
                <p:childTnLst>
                  <p:par>
                    <p:cTn id="3" fill="hold">
                      <p:stCondLst>
                        <p:cond delay="0"/>
                      </p:stCondLst>
                      <p:childTnLst/>
                    </p:cTn>
                  </p:par>
                </p:childTnLst>
              </p:cTn>
              <p:prevCondLst>
                <p:cond evt="onPrev" delay="0">
                  <p:tgtEl>
                    <p:sldTgt/>
                  </p:tgtEl>
                </p:cond>
              </p:prevCondLst>
              <p:nextCondLst>
                <p:cond evt="onNext" delay="0">
                  <p:tgtEl>
                    <p:sldTgt/>
                  </p:tgtEl>
                </p:cond>
              </p:nextCondLst>
            </p:seq>
            <p:audio isNarration="1">
              <p:cMediaNode vol="100000" numSld="7" showWhenStopped="1">
                <p:cTn id="4" dur="137091" fill="hold" nodeType="withEffect">
                  <p:stCondLst>
                    <p:cond delay="0"/>
                  </p:stCondLst>
                </p:cTn>
                <p:tgtEl>
                  <p:spTgt spid="54"/>
                </p:tgtEl>
              </p:cMediaNode>
            </p:audio>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457200" y="258762"/>
            <a:ext cx="409575" cy="273050"/>
          </a:xfrm>
          <a:prstGeom prst="rect">
            <a:avLst/>
          </a:prstGeom>
          <a:effectLst/>
        </p:spPr>
      </p:pic>
      <p:sp>
        <p:nvSpPr>
          <p:cNvPr id="3" name="TextBox 2"/>
          <p:cNvSpPr txBox="1"/>
          <p:nvPr/>
        </p:nvSpPr>
        <p:spPr>
          <a:xfrm>
            <a:off x="990600" y="276225"/>
            <a:ext cx="2095500" cy="295275"/>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1" lang="en-US">
                <a:solidFill>
                  <a:srgbClr val="262626"/>
                </a:solidFill>
                <a:latin typeface="Manrope"/>
              </a:rPr>
              <a:t>GRINDCTRL</a:t>
            </a:r>
          </a:p>
        </p:txBody>
      </p:sp>
      <p:sp>
        <p:nvSpPr>
          <p:cNvPr id="4" name="TextBox 3"/>
          <p:cNvSpPr txBox="1"/>
          <p:nvPr/>
        </p:nvSpPr>
        <p:spPr>
          <a:xfrm>
            <a:off x="6572250" y="276225"/>
            <a:ext cx="5162550" cy="28575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Reported current workflow</a:t>
            </a:r>
          </a:p>
        </p:txBody>
      </p:sp>
      <p:sp>
        <p:nvSpPr>
          <p:cNvPr id="5" name="TextBox 4"/>
          <p:cNvSpPr txBox="1"/>
          <p:nvPr/>
        </p:nvSpPr>
        <p:spPr>
          <a:xfrm>
            <a:off x="457200" y="866775"/>
            <a:ext cx="11277600" cy="619125"/>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62626"/>
                </a:solidFill>
                <a:latin typeface="Manrope"/>
              </a:rPr>
              <a:t>The history exists. The employee searches for it.</a:t>
            </a:r>
          </a:p>
        </p:txBody>
      </p:sp>
      <p:cxnSp>
        <p:nvCxnSpPr>
          <p:cNvPr id="6" name="Connector 5"/>
          <p:cNvCxnSpPr/>
          <p:nvPr/>
        </p:nvCxnSpPr>
        <p:spPr>
          <a:xfrm>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6505575"/>
            <a:ext cx="10287000" cy="22860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en-US">
                <a:solidFill>
                  <a:srgbClr val="68645E"/>
                </a:solidFill>
                <a:latin typeface="Manrope"/>
              </a:rPr>
              <a:t>Concrete · Proposed collaboration · Illustrative UI and fictional records</a:t>
            </a:r>
          </a:p>
        </p:txBody>
      </p:sp>
      <p:sp>
        <p:nvSpPr>
          <p:cNvPr id="8" name="TextBox 7"/>
          <p:cNvSpPr txBox="1"/>
          <p:nvPr/>
        </p:nvSpPr>
        <p:spPr>
          <a:xfrm>
            <a:off x="10953750" y="6505575"/>
            <a:ext cx="781050" cy="238125"/>
          </a:xfrm>
          <a:prstGeom prst="rect">
            <a:avLst/>
          </a:prstGeom>
          <a:noFill/>
          <a:effectLst/>
        </p:spPr>
        <p:txBody>
          <a:bodyPr wrap="square" lIns="0" rIns="0" tIns="0" bIns="0" anchor="t">
            <a:spAutoFit/>
          </a:bodyPr>
          <a:lstStyle/>
          <a:p>
            <a:pPr algn="r" rtl="0">
              <a:lnSpc>
                <a:spcPts val="1260"/>
              </a:lnSpc>
              <a:spcBef>
                <a:spcPts val="0"/>
              </a:spcBef>
              <a:spcAft>
                <a:spcPts val="0"/>
              </a:spcAft>
            </a:pPr>
            <a:r>
              <a:rPr sz="1125" b="0" lang="en-US">
                <a:solidFill>
                  <a:srgbClr val="68645E"/>
                </a:solidFill>
                <a:latin typeface="Manrope"/>
              </a:rPr>
              <a:t>02 / 07</a:t>
            </a:r>
          </a:p>
        </p:txBody>
      </p:sp>
      <p:sp>
        <p:nvSpPr>
          <p:cNvPr id="9" name="Rounded Rectangle 8"/>
          <p:cNvSpPr/>
          <p:nvPr/>
        </p:nvSpPr>
        <p:spPr>
          <a:xfrm>
            <a:off x="457200" y="1724025"/>
            <a:ext cx="3067050" cy="4495800"/>
          </a:xfrm>
          <a:prstGeom prst="roundRect">
            <a:avLst>
              <a:gd name="adj" fmla="val 3726"/>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457200" y="1676400"/>
            <a:ext cx="3067050" cy="4495800"/>
          </a:xfrm>
          <a:prstGeom prst="roundRect">
            <a:avLst>
              <a:gd name="adj" fmla="val 3726"/>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685800" y="1881744"/>
            <a:ext cx="1314450" cy="256062"/>
          </a:xfrm>
          <a:prstGeom prst="rect">
            <a:avLst/>
          </a:prstGeom>
          <a:effectLst/>
        </p:spPr>
      </p:pic>
      <p:sp>
        <p:nvSpPr>
          <p:cNvPr id="12" name="TextBox 11"/>
          <p:cNvSpPr txBox="1"/>
          <p:nvPr/>
        </p:nvSpPr>
        <p:spPr>
          <a:xfrm>
            <a:off x="2171700" y="1885950"/>
            <a:ext cx="1123950" cy="304800"/>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0" lang="en-US">
                <a:solidFill>
                  <a:srgbClr val="68645E"/>
                </a:solidFill>
                <a:latin typeface="Manrope"/>
              </a:rPr>
              <a:t>Call</a:t>
            </a:r>
          </a:p>
        </p:txBody>
      </p:sp>
      <p:cxnSp>
        <p:nvCxnSpPr>
          <p:cNvPr id="13" name="Connector 12"/>
          <p:cNvCxnSpPr/>
          <p:nvPr/>
        </p:nvCxnSpPr>
        <p:spPr>
          <a:xfrm>
            <a:off x="457200" y="2362200"/>
            <a:ext cx="30670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704850" y="2667000"/>
            <a:ext cx="781050" cy="78105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call.png"/>
          <p:cNvPicPr>
            <a:picLocks noChangeAspect="1"/>
          </p:cNvPicPr>
          <p:nvPr/>
        </p:nvPicPr>
        <p:blipFill>
          <a:blip r:embed="rId4"/>
          <a:stretch>
            <a:fillRect/>
          </a:stretch>
        </p:blipFill>
        <p:spPr>
          <a:xfrm>
            <a:off x="914400" y="2876550"/>
            <a:ext cx="361950" cy="361950"/>
          </a:xfrm>
          <a:prstGeom prst="rect">
            <a:avLst/>
          </a:prstGeom>
          <a:effectLst/>
        </p:spPr>
      </p:pic>
      <p:sp>
        <p:nvSpPr>
          <p:cNvPr id="16" name="TextBox 15"/>
          <p:cNvSpPr txBox="1"/>
          <p:nvPr/>
        </p:nvSpPr>
        <p:spPr>
          <a:xfrm>
            <a:off x="704850" y="3686175"/>
            <a:ext cx="2571750" cy="409575"/>
          </a:xfrm>
          <a:prstGeom prst="rect">
            <a:avLst/>
          </a:prstGeom>
          <a:noFill/>
          <a:effectLst/>
        </p:spPr>
        <p:txBody>
          <a:bodyPr wrap="square" lIns="0" rIns="0" tIns="0" bIns="0" anchor="t">
            <a:spAutoFit/>
          </a:bodyPr>
          <a:lstStyle/>
          <a:p>
            <a:pPr algn="l" rtl="0">
              <a:lnSpc>
                <a:spcPts val="2100"/>
              </a:lnSpc>
              <a:spcBef>
                <a:spcPts val="0"/>
              </a:spcBef>
              <a:spcAft>
                <a:spcPts val="0"/>
              </a:spcAft>
            </a:pPr>
            <a:r>
              <a:rPr sz="1875" b="1" lang="en-US">
                <a:solidFill>
                  <a:srgbClr val="262626"/>
                </a:solidFill>
                <a:latin typeface="Manrope"/>
              </a:rPr>
              <a:t>Incoming caller</a:t>
            </a:r>
          </a:p>
        </p:txBody>
      </p:sp>
      <p:sp>
        <p:nvSpPr>
          <p:cNvPr id="17" name="TextBox 16"/>
          <p:cNvSpPr txBox="1"/>
          <p:nvPr/>
        </p:nvSpPr>
        <p:spPr>
          <a:xfrm>
            <a:off x="704850" y="4219575"/>
            <a:ext cx="2571750" cy="409575"/>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1" lang="en-US">
                <a:solidFill>
                  <a:srgbClr val="262626"/>
                </a:solidFill>
                <a:latin typeface="Manrope"/>
              </a:rPr>
              <a:t>+20 ••• 410</a:t>
            </a:r>
          </a:p>
        </p:txBody>
      </p:sp>
      <p:sp>
        <p:nvSpPr>
          <p:cNvPr id="18" name="TextBox 17"/>
          <p:cNvSpPr txBox="1"/>
          <p:nvPr/>
        </p:nvSpPr>
        <p:spPr>
          <a:xfrm>
            <a:off x="704850" y="4695825"/>
            <a:ext cx="2571750"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49654E"/>
                </a:solidFill>
                <a:latin typeface="Manrope"/>
              </a:rPr>
              <a:t>Call active</a:t>
            </a:r>
          </a:p>
        </p:txBody>
      </p:sp>
      <p:sp>
        <p:nvSpPr>
          <p:cNvPr id="19" name="Oval 18"/>
          <p:cNvSpPr/>
          <p:nvPr/>
        </p:nvSpPr>
        <p:spPr>
          <a:xfrm>
            <a:off x="70485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icon-mic.png"/>
          <p:cNvPicPr>
            <a:picLocks noChangeAspect="1"/>
          </p:cNvPicPr>
          <p:nvPr/>
        </p:nvPicPr>
        <p:blipFill>
          <a:blip r:embed="rId5"/>
          <a:stretch>
            <a:fillRect/>
          </a:stretch>
        </p:blipFill>
        <p:spPr>
          <a:xfrm>
            <a:off x="819150" y="5467350"/>
            <a:ext cx="209550" cy="209550"/>
          </a:xfrm>
          <a:prstGeom prst="rect">
            <a:avLst/>
          </a:prstGeom>
          <a:effectLst/>
        </p:spPr>
      </p:pic>
      <p:sp>
        <p:nvSpPr>
          <p:cNvPr id="21" name="Oval 20"/>
          <p:cNvSpPr/>
          <p:nvPr/>
        </p:nvSpPr>
        <p:spPr>
          <a:xfrm>
            <a:off x="133350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icon-pause.png"/>
          <p:cNvPicPr>
            <a:picLocks noChangeAspect="1"/>
          </p:cNvPicPr>
          <p:nvPr/>
        </p:nvPicPr>
        <p:blipFill>
          <a:blip r:embed="rId6"/>
          <a:stretch>
            <a:fillRect/>
          </a:stretch>
        </p:blipFill>
        <p:spPr>
          <a:xfrm>
            <a:off x="1447800" y="5467350"/>
            <a:ext cx="209550" cy="209550"/>
          </a:xfrm>
          <a:prstGeom prst="rect">
            <a:avLst/>
          </a:prstGeom>
          <a:effectLst/>
        </p:spPr>
      </p:pic>
      <p:sp>
        <p:nvSpPr>
          <p:cNvPr id="23" name="Oval 22"/>
          <p:cNvSpPr/>
          <p:nvPr/>
        </p:nvSpPr>
        <p:spPr>
          <a:xfrm>
            <a:off x="196215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con-end.png"/>
          <p:cNvPicPr>
            <a:picLocks noChangeAspect="1"/>
          </p:cNvPicPr>
          <p:nvPr/>
        </p:nvPicPr>
        <p:blipFill>
          <a:blip r:embed="rId7"/>
          <a:stretch>
            <a:fillRect/>
          </a:stretch>
        </p:blipFill>
        <p:spPr>
          <a:xfrm>
            <a:off x="2076450" y="5467350"/>
            <a:ext cx="209550" cy="209550"/>
          </a:xfrm>
          <a:prstGeom prst="rect">
            <a:avLst/>
          </a:prstGeom>
          <a:effectLst/>
        </p:spPr>
      </p:pic>
      <p:sp>
        <p:nvSpPr>
          <p:cNvPr id="25" name="Rounded Rectangle 24"/>
          <p:cNvSpPr/>
          <p:nvPr/>
        </p:nvSpPr>
        <p:spPr>
          <a:xfrm>
            <a:off x="3810000" y="2028825"/>
            <a:ext cx="7924800" cy="3848100"/>
          </a:xfrm>
          <a:prstGeom prst="roundRect">
            <a:avLst>
              <a:gd name="adj" fmla="val 2970"/>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3810000" y="1981200"/>
            <a:ext cx="7924800" cy="3848100"/>
          </a:xfrm>
          <a:prstGeom prst="roundRect">
            <a:avLst>
              <a:gd name="adj" fmla="val 2970"/>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zoho.png"/>
          <p:cNvPicPr>
            <a:picLocks noChangeAspect="1"/>
          </p:cNvPicPr>
          <p:nvPr/>
        </p:nvPicPr>
        <p:blipFill>
          <a:blip r:embed="rId8"/>
          <a:stretch>
            <a:fillRect/>
          </a:stretch>
        </p:blipFill>
        <p:spPr>
          <a:xfrm>
            <a:off x="4045874" y="2162175"/>
            <a:ext cx="709353" cy="304800"/>
          </a:xfrm>
          <a:prstGeom prst="rect">
            <a:avLst/>
          </a:prstGeom>
          <a:effectLst/>
        </p:spPr>
      </p:pic>
      <p:sp>
        <p:nvSpPr>
          <p:cNvPr id="28" name="TextBox 27"/>
          <p:cNvSpPr txBox="1"/>
          <p:nvPr/>
        </p:nvSpPr>
        <p:spPr>
          <a:xfrm>
            <a:off x="4924425" y="2162175"/>
            <a:ext cx="6496050" cy="371475"/>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1" lang="en-US">
                <a:solidFill>
                  <a:srgbClr val="262626"/>
                </a:solidFill>
                <a:latin typeface="Manrope"/>
              </a:rPr>
              <a:t>Zoho Desk · Ticket search</a:t>
            </a:r>
          </a:p>
        </p:txBody>
      </p:sp>
      <p:cxnSp>
        <p:nvCxnSpPr>
          <p:cNvPr id="29" name="Connector 28"/>
          <p:cNvCxnSpPr/>
          <p:nvPr/>
        </p:nvCxnSpPr>
        <p:spPr>
          <a:xfrm>
            <a:off x="3810000" y="2667000"/>
            <a:ext cx="79248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30" name="Rounded Rectangle 29"/>
          <p:cNvSpPr/>
          <p:nvPr/>
        </p:nvSpPr>
        <p:spPr>
          <a:xfrm>
            <a:off x="4038600" y="2857500"/>
            <a:ext cx="7467600" cy="657225"/>
          </a:xfrm>
          <a:prstGeom prst="roundRect">
            <a:avLst>
              <a:gd name="adj" fmla="val 11594"/>
            </a:avLst>
          </a:prstGeom>
          <a:solidFill>
            <a:srgbClr val="FFFFFF"/>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1" name="Picture 30" descr="icon-search.png"/>
          <p:cNvPicPr>
            <a:picLocks noChangeAspect="1"/>
          </p:cNvPicPr>
          <p:nvPr/>
        </p:nvPicPr>
        <p:blipFill>
          <a:blip r:embed="rId9"/>
          <a:stretch>
            <a:fillRect/>
          </a:stretch>
        </p:blipFill>
        <p:spPr>
          <a:xfrm>
            <a:off x="4229100" y="3057525"/>
            <a:ext cx="266700" cy="266700"/>
          </a:xfrm>
          <a:prstGeom prst="rect">
            <a:avLst/>
          </a:prstGeom>
          <a:effectLst/>
        </p:spPr>
      </p:pic>
      <p:sp>
        <p:nvSpPr>
          <p:cNvPr id="32" name="TextBox 31"/>
          <p:cNvSpPr txBox="1"/>
          <p:nvPr/>
        </p:nvSpPr>
        <p:spPr>
          <a:xfrm>
            <a:off x="4667250" y="3019425"/>
            <a:ext cx="4219575" cy="419100"/>
          </a:xfrm>
          <a:prstGeom prst="rect">
            <a:avLst/>
          </a:prstGeom>
          <a:noFill/>
          <a:effectLst/>
        </p:spPr>
        <p:txBody>
          <a:bodyPr wrap="square" lIns="0" rIns="0" tIns="0" bIns="0" anchor="t">
            <a:spAutoFit/>
          </a:bodyPr>
          <a:lstStyle/>
          <a:p>
            <a:pPr algn="l" rtl="0">
              <a:lnSpc>
                <a:spcPts val="2352"/>
              </a:lnSpc>
              <a:spcBef>
                <a:spcPts val="0"/>
              </a:spcBef>
              <a:spcAft>
                <a:spcPts val="0"/>
              </a:spcAft>
            </a:pPr>
            <a:r>
              <a:rPr sz="2100" b="1" lang="en-US">
                <a:solidFill>
                  <a:srgbClr val="262626"/>
                </a:solidFill>
                <a:latin typeface="Manrope"/>
              </a:rPr>
              <a:t>+20 ••• 410</a:t>
            </a:r>
          </a:p>
        </p:txBody>
      </p:sp>
      <p:sp>
        <p:nvSpPr>
          <p:cNvPr id="33" name="Rounded Rectangle 32"/>
          <p:cNvSpPr/>
          <p:nvPr/>
        </p:nvSpPr>
        <p:spPr>
          <a:xfrm>
            <a:off x="9829800" y="2952750"/>
            <a:ext cx="1533525" cy="466725"/>
          </a:xfrm>
          <a:prstGeom prst="roundRect">
            <a:avLst>
              <a:gd name="adj" fmla="val 12000"/>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9953625" y="3028950"/>
            <a:ext cx="1276350" cy="323850"/>
          </a:xfrm>
          <a:prstGeom prst="rect">
            <a:avLst/>
          </a:prstGeom>
          <a:noFill/>
          <a:effectLst/>
        </p:spPr>
        <p:txBody>
          <a:bodyPr wrap="square" lIns="0" rIns="0" tIns="0" bIns="0" anchor="t">
            <a:spAutoFit/>
          </a:bodyPr>
          <a:lstStyle/>
          <a:p>
            <a:pPr algn="ctr" rtl="0">
              <a:lnSpc>
                <a:spcPts val="1932"/>
              </a:lnSpc>
              <a:spcBef>
                <a:spcPts val="0"/>
              </a:spcBef>
              <a:spcAft>
                <a:spcPts val="0"/>
              </a:spcAft>
            </a:pPr>
            <a:r>
              <a:rPr sz="1725" b="1" lang="en-US">
                <a:solidFill>
                  <a:srgbClr val="262626"/>
                </a:solidFill>
                <a:latin typeface="Manrope"/>
              </a:rPr>
              <a:t>Search</a:t>
            </a:r>
          </a:p>
        </p:txBody>
      </p:sp>
      <p:pic>
        <p:nvPicPr>
          <p:cNvPr id="35" name="Picture 34" descr="icon-pointer.png"/>
          <p:cNvPicPr>
            <a:picLocks noChangeAspect="1"/>
          </p:cNvPicPr>
          <p:nvPr/>
        </p:nvPicPr>
        <p:blipFill>
          <a:blip r:embed="rId10"/>
          <a:stretch>
            <a:fillRect/>
          </a:stretch>
        </p:blipFill>
        <p:spPr>
          <a:xfrm>
            <a:off x="11010900" y="3286125"/>
            <a:ext cx="390525" cy="390525"/>
          </a:xfrm>
          <a:prstGeom prst="rect">
            <a:avLst/>
          </a:prstGeom>
          <a:effectLst/>
        </p:spPr>
      </p:pic>
      <p:cxnSp>
        <p:nvCxnSpPr>
          <p:cNvPr id="36" name="Connector 35"/>
          <p:cNvCxnSpPr/>
          <p:nvPr/>
        </p:nvCxnSpPr>
        <p:spPr>
          <a:xfrm>
            <a:off x="3238500" y="4419600"/>
            <a:ext cx="409575" cy="0"/>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cxnSp>
        <p:nvCxnSpPr>
          <p:cNvPr id="37" name="Connector 36"/>
          <p:cNvCxnSpPr/>
          <p:nvPr/>
        </p:nvCxnSpPr>
        <p:spPr>
          <a:xfrm flipV="1">
            <a:off x="3648075" y="3190875"/>
            <a:ext cx="0" cy="1228725"/>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cxnSp>
        <p:nvCxnSpPr>
          <p:cNvPr id="38" name="Connector 37"/>
          <p:cNvCxnSpPr/>
          <p:nvPr/>
        </p:nvCxnSpPr>
        <p:spPr>
          <a:xfrm>
            <a:off x="3648075" y="3190875"/>
            <a:ext cx="333375"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4038600" y="3752850"/>
            <a:ext cx="7105650" cy="342900"/>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1" lang="en-US">
                <a:solidFill>
                  <a:srgbClr val="262626"/>
                </a:solidFill>
                <a:latin typeface="Manrope"/>
              </a:rPr>
              <a:t>Contact A · Existing ticket</a:t>
            </a:r>
          </a:p>
        </p:txBody>
      </p:sp>
      <p:sp>
        <p:nvSpPr>
          <p:cNvPr id="40" name="Rounded Rectangle 39"/>
          <p:cNvSpPr/>
          <p:nvPr/>
        </p:nvSpPr>
        <p:spPr>
          <a:xfrm>
            <a:off x="4038600" y="4257675"/>
            <a:ext cx="7467600" cy="1285875"/>
          </a:xfrm>
          <a:prstGeom prst="roundRect">
            <a:avLst>
              <a:gd name="adj" fmla="val 5925"/>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1" name="Picture 40" descr="icon-case.png"/>
          <p:cNvPicPr>
            <a:picLocks noChangeAspect="1"/>
          </p:cNvPicPr>
          <p:nvPr/>
        </p:nvPicPr>
        <p:blipFill>
          <a:blip r:embed="rId11"/>
          <a:stretch>
            <a:fillRect/>
          </a:stretch>
        </p:blipFill>
        <p:spPr>
          <a:xfrm>
            <a:off x="4229100" y="4419600"/>
            <a:ext cx="266700" cy="266700"/>
          </a:xfrm>
          <a:prstGeom prst="rect">
            <a:avLst/>
          </a:prstGeom>
          <a:effectLst/>
        </p:spPr>
      </p:pic>
      <p:sp>
        <p:nvSpPr>
          <p:cNvPr id="42" name="TextBox 41"/>
          <p:cNvSpPr txBox="1"/>
          <p:nvPr/>
        </p:nvSpPr>
        <p:spPr>
          <a:xfrm>
            <a:off x="4638675" y="4362450"/>
            <a:ext cx="6467475" cy="400050"/>
          </a:xfrm>
          <a:prstGeom prst="rect">
            <a:avLst/>
          </a:prstGeom>
          <a:noFill/>
          <a:effectLst/>
        </p:spPr>
        <p:txBody>
          <a:bodyPr wrap="square" lIns="0" rIns="0" tIns="0" bIns="0" anchor="t">
            <a:spAutoFit/>
          </a:bodyPr>
          <a:lstStyle/>
          <a:p>
            <a:pPr algn="l" rtl="0">
              <a:lnSpc>
                <a:spcPts val="2184"/>
              </a:lnSpc>
              <a:spcBef>
                <a:spcPts val="0"/>
              </a:spcBef>
              <a:spcAft>
                <a:spcPts val="0"/>
              </a:spcAft>
            </a:pPr>
            <a:r>
              <a:rPr sz="1950" b="1" lang="en-US">
                <a:solidFill>
                  <a:srgbClr val="262626"/>
                </a:solidFill>
                <a:latin typeface="Manrope"/>
              </a:rPr>
              <a:t>T101 · Exchange follow-up</a:t>
            </a:r>
          </a:p>
        </p:txBody>
      </p:sp>
      <p:pic>
        <p:nvPicPr>
          <p:cNvPr id="43" name="Picture 42" descr="icon-clock.png"/>
          <p:cNvPicPr>
            <a:picLocks noChangeAspect="1"/>
          </p:cNvPicPr>
          <p:nvPr/>
        </p:nvPicPr>
        <p:blipFill>
          <a:blip r:embed="rId12"/>
          <a:stretch>
            <a:fillRect/>
          </a:stretch>
        </p:blipFill>
        <p:spPr>
          <a:xfrm>
            <a:off x="4229100" y="4848225"/>
            <a:ext cx="209550" cy="209550"/>
          </a:xfrm>
          <a:prstGeom prst="rect">
            <a:avLst/>
          </a:prstGeom>
          <a:effectLst/>
        </p:spPr>
      </p:pic>
      <p:sp>
        <p:nvSpPr>
          <p:cNvPr id="44" name="TextBox 43"/>
          <p:cNvSpPr txBox="1"/>
          <p:nvPr/>
        </p:nvSpPr>
        <p:spPr>
          <a:xfrm>
            <a:off x="4552950" y="4829175"/>
            <a:ext cx="6572250" cy="333375"/>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965318"/>
                </a:solidFill>
                <a:latin typeface="Manrope"/>
              </a:rPr>
              <a:t>Branch review pending</a:t>
            </a:r>
          </a:p>
        </p:txBody>
      </p:sp>
      <p:sp>
        <p:nvSpPr>
          <p:cNvPr id="45" name="TextBox 44"/>
          <p:cNvSpPr txBox="1"/>
          <p:nvPr/>
        </p:nvSpPr>
        <p:spPr>
          <a:xfrm>
            <a:off x="4229100" y="5229225"/>
            <a:ext cx="6896100" cy="314325"/>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262626"/>
                </a:solidFill>
                <a:latin typeface="Manrope"/>
              </a:rPr>
              <a:t>Latest note: Branch review is still pending.</a:t>
            </a:r>
          </a:p>
        </p:txBody>
      </p:sp>
    </p:spTree>
  </p:cSld>
  <p:clrMapOvr>
    <a:masterClrMapping/>
  </p:clrMapOvr>
  <p:transition spd="med" advClick="0" advTm="17385"/>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8226"/>
                            </p:stCondLst>
                            <p:childTnLst>
                              <p:set>
                                <p:cBhvr>
                                  <p:cTn id="5" dur="1" fill="hold"/>
                                  <p:tgtEl>
                                    <p:spTgt spid="32"/>
                                  </p:tgtEl>
                                  <p:attrNameLst>
                                    <p:attrName>style.visibility</p:attrName>
                                  </p:attrNameLst>
                                </p:cBhvr>
                                <p:to>
                                  <p:strVal val="visible"/>
                                </p:to>
                              </p:set>
                              <p:animEffect transition="in" filter="fade">
                                <p:cBhvr>
                                  <p:cTn id="6" dur="350"/>
                                  <p:tgtEl>
                                    <p:spTgt spid="32"/>
                                  </p:tgtEl>
                                </p:cBhvr>
                              </p:animEffect>
                            </p:childTnLst>
                          </p:cTn>
                        </p:par>
                        <p:par>
                          <p:cTn id="7" presetID="10" presetClass="entr" presetSubtype="0" fill="hold" nodeType="withEffect">
                            <p:stCondLst>
                              <p:cond delay="8226"/>
                            </p:stCondLst>
                            <p:childTnLst>
                              <p:set>
                                <p:cBhvr>
                                  <p:cTn id="8" dur="1" fill="hold"/>
                                  <p:tgtEl>
                                    <p:spTgt spid="33"/>
                                  </p:tgtEl>
                                  <p:attrNameLst>
                                    <p:attrName>style.visibility</p:attrName>
                                  </p:attrNameLst>
                                </p:cBhvr>
                                <p:to>
                                  <p:strVal val="visible"/>
                                </p:to>
                              </p:set>
                              <p:animEffect transition="in" filter="fade">
                                <p:cBhvr>
                                  <p:cTn id="9" dur="350"/>
                                  <p:tgtEl>
                                    <p:spTgt spid="33"/>
                                  </p:tgtEl>
                                </p:cBhvr>
                              </p:animEffect>
                            </p:childTnLst>
                          </p:cTn>
                        </p:par>
                        <p:par>
                          <p:cTn id="10" presetID="10" presetClass="entr" presetSubtype="0" fill="hold" nodeType="withEffect">
                            <p:stCondLst>
                              <p:cond delay="8226"/>
                            </p:stCondLst>
                            <p:childTnLst>
                              <p:set>
                                <p:cBhvr>
                                  <p:cTn id="11" dur="1" fill="hold"/>
                                  <p:tgtEl>
                                    <p:spTgt spid="34"/>
                                  </p:tgtEl>
                                  <p:attrNameLst>
                                    <p:attrName>style.visibility</p:attrName>
                                  </p:attrNameLst>
                                </p:cBhvr>
                                <p:to>
                                  <p:strVal val="visible"/>
                                </p:to>
                              </p:set>
                              <p:animEffect transition="in" filter="fade">
                                <p:cBhvr>
                                  <p:cTn id="12" dur="350"/>
                                  <p:tgtEl>
                                    <p:spTgt spid="34"/>
                                  </p:tgtEl>
                                </p:cBhvr>
                              </p:animEffect>
                            </p:childTnLst>
                          </p:cTn>
                        </p:par>
                        <p:par>
                          <p:cTn id="13" presetID="10" presetClass="entr" presetSubtype="0" fill="hold" nodeType="withEffect">
                            <p:stCondLst>
                              <p:cond delay="8226"/>
                            </p:stCondLst>
                            <p:childTnLst>
                              <p:set>
                                <p:cBhvr>
                                  <p:cTn id="14" dur="1" fill="hold"/>
                                  <p:tgtEl>
                                    <p:spTgt spid="35"/>
                                  </p:tgtEl>
                                  <p:attrNameLst>
                                    <p:attrName>style.visibility</p:attrName>
                                  </p:attrNameLst>
                                </p:cBhvr>
                                <p:to>
                                  <p:strVal val="visible"/>
                                </p:to>
                              </p:set>
                              <p:animEffect transition="in" filter="fade">
                                <p:cBhvr>
                                  <p:cTn id="15" dur="350"/>
                                  <p:tgtEl>
                                    <p:spTgt spid="35"/>
                                  </p:tgtEl>
                                </p:cBhvr>
                              </p:animEffect>
                            </p:childTnLst>
                          </p:cTn>
                        </p:par>
                        <p:par>
                          <p:cTn id="16" presetID="10" presetClass="entr" presetSubtype="0" fill="hold" nodeType="withEffect">
                            <p:stCondLst>
                              <p:cond delay="8226"/>
                            </p:stCondLst>
                            <p:childTnLst>
                              <p:set>
                                <p:cBhvr>
                                  <p:cTn id="17" dur="1" fill="hold"/>
                                  <p:tgtEl>
                                    <p:spTgt spid="36"/>
                                  </p:tgtEl>
                                  <p:attrNameLst>
                                    <p:attrName>style.visibility</p:attrName>
                                  </p:attrNameLst>
                                </p:cBhvr>
                                <p:to>
                                  <p:strVal val="visible"/>
                                </p:to>
                              </p:set>
                              <p:animEffect transition="in" filter="fade">
                                <p:cBhvr>
                                  <p:cTn id="18" dur="350"/>
                                  <p:tgtEl>
                                    <p:spTgt spid="36"/>
                                  </p:tgtEl>
                                </p:cBhvr>
                              </p:animEffect>
                            </p:childTnLst>
                          </p:cTn>
                        </p:par>
                        <p:par>
                          <p:cTn id="19" presetID="10" presetClass="entr" presetSubtype="0" fill="hold" nodeType="withEffect">
                            <p:stCondLst>
                              <p:cond delay="8226"/>
                            </p:stCondLst>
                            <p:childTnLst>
                              <p:set>
                                <p:cBhvr>
                                  <p:cTn id="20" dur="1" fill="hold"/>
                                  <p:tgtEl>
                                    <p:spTgt spid="37"/>
                                  </p:tgtEl>
                                  <p:attrNameLst>
                                    <p:attrName>style.visibility</p:attrName>
                                  </p:attrNameLst>
                                </p:cBhvr>
                                <p:to>
                                  <p:strVal val="visible"/>
                                </p:to>
                              </p:set>
                              <p:animEffect transition="in" filter="fade">
                                <p:cBhvr>
                                  <p:cTn id="21" dur="350"/>
                                  <p:tgtEl>
                                    <p:spTgt spid="37"/>
                                  </p:tgtEl>
                                </p:cBhvr>
                              </p:animEffect>
                            </p:childTnLst>
                          </p:cTn>
                        </p:par>
                        <p:par>
                          <p:cTn id="22" presetID="10" presetClass="entr" presetSubtype="0" fill="hold" nodeType="withEffect">
                            <p:stCondLst>
                              <p:cond delay="8226"/>
                            </p:stCondLst>
                            <p:childTnLst>
                              <p:set>
                                <p:cBhvr>
                                  <p:cTn id="23" dur="1" fill="hold"/>
                                  <p:tgtEl>
                                    <p:spTgt spid="38"/>
                                  </p:tgtEl>
                                  <p:attrNameLst>
                                    <p:attrName>style.visibility</p:attrName>
                                  </p:attrNameLst>
                                </p:cBhvr>
                                <p:to>
                                  <p:strVal val="visible"/>
                                </p:to>
                              </p:set>
                              <p:animEffect transition="in" filter="fade">
                                <p:cBhvr>
                                  <p:cTn id="24" dur="350"/>
                                  <p:tgtEl>
                                    <p:spTgt spid="38"/>
                                  </p:tgtEl>
                                </p:cBhvr>
                              </p:animEffect>
                            </p:childTnLst>
                          </p:cTn>
                        </p:par>
                        <p:par>
                          <p:cTn id="25" presetID="10" presetClass="entr" presetSubtype="0" fill="hold" nodeType="withEffect">
                            <p:stCondLst>
                              <p:cond delay="11713"/>
                            </p:stCondLst>
                            <p:childTnLst>
                              <p:set>
                                <p:cBhvr>
                                  <p:cTn id="26" dur="1" fill="hold"/>
                                  <p:tgtEl>
                                    <p:spTgt spid="39"/>
                                  </p:tgtEl>
                                  <p:attrNameLst>
                                    <p:attrName>style.visibility</p:attrName>
                                  </p:attrNameLst>
                                </p:cBhvr>
                                <p:to>
                                  <p:strVal val="visible"/>
                                </p:to>
                              </p:set>
                              <p:animEffect transition="in" filter="fade">
                                <p:cBhvr>
                                  <p:cTn id="27" dur="350"/>
                                  <p:tgtEl>
                                    <p:spTgt spid="39"/>
                                  </p:tgtEl>
                                </p:cBhvr>
                              </p:animEffect>
                            </p:childTnLst>
                          </p:cTn>
                        </p:par>
                        <p:par>
                          <p:cTn id="28" presetID="10" presetClass="entr" presetSubtype="0" fill="hold" nodeType="withEffect">
                            <p:stCondLst>
                              <p:cond delay="11713"/>
                            </p:stCondLst>
                            <p:childTnLst>
                              <p:set>
                                <p:cBhvr>
                                  <p:cTn id="29" dur="1" fill="hold"/>
                                  <p:tgtEl>
                                    <p:spTgt spid="40"/>
                                  </p:tgtEl>
                                  <p:attrNameLst>
                                    <p:attrName>style.visibility</p:attrName>
                                  </p:attrNameLst>
                                </p:cBhvr>
                                <p:to>
                                  <p:strVal val="visible"/>
                                </p:to>
                              </p:set>
                              <p:animEffect transition="in" filter="fade">
                                <p:cBhvr>
                                  <p:cTn id="30" dur="350"/>
                                  <p:tgtEl>
                                    <p:spTgt spid="40"/>
                                  </p:tgtEl>
                                </p:cBhvr>
                              </p:animEffect>
                            </p:childTnLst>
                          </p:cTn>
                        </p:par>
                        <p:par>
                          <p:cTn id="31" presetID="10" presetClass="entr" presetSubtype="0" fill="hold" nodeType="withEffect">
                            <p:stCondLst>
                              <p:cond delay="11713"/>
                            </p:stCondLst>
                            <p:childTnLst>
                              <p:set>
                                <p:cBhvr>
                                  <p:cTn id="32" dur="1" fill="hold"/>
                                  <p:tgtEl>
                                    <p:spTgt spid="41"/>
                                  </p:tgtEl>
                                  <p:attrNameLst>
                                    <p:attrName>style.visibility</p:attrName>
                                  </p:attrNameLst>
                                </p:cBhvr>
                                <p:to>
                                  <p:strVal val="visible"/>
                                </p:to>
                              </p:set>
                              <p:animEffect transition="in" filter="fade">
                                <p:cBhvr>
                                  <p:cTn id="33" dur="350"/>
                                  <p:tgtEl>
                                    <p:spTgt spid="41"/>
                                  </p:tgtEl>
                                </p:cBhvr>
                              </p:animEffect>
                            </p:childTnLst>
                          </p:cTn>
                        </p:par>
                        <p:par>
                          <p:cTn id="34" presetID="10" presetClass="entr" presetSubtype="0" fill="hold" nodeType="withEffect">
                            <p:stCondLst>
                              <p:cond delay="11713"/>
                            </p:stCondLst>
                            <p:childTnLst>
                              <p:set>
                                <p:cBhvr>
                                  <p:cTn id="35" dur="1" fill="hold"/>
                                  <p:tgtEl>
                                    <p:spTgt spid="42"/>
                                  </p:tgtEl>
                                  <p:attrNameLst>
                                    <p:attrName>style.visibility</p:attrName>
                                  </p:attrNameLst>
                                </p:cBhvr>
                                <p:to>
                                  <p:strVal val="visible"/>
                                </p:to>
                              </p:set>
                              <p:animEffect transition="in" filter="fade">
                                <p:cBhvr>
                                  <p:cTn id="36" dur="350"/>
                                  <p:tgtEl>
                                    <p:spTgt spid="42"/>
                                  </p:tgtEl>
                                </p:cBhvr>
                              </p:animEffect>
                            </p:childTnLst>
                          </p:cTn>
                        </p:par>
                        <p:par>
                          <p:cTn id="37" presetID="10" presetClass="entr" presetSubtype="0" fill="hold" nodeType="withEffect">
                            <p:stCondLst>
                              <p:cond delay="11713"/>
                            </p:stCondLst>
                            <p:childTnLst>
                              <p:set>
                                <p:cBhvr>
                                  <p:cTn id="38" dur="1" fill="hold"/>
                                  <p:tgtEl>
                                    <p:spTgt spid="43"/>
                                  </p:tgtEl>
                                  <p:attrNameLst>
                                    <p:attrName>style.visibility</p:attrName>
                                  </p:attrNameLst>
                                </p:cBhvr>
                                <p:to>
                                  <p:strVal val="visible"/>
                                </p:to>
                              </p:set>
                              <p:animEffect transition="in" filter="fade">
                                <p:cBhvr>
                                  <p:cTn id="39" dur="350"/>
                                  <p:tgtEl>
                                    <p:spTgt spid="43"/>
                                  </p:tgtEl>
                                </p:cBhvr>
                              </p:animEffect>
                            </p:childTnLst>
                          </p:cTn>
                        </p:par>
                        <p:par>
                          <p:cTn id="40" presetID="10" presetClass="entr" presetSubtype="0" fill="hold" nodeType="withEffect">
                            <p:stCondLst>
                              <p:cond delay="11713"/>
                            </p:stCondLst>
                            <p:childTnLst>
                              <p:set>
                                <p:cBhvr>
                                  <p:cTn id="41" dur="1" fill="hold"/>
                                  <p:tgtEl>
                                    <p:spTgt spid="44"/>
                                  </p:tgtEl>
                                  <p:attrNameLst>
                                    <p:attrName>style.visibility</p:attrName>
                                  </p:attrNameLst>
                                </p:cBhvr>
                                <p:to>
                                  <p:strVal val="visible"/>
                                </p:to>
                              </p:set>
                              <p:animEffect transition="in" filter="fade">
                                <p:cBhvr>
                                  <p:cTn id="42" dur="350"/>
                                  <p:tgtEl>
                                    <p:spTgt spid="44"/>
                                  </p:tgtEl>
                                </p:cBhvr>
                              </p:animEffect>
                            </p:childTnLst>
                          </p:cTn>
                        </p:par>
                        <p:par>
                          <p:cTn id="43" presetID="10" presetClass="entr" presetSubtype="0" fill="hold" nodeType="withEffect">
                            <p:stCondLst>
                              <p:cond delay="13241"/>
                            </p:stCondLst>
                            <p:childTnLst>
                              <p:set>
                                <p:cBhvr>
                                  <p:cTn id="44" dur="1" fill="hold"/>
                                  <p:tgtEl>
                                    <p:spTgt spid="45"/>
                                  </p:tgtEl>
                                  <p:attrNameLst>
                                    <p:attrName>style.visibility</p:attrName>
                                  </p:attrNameLst>
                                </p:cBhvr>
                                <p:to>
                                  <p:strVal val="visible"/>
                                </p:to>
                              </p:set>
                              <p:animEffect transition="in" filter="fade">
                                <p:cBhvr>
                                  <p:cTn id="45" dur="350"/>
                                  <p:tgtEl>
                                    <p:spTgt spid="4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457200" y="258762"/>
            <a:ext cx="409575" cy="273050"/>
          </a:xfrm>
          <a:prstGeom prst="rect">
            <a:avLst/>
          </a:prstGeom>
          <a:effectLst/>
        </p:spPr>
      </p:pic>
      <p:sp>
        <p:nvSpPr>
          <p:cNvPr id="3" name="TextBox 2"/>
          <p:cNvSpPr txBox="1"/>
          <p:nvPr/>
        </p:nvSpPr>
        <p:spPr>
          <a:xfrm>
            <a:off x="990600" y="276225"/>
            <a:ext cx="2095500" cy="295275"/>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1" lang="en-US">
                <a:solidFill>
                  <a:srgbClr val="262626"/>
                </a:solidFill>
                <a:latin typeface="Manrope"/>
              </a:rPr>
              <a:t>GRINDCTRL</a:t>
            </a:r>
          </a:p>
        </p:txBody>
      </p:sp>
      <p:sp>
        <p:nvSpPr>
          <p:cNvPr id="4" name="TextBox 3"/>
          <p:cNvSpPr txBox="1"/>
          <p:nvPr/>
        </p:nvSpPr>
        <p:spPr>
          <a:xfrm>
            <a:off x="6572250" y="276225"/>
            <a:ext cx="5162550" cy="28575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Proposed lookup and record choice</a:t>
            </a:r>
          </a:p>
        </p:txBody>
      </p:sp>
      <p:sp>
        <p:nvSpPr>
          <p:cNvPr id="5" name="TextBox 4"/>
          <p:cNvSpPr txBox="1"/>
          <p:nvPr/>
        </p:nvSpPr>
        <p:spPr>
          <a:xfrm>
            <a:off x="457200" y="866775"/>
            <a:ext cx="11277600" cy="619125"/>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62626"/>
                </a:solidFill>
                <a:latin typeface="Manrope"/>
              </a:rPr>
              <a:t>The call stays in view. The context appears beside it.</a:t>
            </a:r>
          </a:p>
        </p:txBody>
      </p:sp>
      <p:cxnSp>
        <p:nvCxnSpPr>
          <p:cNvPr id="6" name="Connector 5"/>
          <p:cNvCxnSpPr/>
          <p:nvPr/>
        </p:nvCxnSpPr>
        <p:spPr>
          <a:xfrm>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6505575"/>
            <a:ext cx="10287000" cy="22860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en-US">
                <a:solidFill>
                  <a:srgbClr val="68645E"/>
                </a:solidFill>
                <a:latin typeface="Manrope"/>
              </a:rPr>
              <a:t>Concrete · Proposed collaboration · Illustrative UI and fictional records</a:t>
            </a:r>
          </a:p>
        </p:txBody>
      </p:sp>
      <p:sp>
        <p:nvSpPr>
          <p:cNvPr id="8" name="TextBox 7"/>
          <p:cNvSpPr txBox="1"/>
          <p:nvPr/>
        </p:nvSpPr>
        <p:spPr>
          <a:xfrm>
            <a:off x="10953750" y="6505575"/>
            <a:ext cx="781050" cy="238125"/>
          </a:xfrm>
          <a:prstGeom prst="rect">
            <a:avLst/>
          </a:prstGeom>
          <a:noFill/>
          <a:effectLst/>
        </p:spPr>
        <p:txBody>
          <a:bodyPr wrap="square" lIns="0" rIns="0" tIns="0" bIns="0" anchor="t">
            <a:spAutoFit/>
          </a:bodyPr>
          <a:lstStyle/>
          <a:p>
            <a:pPr algn="r" rtl="0">
              <a:lnSpc>
                <a:spcPts val="1260"/>
              </a:lnSpc>
              <a:spcBef>
                <a:spcPts val="0"/>
              </a:spcBef>
              <a:spcAft>
                <a:spcPts val="0"/>
              </a:spcAft>
            </a:pPr>
            <a:r>
              <a:rPr sz="1125" b="0" lang="en-US">
                <a:solidFill>
                  <a:srgbClr val="68645E"/>
                </a:solidFill>
                <a:latin typeface="Manrope"/>
              </a:rPr>
              <a:t>03 / 07</a:t>
            </a:r>
          </a:p>
        </p:txBody>
      </p:sp>
      <p:sp>
        <p:nvSpPr>
          <p:cNvPr id="9" name="Rounded Rectangle 8"/>
          <p:cNvSpPr/>
          <p:nvPr/>
        </p:nvSpPr>
        <p:spPr>
          <a:xfrm>
            <a:off x="457200" y="1724025"/>
            <a:ext cx="3067050" cy="4495800"/>
          </a:xfrm>
          <a:prstGeom prst="roundRect">
            <a:avLst>
              <a:gd name="adj" fmla="val 3726"/>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457200" y="1676400"/>
            <a:ext cx="3067050" cy="4495800"/>
          </a:xfrm>
          <a:prstGeom prst="roundRect">
            <a:avLst>
              <a:gd name="adj" fmla="val 3726"/>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685800" y="1881744"/>
            <a:ext cx="1314450" cy="256062"/>
          </a:xfrm>
          <a:prstGeom prst="rect">
            <a:avLst/>
          </a:prstGeom>
          <a:effectLst/>
        </p:spPr>
      </p:pic>
      <p:sp>
        <p:nvSpPr>
          <p:cNvPr id="12" name="TextBox 11"/>
          <p:cNvSpPr txBox="1"/>
          <p:nvPr/>
        </p:nvSpPr>
        <p:spPr>
          <a:xfrm>
            <a:off x="2171700" y="1885950"/>
            <a:ext cx="1123950" cy="304800"/>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0" lang="en-US">
                <a:solidFill>
                  <a:srgbClr val="68645E"/>
                </a:solidFill>
                <a:latin typeface="Manrope"/>
              </a:rPr>
              <a:t>Call</a:t>
            </a:r>
          </a:p>
        </p:txBody>
      </p:sp>
      <p:cxnSp>
        <p:nvCxnSpPr>
          <p:cNvPr id="13" name="Connector 12"/>
          <p:cNvCxnSpPr/>
          <p:nvPr/>
        </p:nvCxnSpPr>
        <p:spPr>
          <a:xfrm>
            <a:off x="457200" y="2362200"/>
            <a:ext cx="30670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704850" y="2667000"/>
            <a:ext cx="781050" cy="78105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call.png"/>
          <p:cNvPicPr>
            <a:picLocks noChangeAspect="1"/>
          </p:cNvPicPr>
          <p:nvPr/>
        </p:nvPicPr>
        <p:blipFill>
          <a:blip r:embed="rId4"/>
          <a:stretch>
            <a:fillRect/>
          </a:stretch>
        </p:blipFill>
        <p:spPr>
          <a:xfrm>
            <a:off x="914400" y="2876550"/>
            <a:ext cx="361950" cy="361950"/>
          </a:xfrm>
          <a:prstGeom prst="rect">
            <a:avLst/>
          </a:prstGeom>
          <a:effectLst/>
        </p:spPr>
      </p:pic>
      <p:sp>
        <p:nvSpPr>
          <p:cNvPr id="16" name="TextBox 15"/>
          <p:cNvSpPr txBox="1"/>
          <p:nvPr/>
        </p:nvSpPr>
        <p:spPr>
          <a:xfrm>
            <a:off x="704850" y="3686175"/>
            <a:ext cx="2571750" cy="409575"/>
          </a:xfrm>
          <a:prstGeom prst="rect">
            <a:avLst/>
          </a:prstGeom>
          <a:noFill/>
          <a:effectLst/>
        </p:spPr>
        <p:txBody>
          <a:bodyPr wrap="square" lIns="0" rIns="0" tIns="0" bIns="0" anchor="t">
            <a:spAutoFit/>
          </a:bodyPr>
          <a:lstStyle/>
          <a:p>
            <a:pPr algn="l" rtl="0">
              <a:lnSpc>
                <a:spcPts val="2100"/>
              </a:lnSpc>
              <a:spcBef>
                <a:spcPts val="0"/>
              </a:spcBef>
              <a:spcAft>
                <a:spcPts val="0"/>
              </a:spcAft>
            </a:pPr>
            <a:r>
              <a:rPr sz="1875" b="1" lang="en-US">
                <a:solidFill>
                  <a:srgbClr val="262626"/>
                </a:solidFill>
                <a:latin typeface="Manrope"/>
              </a:rPr>
              <a:t>Incoming caller</a:t>
            </a:r>
          </a:p>
        </p:txBody>
      </p:sp>
      <p:sp>
        <p:nvSpPr>
          <p:cNvPr id="17" name="TextBox 16"/>
          <p:cNvSpPr txBox="1"/>
          <p:nvPr/>
        </p:nvSpPr>
        <p:spPr>
          <a:xfrm>
            <a:off x="704850" y="4219575"/>
            <a:ext cx="2571750" cy="409575"/>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1" lang="en-US">
                <a:solidFill>
                  <a:srgbClr val="262626"/>
                </a:solidFill>
                <a:latin typeface="Manrope"/>
              </a:rPr>
              <a:t>+20 ••• 410</a:t>
            </a:r>
          </a:p>
        </p:txBody>
      </p:sp>
      <p:sp>
        <p:nvSpPr>
          <p:cNvPr id="18" name="TextBox 17"/>
          <p:cNvSpPr txBox="1"/>
          <p:nvPr/>
        </p:nvSpPr>
        <p:spPr>
          <a:xfrm>
            <a:off x="704850" y="4695825"/>
            <a:ext cx="2571750"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49654E"/>
                </a:solidFill>
                <a:latin typeface="Manrope"/>
              </a:rPr>
              <a:t>Call active</a:t>
            </a:r>
          </a:p>
        </p:txBody>
      </p:sp>
      <p:sp>
        <p:nvSpPr>
          <p:cNvPr id="19" name="Oval 18"/>
          <p:cNvSpPr/>
          <p:nvPr/>
        </p:nvSpPr>
        <p:spPr>
          <a:xfrm>
            <a:off x="70485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icon-mic.png"/>
          <p:cNvPicPr>
            <a:picLocks noChangeAspect="1"/>
          </p:cNvPicPr>
          <p:nvPr/>
        </p:nvPicPr>
        <p:blipFill>
          <a:blip r:embed="rId5"/>
          <a:stretch>
            <a:fillRect/>
          </a:stretch>
        </p:blipFill>
        <p:spPr>
          <a:xfrm>
            <a:off x="819150" y="5467350"/>
            <a:ext cx="209550" cy="209550"/>
          </a:xfrm>
          <a:prstGeom prst="rect">
            <a:avLst/>
          </a:prstGeom>
          <a:effectLst/>
        </p:spPr>
      </p:pic>
      <p:sp>
        <p:nvSpPr>
          <p:cNvPr id="21" name="Oval 20"/>
          <p:cNvSpPr/>
          <p:nvPr/>
        </p:nvSpPr>
        <p:spPr>
          <a:xfrm>
            <a:off x="133350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icon-pause.png"/>
          <p:cNvPicPr>
            <a:picLocks noChangeAspect="1"/>
          </p:cNvPicPr>
          <p:nvPr/>
        </p:nvPicPr>
        <p:blipFill>
          <a:blip r:embed="rId6"/>
          <a:stretch>
            <a:fillRect/>
          </a:stretch>
        </p:blipFill>
        <p:spPr>
          <a:xfrm>
            <a:off x="1447800" y="5467350"/>
            <a:ext cx="209550" cy="209550"/>
          </a:xfrm>
          <a:prstGeom prst="rect">
            <a:avLst/>
          </a:prstGeom>
          <a:effectLst/>
        </p:spPr>
      </p:pic>
      <p:sp>
        <p:nvSpPr>
          <p:cNvPr id="23" name="Oval 22"/>
          <p:cNvSpPr/>
          <p:nvPr/>
        </p:nvSpPr>
        <p:spPr>
          <a:xfrm>
            <a:off x="196215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con-end.png"/>
          <p:cNvPicPr>
            <a:picLocks noChangeAspect="1"/>
          </p:cNvPicPr>
          <p:nvPr/>
        </p:nvPicPr>
        <p:blipFill>
          <a:blip r:embed="rId7"/>
          <a:stretch>
            <a:fillRect/>
          </a:stretch>
        </p:blipFill>
        <p:spPr>
          <a:xfrm>
            <a:off x="2076450" y="5467350"/>
            <a:ext cx="209550" cy="209550"/>
          </a:xfrm>
          <a:prstGeom prst="rect">
            <a:avLst/>
          </a:prstGeom>
          <a:effectLst/>
        </p:spPr>
      </p:pic>
      <p:sp>
        <p:nvSpPr>
          <p:cNvPr id="25" name="Rounded Rectangle 24"/>
          <p:cNvSpPr/>
          <p:nvPr/>
        </p:nvSpPr>
        <p:spPr>
          <a:xfrm>
            <a:off x="3810000" y="1724025"/>
            <a:ext cx="7924800" cy="4495800"/>
          </a:xfrm>
          <a:prstGeom prst="roundRect">
            <a:avLst>
              <a:gd name="adj" fmla="val 2542"/>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3810000" y="1676400"/>
            <a:ext cx="7924800" cy="4495800"/>
          </a:xfrm>
          <a:prstGeom prst="roundRect">
            <a:avLst>
              <a:gd name="adj" fmla="val 2542"/>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zoho.png"/>
          <p:cNvPicPr>
            <a:picLocks noChangeAspect="1"/>
          </p:cNvPicPr>
          <p:nvPr/>
        </p:nvPicPr>
        <p:blipFill>
          <a:blip r:embed="rId8"/>
          <a:stretch>
            <a:fillRect/>
          </a:stretch>
        </p:blipFill>
        <p:spPr>
          <a:xfrm>
            <a:off x="4045874" y="1857375"/>
            <a:ext cx="709353" cy="304800"/>
          </a:xfrm>
          <a:prstGeom prst="rect">
            <a:avLst/>
          </a:prstGeom>
          <a:effectLst/>
        </p:spPr>
      </p:pic>
      <p:sp>
        <p:nvSpPr>
          <p:cNvPr id="28" name="TextBox 27"/>
          <p:cNvSpPr txBox="1"/>
          <p:nvPr/>
        </p:nvSpPr>
        <p:spPr>
          <a:xfrm>
            <a:off x="4924425" y="1857375"/>
            <a:ext cx="6496050" cy="371475"/>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1" lang="en-US">
                <a:solidFill>
                  <a:srgbClr val="262626"/>
                </a:solidFill>
                <a:latin typeface="Manrope"/>
              </a:rPr>
              <a:t>Zoho Desk · Customer context</a:t>
            </a:r>
          </a:p>
        </p:txBody>
      </p:sp>
      <p:cxnSp>
        <p:nvCxnSpPr>
          <p:cNvPr id="29" name="Connector 28"/>
          <p:cNvCxnSpPr/>
          <p:nvPr/>
        </p:nvCxnSpPr>
        <p:spPr>
          <a:xfrm>
            <a:off x="3810000" y="2362200"/>
            <a:ext cx="79248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30" name="Oval 29"/>
          <p:cNvSpPr/>
          <p:nvPr/>
        </p:nvSpPr>
        <p:spPr>
          <a:xfrm>
            <a:off x="4038600" y="2590800"/>
            <a:ext cx="447675" cy="447675"/>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1" name="Picture 30" descr="icon-actor.png"/>
          <p:cNvPicPr>
            <a:picLocks noChangeAspect="1"/>
          </p:cNvPicPr>
          <p:nvPr/>
        </p:nvPicPr>
        <p:blipFill>
          <a:blip r:embed="rId9"/>
          <a:stretch>
            <a:fillRect/>
          </a:stretch>
        </p:blipFill>
        <p:spPr>
          <a:xfrm>
            <a:off x="4137088" y="2689288"/>
            <a:ext cx="250698" cy="250698"/>
          </a:xfrm>
          <a:prstGeom prst="rect">
            <a:avLst/>
          </a:prstGeom>
          <a:effectLst/>
        </p:spPr>
      </p:pic>
      <p:sp>
        <p:nvSpPr>
          <p:cNvPr id="32" name="TextBox 31"/>
          <p:cNvSpPr txBox="1"/>
          <p:nvPr/>
        </p:nvSpPr>
        <p:spPr>
          <a:xfrm>
            <a:off x="4648200" y="2581275"/>
            <a:ext cx="6667500" cy="381000"/>
          </a:xfrm>
          <a:prstGeom prst="rect">
            <a:avLst/>
          </a:prstGeom>
          <a:noFill/>
          <a:effectLst/>
        </p:spPr>
        <p:txBody>
          <a:bodyPr wrap="square" lIns="0" rIns="0" tIns="0" bIns="0" anchor="t">
            <a:spAutoFit/>
          </a:bodyPr>
          <a:lstStyle/>
          <a:p>
            <a:pPr algn="l" rtl="0">
              <a:lnSpc>
                <a:spcPts val="2268"/>
              </a:lnSpc>
              <a:spcBef>
                <a:spcPts val="0"/>
              </a:spcBef>
              <a:spcAft>
                <a:spcPts val="0"/>
              </a:spcAft>
            </a:pPr>
            <a:r>
              <a:rPr sz="2025" b="1" lang="en-US">
                <a:solidFill>
                  <a:srgbClr val="262626"/>
                </a:solidFill>
                <a:latin typeface="Manrope"/>
              </a:rPr>
              <a:t>Contact A</a:t>
            </a:r>
          </a:p>
        </p:txBody>
      </p:sp>
      <p:sp>
        <p:nvSpPr>
          <p:cNvPr id="33" name="TextBox 32"/>
          <p:cNvSpPr txBox="1"/>
          <p:nvPr/>
        </p:nvSpPr>
        <p:spPr>
          <a:xfrm>
            <a:off x="4648200" y="3038475"/>
            <a:ext cx="2143125" cy="304800"/>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0" lang="en-US">
                <a:solidFill>
                  <a:srgbClr val="68645E"/>
                </a:solidFill>
                <a:latin typeface="Manrope"/>
              </a:rPr>
              <a:t>Associated record</a:t>
            </a:r>
          </a:p>
        </p:txBody>
      </p:sp>
      <p:sp>
        <p:nvSpPr>
          <p:cNvPr id="34" name="TextBox 33"/>
          <p:cNvSpPr txBox="1"/>
          <p:nvPr/>
        </p:nvSpPr>
        <p:spPr>
          <a:xfrm>
            <a:off x="6972300" y="3028950"/>
            <a:ext cx="2524125" cy="314325"/>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68645E"/>
                </a:solidFill>
                <a:latin typeface="Manrope"/>
              </a:rPr>
              <a:t>+20 ••• 410</a:t>
            </a:r>
          </a:p>
        </p:txBody>
      </p:sp>
      <p:cxnSp>
        <p:nvCxnSpPr>
          <p:cNvPr id="35" name="Connector 34"/>
          <p:cNvCxnSpPr/>
          <p:nvPr/>
        </p:nvCxnSpPr>
        <p:spPr>
          <a:xfrm>
            <a:off x="4038600" y="3457575"/>
            <a:ext cx="746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4038600" y="3648075"/>
            <a:ext cx="2314575" cy="342900"/>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1" lang="en-US">
                <a:solidFill>
                  <a:srgbClr val="262626"/>
                </a:solidFill>
                <a:latin typeface="Manrope"/>
              </a:rPr>
              <a:t>Previous tickets</a:t>
            </a:r>
          </a:p>
        </p:txBody>
      </p:sp>
      <p:sp>
        <p:nvSpPr>
          <p:cNvPr id="37" name="Rounded Rectangle 36"/>
          <p:cNvSpPr/>
          <p:nvPr/>
        </p:nvSpPr>
        <p:spPr>
          <a:xfrm>
            <a:off x="3962400" y="4076700"/>
            <a:ext cx="2505075" cy="1152525"/>
          </a:xfrm>
          <a:prstGeom prst="roundRect">
            <a:avLst>
              <a:gd name="adj" fmla="val 6611"/>
            </a:avLst>
          </a:prstGeom>
          <a:solidFill>
            <a:srgbClr val="F4F2EE"/>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8" name="Picture 37" descr="icon-case.png"/>
          <p:cNvPicPr>
            <a:picLocks noChangeAspect="1"/>
          </p:cNvPicPr>
          <p:nvPr/>
        </p:nvPicPr>
        <p:blipFill>
          <a:blip r:embed="rId10"/>
          <a:stretch>
            <a:fillRect/>
          </a:stretch>
        </p:blipFill>
        <p:spPr>
          <a:xfrm>
            <a:off x="4095750" y="4248150"/>
            <a:ext cx="257175" cy="257175"/>
          </a:xfrm>
          <a:prstGeom prst="rect">
            <a:avLst/>
          </a:prstGeom>
          <a:effectLst/>
        </p:spPr>
      </p:pic>
      <p:sp>
        <p:nvSpPr>
          <p:cNvPr id="39" name="TextBox 38"/>
          <p:cNvSpPr txBox="1"/>
          <p:nvPr/>
        </p:nvSpPr>
        <p:spPr>
          <a:xfrm>
            <a:off x="4505325" y="4229100"/>
            <a:ext cx="1752600" cy="323850"/>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1" lang="en-US">
                <a:solidFill>
                  <a:srgbClr val="262626"/>
                </a:solidFill>
                <a:latin typeface="Manrope"/>
              </a:rPr>
              <a:t>T101 · Exchange</a:t>
            </a:r>
          </a:p>
        </p:txBody>
      </p:sp>
      <p:sp>
        <p:nvSpPr>
          <p:cNvPr id="40" name="TextBox 39"/>
          <p:cNvSpPr txBox="1"/>
          <p:nvPr/>
        </p:nvSpPr>
        <p:spPr>
          <a:xfrm>
            <a:off x="4095750" y="4676775"/>
            <a:ext cx="2171700" cy="504825"/>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965318"/>
                </a:solidFill>
                <a:latin typeface="Manrope"/>
              </a:rPr>
              <a:t>Branch review</a:t>
            </a:r>
          </a:p>
          <a:p>
            <a:pPr algn="l" rtl="0">
              <a:lnSpc>
                <a:spcPts val="1680"/>
              </a:lnSpc>
              <a:spcBef>
                <a:spcPts val="0"/>
              </a:spcBef>
              <a:spcAft>
                <a:spcPts val="0"/>
              </a:spcAft>
            </a:pPr>
            <a:r>
              <a:rPr sz="1500" b="0" lang="en-US">
                <a:solidFill>
                  <a:srgbClr val="965318"/>
                </a:solidFill>
                <a:latin typeface="Manrope"/>
              </a:rPr>
              <a:t>pending</a:t>
            </a:r>
          </a:p>
        </p:txBody>
      </p:sp>
      <p:pic>
        <p:nvPicPr>
          <p:cNvPr id="41" name="Picture 40" descr="icon-case.png"/>
          <p:cNvPicPr>
            <a:picLocks noChangeAspect="1"/>
          </p:cNvPicPr>
          <p:nvPr/>
        </p:nvPicPr>
        <p:blipFill>
          <a:blip r:embed="rId10"/>
          <a:stretch>
            <a:fillRect/>
          </a:stretch>
        </p:blipFill>
        <p:spPr>
          <a:xfrm>
            <a:off x="4095750" y="5514975"/>
            <a:ext cx="238125" cy="238125"/>
          </a:xfrm>
          <a:prstGeom prst="rect">
            <a:avLst/>
          </a:prstGeom>
          <a:effectLst/>
        </p:spPr>
      </p:pic>
      <p:sp>
        <p:nvSpPr>
          <p:cNvPr id="42" name="TextBox 41"/>
          <p:cNvSpPr txBox="1"/>
          <p:nvPr/>
        </p:nvSpPr>
        <p:spPr>
          <a:xfrm>
            <a:off x="4505325" y="5448300"/>
            <a:ext cx="1809750" cy="333375"/>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0" lang="en-US">
                <a:solidFill>
                  <a:srgbClr val="262626"/>
                </a:solidFill>
                <a:latin typeface="Manrope"/>
              </a:rPr>
              <a:t>T098 · Size query</a:t>
            </a:r>
          </a:p>
        </p:txBody>
      </p:sp>
      <p:sp>
        <p:nvSpPr>
          <p:cNvPr id="43" name="TextBox 42"/>
          <p:cNvSpPr txBox="1"/>
          <p:nvPr/>
        </p:nvSpPr>
        <p:spPr>
          <a:xfrm>
            <a:off x="4505325" y="5781675"/>
            <a:ext cx="1790700" cy="266700"/>
          </a:xfrm>
          <a:prstGeom prst="rect">
            <a:avLst/>
          </a:prstGeom>
          <a:noFill/>
          <a:effectLst/>
        </p:spPr>
        <p:txBody>
          <a:bodyPr wrap="square" lIns="0" rIns="0" tIns="0" bIns="0" anchor="t">
            <a:spAutoFit/>
          </a:bodyPr>
          <a:lstStyle/>
          <a:p>
            <a:pPr algn="l" rtl="0">
              <a:lnSpc>
                <a:spcPts val="1428"/>
              </a:lnSpc>
              <a:spcBef>
                <a:spcPts val="0"/>
              </a:spcBef>
              <a:spcAft>
                <a:spcPts val="0"/>
              </a:spcAft>
            </a:pPr>
            <a:r>
              <a:rPr sz="1275" b="0" lang="en-US">
                <a:solidFill>
                  <a:srgbClr val="68645E"/>
                </a:solidFill>
                <a:latin typeface="Manrope"/>
              </a:rPr>
              <a:t>Closed</a:t>
            </a:r>
          </a:p>
        </p:txBody>
      </p:sp>
      <p:cxnSp>
        <p:nvCxnSpPr>
          <p:cNvPr id="44" name="Connector 43"/>
          <p:cNvCxnSpPr/>
          <p:nvPr/>
        </p:nvCxnSpPr>
        <p:spPr>
          <a:xfrm>
            <a:off x="6686550" y="3714750"/>
            <a:ext cx="0" cy="847725"/>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45" name="Connector 44"/>
          <p:cNvCxnSpPr/>
          <p:nvPr/>
        </p:nvCxnSpPr>
        <p:spPr>
          <a:xfrm>
            <a:off x="6686550" y="4876800"/>
            <a:ext cx="0" cy="104775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46" name="Connector 45"/>
          <p:cNvCxnSpPr/>
          <p:nvPr/>
        </p:nvCxnSpPr>
        <p:spPr>
          <a:xfrm>
            <a:off x="6543675" y="4724400"/>
            <a:ext cx="304800" cy="0"/>
          </a:xfrm>
          <a:prstGeom prst="line">
            <a:avLst/>
          </a:prstGeom>
          <a:ln w="16192">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7" name="TextBox 46"/>
          <p:cNvSpPr txBox="1"/>
          <p:nvPr/>
        </p:nvSpPr>
        <p:spPr>
          <a:xfrm>
            <a:off x="6934200" y="3629025"/>
            <a:ext cx="4552950" cy="381000"/>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1" lang="en-US">
                <a:solidFill>
                  <a:srgbClr val="262626"/>
                </a:solidFill>
                <a:latin typeface="Manrope"/>
              </a:rPr>
              <a:t>T101 · Exchange follow-up</a:t>
            </a:r>
          </a:p>
        </p:txBody>
      </p:sp>
      <p:pic>
        <p:nvPicPr>
          <p:cNvPr id="48" name="Picture 47" descr="icon-clock.png"/>
          <p:cNvPicPr>
            <a:picLocks noChangeAspect="1"/>
          </p:cNvPicPr>
          <p:nvPr/>
        </p:nvPicPr>
        <p:blipFill>
          <a:blip r:embed="rId11"/>
          <a:stretch>
            <a:fillRect/>
          </a:stretch>
        </p:blipFill>
        <p:spPr>
          <a:xfrm>
            <a:off x="6934200" y="4152900"/>
            <a:ext cx="209550" cy="209550"/>
          </a:xfrm>
          <a:prstGeom prst="rect">
            <a:avLst/>
          </a:prstGeom>
          <a:effectLst/>
        </p:spPr>
      </p:pic>
      <p:sp>
        <p:nvSpPr>
          <p:cNvPr id="49" name="TextBox 48"/>
          <p:cNvSpPr txBox="1"/>
          <p:nvPr/>
        </p:nvSpPr>
        <p:spPr>
          <a:xfrm>
            <a:off x="7258050" y="4133850"/>
            <a:ext cx="4257675" cy="333375"/>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965318"/>
                </a:solidFill>
                <a:latin typeface="Manrope"/>
              </a:rPr>
              <a:t>Waiting on the branch</a:t>
            </a:r>
          </a:p>
        </p:txBody>
      </p:sp>
      <p:sp>
        <p:nvSpPr>
          <p:cNvPr id="50" name="Rounded Rectangle 49"/>
          <p:cNvSpPr/>
          <p:nvPr/>
        </p:nvSpPr>
        <p:spPr>
          <a:xfrm>
            <a:off x="6896100" y="4648200"/>
            <a:ext cx="4610100" cy="1257300"/>
          </a:xfrm>
          <a:prstGeom prst="roundRect">
            <a:avLst>
              <a:gd name="adj" fmla="val 6060"/>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1" name="Picture 50" descr="icon-file.png"/>
          <p:cNvPicPr>
            <a:picLocks noChangeAspect="1"/>
          </p:cNvPicPr>
          <p:nvPr/>
        </p:nvPicPr>
        <p:blipFill>
          <a:blip r:embed="rId12"/>
          <a:stretch>
            <a:fillRect/>
          </a:stretch>
        </p:blipFill>
        <p:spPr>
          <a:xfrm>
            <a:off x="7086600" y="4810125"/>
            <a:ext cx="238125" cy="238125"/>
          </a:xfrm>
          <a:prstGeom prst="rect">
            <a:avLst/>
          </a:prstGeom>
          <a:effectLst/>
        </p:spPr>
      </p:pic>
      <p:sp>
        <p:nvSpPr>
          <p:cNvPr id="52" name="TextBox 51"/>
          <p:cNvSpPr txBox="1"/>
          <p:nvPr/>
        </p:nvSpPr>
        <p:spPr>
          <a:xfrm>
            <a:off x="7448550" y="4791075"/>
            <a:ext cx="4057650" cy="314325"/>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965318"/>
                </a:solidFill>
                <a:latin typeface="Manrope"/>
              </a:rPr>
              <a:t>Latest recorded note</a:t>
            </a:r>
          </a:p>
        </p:txBody>
      </p:sp>
      <p:sp>
        <p:nvSpPr>
          <p:cNvPr id="53" name="TextBox 52"/>
          <p:cNvSpPr txBox="1"/>
          <p:nvPr/>
        </p:nvSpPr>
        <p:spPr>
          <a:xfrm>
            <a:off x="7086600" y="5238750"/>
            <a:ext cx="4191000" cy="628650"/>
          </a:xfrm>
          <a:prstGeom prst="rect">
            <a:avLst/>
          </a:prstGeom>
          <a:noFill/>
          <a:effectLst/>
        </p:spPr>
        <p:txBody>
          <a:bodyPr wrap="square" lIns="0" rIns="0" tIns="0" bIns="0" anchor="t">
            <a:spAutoFit/>
          </a:bodyPr>
          <a:lstStyle/>
          <a:p>
            <a:pPr algn="l" rtl="0">
              <a:lnSpc>
                <a:spcPts val="2268"/>
              </a:lnSpc>
              <a:spcBef>
                <a:spcPts val="0"/>
              </a:spcBef>
              <a:spcAft>
                <a:spcPts val="0"/>
              </a:spcAft>
            </a:pPr>
            <a:r>
              <a:rPr sz="2025" b="1" lang="en-US">
                <a:solidFill>
                  <a:srgbClr val="262626"/>
                </a:solidFill>
                <a:latin typeface="Manrope"/>
              </a:rPr>
              <a:t>Branch review</a:t>
            </a:r>
          </a:p>
          <a:p>
            <a:pPr algn="l" rtl="0">
              <a:lnSpc>
                <a:spcPts val="2268"/>
              </a:lnSpc>
              <a:spcBef>
                <a:spcPts val="0"/>
              </a:spcBef>
              <a:spcAft>
                <a:spcPts val="0"/>
              </a:spcAft>
            </a:pPr>
            <a:r>
              <a:rPr sz="2025" b="1" lang="en-US">
                <a:solidFill>
                  <a:srgbClr val="262626"/>
                </a:solidFill>
                <a:latin typeface="Manrope"/>
              </a:rPr>
              <a:t>is still pending.</a:t>
            </a:r>
          </a:p>
        </p:txBody>
      </p:sp>
      <p:cxnSp>
        <p:nvCxnSpPr>
          <p:cNvPr id="54" name="Connector 53"/>
          <p:cNvCxnSpPr/>
          <p:nvPr/>
        </p:nvCxnSpPr>
        <p:spPr>
          <a:xfrm>
            <a:off x="3371850" y="4419600"/>
            <a:ext cx="361950"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Tree>
  </p:cSld>
  <p:clrMapOvr>
    <a:masterClrMapping/>
  </p:clrMapOvr>
  <p:transition spd="med" advClick="0" advTm="18766"/>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1531"/>
                            </p:stCondLst>
                            <p:childTnLst>
                              <p:set>
                                <p:cBhvr>
                                  <p:cTn id="5" dur="1" fill="hold"/>
                                  <p:tgtEl>
                                    <p:spTgt spid="14"/>
                                  </p:tgtEl>
                                  <p:attrNameLst>
                                    <p:attrName>style.visibility</p:attrName>
                                  </p:attrNameLst>
                                </p:cBhvr>
                                <p:to>
                                  <p:strVal val="visible"/>
                                </p:to>
                              </p:set>
                              <p:animEffect transition="in" filter="fade">
                                <p:cBhvr>
                                  <p:cTn id="6" dur="350"/>
                                  <p:tgtEl>
                                    <p:spTgt spid="14"/>
                                  </p:tgtEl>
                                </p:cBhvr>
                              </p:animEffect>
                            </p:childTnLst>
                          </p:cTn>
                        </p:par>
                        <p:par>
                          <p:cTn id="7" presetID="10" presetClass="entr" presetSubtype="0" fill="hold" nodeType="withEffect">
                            <p:stCondLst>
                              <p:cond delay="1531"/>
                            </p:stCondLst>
                            <p:childTnLst>
                              <p:set>
                                <p:cBhvr>
                                  <p:cTn id="8" dur="1" fill="hold"/>
                                  <p:tgtEl>
                                    <p:spTgt spid="15"/>
                                  </p:tgtEl>
                                  <p:attrNameLst>
                                    <p:attrName>style.visibility</p:attrName>
                                  </p:attrNameLst>
                                </p:cBhvr>
                                <p:to>
                                  <p:strVal val="visible"/>
                                </p:to>
                              </p:set>
                              <p:animEffect transition="in" filter="fade">
                                <p:cBhvr>
                                  <p:cTn id="9" dur="350"/>
                                  <p:tgtEl>
                                    <p:spTgt spid="15"/>
                                  </p:tgtEl>
                                </p:cBhvr>
                              </p:animEffect>
                            </p:childTnLst>
                          </p:cTn>
                        </p:par>
                        <p:par>
                          <p:cTn id="10" presetID="10" presetClass="entr" presetSubtype="0" fill="hold" nodeType="withEffect">
                            <p:stCondLst>
                              <p:cond delay="1531"/>
                            </p:stCondLst>
                            <p:childTnLst>
                              <p:set>
                                <p:cBhvr>
                                  <p:cTn id="11" dur="1" fill="hold"/>
                                  <p:tgtEl>
                                    <p:spTgt spid="16"/>
                                  </p:tgtEl>
                                  <p:attrNameLst>
                                    <p:attrName>style.visibility</p:attrName>
                                  </p:attrNameLst>
                                </p:cBhvr>
                                <p:to>
                                  <p:strVal val="visible"/>
                                </p:to>
                              </p:set>
                              <p:animEffect transition="in" filter="fade">
                                <p:cBhvr>
                                  <p:cTn id="12" dur="350"/>
                                  <p:tgtEl>
                                    <p:spTgt spid="16"/>
                                  </p:tgtEl>
                                </p:cBhvr>
                              </p:animEffect>
                            </p:childTnLst>
                          </p:cTn>
                        </p:par>
                        <p:par>
                          <p:cTn id="13" presetID="10" presetClass="entr" presetSubtype="0" fill="hold" nodeType="withEffect">
                            <p:stCondLst>
                              <p:cond delay="1531"/>
                            </p:stCondLst>
                            <p:childTnLst>
                              <p:set>
                                <p:cBhvr>
                                  <p:cTn id="14" dur="1" fill="hold"/>
                                  <p:tgtEl>
                                    <p:spTgt spid="17"/>
                                  </p:tgtEl>
                                  <p:attrNameLst>
                                    <p:attrName>style.visibility</p:attrName>
                                  </p:attrNameLst>
                                </p:cBhvr>
                                <p:to>
                                  <p:strVal val="visible"/>
                                </p:to>
                              </p:set>
                              <p:animEffect transition="in" filter="fade">
                                <p:cBhvr>
                                  <p:cTn id="15" dur="350"/>
                                  <p:tgtEl>
                                    <p:spTgt spid="17"/>
                                  </p:tgtEl>
                                </p:cBhvr>
                              </p:animEffect>
                            </p:childTnLst>
                          </p:cTn>
                        </p:par>
                        <p:par>
                          <p:cTn id="16" presetID="10" presetClass="entr" presetSubtype="0" fill="hold" nodeType="withEffect">
                            <p:stCondLst>
                              <p:cond delay="1531"/>
                            </p:stCondLst>
                            <p:childTnLst>
                              <p:set>
                                <p:cBhvr>
                                  <p:cTn id="17" dur="1" fill="hold"/>
                                  <p:tgtEl>
                                    <p:spTgt spid="18"/>
                                  </p:tgtEl>
                                  <p:attrNameLst>
                                    <p:attrName>style.visibility</p:attrName>
                                  </p:attrNameLst>
                                </p:cBhvr>
                                <p:to>
                                  <p:strVal val="visible"/>
                                </p:to>
                              </p:set>
                              <p:animEffect transition="in" filter="fade">
                                <p:cBhvr>
                                  <p:cTn id="18" dur="350"/>
                                  <p:tgtEl>
                                    <p:spTgt spid="18"/>
                                  </p:tgtEl>
                                </p:cBhvr>
                              </p:animEffect>
                            </p:childTnLst>
                          </p:cTn>
                        </p:par>
                        <p:par>
                          <p:cTn id="19" presetID="10" presetClass="entr" presetSubtype="0" fill="hold" nodeType="withEffect">
                            <p:stCondLst>
                              <p:cond delay="1531"/>
                            </p:stCondLst>
                            <p:childTnLst>
                              <p:set>
                                <p:cBhvr>
                                  <p:cTn id="20" dur="1" fill="hold"/>
                                  <p:tgtEl>
                                    <p:spTgt spid="19"/>
                                  </p:tgtEl>
                                  <p:attrNameLst>
                                    <p:attrName>style.visibility</p:attrName>
                                  </p:attrNameLst>
                                </p:cBhvr>
                                <p:to>
                                  <p:strVal val="visible"/>
                                </p:to>
                              </p:set>
                              <p:animEffect transition="in" filter="fade">
                                <p:cBhvr>
                                  <p:cTn id="21" dur="350"/>
                                  <p:tgtEl>
                                    <p:spTgt spid="19"/>
                                  </p:tgtEl>
                                </p:cBhvr>
                              </p:animEffect>
                            </p:childTnLst>
                          </p:cTn>
                        </p:par>
                        <p:par>
                          <p:cTn id="22" presetID="10" presetClass="entr" presetSubtype="0" fill="hold" nodeType="withEffect">
                            <p:stCondLst>
                              <p:cond delay="1531"/>
                            </p:stCondLst>
                            <p:childTnLst>
                              <p:set>
                                <p:cBhvr>
                                  <p:cTn id="23" dur="1" fill="hold"/>
                                  <p:tgtEl>
                                    <p:spTgt spid="20"/>
                                  </p:tgtEl>
                                  <p:attrNameLst>
                                    <p:attrName>style.visibility</p:attrName>
                                  </p:attrNameLst>
                                </p:cBhvr>
                                <p:to>
                                  <p:strVal val="visible"/>
                                </p:to>
                              </p:set>
                              <p:animEffect transition="in" filter="fade">
                                <p:cBhvr>
                                  <p:cTn id="24" dur="350"/>
                                  <p:tgtEl>
                                    <p:spTgt spid="20"/>
                                  </p:tgtEl>
                                </p:cBhvr>
                              </p:animEffect>
                            </p:childTnLst>
                          </p:cTn>
                        </p:par>
                        <p:par>
                          <p:cTn id="25" presetID="10" presetClass="entr" presetSubtype="0" fill="hold" nodeType="withEffect">
                            <p:stCondLst>
                              <p:cond delay="1531"/>
                            </p:stCondLst>
                            <p:childTnLst>
                              <p:set>
                                <p:cBhvr>
                                  <p:cTn id="26" dur="1" fill="hold"/>
                                  <p:tgtEl>
                                    <p:spTgt spid="21"/>
                                  </p:tgtEl>
                                  <p:attrNameLst>
                                    <p:attrName>style.visibility</p:attrName>
                                  </p:attrNameLst>
                                </p:cBhvr>
                                <p:to>
                                  <p:strVal val="visible"/>
                                </p:to>
                              </p:set>
                              <p:animEffect transition="in" filter="fade">
                                <p:cBhvr>
                                  <p:cTn id="27" dur="350"/>
                                  <p:tgtEl>
                                    <p:spTgt spid="21"/>
                                  </p:tgtEl>
                                </p:cBhvr>
                              </p:animEffect>
                            </p:childTnLst>
                          </p:cTn>
                        </p:par>
                        <p:par>
                          <p:cTn id="28" presetID="10" presetClass="entr" presetSubtype="0" fill="hold" nodeType="withEffect">
                            <p:stCondLst>
                              <p:cond delay="1531"/>
                            </p:stCondLst>
                            <p:childTnLst>
                              <p:set>
                                <p:cBhvr>
                                  <p:cTn id="29" dur="1" fill="hold"/>
                                  <p:tgtEl>
                                    <p:spTgt spid="22"/>
                                  </p:tgtEl>
                                  <p:attrNameLst>
                                    <p:attrName>style.visibility</p:attrName>
                                  </p:attrNameLst>
                                </p:cBhvr>
                                <p:to>
                                  <p:strVal val="visible"/>
                                </p:to>
                              </p:set>
                              <p:animEffect transition="in" filter="fade">
                                <p:cBhvr>
                                  <p:cTn id="30" dur="350"/>
                                  <p:tgtEl>
                                    <p:spTgt spid="22"/>
                                  </p:tgtEl>
                                </p:cBhvr>
                              </p:animEffect>
                            </p:childTnLst>
                          </p:cTn>
                        </p:par>
                        <p:par>
                          <p:cTn id="31" presetID="10" presetClass="entr" presetSubtype="0" fill="hold" nodeType="withEffect">
                            <p:stCondLst>
                              <p:cond delay="1531"/>
                            </p:stCondLst>
                            <p:childTnLst>
                              <p:set>
                                <p:cBhvr>
                                  <p:cTn id="32" dur="1" fill="hold"/>
                                  <p:tgtEl>
                                    <p:spTgt spid="23"/>
                                  </p:tgtEl>
                                  <p:attrNameLst>
                                    <p:attrName>style.visibility</p:attrName>
                                  </p:attrNameLst>
                                </p:cBhvr>
                                <p:to>
                                  <p:strVal val="visible"/>
                                </p:to>
                              </p:set>
                              <p:animEffect transition="in" filter="fade">
                                <p:cBhvr>
                                  <p:cTn id="33" dur="350"/>
                                  <p:tgtEl>
                                    <p:spTgt spid="23"/>
                                  </p:tgtEl>
                                </p:cBhvr>
                              </p:animEffect>
                            </p:childTnLst>
                          </p:cTn>
                        </p:par>
                        <p:par>
                          <p:cTn id="34" presetID="10" presetClass="entr" presetSubtype="0" fill="hold" nodeType="withEffect">
                            <p:stCondLst>
                              <p:cond delay="1531"/>
                            </p:stCondLst>
                            <p:childTnLst>
                              <p:set>
                                <p:cBhvr>
                                  <p:cTn id="35" dur="1" fill="hold"/>
                                  <p:tgtEl>
                                    <p:spTgt spid="24"/>
                                  </p:tgtEl>
                                  <p:attrNameLst>
                                    <p:attrName>style.visibility</p:attrName>
                                  </p:attrNameLst>
                                </p:cBhvr>
                                <p:to>
                                  <p:strVal val="visible"/>
                                </p:to>
                              </p:set>
                              <p:animEffect transition="in" filter="fade">
                                <p:cBhvr>
                                  <p:cTn id="36" dur="350"/>
                                  <p:tgtEl>
                                    <p:spTgt spid="24"/>
                                  </p:tgtEl>
                                </p:cBhvr>
                              </p:animEffect>
                            </p:childTnLst>
                          </p:cTn>
                        </p:par>
                        <p:par>
                          <p:cTn id="37" presetID="10" presetClass="entr" presetSubtype="0" fill="hold" nodeType="withEffect">
                            <p:stCondLst>
                              <p:cond delay="7125"/>
                            </p:stCondLst>
                            <p:childTnLst>
                              <p:set>
                                <p:cBhvr>
                                  <p:cTn id="38" dur="1" fill="hold"/>
                                  <p:tgtEl>
                                    <p:spTgt spid="30"/>
                                  </p:tgtEl>
                                  <p:attrNameLst>
                                    <p:attrName>style.visibility</p:attrName>
                                  </p:attrNameLst>
                                </p:cBhvr>
                                <p:to>
                                  <p:strVal val="visible"/>
                                </p:to>
                              </p:set>
                              <p:animEffect transition="in" filter="fade">
                                <p:cBhvr>
                                  <p:cTn id="39" dur="350"/>
                                  <p:tgtEl>
                                    <p:spTgt spid="30"/>
                                  </p:tgtEl>
                                </p:cBhvr>
                              </p:animEffect>
                            </p:childTnLst>
                          </p:cTn>
                        </p:par>
                        <p:par>
                          <p:cTn id="40" presetID="10" presetClass="entr" presetSubtype="0" fill="hold" nodeType="withEffect">
                            <p:stCondLst>
                              <p:cond delay="7125"/>
                            </p:stCondLst>
                            <p:childTnLst>
                              <p:set>
                                <p:cBhvr>
                                  <p:cTn id="41" dur="1" fill="hold"/>
                                  <p:tgtEl>
                                    <p:spTgt spid="31"/>
                                  </p:tgtEl>
                                  <p:attrNameLst>
                                    <p:attrName>style.visibility</p:attrName>
                                  </p:attrNameLst>
                                </p:cBhvr>
                                <p:to>
                                  <p:strVal val="visible"/>
                                </p:to>
                              </p:set>
                              <p:animEffect transition="in" filter="fade">
                                <p:cBhvr>
                                  <p:cTn id="42" dur="350"/>
                                  <p:tgtEl>
                                    <p:spTgt spid="31"/>
                                  </p:tgtEl>
                                </p:cBhvr>
                              </p:animEffect>
                            </p:childTnLst>
                          </p:cTn>
                        </p:par>
                        <p:par>
                          <p:cTn id="43" presetID="10" presetClass="entr" presetSubtype="0" fill="hold" nodeType="withEffect">
                            <p:stCondLst>
                              <p:cond delay="7125"/>
                            </p:stCondLst>
                            <p:childTnLst>
                              <p:set>
                                <p:cBhvr>
                                  <p:cTn id="44" dur="1" fill="hold"/>
                                  <p:tgtEl>
                                    <p:spTgt spid="32"/>
                                  </p:tgtEl>
                                  <p:attrNameLst>
                                    <p:attrName>style.visibility</p:attrName>
                                  </p:attrNameLst>
                                </p:cBhvr>
                                <p:to>
                                  <p:strVal val="visible"/>
                                </p:to>
                              </p:set>
                              <p:animEffect transition="in" filter="fade">
                                <p:cBhvr>
                                  <p:cTn id="45" dur="350"/>
                                  <p:tgtEl>
                                    <p:spTgt spid="32"/>
                                  </p:tgtEl>
                                </p:cBhvr>
                              </p:animEffect>
                            </p:childTnLst>
                          </p:cTn>
                        </p:par>
                        <p:par>
                          <p:cTn id="46" presetID="10" presetClass="entr" presetSubtype="0" fill="hold" nodeType="withEffect">
                            <p:stCondLst>
                              <p:cond delay="7125"/>
                            </p:stCondLst>
                            <p:childTnLst>
                              <p:set>
                                <p:cBhvr>
                                  <p:cTn id="47" dur="1" fill="hold"/>
                                  <p:tgtEl>
                                    <p:spTgt spid="33"/>
                                  </p:tgtEl>
                                  <p:attrNameLst>
                                    <p:attrName>style.visibility</p:attrName>
                                  </p:attrNameLst>
                                </p:cBhvr>
                                <p:to>
                                  <p:strVal val="visible"/>
                                </p:to>
                              </p:set>
                              <p:animEffect transition="in" filter="fade">
                                <p:cBhvr>
                                  <p:cTn id="48" dur="350"/>
                                  <p:tgtEl>
                                    <p:spTgt spid="33"/>
                                  </p:tgtEl>
                                </p:cBhvr>
                              </p:animEffect>
                            </p:childTnLst>
                          </p:cTn>
                        </p:par>
                        <p:par>
                          <p:cTn id="49" presetID="10" presetClass="entr" presetSubtype="0" fill="hold" nodeType="withEffect">
                            <p:stCondLst>
                              <p:cond delay="7125"/>
                            </p:stCondLst>
                            <p:childTnLst>
                              <p:set>
                                <p:cBhvr>
                                  <p:cTn id="50" dur="1" fill="hold"/>
                                  <p:tgtEl>
                                    <p:spTgt spid="34"/>
                                  </p:tgtEl>
                                  <p:attrNameLst>
                                    <p:attrName>style.visibility</p:attrName>
                                  </p:attrNameLst>
                                </p:cBhvr>
                                <p:to>
                                  <p:strVal val="visible"/>
                                </p:to>
                              </p:set>
                              <p:animEffect transition="in" filter="fade">
                                <p:cBhvr>
                                  <p:cTn id="51" dur="350"/>
                                  <p:tgtEl>
                                    <p:spTgt spid="34"/>
                                  </p:tgtEl>
                                </p:cBhvr>
                              </p:animEffect>
                            </p:childTnLst>
                          </p:cTn>
                        </p:par>
                        <p:par>
                          <p:cTn id="52" presetID="10" presetClass="entr" presetSubtype="0" fill="hold" nodeType="withEffect">
                            <p:stCondLst>
                              <p:cond delay="7125"/>
                            </p:stCondLst>
                            <p:childTnLst>
                              <p:set>
                                <p:cBhvr>
                                  <p:cTn id="53" dur="1" fill="hold"/>
                                  <p:tgtEl>
                                    <p:spTgt spid="35"/>
                                  </p:tgtEl>
                                  <p:attrNameLst>
                                    <p:attrName>style.visibility</p:attrName>
                                  </p:attrNameLst>
                                </p:cBhvr>
                                <p:to>
                                  <p:strVal val="visible"/>
                                </p:to>
                              </p:set>
                              <p:animEffect transition="in" filter="fade">
                                <p:cBhvr>
                                  <p:cTn id="54" dur="350"/>
                                  <p:tgtEl>
                                    <p:spTgt spid="35"/>
                                  </p:tgtEl>
                                </p:cBhvr>
                              </p:animEffect>
                            </p:childTnLst>
                          </p:cTn>
                        </p:par>
                        <p:par>
                          <p:cTn id="55" presetID="10" presetClass="entr" presetSubtype="0" fill="hold" nodeType="withEffect">
                            <p:stCondLst>
                              <p:cond delay="9276"/>
                            </p:stCondLst>
                            <p:childTnLst>
                              <p:set>
                                <p:cBhvr>
                                  <p:cTn id="56" dur="1" fill="hold"/>
                                  <p:tgtEl>
                                    <p:spTgt spid="36"/>
                                  </p:tgtEl>
                                  <p:attrNameLst>
                                    <p:attrName>style.visibility</p:attrName>
                                  </p:attrNameLst>
                                </p:cBhvr>
                                <p:to>
                                  <p:strVal val="visible"/>
                                </p:to>
                              </p:set>
                              <p:animEffect transition="in" filter="fade">
                                <p:cBhvr>
                                  <p:cTn id="57" dur="350"/>
                                  <p:tgtEl>
                                    <p:spTgt spid="36"/>
                                  </p:tgtEl>
                                </p:cBhvr>
                              </p:animEffect>
                            </p:childTnLst>
                          </p:cTn>
                        </p:par>
                        <p:par>
                          <p:cTn id="58" presetID="10" presetClass="entr" presetSubtype="0" fill="hold" nodeType="withEffect">
                            <p:stCondLst>
                              <p:cond delay="9276"/>
                            </p:stCondLst>
                            <p:childTnLst>
                              <p:set>
                                <p:cBhvr>
                                  <p:cTn id="59" dur="1" fill="hold"/>
                                  <p:tgtEl>
                                    <p:spTgt spid="37"/>
                                  </p:tgtEl>
                                  <p:attrNameLst>
                                    <p:attrName>style.visibility</p:attrName>
                                  </p:attrNameLst>
                                </p:cBhvr>
                                <p:to>
                                  <p:strVal val="visible"/>
                                </p:to>
                              </p:set>
                              <p:animEffect transition="in" filter="fade">
                                <p:cBhvr>
                                  <p:cTn id="60" dur="350"/>
                                  <p:tgtEl>
                                    <p:spTgt spid="37"/>
                                  </p:tgtEl>
                                </p:cBhvr>
                              </p:animEffect>
                            </p:childTnLst>
                          </p:cTn>
                        </p:par>
                        <p:par>
                          <p:cTn id="61" presetID="10" presetClass="entr" presetSubtype="0" fill="hold" nodeType="withEffect">
                            <p:stCondLst>
                              <p:cond delay="9276"/>
                            </p:stCondLst>
                            <p:childTnLst>
                              <p:set>
                                <p:cBhvr>
                                  <p:cTn id="62" dur="1" fill="hold"/>
                                  <p:tgtEl>
                                    <p:spTgt spid="38"/>
                                  </p:tgtEl>
                                  <p:attrNameLst>
                                    <p:attrName>style.visibility</p:attrName>
                                  </p:attrNameLst>
                                </p:cBhvr>
                                <p:to>
                                  <p:strVal val="visible"/>
                                </p:to>
                              </p:set>
                              <p:animEffect transition="in" filter="fade">
                                <p:cBhvr>
                                  <p:cTn id="63" dur="350"/>
                                  <p:tgtEl>
                                    <p:spTgt spid="38"/>
                                  </p:tgtEl>
                                </p:cBhvr>
                              </p:animEffect>
                            </p:childTnLst>
                          </p:cTn>
                        </p:par>
                        <p:par>
                          <p:cTn id="64" presetID="10" presetClass="entr" presetSubtype="0" fill="hold" nodeType="withEffect">
                            <p:stCondLst>
                              <p:cond delay="9276"/>
                            </p:stCondLst>
                            <p:childTnLst>
                              <p:set>
                                <p:cBhvr>
                                  <p:cTn id="65" dur="1" fill="hold"/>
                                  <p:tgtEl>
                                    <p:spTgt spid="39"/>
                                  </p:tgtEl>
                                  <p:attrNameLst>
                                    <p:attrName>style.visibility</p:attrName>
                                  </p:attrNameLst>
                                </p:cBhvr>
                                <p:to>
                                  <p:strVal val="visible"/>
                                </p:to>
                              </p:set>
                              <p:animEffect transition="in" filter="fade">
                                <p:cBhvr>
                                  <p:cTn id="66" dur="350"/>
                                  <p:tgtEl>
                                    <p:spTgt spid="39"/>
                                  </p:tgtEl>
                                </p:cBhvr>
                              </p:animEffect>
                            </p:childTnLst>
                          </p:cTn>
                        </p:par>
                        <p:par>
                          <p:cTn id="67" presetID="10" presetClass="entr" presetSubtype="0" fill="hold" nodeType="withEffect">
                            <p:stCondLst>
                              <p:cond delay="9276"/>
                            </p:stCondLst>
                            <p:childTnLst>
                              <p:set>
                                <p:cBhvr>
                                  <p:cTn id="68" dur="1" fill="hold"/>
                                  <p:tgtEl>
                                    <p:spTgt spid="40"/>
                                  </p:tgtEl>
                                  <p:attrNameLst>
                                    <p:attrName>style.visibility</p:attrName>
                                  </p:attrNameLst>
                                </p:cBhvr>
                                <p:to>
                                  <p:strVal val="visible"/>
                                </p:to>
                              </p:set>
                              <p:animEffect transition="in" filter="fade">
                                <p:cBhvr>
                                  <p:cTn id="69" dur="350"/>
                                  <p:tgtEl>
                                    <p:spTgt spid="40"/>
                                  </p:tgtEl>
                                </p:cBhvr>
                              </p:animEffect>
                            </p:childTnLst>
                          </p:cTn>
                        </p:par>
                        <p:par>
                          <p:cTn id="70" presetID="10" presetClass="entr" presetSubtype="0" fill="hold" nodeType="withEffect">
                            <p:stCondLst>
                              <p:cond delay="9276"/>
                            </p:stCondLst>
                            <p:childTnLst>
                              <p:set>
                                <p:cBhvr>
                                  <p:cTn id="71" dur="1" fill="hold"/>
                                  <p:tgtEl>
                                    <p:spTgt spid="41"/>
                                  </p:tgtEl>
                                  <p:attrNameLst>
                                    <p:attrName>style.visibility</p:attrName>
                                  </p:attrNameLst>
                                </p:cBhvr>
                                <p:to>
                                  <p:strVal val="visible"/>
                                </p:to>
                              </p:set>
                              <p:animEffect transition="in" filter="fade">
                                <p:cBhvr>
                                  <p:cTn id="72" dur="350"/>
                                  <p:tgtEl>
                                    <p:spTgt spid="41"/>
                                  </p:tgtEl>
                                </p:cBhvr>
                              </p:animEffect>
                            </p:childTnLst>
                          </p:cTn>
                        </p:par>
                        <p:par>
                          <p:cTn id="73" presetID="10" presetClass="entr" presetSubtype="0" fill="hold" nodeType="withEffect">
                            <p:stCondLst>
                              <p:cond delay="9276"/>
                            </p:stCondLst>
                            <p:childTnLst>
                              <p:set>
                                <p:cBhvr>
                                  <p:cTn id="74" dur="1" fill="hold"/>
                                  <p:tgtEl>
                                    <p:spTgt spid="42"/>
                                  </p:tgtEl>
                                  <p:attrNameLst>
                                    <p:attrName>style.visibility</p:attrName>
                                  </p:attrNameLst>
                                </p:cBhvr>
                                <p:to>
                                  <p:strVal val="visible"/>
                                </p:to>
                              </p:set>
                              <p:animEffect transition="in" filter="fade">
                                <p:cBhvr>
                                  <p:cTn id="75" dur="350"/>
                                  <p:tgtEl>
                                    <p:spTgt spid="42"/>
                                  </p:tgtEl>
                                </p:cBhvr>
                              </p:animEffect>
                            </p:childTnLst>
                          </p:cTn>
                        </p:par>
                        <p:par>
                          <p:cTn id="76" presetID="10" presetClass="entr" presetSubtype="0" fill="hold" nodeType="withEffect">
                            <p:stCondLst>
                              <p:cond delay="9276"/>
                            </p:stCondLst>
                            <p:childTnLst>
                              <p:set>
                                <p:cBhvr>
                                  <p:cTn id="77" dur="1" fill="hold"/>
                                  <p:tgtEl>
                                    <p:spTgt spid="43"/>
                                  </p:tgtEl>
                                  <p:attrNameLst>
                                    <p:attrName>style.visibility</p:attrName>
                                  </p:attrNameLst>
                                </p:cBhvr>
                                <p:to>
                                  <p:strVal val="visible"/>
                                </p:to>
                              </p:set>
                              <p:animEffect transition="in" filter="fade">
                                <p:cBhvr>
                                  <p:cTn id="78" dur="350"/>
                                  <p:tgtEl>
                                    <p:spTgt spid="43"/>
                                  </p:tgtEl>
                                </p:cBhvr>
                              </p:animEffect>
                            </p:childTnLst>
                          </p:cTn>
                        </p:par>
                        <p:par>
                          <p:cTn id="79" presetID="10" presetClass="entr" presetSubtype="0" fill="hold" nodeType="withEffect">
                            <p:stCondLst>
                              <p:cond delay="9276"/>
                            </p:stCondLst>
                            <p:childTnLst>
                              <p:set>
                                <p:cBhvr>
                                  <p:cTn id="80" dur="1" fill="hold"/>
                                  <p:tgtEl>
                                    <p:spTgt spid="44"/>
                                  </p:tgtEl>
                                  <p:attrNameLst>
                                    <p:attrName>style.visibility</p:attrName>
                                  </p:attrNameLst>
                                </p:cBhvr>
                                <p:to>
                                  <p:strVal val="visible"/>
                                </p:to>
                              </p:set>
                              <p:animEffect transition="in" filter="fade">
                                <p:cBhvr>
                                  <p:cTn id="81" dur="350"/>
                                  <p:tgtEl>
                                    <p:spTgt spid="44"/>
                                  </p:tgtEl>
                                </p:cBhvr>
                              </p:animEffect>
                            </p:childTnLst>
                          </p:cTn>
                        </p:par>
                        <p:par>
                          <p:cTn id="82" presetID="10" presetClass="entr" presetSubtype="0" fill="hold" nodeType="withEffect">
                            <p:stCondLst>
                              <p:cond delay="9276"/>
                            </p:stCondLst>
                            <p:childTnLst>
                              <p:set>
                                <p:cBhvr>
                                  <p:cTn id="83" dur="1" fill="hold"/>
                                  <p:tgtEl>
                                    <p:spTgt spid="45"/>
                                  </p:tgtEl>
                                  <p:attrNameLst>
                                    <p:attrName>style.visibility</p:attrName>
                                  </p:attrNameLst>
                                </p:cBhvr>
                                <p:to>
                                  <p:strVal val="visible"/>
                                </p:to>
                              </p:set>
                              <p:animEffect transition="in" filter="fade">
                                <p:cBhvr>
                                  <p:cTn id="84" dur="350"/>
                                  <p:tgtEl>
                                    <p:spTgt spid="45"/>
                                  </p:tgtEl>
                                </p:cBhvr>
                              </p:animEffect>
                            </p:childTnLst>
                          </p:cTn>
                        </p:par>
                        <p:par>
                          <p:cTn id="85" presetID="10" presetClass="entr" presetSubtype="0" fill="hold" nodeType="withEffect">
                            <p:stCondLst>
                              <p:cond delay="9276"/>
                            </p:stCondLst>
                            <p:childTnLst>
                              <p:set>
                                <p:cBhvr>
                                  <p:cTn id="86" dur="1" fill="hold"/>
                                  <p:tgtEl>
                                    <p:spTgt spid="46"/>
                                  </p:tgtEl>
                                  <p:attrNameLst>
                                    <p:attrName>style.visibility</p:attrName>
                                  </p:attrNameLst>
                                </p:cBhvr>
                                <p:to>
                                  <p:strVal val="visible"/>
                                </p:to>
                              </p:set>
                              <p:animEffect transition="in" filter="fade">
                                <p:cBhvr>
                                  <p:cTn id="87" dur="350"/>
                                  <p:tgtEl>
                                    <p:spTgt spid="46"/>
                                  </p:tgtEl>
                                </p:cBhvr>
                              </p:animEffect>
                            </p:childTnLst>
                          </p:cTn>
                        </p:par>
                        <p:par>
                          <p:cTn id="88" presetID="10" presetClass="entr" presetSubtype="0" fill="hold" nodeType="withEffect">
                            <p:stCondLst>
                              <p:cond delay="9276"/>
                            </p:stCondLst>
                            <p:childTnLst>
                              <p:set>
                                <p:cBhvr>
                                  <p:cTn id="89" dur="1" fill="hold"/>
                                  <p:tgtEl>
                                    <p:spTgt spid="47"/>
                                  </p:tgtEl>
                                  <p:attrNameLst>
                                    <p:attrName>style.visibility</p:attrName>
                                  </p:attrNameLst>
                                </p:cBhvr>
                                <p:to>
                                  <p:strVal val="visible"/>
                                </p:to>
                              </p:set>
                              <p:animEffect transition="in" filter="fade">
                                <p:cBhvr>
                                  <p:cTn id="90" dur="350"/>
                                  <p:tgtEl>
                                    <p:spTgt spid="47"/>
                                  </p:tgtEl>
                                </p:cBhvr>
                              </p:animEffect>
                            </p:childTnLst>
                          </p:cTn>
                        </p:par>
                        <p:par>
                          <p:cTn id="91" presetID="10" presetClass="entr" presetSubtype="0" fill="hold" nodeType="withEffect">
                            <p:stCondLst>
                              <p:cond delay="9276"/>
                            </p:stCondLst>
                            <p:childTnLst>
                              <p:set>
                                <p:cBhvr>
                                  <p:cTn id="92" dur="1" fill="hold"/>
                                  <p:tgtEl>
                                    <p:spTgt spid="48"/>
                                  </p:tgtEl>
                                  <p:attrNameLst>
                                    <p:attrName>style.visibility</p:attrName>
                                  </p:attrNameLst>
                                </p:cBhvr>
                                <p:to>
                                  <p:strVal val="visible"/>
                                </p:to>
                              </p:set>
                              <p:animEffect transition="in" filter="fade">
                                <p:cBhvr>
                                  <p:cTn id="93" dur="350"/>
                                  <p:tgtEl>
                                    <p:spTgt spid="48"/>
                                  </p:tgtEl>
                                </p:cBhvr>
                              </p:animEffect>
                            </p:childTnLst>
                          </p:cTn>
                        </p:par>
                        <p:par>
                          <p:cTn id="94" presetID="10" presetClass="entr" presetSubtype="0" fill="hold" nodeType="withEffect">
                            <p:stCondLst>
                              <p:cond delay="9276"/>
                            </p:stCondLst>
                            <p:childTnLst>
                              <p:set>
                                <p:cBhvr>
                                  <p:cTn id="95" dur="1" fill="hold"/>
                                  <p:tgtEl>
                                    <p:spTgt spid="49"/>
                                  </p:tgtEl>
                                  <p:attrNameLst>
                                    <p:attrName>style.visibility</p:attrName>
                                  </p:attrNameLst>
                                </p:cBhvr>
                                <p:to>
                                  <p:strVal val="visible"/>
                                </p:to>
                              </p:set>
                              <p:animEffect transition="in" filter="fade">
                                <p:cBhvr>
                                  <p:cTn id="96" dur="350"/>
                                  <p:tgtEl>
                                    <p:spTgt spid="49"/>
                                  </p:tgtEl>
                                </p:cBhvr>
                              </p:animEffect>
                            </p:childTnLst>
                          </p:cTn>
                        </p:par>
                        <p:par>
                          <p:cTn id="97" presetID="10" presetClass="entr" presetSubtype="0" fill="hold" nodeType="withEffect">
                            <p:stCondLst>
                              <p:cond delay="9276"/>
                            </p:stCondLst>
                            <p:childTnLst>
                              <p:set>
                                <p:cBhvr>
                                  <p:cTn id="98" dur="1" fill="hold"/>
                                  <p:tgtEl>
                                    <p:spTgt spid="50"/>
                                  </p:tgtEl>
                                  <p:attrNameLst>
                                    <p:attrName>style.visibility</p:attrName>
                                  </p:attrNameLst>
                                </p:cBhvr>
                                <p:to>
                                  <p:strVal val="visible"/>
                                </p:to>
                              </p:set>
                              <p:animEffect transition="in" filter="fade">
                                <p:cBhvr>
                                  <p:cTn id="99" dur="350"/>
                                  <p:tgtEl>
                                    <p:spTgt spid="50"/>
                                  </p:tgtEl>
                                </p:cBhvr>
                              </p:animEffect>
                            </p:childTnLst>
                          </p:cTn>
                        </p:par>
                        <p:par>
                          <p:cTn id="100" presetID="10" presetClass="entr" presetSubtype="0" fill="hold" nodeType="withEffect">
                            <p:stCondLst>
                              <p:cond delay="9276"/>
                            </p:stCondLst>
                            <p:childTnLst>
                              <p:set>
                                <p:cBhvr>
                                  <p:cTn id="101" dur="1" fill="hold"/>
                                  <p:tgtEl>
                                    <p:spTgt spid="51"/>
                                  </p:tgtEl>
                                  <p:attrNameLst>
                                    <p:attrName>style.visibility</p:attrName>
                                  </p:attrNameLst>
                                </p:cBhvr>
                                <p:to>
                                  <p:strVal val="visible"/>
                                </p:to>
                              </p:set>
                              <p:animEffect transition="in" filter="fade">
                                <p:cBhvr>
                                  <p:cTn id="102" dur="350"/>
                                  <p:tgtEl>
                                    <p:spTgt spid="51"/>
                                  </p:tgtEl>
                                </p:cBhvr>
                              </p:animEffect>
                            </p:childTnLst>
                          </p:cTn>
                        </p:par>
                        <p:par>
                          <p:cTn id="103" presetID="10" presetClass="entr" presetSubtype="0" fill="hold" nodeType="withEffect">
                            <p:stCondLst>
                              <p:cond delay="9276"/>
                            </p:stCondLst>
                            <p:childTnLst>
                              <p:set>
                                <p:cBhvr>
                                  <p:cTn id="104" dur="1" fill="hold"/>
                                  <p:tgtEl>
                                    <p:spTgt spid="52"/>
                                  </p:tgtEl>
                                  <p:attrNameLst>
                                    <p:attrName>style.visibility</p:attrName>
                                  </p:attrNameLst>
                                </p:cBhvr>
                                <p:to>
                                  <p:strVal val="visible"/>
                                </p:to>
                              </p:set>
                              <p:animEffect transition="in" filter="fade">
                                <p:cBhvr>
                                  <p:cTn id="105" dur="350"/>
                                  <p:tgtEl>
                                    <p:spTgt spid="52"/>
                                  </p:tgtEl>
                                </p:cBhvr>
                              </p:animEffect>
                            </p:childTnLst>
                          </p:cTn>
                        </p:par>
                        <p:par>
                          <p:cTn id="106" presetID="10" presetClass="entr" presetSubtype="0" fill="hold" nodeType="withEffect">
                            <p:stCondLst>
                              <p:cond delay="9276"/>
                            </p:stCondLst>
                            <p:childTnLst>
                              <p:set>
                                <p:cBhvr>
                                  <p:cTn id="107" dur="1" fill="hold"/>
                                  <p:tgtEl>
                                    <p:spTgt spid="53"/>
                                  </p:tgtEl>
                                  <p:attrNameLst>
                                    <p:attrName>style.visibility</p:attrName>
                                  </p:attrNameLst>
                                </p:cBhvr>
                                <p:to>
                                  <p:strVal val="visible"/>
                                </p:to>
                              </p:set>
                              <p:animEffect transition="in" filter="fade">
                                <p:cBhvr>
                                  <p:cTn id="108" dur="350"/>
                                  <p:tgtEl>
                                    <p:spTgt spid="53"/>
                                  </p:tgtEl>
                                </p:cBhvr>
                              </p:animEffect>
                            </p:childTnLst>
                          </p:cTn>
                        </p:par>
                        <p:par>
                          <p:cTn id="109" presetID="10" presetClass="entr" presetSubtype="0" fill="hold" nodeType="withEffect">
                            <p:stCondLst>
                              <p:cond delay="2805"/>
                            </p:stCondLst>
                            <p:childTnLst>
                              <p:set>
                                <p:cBhvr>
                                  <p:cTn id="110" dur="1" fill="hold"/>
                                  <p:tgtEl>
                                    <p:spTgt spid="54"/>
                                  </p:tgtEl>
                                  <p:attrNameLst>
                                    <p:attrName>style.visibility</p:attrName>
                                  </p:attrNameLst>
                                </p:cBhvr>
                                <p:to>
                                  <p:strVal val="visible"/>
                                </p:to>
                              </p:set>
                              <p:animEffect transition="in" filter="fade">
                                <p:cBhvr>
                                  <p:cTn id="111" dur="350"/>
                                  <p:tgtEl>
                                    <p:spTgt spid="5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457200" y="258762"/>
            <a:ext cx="409575" cy="273050"/>
          </a:xfrm>
          <a:prstGeom prst="rect">
            <a:avLst/>
          </a:prstGeom>
          <a:effectLst/>
        </p:spPr>
      </p:pic>
      <p:sp>
        <p:nvSpPr>
          <p:cNvPr id="3" name="TextBox 2"/>
          <p:cNvSpPr txBox="1"/>
          <p:nvPr/>
        </p:nvSpPr>
        <p:spPr>
          <a:xfrm>
            <a:off x="990600" y="276225"/>
            <a:ext cx="2095500" cy="295275"/>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1" lang="en-US">
                <a:solidFill>
                  <a:srgbClr val="262626"/>
                </a:solidFill>
                <a:latin typeface="Manrope"/>
              </a:rPr>
              <a:t>GRINDCTRL</a:t>
            </a:r>
          </a:p>
        </p:txBody>
      </p:sp>
      <p:sp>
        <p:nvSpPr>
          <p:cNvPr id="4" name="TextBox 3"/>
          <p:cNvSpPr txBox="1"/>
          <p:nvPr/>
        </p:nvSpPr>
        <p:spPr>
          <a:xfrm>
            <a:off x="6572250" y="276225"/>
            <a:ext cx="5162550" cy="28575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Fictional exchange follow-up</a:t>
            </a:r>
          </a:p>
        </p:txBody>
      </p:sp>
      <p:sp>
        <p:nvSpPr>
          <p:cNvPr id="5" name="TextBox 4"/>
          <p:cNvSpPr txBox="1"/>
          <p:nvPr/>
        </p:nvSpPr>
        <p:spPr>
          <a:xfrm>
            <a:off x="457200" y="866775"/>
            <a:ext cx="11277600" cy="619125"/>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62626"/>
                </a:solidFill>
                <a:latin typeface="Manrope"/>
              </a:rPr>
              <a:t>Continue from the latest recorded update.</a:t>
            </a:r>
          </a:p>
        </p:txBody>
      </p:sp>
      <p:cxnSp>
        <p:nvCxnSpPr>
          <p:cNvPr id="6" name="Connector 5"/>
          <p:cNvCxnSpPr/>
          <p:nvPr/>
        </p:nvCxnSpPr>
        <p:spPr>
          <a:xfrm>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6505575"/>
            <a:ext cx="10287000" cy="22860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en-US">
                <a:solidFill>
                  <a:srgbClr val="68645E"/>
                </a:solidFill>
                <a:latin typeface="Manrope"/>
              </a:rPr>
              <a:t>Concrete · Proposed collaboration · Illustrative UI and fictional records</a:t>
            </a:r>
          </a:p>
        </p:txBody>
      </p:sp>
      <p:sp>
        <p:nvSpPr>
          <p:cNvPr id="8" name="TextBox 7"/>
          <p:cNvSpPr txBox="1"/>
          <p:nvPr/>
        </p:nvSpPr>
        <p:spPr>
          <a:xfrm>
            <a:off x="10953750" y="6505575"/>
            <a:ext cx="781050" cy="238125"/>
          </a:xfrm>
          <a:prstGeom prst="rect">
            <a:avLst/>
          </a:prstGeom>
          <a:noFill/>
          <a:effectLst/>
        </p:spPr>
        <p:txBody>
          <a:bodyPr wrap="square" lIns="0" rIns="0" tIns="0" bIns="0" anchor="t">
            <a:spAutoFit/>
          </a:bodyPr>
          <a:lstStyle/>
          <a:p>
            <a:pPr algn="r" rtl="0">
              <a:lnSpc>
                <a:spcPts val="1260"/>
              </a:lnSpc>
              <a:spcBef>
                <a:spcPts val="0"/>
              </a:spcBef>
              <a:spcAft>
                <a:spcPts val="0"/>
              </a:spcAft>
            </a:pPr>
            <a:r>
              <a:rPr sz="1125" b="0" lang="en-US">
                <a:solidFill>
                  <a:srgbClr val="68645E"/>
                </a:solidFill>
                <a:latin typeface="Manrope"/>
              </a:rPr>
              <a:t>04 / 07</a:t>
            </a:r>
          </a:p>
        </p:txBody>
      </p:sp>
      <p:sp>
        <p:nvSpPr>
          <p:cNvPr id="9" name="Rounded Rectangle 8"/>
          <p:cNvSpPr/>
          <p:nvPr/>
        </p:nvSpPr>
        <p:spPr>
          <a:xfrm>
            <a:off x="457200" y="1724025"/>
            <a:ext cx="11277600" cy="3333750"/>
          </a:xfrm>
          <a:prstGeom prst="roundRect">
            <a:avLst>
              <a:gd name="adj" fmla="val 3428"/>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457200" y="1676400"/>
            <a:ext cx="11277600" cy="3333750"/>
          </a:xfrm>
          <a:prstGeom prst="roundRect">
            <a:avLst>
              <a:gd name="adj" fmla="val 3428"/>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zoho.png"/>
          <p:cNvPicPr>
            <a:picLocks noChangeAspect="1"/>
          </p:cNvPicPr>
          <p:nvPr/>
        </p:nvPicPr>
        <p:blipFill>
          <a:blip r:embed="rId3"/>
          <a:stretch>
            <a:fillRect/>
          </a:stretch>
        </p:blipFill>
        <p:spPr>
          <a:xfrm>
            <a:off x="693074" y="1857375"/>
            <a:ext cx="709353" cy="304800"/>
          </a:xfrm>
          <a:prstGeom prst="rect">
            <a:avLst/>
          </a:prstGeom>
          <a:effectLst/>
        </p:spPr>
      </p:pic>
      <p:sp>
        <p:nvSpPr>
          <p:cNvPr id="12" name="TextBox 11"/>
          <p:cNvSpPr txBox="1"/>
          <p:nvPr/>
        </p:nvSpPr>
        <p:spPr>
          <a:xfrm>
            <a:off x="1571625" y="1857375"/>
            <a:ext cx="9848850" cy="371475"/>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1" lang="en-US">
                <a:solidFill>
                  <a:srgbClr val="262626"/>
                </a:solidFill>
                <a:latin typeface="Manrope"/>
              </a:rPr>
              <a:t>Zoho Desk · Exchange follow-up</a:t>
            </a:r>
          </a:p>
        </p:txBody>
      </p:sp>
      <p:cxnSp>
        <p:nvCxnSpPr>
          <p:cNvPr id="13" name="Connector 12"/>
          <p:cNvCxnSpPr/>
          <p:nvPr/>
        </p:nvCxnSpPr>
        <p:spPr>
          <a:xfrm>
            <a:off x="457200" y="236220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14" name="Picture 13" descr="icon-call.png"/>
          <p:cNvPicPr>
            <a:picLocks noChangeAspect="1"/>
          </p:cNvPicPr>
          <p:nvPr/>
        </p:nvPicPr>
        <p:blipFill>
          <a:blip r:embed="rId4"/>
          <a:stretch>
            <a:fillRect/>
          </a:stretch>
        </p:blipFill>
        <p:spPr>
          <a:xfrm>
            <a:off x="742950" y="2647950"/>
            <a:ext cx="466725" cy="466725"/>
          </a:xfrm>
          <a:prstGeom prst="rect">
            <a:avLst/>
          </a:prstGeom>
          <a:effectLst/>
        </p:spPr>
      </p:pic>
      <p:sp>
        <p:nvSpPr>
          <p:cNvPr id="15" name="TextBox 14"/>
          <p:cNvSpPr txBox="1"/>
          <p:nvPr/>
        </p:nvSpPr>
        <p:spPr>
          <a:xfrm>
            <a:off x="1476375" y="2667000"/>
            <a:ext cx="2857500" cy="381000"/>
          </a:xfrm>
          <a:prstGeom prst="rect">
            <a:avLst/>
          </a:prstGeom>
          <a:noFill/>
          <a:effectLst/>
        </p:spPr>
        <p:txBody>
          <a:bodyPr wrap="square" lIns="0" rIns="0" tIns="0" bIns="0" anchor="t">
            <a:spAutoFit/>
          </a:bodyPr>
          <a:lstStyle/>
          <a:p>
            <a:pPr algn="l" rtl="0">
              <a:lnSpc>
                <a:spcPts val="2352"/>
              </a:lnSpc>
              <a:spcBef>
                <a:spcPts val="0"/>
              </a:spcBef>
              <a:spcAft>
                <a:spcPts val="0"/>
              </a:spcAft>
            </a:pPr>
            <a:r>
              <a:rPr sz="2100" b="1" lang="en-US">
                <a:solidFill>
                  <a:srgbClr val="262626"/>
                </a:solidFill>
                <a:latin typeface="Manrope"/>
              </a:rPr>
              <a:t>Contact A</a:t>
            </a:r>
          </a:p>
        </p:txBody>
      </p:sp>
      <p:sp>
        <p:nvSpPr>
          <p:cNvPr id="16" name="TextBox 15"/>
          <p:cNvSpPr txBox="1"/>
          <p:nvPr/>
        </p:nvSpPr>
        <p:spPr>
          <a:xfrm>
            <a:off x="742950" y="3371850"/>
            <a:ext cx="3238500" cy="400050"/>
          </a:xfrm>
          <a:prstGeom prst="rect">
            <a:avLst/>
          </a:prstGeom>
          <a:noFill/>
          <a:effectLst/>
        </p:spPr>
        <p:txBody>
          <a:bodyPr wrap="square" lIns="0" rIns="0" tIns="0" bIns="0" anchor="t">
            <a:spAutoFit/>
          </a:bodyPr>
          <a:lstStyle/>
          <a:p>
            <a:pPr algn="l" rtl="0">
              <a:lnSpc>
                <a:spcPts val="2352"/>
              </a:lnSpc>
              <a:spcBef>
                <a:spcPts val="0"/>
              </a:spcBef>
              <a:spcAft>
                <a:spcPts val="0"/>
              </a:spcAft>
            </a:pPr>
            <a:r>
              <a:rPr sz="2100" b="0" lang="en-US">
                <a:solidFill>
                  <a:srgbClr val="262626"/>
                </a:solidFill>
                <a:latin typeface="Manrope"/>
              </a:rPr>
              <a:t>+20 ••• 410</a:t>
            </a:r>
          </a:p>
        </p:txBody>
      </p:sp>
      <p:cxnSp>
        <p:nvCxnSpPr>
          <p:cNvPr id="17" name="Connector 16"/>
          <p:cNvCxnSpPr/>
          <p:nvPr/>
        </p:nvCxnSpPr>
        <p:spPr>
          <a:xfrm>
            <a:off x="4305300" y="2600325"/>
            <a:ext cx="0" cy="2181225"/>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18" name="Picture 17" descr="icon-case.png"/>
          <p:cNvPicPr>
            <a:picLocks noChangeAspect="1"/>
          </p:cNvPicPr>
          <p:nvPr/>
        </p:nvPicPr>
        <p:blipFill>
          <a:blip r:embed="rId5"/>
          <a:stretch>
            <a:fillRect/>
          </a:stretch>
        </p:blipFill>
        <p:spPr>
          <a:xfrm>
            <a:off x="4610100" y="2628900"/>
            <a:ext cx="285750" cy="285750"/>
          </a:xfrm>
          <a:prstGeom prst="rect">
            <a:avLst/>
          </a:prstGeom>
          <a:effectLst/>
        </p:spPr>
      </p:pic>
      <p:sp>
        <p:nvSpPr>
          <p:cNvPr id="19" name="TextBox 18"/>
          <p:cNvSpPr txBox="1"/>
          <p:nvPr/>
        </p:nvSpPr>
        <p:spPr>
          <a:xfrm>
            <a:off x="5048250" y="2562225"/>
            <a:ext cx="6191250" cy="400050"/>
          </a:xfrm>
          <a:prstGeom prst="rect">
            <a:avLst/>
          </a:prstGeom>
          <a:noFill/>
          <a:effectLst/>
        </p:spPr>
        <p:txBody>
          <a:bodyPr wrap="square" lIns="0" rIns="0" tIns="0" bIns="0" anchor="t">
            <a:spAutoFit/>
          </a:bodyPr>
          <a:lstStyle/>
          <a:p>
            <a:pPr algn="l" rtl="0">
              <a:lnSpc>
                <a:spcPts val="2268"/>
              </a:lnSpc>
              <a:spcBef>
                <a:spcPts val="0"/>
              </a:spcBef>
              <a:spcAft>
                <a:spcPts val="0"/>
              </a:spcAft>
            </a:pPr>
            <a:r>
              <a:rPr sz="2025" b="1" lang="en-US">
                <a:solidFill>
                  <a:srgbClr val="262626"/>
                </a:solidFill>
                <a:latin typeface="Manrope"/>
              </a:rPr>
              <a:t>T101 · Exchange request</a:t>
            </a:r>
          </a:p>
        </p:txBody>
      </p:sp>
      <p:pic>
        <p:nvPicPr>
          <p:cNvPr id="20" name="Picture 19" descr="icon-clock.png"/>
          <p:cNvPicPr>
            <a:picLocks noChangeAspect="1"/>
          </p:cNvPicPr>
          <p:nvPr/>
        </p:nvPicPr>
        <p:blipFill>
          <a:blip r:embed="rId6"/>
          <a:stretch>
            <a:fillRect/>
          </a:stretch>
        </p:blipFill>
        <p:spPr>
          <a:xfrm>
            <a:off x="4610100" y="3095625"/>
            <a:ext cx="209550" cy="209550"/>
          </a:xfrm>
          <a:prstGeom prst="rect">
            <a:avLst/>
          </a:prstGeom>
          <a:effectLst/>
        </p:spPr>
      </p:pic>
      <p:sp>
        <p:nvSpPr>
          <p:cNvPr id="21" name="TextBox 20"/>
          <p:cNvSpPr txBox="1"/>
          <p:nvPr/>
        </p:nvSpPr>
        <p:spPr>
          <a:xfrm>
            <a:off x="4933950" y="3076575"/>
            <a:ext cx="6419850" cy="333375"/>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965318"/>
                </a:solidFill>
                <a:latin typeface="Manrope"/>
              </a:rPr>
              <a:t>Waiting on the branch</a:t>
            </a:r>
          </a:p>
        </p:txBody>
      </p:sp>
      <p:sp>
        <p:nvSpPr>
          <p:cNvPr id="22" name="Rounded Rectangle 21"/>
          <p:cNvSpPr/>
          <p:nvPr/>
        </p:nvSpPr>
        <p:spPr>
          <a:xfrm>
            <a:off x="4591050" y="3638550"/>
            <a:ext cx="6848475" cy="1066800"/>
          </a:xfrm>
          <a:prstGeom prst="roundRect">
            <a:avLst>
              <a:gd name="adj" fmla="val 7142"/>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icon-file.png"/>
          <p:cNvPicPr>
            <a:picLocks noChangeAspect="1"/>
          </p:cNvPicPr>
          <p:nvPr/>
        </p:nvPicPr>
        <p:blipFill>
          <a:blip r:embed="rId7"/>
          <a:stretch>
            <a:fillRect/>
          </a:stretch>
        </p:blipFill>
        <p:spPr>
          <a:xfrm>
            <a:off x="4800600" y="3829050"/>
            <a:ext cx="276225" cy="276225"/>
          </a:xfrm>
          <a:prstGeom prst="rect">
            <a:avLst/>
          </a:prstGeom>
          <a:effectLst/>
        </p:spPr>
      </p:pic>
      <p:sp>
        <p:nvSpPr>
          <p:cNvPr id="24" name="TextBox 23"/>
          <p:cNvSpPr txBox="1"/>
          <p:nvPr/>
        </p:nvSpPr>
        <p:spPr>
          <a:xfrm>
            <a:off x="5219700" y="3790950"/>
            <a:ext cx="5953125" cy="295275"/>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965318"/>
                </a:solidFill>
                <a:latin typeface="Manrope"/>
              </a:rPr>
              <a:t>Latest recorded note</a:t>
            </a:r>
          </a:p>
        </p:txBody>
      </p:sp>
      <p:sp>
        <p:nvSpPr>
          <p:cNvPr id="25" name="TextBox 24"/>
          <p:cNvSpPr txBox="1"/>
          <p:nvPr/>
        </p:nvSpPr>
        <p:spPr>
          <a:xfrm>
            <a:off x="4800600" y="4229100"/>
            <a:ext cx="6343650" cy="390525"/>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1" lang="en-US">
                <a:solidFill>
                  <a:srgbClr val="262626"/>
                </a:solidFill>
                <a:latin typeface="Manrope"/>
              </a:rPr>
              <a:t>Branch review is still pending.</a:t>
            </a:r>
          </a:p>
        </p:txBody>
      </p:sp>
      <p:sp>
        <p:nvSpPr>
          <p:cNvPr id="26" name="Oval 25"/>
          <p:cNvSpPr/>
          <p:nvPr/>
        </p:nvSpPr>
        <p:spPr>
          <a:xfrm>
            <a:off x="647700" y="5391150"/>
            <a:ext cx="552450" cy="552450"/>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actor.png"/>
          <p:cNvPicPr>
            <a:picLocks noChangeAspect="1"/>
          </p:cNvPicPr>
          <p:nvPr/>
        </p:nvPicPr>
        <p:blipFill>
          <a:blip r:embed="rId8"/>
          <a:stretch>
            <a:fillRect/>
          </a:stretch>
        </p:blipFill>
        <p:spPr>
          <a:xfrm>
            <a:off x="769239" y="5512689"/>
            <a:ext cx="309372" cy="309372"/>
          </a:xfrm>
          <a:prstGeom prst="rect">
            <a:avLst/>
          </a:prstGeom>
          <a:effectLst/>
        </p:spPr>
      </p:pic>
      <p:pic>
        <p:nvPicPr>
          <p:cNvPr id="28" name="Picture 27" descr="icon-speech.png"/>
          <p:cNvPicPr>
            <a:picLocks noChangeAspect="1"/>
          </p:cNvPicPr>
          <p:nvPr/>
        </p:nvPicPr>
        <p:blipFill>
          <a:blip r:embed="rId9"/>
          <a:stretch>
            <a:fillRect/>
          </a:stretch>
        </p:blipFill>
        <p:spPr>
          <a:xfrm>
            <a:off x="1371600" y="5467350"/>
            <a:ext cx="333375" cy="333375"/>
          </a:xfrm>
          <a:prstGeom prst="rect">
            <a:avLst/>
          </a:prstGeom>
          <a:effectLst/>
        </p:spPr>
      </p:pic>
      <p:sp>
        <p:nvSpPr>
          <p:cNvPr id="29" name="TextBox 28"/>
          <p:cNvSpPr txBox="1"/>
          <p:nvPr/>
        </p:nvSpPr>
        <p:spPr>
          <a:xfrm>
            <a:off x="1914525" y="5324475"/>
            <a:ext cx="9525000" cy="419100"/>
          </a:xfrm>
          <a:prstGeom prst="rect">
            <a:avLst/>
          </a:prstGeom>
          <a:noFill/>
          <a:effectLst/>
        </p:spPr>
        <p:txBody>
          <a:bodyPr wrap="square" lIns="0" rIns="0" tIns="0" bIns="0" anchor="t">
            <a:spAutoFit/>
          </a:bodyPr>
          <a:lstStyle/>
          <a:p>
            <a:pPr algn="l" rtl="0">
              <a:lnSpc>
                <a:spcPts val="2352"/>
              </a:lnSpc>
              <a:spcBef>
                <a:spcPts val="0"/>
              </a:spcBef>
              <a:spcAft>
                <a:spcPts val="0"/>
              </a:spcAft>
            </a:pPr>
            <a:r>
              <a:rPr sz="2100" b="1" lang="en-US">
                <a:solidFill>
                  <a:srgbClr val="262626"/>
                </a:solidFill>
                <a:latin typeface="Manrope"/>
              </a:rPr>
              <a:t>Continue the conversation from this note.</a:t>
            </a:r>
          </a:p>
        </p:txBody>
      </p:sp>
      <p:sp>
        <p:nvSpPr>
          <p:cNvPr id="30" name="TextBox 29"/>
          <p:cNvSpPr txBox="1"/>
          <p:nvPr/>
        </p:nvSpPr>
        <p:spPr>
          <a:xfrm>
            <a:off x="1914525" y="5800725"/>
            <a:ext cx="9525000" cy="28575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68645E"/>
                </a:solidFill>
                <a:latin typeface="Manrope"/>
              </a:rPr>
              <a:t>Employee reads existing context; the ticket is unchanged.</a:t>
            </a:r>
          </a:p>
        </p:txBody>
      </p:sp>
    </p:spTree>
  </p:cSld>
  <p:clrMapOvr>
    <a:masterClrMapping/>
  </p:clrMapOvr>
  <p:transition spd="med" advClick="0" advTm="20474"/>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1543"/>
                            </p:stCondLst>
                            <p:childTnLst>
                              <p:set>
                                <p:cBhvr>
                                  <p:cTn id="5" dur="1" fill="hold"/>
                                  <p:tgtEl>
                                    <p:spTgt spid="14"/>
                                  </p:tgtEl>
                                  <p:attrNameLst>
                                    <p:attrName>style.visibility</p:attrName>
                                  </p:attrNameLst>
                                </p:cBhvr>
                                <p:to>
                                  <p:strVal val="visible"/>
                                </p:to>
                              </p:set>
                              <p:animEffect transition="in" filter="fade">
                                <p:cBhvr>
                                  <p:cTn id="6" dur="350"/>
                                  <p:tgtEl>
                                    <p:spTgt spid="14"/>
                                  </p:tgtEl>
                                </p:cBhvr>
                              </p:animEffect>
                            </p:childTnLst>
                          </p:cTn>
                        </p:par>
                        <p:par>
                          <p:cTn id="7" presetID="10" presetClass="entr" presetSubtype="0" fill="hold" nodeType="withEffect">
                            <p:stCondLst>
                              <p:cond delay="1543"/>
                            </p:stCondLst>
                            <p:childTnLst>
                              <p:set>
                                <p:cBhvr>
                                  <p:cTn id="8" dur="1" fill="hold"/>
                                  <p:tgtEl>
                                    <p:spTgt spid="15"/>
                                  </p:tgtEl>
                                  <p:attrNameLst>
                                    <p:attrName>style.visibility</p:attrName>
                                  </p:attrNameLst>
                                </p:cBhvr>
                                <p:to>
                                  <p:strVal val="visible"/>
                                </p:to>
                              </p:set>
                              <p:animEffect transition="in" filter="fade">
                                <p:cBhvr>
                                  <p:cTn id="9" dur="350"/>
                                  <p:tgtEl>
                                    <p:spTgt spid="15"/>
                                  </p:tgtEl>
                                </p:cBhvr>
                              </p:animEffect>
                            </p:childTnLst>
                          </p:cTn>
                        </p:par>
                        <p:par>
                          <p:cTn id="10" presetID="10" presetClass="entr" presetSubtype="0" fill="hold" nodeType="withEffect">
                            <p:stCondLst>
                              <p:cond delay="1543"/>
                            </p:stCondLst>
                            <p:childTnLst>
                              <p:set>
                                <p:cBhvr>
                                  <p:cTn id="11" dur="1" fill="hold"/>
                                  <p:tgtEl>
                                    <p:spTgt spid="16"/>
                                  </p:tgtEl>
                                  <p:attrNameLst>
                                    <p:attrName>style.visibility</p:attrName>
                                  </p:attrNameLst>
                                </p:cBhvr>
                                <p:to>
                                  <p:strVal val="visible"/>
                                </p:to>
                              </p:set>
                              <p:animEffect transition="in" filter="fade">
                                <p:cBhvr>
                                  <p:cTn id="12" dur="350"/>
                                  <p:tgtEl>
                                    <p:spTgt spid="16"/>
                                  </p:tgtEl>
                                </p:cBhvr>
                              </p:animEffect>
                            </p:childTnLst>
                          </p:cTn>
                        </p:par>
                        <p:par>
                          <p:cTn id="13" presetID="10" presetClass="entr" presetSubtype="0" fill="hold" nodeType="withEffect">
                            <p:stCondLst>
                              <p:cond delay="1543"/>
                            </p:stCondLst>
                            <p:childTnLst>
                              <p:set>
                                <p:cBhvr>
                                  <p:cTn id="14" dur="1" fill="hold"/>
                                  <p:tgtEl>
                                    <p:spTgt spid="18"/>
                                  </p:tgtEl>
                                  <p:attrNameLst>
                                    <p:attrName>style.visibility</p:attrName>
                                  </p:attrNameLst>
                                </p:cBhvr>
                                <p:to>
                                  <p:strVal val="visible"/>
                                </p:to>
                              </p:set>
                              <p:animEffect transition="in" filter="fade">
                                <p:cBhvr>
                                  <p:cTn id="15" dur="350"/>
                                  <p:tgtEl>
                                    <p:spTgt spid="18"/>
                                  </p:tgtEl>
                                </p:cBhvr>
                              </p:animEffect>
                            </p:childTnLst>
                          </p:cTn>
                        </p:par>
                        <p:par>
                          <p:cTn id="16" presetID="10" presetClass="entr" presetSubtype="0" fill="hold" nodeType="withEffect">
                            <p:stCondLst>
                              <p:cond delay="1543"/>
                            </p:stCondLst>
                            <p:childTnLst>
                              <p:set>
                                <p:cBhvr>
                                  <p:cTn id="17" dur="1" fill="hold"/>
                                  <p:tgtEl>
                                    <p:spTgt spid="19"/>
                                  </p:tgtEl>
                                  <p:attrNameLst>
                                    <p:attrName>style.visibility</p:attrName>
                                  </p:attrNameLst>
                                </p:cBhvr>
                                <p:to>
                                  <p:strVal val="visible"/>
                                </p:to>
                              </p:set>
                              <p:animEffect transition="in" filter="fade">
                                <p:cBhvr>
                                  <p:cTn id="18" dur="350"/>
                                  <p:tgtEl>
                                    <p:spTgt spid="19"/>
                                  </p:tgtEl>
                                </p:cBhvr>
                              </p:animEffect>
                            </p:childTnLst>
                          </p:cTn>
                        </p:par>
                        <p:par>
                          <p:cTn id="19" presetID="10" presetClass="entr" presetSubtype="0" fill="hold" nodeType="withEffect">
                            <p:stCondLst>
                              <p:cond delay="5874"/>
                            </p:stCondLst>
                            <p:childTnLst>
                              <p:set>
                                <p:cBhvr>
                                  <p:cTn id="20" dur="1" fill="hold"/>
                                  <p:tgtEl>
                                    <p:spTgt spid="20"/>
                                  </p:tgtEl>
                                  <p:attrNameLst>
                                    <p:attrName>style.visibility</p:attrName>
                                  </p:attrNameLst>
                                </p:cBhvr>
                                <p:to>
                                  <p:strVal val="visible"/>
                                </p:to>
                              </p:set>
                              <p:animEffect transition="in" filter="fade">
                                <p:cBhvr>
                                  <p:cTn id="21" dur="350"/>
                                  <p:tgtEl>
                                    <p:spTgt spid="20"/>
                                  </p:tgtEl>
                                </p:cBhvr>
                              </p:animEffect>
                            </p:childTnLst>
                          </p:cTn>
                        </p:par>
                        <p:par>
                          <p:cTn id="22" presetID="10" presetClass="entr" presetSubtype="0" fill="hold" nodeType="withEffect">
                            <p:stCondLst>
                              <p:cond delay="5874"/>
                            </p:stCondLst>
                            <p:childTnLst>
                              <p:set>
                                <p:cBhvr>
                                  <p:cTn id="23" dur="1" fill="hold"/>
                                  <p:tgtEl>
                                    <p:spTgt spid="21"/>
                                  </p:tgtEl>
                                  <p:attrNameLst>
                                    <p:attrName>style.visibility</p:attrName>
                                  </p:attrNameLst>
                                </p:cBhvr>
                                <p:to>
                                  <p:strVal val="visible"/>
                                </p:to>
                              </p:set>
                              <p:animEffect transition="in" filter="fade">
                                <p:cBhvr>
                                  <p:cTn id="24" dur="350"/>
                                  <p:tgtEl>
                                    <p:spTgt spid="21"/>
                                  </p:tgtEl>
                                </p:cBhvr>
                              </p:animEffect>
                            </p:childTnLst>
                          </p:cTn>
                        </p:par>
                        <p:par>
                          <p:cTn id="25" presetID="10" presetClass="entr" presetSubtype="0" fill="hold" nodeType="withEffect">
                            <p:stCondLst>
                              <p:cond delay="8891"/>
                            </p:stCondLst>
                            <p:childTnLst>
                              <p:set>
                                <p:cBhvr>
                                  <p:cTn id="26" dur="1" fill="hold"/>
                                  <p:tgtEl>
                                    <p:spTgt spid="22"/>
                                  </p:tgtEl>
                                  <p:attrNameLst>
                                    <p:attrName>style.visibility</p:attrName>
                                  </p:attrNameLst>
                                </p:cBhvr>
                                <p:to>
                                  <p:strVal val="visible"/>
                                </p:to>
                              </p:set>
                              <p:animEffect transition="in" filter="fade">
                                <p:cBhvr>
                                  <p:cTn id="27" dur="350"/>
                                  <p:tgtEl>
                                    <p:spTgt spid="22"/>
                                  </p:tgtEl>
                                </p:cBhvr>
                              </p:animEffect>
                            </p:childTnLst>
                          </p:cTn>
                        </p:par>
                        <p:par>
                          <p:cTn id="28" presetID="10" presetClass="entr" presetSubtype="0" fill="hold" nodeType="withEffect">
                            <p:stCondLst>
                              <p:cond delay="8891"/>
                            </p:stCondLst>
                            <p:childTnLst>
                              <p:set>
                                <p:cBhvr>
                                  <p:cTn id="29" dur="1" fill="hold"/>
                                  <p:tgtEl>
                                    <p:spTgt spid="23"/>
                                  </p:tgtEl>
                                  <p:attrNameLst>
                                    <p:attrName>style.visibility</p:attrName>
                                  </p:attrNameLst>
                                </p:cBhvr>
                                <p:to>
                                  <p:strVal val="visible"/>
                                </p:to>
                              </p:set>
                              <p:animEffect transition="in" filter="fade">
                                <p:cBhvr>
                                  <p:cTn id="30" dur="350"/>
                                  <p:tgtEl>
                                    <p:spTgt spid="23"/>
                                  </p:tgtEl>
                                </p:cBhvr>
                              </p:animEffect>
                            </p:childTnLst>
                          </p:cTn>
                        </p:par>
                        <p:par>
                          <p:cTn id="31" presetID="10" presetClass="entr" presetSubtype="0" fill="hold" nodeType="withEffect">
                            <p:stCondLst>
                              <p:cond delay="8891"/>
                            </p:stCondLst>
                            <p:childTnLst>
                              <p:set>
                                <p:cBhvr>
                                  <p:cTn id="32" dur="1" fill="hold"/>
                                  <p:tgtEl>
                                    <p:spTgt spid="24"/>
                                  </p:tgtEl>
                                  <p:attrNameLst>
                                    <p:attrName>style.visibility</p:attrName>
                                  </p:attrNameLst>
                                </p:cBhvr>
                                <p:to>
                                  <p:strVal val="visible"/>
                                </p:to>
                              </p:set>
                              <p:animEffect transition="in" filter="fade">
                                <p:cBhvr>
                                  <p:cTn id="33" dur="350"/>
                                  <p:tgtEl>
                                    <p:spTgt spid="24"/>
                                  </p:tgtEl>
                                </p:cBhvr>
                              </p:animEffect>
                            </p:childTnLst>
                          </p:cTn>
                        </p:par>
                        <p:par>
                          <p:cTn id="34" presetID="10" presetClass="entr" presetSubtype="0" fill="hold" nodeType="withEffect">
                            <p:stCondLst>
                              <p:cond delay="8891"/>
                            </p:stCondLst>
                            <p:childTnLst>
                              <p:set>
                                <p:cBhvr>
                                  <p:cTn id="35" dur="1" fill="hold"/>
                                  <p:tgtEl>
                                    <p:spTgt spid="25"/>
                                  </p:tgtEl>
                                  <p:attrNameLst>
                                    <p:attrName>style.visibility</p:attrName>
                                  </p:attrNameLst>
                                </p:cBhvr>
                                <p:to>
                                  <p:strVal val="visible"/>
                                </p:to>
                              </p:set>
                              <p:animEffect transition="in" filter="fade">
                                <p:cBhvr>
                                  <p:cTn id="36" dur="350"/>
                                  <p:tgtEl>
                                    <p:spTgt spid="25"/>
                                  </p:tgtEl>
                                </p:cBhvr>
                              </p:animEffect>
                            </p:childTnLst>
                          </p:cTn>
                        </p:par>
                        <p:par>
                          <p:cTn id="37" presetID="10" presetClass="entr" presetSubtype="0" fill="hold" nodeType="withEffect">
                            <p:stCondLst>
                              <p:cond delay="15870"/>
                            </p:stCondLst>
                            <p:childTnLst>
                              <p:set>
                                <p:cBhvr>
                                  <p:cTn id="38" dur="1" fill="hold"/>
                                  <p:tgtEl>
                                    <p:spTgt spid="26"/>
                                  </p:tgtEl>
                                  <p:attrNameLst>
                                    <p:attrName>style.visibility</p:attrName>
                                  </p:attrNameLst>
                                </p:cBhvr>
                                <p:to>
                                  <p:strVal val="visible"/>
                                </p:to>
                              </p:set>
                              <p:animEffect transition="in" filter="fade">
                                <p:cBhvr>
                                  <p:cTn id="39" dur="350"/>
                                  <p:tgtEl>
                                    <p:spTgt spid="26"/>
                                  </p:tgtEl>
                                </p:cBhvr>
                              </p:animEffect>
                            </p:childTnLst>
                          </p:cTn>
                        </p:par>
                        <p:par>
                          <p:cTn id="40" presetID="10" presetClass="entr" presetSubtype="0" fill="hold" nodeType="withEffect">
                            <p:stCondLst>
                              <p:cond delay="15870"/>
                            </p:stCondLst>
                            <p:childTnLst>
                              <p:set>
                                <p:cBhvr>
                                  <p:cTn id="41" dur="1" fill="hold"/>
                                  <p:tgtEl>
                                    <p:spTgt spid="27"/>
                                  </p:tgtEl>
                                  <p:attrNameLst>
                                    <p:attrName>style.visibility</p:attrName>
                                  </p:attrNameLst>
                                </p:cBhvr>
                                <p:to>
                                  <p:strVal val="visible"/>
                                </p:to>
                              </p:set>
                              <p:animEffect transition="in" filter="fade">
                                <p:cBhvr>
                                  <p:cTn id="42" dur="350"/>
                                  <p:tgtEl>
                                    <p:spTgt spid="27"/>
                                  </p:tgtEl>
                                </p:cBhvr>
                              </p:animEffect>
                            </p:childTnLst>
                          </p:cTn>
                        </p:par>
                        <p:par>
                          <p:cTn id="43" presetID="10" presetClass="entr" presetSubtype="0" fill="hold" nodeType="withEffect">
                            <p:stCondLst>
                              <p:cond delay="15870"/>
                            </p:stCondLst>
                            <p:childTnLst>
                              <p:set>
                                <p:cBhvr>
                                  <p:cTn id="44" dur="1" fill="hold"/>
                                  <p:tgtEl>
                                    <p:spTgt spid="28"/>
                                  </p:tgtEl>
                                  <p:attrNameLst>
                                    <p:attrName>style.visibility</p:attrName>
                                  </p:attrNameLst>
                                </p:cBhvr>
                                <p:to>
                                  <p:strVal val="visible"/>
                                </p:to>
                              </p:set>
                              <p:animEffect transition="in" filter="fade">
                                <p:cBhvr>
                                  <p:cTn id="45" dur="350"/>
                                  <p:tgtEl>
                                    <p:spTgt spid="28"/>
                                  </p:tgtEl>
                                </p:cBhvr>
                              </p:animEffect>
                            </p:childTnLst>
                          </p:cTn>
                        </p:par>
                        <p:par>
                          <p:cTn id="46" presetID="10" presetClass="entr" presetSubtype="0" fill="hold" nodeType="withEffect">
                            <p:stCondLst>
                              <p:cond delay="15870"/>
                            </p:stCondLst>
                            <p:childTnLst>
                              <p:set>
                                <p:cBhvr>
                                  <p:cTn id="47" dur="1" fill="hold"/>
                                  <p:tgtEl>
                                    <p:spTgt spid="29"/>
                                  </p:tgtEl>
                                  <p:attrNameLst>
                                    <p:attrName>style.visibility</p:attrName>
                                  </p:attrNameLst>
                                </p:cBhvr>
                                <p:to>
                                  <p:strVal val="visible"/>
                                </p:to>
                              </p:set>
                              <p:animEffect transition="in" filter="fade">
                                <p:cBhvr>
                                  <p:cTn id="48" dur="350"/>
                                  <p:tgtEl>
                                    <p:spTgt spid="29"/>
                                  </p:tgtEl>
                                </p:cBhvr>
                              </p:animEffect>
                            </p:childTnLst>
                          </p:cTn>
                        </p:par>
                        <p:par>
                          <p:cTn id="49" presetID="10" presetClass="entr" presetSubtype="0" fill="hold" nodeType="withEffect">
                            <p:stCondLst>
                              <p:cond delay="15870"/>
                            </p:stCondLst>
                            <p:childTnLst>
                              <p:set>
                                <p:cBhvr>
                                  <p:cTn id="50" dur="1" fill="hold"/>
                                  <p:tgtEl>
                                    <p:spTgt spid="30"/>
                                  </p:tgtEl>
                                  <p:attrNameLst>
                                    <p:attrName>style.visibility</p:attrName>
                                  </p:attrNameLst>
                                </p:cBhvr>
                                <p:to>
                                  <p:strVal val="visible"/>
                                </p:to>
                              </p:set>
                              <p:animEffect transition="in" filter="fade">
                                <p:cBhvr>
                                  <p:cTn id="51" dur="350"/>
                                  <p:tgtEl>
                                    <p:spTgt spid="30"/>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457200" y="258762"/>
            <a:ext cx="409575" cy="273050"/>
          </a:xfrm>
          <a:prstGeom prst="rect">
            <a:avLst/>
          </a:prstGeom>
          <a:effectLst/>
        </p:spPr>
      </p:pic>
      <p:sp>
        <p:nvSpPr>
          <p:cNvPr id="3" name="TextBox 2"/>
          <p:cNvSpPr txBox="1"/>
          <p:nvPr/>
        </p:nvSpPr>
        <p:spPr>
          <a:xfrm>
            <a:off x="990600" y="276225"/>
            <a:ext cx="2095500" cy="295275"/>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1" lang="en-US">
                <a:solidFill>
                  <a:srgbClr val="262626"/>
                </a:solidFill>
                <a:latin typeface="Manrope"/>
              </a:rPr>
              <a:t>GRINDCTRL</a:t>
            </a:r>
          </a:p>
        </p:txBody>
      </p:sp>
      <p:sp>
        <p:nvSpPr>
          <p:cNvPr id="4" name="TextBox 3"/>
          <p:cNvSpPr txBox="1"/>
          <p:nvPr/>
        </p:nvSpPr>
        <p:spPr>
          <a:xfrm>
            <a:off x="6572250" y="276225"/>
            <a:ext cx="5162550" cy="28575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Current and proposed, side by side</a:t>
            </a:r>
          </a:p>
        </p:txBody>
      </p:sp>
      <p:sp>
        <p:nvSpPr>
          <p:cNvPr id="5" name="TextBox 4"/>
          <p:cNvSpPr txBox="1"/>
          <p:nvPr/>
        </p:nvSpPr>
        <p:spPr>
          <a:xfrm>
            <a:off x="457200" y="866775"/>
            <a:ext cx="11277600" cy="619125"/>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62626"/>
                </a:solidFill>
                <a:latin typeface="Manrope"/>
              </a:rPr>
              <a:t>Same customer. Same ticket. A clearer start.</a:t>
            </a:r>
          </a:p>
        </p:txBody>
      </p:sp>
      <p:cxnSp>
        <p:nvCxnSpPr>
          <p:cNvPr id="6" name="Connector 5"/>
          <p:cNvCxnSpPr/>
          <p:nvPr/>
        </p:nvCxnSpPr>
        <p:spPr>
          <a:xfrm>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6505575"/>
            <a:ext cx="10287000" cy="22860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en-US">
                <a:solidFill>
                  <a:srgbClr val="68645E"/>
                </a:solidFill>
                <a:latin typeface="Manrope"/>
              </a:rPr>
              <a:t>Concrete · Proposed collaboration · Illustrative UI and fictional records</a:t>
            </a:r>
          </a:p>
        </p:txBody>
      </p:sp>
      <p:sp>
        <p:nvSpPr>
          <p:cNvPr id="8" name="TextBox 7"/>
          <p:cNvSpPr txBox="1"/>
          <p:nvPr/>
        </p:nvSpPr>
        <p:spPr>
          <a:xfrm>
            <a:off x="10953750" y="6505575"/>
            <a:ext cx="781050" cy="238125"/>
          </a:xfrm>
          <a:prstGeom prst="rect">
            <a:avLst/>
          </a:prstGeom>
          <a:noFill/>
          <a:effectLst/>
        </p:spPr>
        <p:txBody>
          <a:bodyPr wrap="square" lIns="0" rIns="0" tIns="0" bIns="0" anchor="t">
            <a:spAutoFit/>
          </a:bodyPr>
          <a:lstStyle/>
          <a:p>
            <a:pPr algn="r" rtl="0">
              <a:lnSpc>
                <a:spcPts val="1260"/>
              </a:lnSpc>
              <a:spcBef>
                <a:spcPts val="0"/>
              </a:spcBef>
              <a:spcAft>
                <a:spcPts val="0"/>
              </a:spcAft>
            </a:pPr>
            <a:r>
              <a:rPr sz="1125" b="0" lang="en-US">
                <a:solidFill>
                  <a:srgbClr val="68645E"/>
                </a:solidFill>
                <a:latin typeface="Manrope"/>
              </a:rPr>
              <a:t>05 / 07</a:t>
            </a:r>
          </a:p>
        </p:txBody>
      </p:sp>
      <p:sp>
        <p:nvSpPr>
          <p:cNvPr id="9" name="TextBox 8"/>
          <p:cNvSpPr txBox="1"/>
          <p:nvPr/>
        </p:nvSpPr>
        <p:spPr>
          <a:xfrm>
            <a:off x="457200" y="1695450"/>
            <a:ext cx="5334000" cy="390525"/>
          </a:xfrm>
          <a:prstGeom prst="rect">
            <a:avLst/>
          </a:prstGeom>
          <a:noFill/>
          <a:effectLst/>
        </p:spPr>
        <p:txBody>
          <a:bodyPr wrap="square" lIns="0" rIns="0" tIns="0" bIns="0" anchor="t">
            <a:spAutoFit/>
          </a:bodyPr>
          <a:lstStyle/>
          <a:p>
            <a:pPr algn="l" rtl="0">
              <a:lnSpc>
                <a:spcPts val="2184"/>
              </a:lnSpc>
              <a:spcBef>
                <a:spcPts val="0"/>
              </a:spcBef>
              <a:spcAft>
                <a:spcPts val="0"/>
              </a:spcAft>
            </a:pPr>
            <a:r>
              <a:rPr sz="1950" b="1" lang="en-US">
                <a:solidFill>
                  <a:srgbClr val="68645E"/>
                </a:solidFill>
                <a:latin typeface="Manrope"/>
              </a:rPr>
              <a:t>Current</a:t>
            </a:r>
          </a:p>
        </p:txBody>
      </p:sp>
      <p:sp>
        <p:nvSpPr>
          <p:cNvPr id="10" name="Rounded Rectangle 9"/>
          <p:cNvSpPr/>
          <p:nvPr/>
        </p:nvSpPr>
        <p:spPr>
          <a:xfrm>
            <a:off x="457200" y="2286000"/>
            <a:ext cx="5334000" cy="3609975"/>
          </a:xfrm>
          <a:prstGeom prst="roundRect">
            <a:avLst>
              <a:gd name="adj" fmla="val 3166"/>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666750" y="2506312"/>
            <a:ext cx="1209675" cy="235651"/>
          </a:xfrm>
          <a:prstGeom prst="rect">
            <a:avLst/>
          </a:prstGeom>
          <a:effectLst/>
        </p:spPr>
      </p:pic>
      <p:pic>
        <p:nvPicPr>
          <p:cNvPr id="12" name="Picture 11" descr="icon-call.png"/>
          <p:cNvPicPr>
            <a:picLocks noChangeAspect="1"/>
          </p:cNvPicPr>
          <p:nvPr/>
        </p:nvPicPr>
        <p:blipFill>
          <a:blip r:embed="rId4"/>
          <a:stretch>
            <a:fillRect/>
          </a:stretch>
        </p:blipFill>
        <p:spPr>
          <a:xfrm>
            <a:off x="666750" y="3114675"/>
            <a:ext cx="342900" cy="342900"/>
          </a:xfrm>
          <a:prstGeom prst="rect">
            <a:avLst/>
          </a:prstGeom>
          <a:effectLst/>
        </p:spPr>
      </p:pic>
      <p:sp>
        <p:nvSpPr>
          <p:cNvPr id="13" name="TextBox 12"/>
          <p:cNvSpPr txBox="1"/>
          <p:nvPr/>
        </p:nvSpPr>
        <p:spPr>
          <a:xfrm>
            <a:off x="1228725" y="3143250"/>
            <a:ext cx="4191000" cy="400050"/>
          </a:xfrm>
          <a:prstGeom prst="rect">
            <a:avLst/>
          </a:prstGeom>
          <a:noFill/>
          <a:effectLst/>
        </p:spPr>
        <p:txBody>
          <a:bodyPr wrap="square" lIns="0" rIns="0" tIns="0" bIns="0" anchor="t">
            <a:spAutoFit/>
          </a:bodyPr>
          <a:lstStyle/>
          <a:p>
            <a:pPr algn="l" rtl="0">
              <a:lnSpc>
                <a:spcPts val="2268"/>
              </a:lnSpc>
              <a:spcBef>
                <a:spcPts val="0"/>
              </a:spcBef>
              <a:spcAft>
                <a:spcPts val="0"/>
              </a:spcAft>
            </a:pPr>
            <a:r>
              <a:rPr sz="2025" b="1" lang="en-US">
                <a:solidFill>
                  <a:srgbClr val="262626"/>
                </a:solidFill>
                <a:latin typeface="Manrope"/>
              </a:rPr>
              <a:t>+20 ••• 410</a:t>
            </a:r>
          </a:p>
        </p:txBody>
      </p:sp>
      <p:sp>
        <p:nvSpPr>
          <p:cNvPr id="14" name="Rounded Rectangle 13"/>
          <p:cNvSpPr/>
          <p:nvPr/>
        </p:nvSpPr>
        <p:spPr>
          <a:xfrm>
            <a:off x="1162050" y="3771900"/>
            <a:ext cx="4438650" cy="1943100"/>
          </a:xfrm>
          <a:prstGeom prst="roundRect">
            <a:avLst>
              <a:gd name="adj" fmla="val 4901"/>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zoho.png"/>
          <p:cNvPicPr>
            <a:picLocks noChangeAspect="1"/>
          </p:cNvPicPr>
          <p:nvPr/>
        </p:nvPicPr>
        <p:blipFill>
          <a:blip r:embed="rId5"/>
          <a:stretch>
            <a:fillRect/>
          </a:stretch>
        </p:blipFill>
        <p:spPr>
          <a:xfrm>
            <a:off x="1392988" y="3924300"/>
            <a:ext cx="576349" cy="247650"/>
          </a:xfrm>
          <a:prstGeom prst="rect">
            <a:avLst/>
          </a:prstGeom>
          <a:effectLst/>
        </p:spPr>
      </p:pic>
      <p:sp>
        <p:nvSpPr>
          <p:cNvPr id="16" name="Rounded Rectangle 15"/>
          <p:cNvSpPr/>
          <p:nvPr/>
        </p:nvSpPr>
        <p:spPr>
          <a:xfrm>
            <a:off x="1343025" y="4314825"/>
            <a:ext cx="4076700" cy="533400"/>
          </a:xfrm>
          <a:prstGeom prst="roundRect">
            <a:avLst>
              <a:gd name="adj" fmla="val 12000"/>
            </a:avLst>
          </a:prstGeom>
          <a:solidFill>
            <a:srgbClr val="FFFFFF"/>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icon-search.png"/>
          <p:cNvPicPr>
            <a:picLocks noChangeAspect="1"/>
          </p:cNvPicPr>
          <p:nvPr/>
        </p:nvPicPr>
        <p:blipFill>
          <a:blip r:embed="rId6"/>
          <a:stretch>
            <a:fillRect/>
          </a:stretch>
        </p:blipFill>
        <p:spPr>
          <a:xfrm>
            <a:off x="1485900" y="4457700"/>
            <a:ext cx="228600" cy="228600"/>
          </a:xfrm>
          <a:prstGeom prst="rect">
            <a:avLst/>
          </a:prstGeom>
          <a:effectLst/>
        </p:spPr>
      </p:pic>
      <p:sp>
        <p:nvSpPr>
          <p:cNvPr id="18" name="TextBox 17"/>
          <p:cNvSpPr txBox="1"/>
          <p:nvPr/>
        </p:nvSpPr>
        <p:spPr>
          <a:xfrm>
            <a:off x="1885950" y="4410075"/>
            <a:ext cx="2981325" cy="361950"/>
          </a:xfrm>
          <a:prstGeom prst="rect">
            <a:avLst/>
          </a:prstGeom>
          <a:noFill/>
          <a:effectLst/>
        </p:spPr>
        <p:txBody>
          <a:bodyPr wrap="square" lIns="0" rIns="0" tIns="0" bIns="0" anchor="t">
            <a:spAutoFit/>
          </a:bodyPr>
          <a:lstStyle/>
          <a:p>
            <a:pPr algn="l" rtl="0">
              <a:lnSpc>
                <a:spcPts val="2184"/>
              </a:lnSpc>
              <a:spcBef>
                <a:spcPts val="0"/>
              </a:spcBef>
              <a:spcAft>
                <a:spcPts val="0"/>
              </a:spcAft>
            </a:pPr>
            <a:r>
              <a:rPr sz="1950" b="0" lang="en-US">
                <a:solidFill>
                  <a:srgbClr val="262626"/>
                </a:solidFill>
                <a:latin typeface="Manrope"/>
              </a:rPr>
              <a:t>+20 ••• 410</a:t>
            </a:r>
          </a:p>
        </p:txBody>
      </p:sp>
      <p:pic>
        <p:nvPicPr>
          <p:cNvPr id="19" name="Picture 18" descr="icon-pointer.png"/>
          <p:cNvPicPr>
            <a:picLocks noChangeAspect="1"/>
          </p:cNvPicPr>
          <p:nvPr/>
        </p:nvPicPr>
        <p:blipFill>
          <a:blip r:embed="rId7"/>
          <a:stretch>
            <a:fillRect/>
          </a:stretch>
        </p:blipFill>
        <p:spPr>
          <a:xfrm>
            <a:off x="4857750" y="4629150"/>
            <a:ext cx="342900" cy="342900"/>
          </a:xfrm>
          <a:prstGeom prst="rect">
            <a:avLst/>
          </a:prstGeom>
          <a:effectLst/>
        </p:spPr>
      </p:pic>
      <p:sp>
        <p:nvSpPr>
          <p:cNvPr id="20" name="TextBox 19"/>
          <p:cNvSpPr txBox="1"/>
          <p:nvPr/>
        </p:nvSpPr>
        <p:spPr>
          <a:xfrm>
            <a:off x="1343025" y="5019675"/>
            <a:ext cx="4000500" cy="323850"/>
          </a:xfrm>
          <a:prstGeom prst="rect">
            <a:avLst/>
          </a:prstGeom>
          <a:noFill/>
          <a:effectLst/>
        </p:spPr>
        <p:txBody>
          <a:bodyPr wrap="square" lIns="0" rIns="0" tIns="0" bIns="0" anchor="t">
            <a:spAutoFit/>
          </a:bodyPr>
          <a:lstStyle/>
          <a:p>
            <a:pPr algn="l" rtl="0">
              <a:lnSpc>
                <a:spcPts val="1848"/>
              </a:lnSpc>
              <a:spcBef>
                <a:spcPts val="0"/>
              </a:spcBef>
              <a:spcAft>
                <a:spcPts val="0"/>
              </a:spcAft>
            </a:pPr>
            <a:r>
              <a:rPr sz="1650" b="1" lang="en-US">
                <a:solidFill>
                  <a:srgbClr val="262626"/>
                </a:solidFill>
                <a:latin typeface="Manrope"/>
              </a:rPr>
              <a:t>T101 · Exchange follow-up</a:t>
            </a:r>
          </a:p>
        </p:txBody>
      </p:sp>
      <p:sp>
        <p:nvSpPr>
          <p:cNvPr id="21" name="TextBox 20"/>
          <p:cNvSpPr txBox="1"/>
          <p:nvPr/>
        </p:nvSpPr>
        <p:spPr>
          <a:xfrm>
            <a:off x="1343025" y="5400675"/>
            <a:ext cx="4000500" cy="2667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965318"/>
                </a:solidFill>
                <a:latin typeface="Manrope"/>
              </a:rPr>
              <a:t>Note: Branch review pending.</a:t>
            </a:r>
          </a:p>
        </p:txBody>
      </p:sp>
      <p:sp>
        <p:nvSpPr>
          <p:cNvPr id="22" name="TextBox 21"/>
          <p:cNvSpPr txBox="1"/>
          <p:nvPr/>
        </p:nvSpPr>
        <p:spPr>
          <a:xfrm>
            <a:off x="6400800" y="1695450"/>
            <a:ext cx="5334000" cy="390525"/>
          </a:xfrm>
          <a:prstGeom prst="rect">
            <a:avLst/>
          </a:prstGeom>
          <a:noFill/>
          <a:effectLst/>
        </p:spPr>
        <p:txBody>
          <a:bodyPr wrap="square" lIns="0" rIns="0" tIns="0" bIns="0" anchor="t">
            <a:spAutoFit/>
          </a:bodyPr>
          <a:lstStyle/>
          <a:p>
            <a:pPr algn="l" rtl="0">
              <a:lnSpc>
                <a:spcPts val="2184"/>
              </a:lnSpc>
              <a:spcBef>
                <a:spcPts val="0"/>
              </a:spcBef>
              <a:spcAft>
                <a:spcPts val="0"/>
              </a:spcAft>
            </a:pPr>
            <a:r>
              <a:rPr sz="1950" b="1" lang="en-US">
                <a:solidFill>
                  <a:srgbClr val="49654E"/>
                </a:solidFill>
                <a:latin typeface="Manrope"/>
              </a:rPr>
              <a:t>Proposed</a:t>
            </a:r>
          </a:p>
        </p:txBody>
      </p:sp>
      <p:sp>
        <p:nvSpPr>
          <p:cNvPr id="23" name="Rounded Rectangle 22"/>
          <p:cNvSpPr/>
          <p:nvPr/>
        </p:nvSpPr>
        <p:spPr>
          <a:xfrm>
            <a:off x="6400800" y="2286000"/>
            <a:ext cx="5334000" cy="3609975"/>
          </a:xfrm>
          <a:prstGeom prst="roundRect">
            <a:avLst>
              <a:gd name="adj" fmla="val 3166"/>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genesys.png"/>
          <p:cNvPicPr>
            <a:picLocks noChangeAspect="1"/>
          </p:cNvPicPr>
          <p:nvPr/>
        </p:nvPicPr>
        <p:blipFill>
          <a:blip r:embed="rId3"/>
          <a:stretch>
            <a:fillRect/>
          </a:stretch>
        </p:blipFill>
        <p:spPr>
          <a:xfrm>
            <a:off x="6610350" y="2506312"/>
            <a:ext cx="1209675" cy="235651"/>
          </a:xfrm>
          <a:prstGeom prst="rect">
            <a:avLst/>
          </a:prstGeom>
          <a:effectLst/>
        </p:spPr>
      </p:pic>
      <p:pic>
        <p:nvPicPr>
          <p:cNvPr id="25" name="Picture 24" descr="icon-call.png"/>
          <p:cNvPicPr>
            <a:picLocks noChangeAspect="1"/>
          </p:cNvPicPr>
          <p:nvPr/>
        </p:nvPicPr>
        <p:blipFill>
          <a:blip r:embed="rId4"/>
          <a:stretch>
            <a:fillRect/>
          </a:stretch>
        </p:blipFill>
        <p:spPr>
          <a:xfrm>
            <a:off x="6610350" y="3114675"/>
            <a:ext cx="342900" cy="342900"/>
          </a:xfrm>
          <a:prstGeom prst="rect">
            <a:avLst/>
          </a:prstGeom>
          <a:effectLst/>
        </p:spPr>
      </p:pic>
      <p:sp>
        <p:nvSpPr>
          <p:cNvPr id="26" name="TextBox 25"/>
          <p:cNvSpPr txBox="1"/>
          <p:nvPr/>
        </p:nvSpPr>
        <p:spPr>
          <a:xfrm>
            <a:off x="7172325" y="3143250"/>
            <a:ext cx="4191000" cy="400050"/>
          </a:xfrm>
          <a:prstGeom prst="rect">
            <a:avLst/>
          </a:prstGeom>
          <a:noFill/>
          <a:effectLst/>
        </p:spPr>
        <p:txBody>
          <a:bodyPr wrap="square" lIns="0" rIns="0" tIns="0" bIns="0" anchor="t">
            <a:spAutoFit/>
          </a:bodyPr>
          <a:lstStyle/>
          <a:p>
            <a:pPr algn="l" rtl="0">
              <a:lnSpc>
                <a:spcPts val="2268"/>
              </a:lnSpc>
              <a:spcBef>
                <a:spcPts val="0"/>
              </a:spcBef>
              <a:spcAft>
                <a:spcPts val="0"/>
              </a:spcAft>
            </a:pPr>
            <a:r>
              <a:rPr sz="2025" b="1" lang="en-US">
                <a:solidFill>
                  <a:srgbClr val="262626"/>
                </a:solidFill>
                <a:latin typeface="Manrope"/>
              </a:rPr>
              <a:t>+20 ••• 410</a:t>
            </a:r>
          </a:p>
        </p:txBody>
      </p:sp>
      <p:cxnSp>
        <p:nvCxnSpPr>
          <p:cNvPr id="27" name="Connector 26"/>
          <p:cNvCxnSpPr/>
          <p:nvPr/>
        </p:nvCxnSpPr>
        <p:spPr>
          <a:xfrm>
            <a:off x="6610350" y="3790950"/>
            <a:ext cx="49149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28" name="Picture 27" descr="zoho.png"/>
          <p:cNvPicPr>
            <a:picLocks noChangeAspect="1"/>
          </p:cNvPicPr>
          <p:nvPr/>
        </p:nvPicPr>
        <p:blipFill>
          <a:blip r:embed="rId5"/>
          <a:stretch>
            <a:fillRect/>
          </a:stretch>
        </p:blipFill>
        <p:spPr>
          <a:xfrm>
            <a:off x="6665075" y="3971925"/>
            <a:ext cx="576349" cy="247650"/>
          </a:xfrm>
          <a:prstGeom prst="rect">
            <a:avLst/>
          </a:prstGeom>
          <a:effectLst/>
        </p:spPr>
      </p:pic>
      <p:sp>
        <p:nvSpPr>
          <p:cNvPr id="29" name="TextBox 28"/>
          <p:cNvSpPr txBox="1"/>
          <p:nvPr/>
        </p:nvSpPr>
        <p:spPr>
          <a:xfrm>
            <a:off x="7458075" y="3933825"/>
            <a:ext cx="4067175" cy="352425"/>
          </a:xfrm>
          <a:prstGeom prst="rect">
            <a:avLst/>
          </a:prstGeom>
          <a:noFill/>
          <a:effectLst/>
        </p:spPr>
        <p:txBody>
          <a:bodyPr wrap="square" lIns="0" rIns="0" tIns="0" bIns="0" anchor="t">
            <a:spAutoFit/>
          </a:bodyPr>
          <a:lstStyle/>
          <a:p>
            <a:pPr algn="l" rtl="0">
              <a:lnSpc>
                <a:spcPts val="1848"/>
              </a:lnSpc>
              <a:spcBef>
                <a:spcPts val="0"/>
              </a:spcBef>
              <a:spcAft>
                <a:spcPts val="0"/>
              </a:spcAft>
            </a:pPr>
            <a:r>
              <a:rPr sz="1650" b="1" lang="en-US">
                <a:solidFill>
                  <a:srgbClr val="262626"/>
                </a:solidFill>
                <a:latin typeface="Manrope"/>
              </a:rPr>
              <a:t>T101 · Exchange follow-up</a:t>
            </a:r>
          </a:p>
        </p:txBody>
      </p:sp>
      <p:sp>
        <p:nvSpPr>
          <p:cNvPr id="30" name="Rounded Rectangle 29"/>
          <p:cNvSpPr/>
          <p:nvPr/>
        </p:nvSpPr>
        <p:spPr>
          <a:xfrm>
            <a:off x="6610350" y="4495800"/>
            <a:ext cx="4914900" cy="1114425"/>
          </a:xfrm>
          <a:prstGeom prst="roundRect">
            <a:avLst>
              <a:gd name="adj" fmla="val 6837"/>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1" name="Picture 30" descr="icon-file.png"/>
          <p:cNvPicPr>
            <a:picLocks noChangeAspect="1"/>
          </p:cNvPicPr>
          <p:nvPr/>
        </p:nvPicPr>
        <p:blipFill>
          <a:blip r:embed="rId8"/>
          <a:stretch>
            <a:fillRect/>
          </a:stretch>
        </p:blipFill>
        <p:spPr>
          <a:xfrm>
            <a:off x="6791325" y="4657725"/>
            <a:ext cx="247650" cy="247650"/>
          </a:xfrm>
          <a:prstGeom prst="rect">
            <a:avLst/>
          </a:prstGeom>
          <a:effectLst/>
        </p:spPr>
      </p:pic>
      <p:sp>
        <p:nvSpPr>
          <p:cNvPr id="32" name="TextBox 31"/>
          <p:cNvSpPr txBox="1"/>
          <p:nvPr/>
        </p:nvSpPr>
        <p:spPr>
          <a:xfrm>
            <a:off x="7191375" y="4629150"/>
            <a:ext cx="3876675"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965318"/>
                </a:solidFill>
                <a:latin typeface="Manrope"/>
              </a:rPr>
              <a:t>Latest recorded note</a:t>
            </a:r>
          </a:p>
        </p:txBody>
      </p:sp>
      <p:sp>
        <p:nvSpPr>
          <p:cNvPr id="33" name="TextBox 32"/>
          <p:cNvSpPr txBox="1"/>
          <p:nvPr/>
        </p:nvSpPr>
        <p:spPr>
          <a:xfrm>
            <a:off x="6791325" y="5095875"/>
            <a:ext cx="4467225" cy="361950"/>
          </a:xfrm>
          <a:prstGeom prst="rect">
            <a:avLst/>
          </a:prstGeom>
          <a:noFill/>
          <a:effectLst/>
        </p:spPr>
        <p:txBody>
          <a:bodyPr wrap="square" lIns="0" rIns="0" tIns="0" bIns="0" anchor="t">
            <a:spAutoFit/>
          </a:bodyPr>
          <a:lstStyle/>
          <a:p>
            <a:pPr algn="l" rtl="0">
              <a:lnSpc>
                <a:spcPts val="2100"/>
              </a:lnSpc>
              <a:spcBef>
                <a:spcPts val="0"/>
              </a:spcBef>
              <a:spcAft>
                <a:spcPts val="0"/>
              </a:spcAft>
            </a:pPr>
            <a:r>
              <a:rPr sz="1875" b="1" lang="en-US">
                <a:solidFill>
                  <a:srgbClr val="262626"/>
                </a:solidFill>
                <a:latin typeface="Manrope"/>
              </a:rPr>
              <a:t>Branch review still pending.</a:t>
            </a:r>
          </a:p>
        </p:txBody>
      </p:sp>
      <p:sp>
        <p:nvSpPr>
          <p:cNvPr id="34" name="Rounded Rectangle 33"/>
          <p:cNvSpPr/>
          <p:nvPr/>
        </p:nvSpPr>
        <p:spPr>
          <a:xfrm>
            <a:off x="6600825" y="4486275"/>
            <a:ext cx="4933950" cy="1133475"/>
          </a:xfrm>
          <a:prstGeom prst="roundRect">
            <a:avLst>
              <a:gd name="adj" fmla="val 10000"/>
            </a:avLst>
          </a:prstGeom>
          <a:noFill/>
          <a:ln w="19050">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457200" y="6048375"/>
            <a:ext cx="11277600" cy="295275"/>
          </a:xfrm>
          <a:prstGeom prst="rect">
            <a:avLst/>
          </a:prstGeom>
          <a:noFill/>
          <a:effectLst/>
        </p:spPr>
        <p:txBody>
          <a:bodyPr wrap="square" lIns="0" rIns="0" tIns="0" bIns="0" anchor="t">
            <a:spAutoFit/>
          </a:bodyPr>
          <a:lstStyle/>
          <a:p>
            <a:pPr algn="l" rtl="0">
              <a:lnSpc>
                <a:spcPts val="1848"/>
              </a:lnSpc>
              <a:spcBef>
                <a:spcPts val="0"/>
              </a:spcBef>
              <a:spcAft>
                <a:spcPts val="0"/>
              </a:spcAft>
            </a:pPr>
            <a:r>
              <a:rPr sz="1650" b="0" lang="en-US">
                <a:solidFill>
                  <a:srgbClr val="965318"/>
                </a:solidFill>
                <a:latin typeface="Manrope"/>
              </a:rPr>
              <a:t>Existing records, available during the call.</a:t>
            </a:r>
          </a:p>
        </p:txBody>
      </p:sp>
    </p:spTree>
  </p:cSld>
  <p:clrMapOvr>
    <a:masterClrMapping/>
  </p:clrMapOvr>
  <p:transition spd="med" advClick="0" advTm="21143"/>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5086"/>
                            </p:stCondLst>
                            <p:childTnLst>
                              <p:set>
                                <p:cBhvr>
                                  <p:cTn id="5" dur="1" fill="hold"/>
                                  <p:tgtEl>
                                    <p:spTgt spid="16"/>
                                  </p:tgtEl>
                                  <p:attrNameLst>
                                    <p:attrName>style.visibility</p:attrName>
                                  </p:attrNameLst>
                                </p:cBhvr>
                                <p:to>
                                  <p:strVal val="visible"/>
                                </p:to>
                              </p:set>
                              <p:animEffect transition="in" filter="fade">
                                <p:cBhvr>
                                  <p:cTn id="6" dur="350"/>
                                  <p:tgtEl>
                                    <p:spTgt spid="16"/>
                                  </p:tgtEl>
                                </p:cBhvr>
                              </p:animEffect>
                            </p:childTnLst>
                          </p:cTn>
                        </p:par>
                        <p:par>
                          <p:cTn id="7" presetID="10" presetClass="entr" presetSubtype="0" fill="hold" nodeType="withEffect">
                            <p:stCondLst>
                              <p:cond delay="5086"/>
                            </p:stCondLst>
                            <p:childTnLst>
                              <p:set>
                                <p:cBhvr>
                                  <p:cTn id="8" dur="1" fill="hold"/>
                                  <p:tgtEl>
                                    <p:spTgt spid="17"/>
                                  </p:tgtEl>
                                  <p:attrNameLst>
                                    <p:attrName>style.visibility</p:attrName>
                                  </p:attrNameLst>
                                </p:cBhvr>
                                <p:to>
                                  <p:strVal val="visible"/>
                                </p:to>
                              </p:set>
                              <p:animEffect transition="in" filter="fade">
                                <p:cBhvr>
                                  <p:cTn id="9" dur="350"/>
                                  <p:tgtEl>
                                    <p:spTgt spid="17"/>
                                  </p:tgtEl>
                                </p:cBhvr>
                              </p:animEffect>
                            </p:childTnLst>
                          </p:cTn>
                        </p:par>
                        <p:par>
                          <p:cTn id="10" presetID="10" presetClass="entr" presetSubtype="0" fill="hold" nodeType="withEffect">
                            <p:stCondLst>
                              <p:cond delay="5086"/>
                            </p:stCondLst>
                            <p:childTnLst>
                              <p:set>
                                <p:cBhvr>
                                  <p:cTn id="11" dur="1" fill="hold"/>
                                  <p:tgtEl>
                                    <p:spTgt spid="18"/>
                                  </p:tgtEl>
                                  <p:attrNameLst>
                                    <p:attrName>style.visibility</p:attrName>
                                  </p:attrNameLst>
                                </p:cBhvr>
                                <p:to>
                                  <p:strVal val="visible"/>
                                </p:to>
                              </p:set>
                              <p:animEffect transition="in" filter="fade">
                                <p:cBhvr>
                                  <p:cTn id="12" dur="350"/>
                                  <p:tgtEl>
                                    <p:spTgt spid="18"/>
                                  </p:tgtEl>
                                </p:cBhvr>
                              </p:animEffect>
                            </p:childTnLst>
                          </p:cTn>
                        </p:par>
                        <p:par>
                          <p:cTn id="13" presetID="10" presetClass="entr" presetSubtype="0" fill="hold" nodeType="withEffect">
                            <p:stCondLst>
                              <p:cond delay="5086"/>
                            </p:stCondLst>
                            <p:childTnLst>
                              <p:set>
                                <p:cBhvr>
                                  <p:cTn id="14" dur="1" fill="hold"/>
                                  <p:tgtEl>
                                    <p:spTgt spid="19"/>
                                  </p:tgtEl>
                                  <p:attrNameLst>
                                    <p:attrName>style.visibility</p:attrName>
                                  </p:attrNameLst>
                                </p:cBhvr>
                                <p:to>
                                  <p:strVal val="visible"/>
                                </p:to>
                              </p:set>
                              <p:animEffect transition="in" filter="fade">
                                <p:cBhvr>
                                  <p:cTn id="15" dur="350"/>
                                  <p:tgtEl>
                                    <p:spTgt spid="19"/>
                                  </p:tgtEl>
                                </p:cBhvr>
                              </p:animEffect>
                            </p:childTnLst>
                          </p:cTn>
                        </p:par>
                        <p:par>
                          <p:cTn id="16" presetID="10" presetClass="entr" presetSubtype="0" fill="hold" nodeType="withEffect">
                            <p:stCondLst>
                              <p:cond delay="5086"/>
                            </p:stCondLst>
                            <p:childTnLst>
                              <p:set>
                                <p:cBhvr>
                                  <p:cTn id="17" dur="1" fill="hold"/>
                                  <p:tgtEl>
                                    <p:spTgt spid="20"/>
                                  </p:tgtEl>
                                  <p:attrNameLst>
                                    <p:attrName>style.visibility</p:attrName>
                                  </p:attrNameLst>
                                </p:cBhvr>
                                <p:to>
                                  <p:strVal val="visible"/>
                                </p:to>
                              </p:set>
                              <p:animEffect transition="in" filter="fade">
                                <p:cBhvr>
                                  <p:cTn id="18" dur="350"/>
                                  <p:tgtEl>
                                    <p:spTgt spid="20"/>
                                  </p:tgtEl>
                                </p:cBhvr>
                              </p:animEffect>
                            </p:childTnLst>
                          </p:cTn>
                        </p:par>
                        <p:par>
                          <p:cTn id="19" presetID="10" presetClass="entr" presetSubtype="0" fill="hold" nodeType="withEffect">
                            <p:stCondLst>
                              <p:cond delay="5086"/>
                            </p:stCondLst>
                            <p:childTnLst>
                              <p:set>
                                <p:cBhvr>
                                  <p:cTn id="20" dur="1" fill="hold"/>
                                  <p:tgtEl>
                                    <p:spTgt spid="21"/>
                                  </p:tgtEl>
                                  <p:attrNameLst>
                                    <p:attrName>style.visibility</p:attrName>
                                  </p:attrNameLst>
                                </p:cBhvr>
                                <p:to>
                                  <p:strVal val="visible"/>
                                </p:to>
                              </p:set>
                              <p:animEffect transition="in" filter="fade">
                                <p:cBhvr>
                                  <p:cTn id="21" dur="350"/>
                                  <p:tgtEl>
                                    <p:spTgt spid="21"/>
                                  </p:tgtEl>
                                </p:cBhvr>
                              </p:animEffect>
                            </p:childTnLst>
                          </p:cTn>
                        </p:par>
                        <p:par>
                          <p:cTn id="22" presetID="10" presetClass="entr" presetSubtype="0" fill="hold" nodeType="withEffect">
                            <p:stCondLst>
                              <p:cond delay="11257"/>
                            </p:stCondLst>
                            <p:childTnLst>
                              <p:set>
                                <p:cBhvr>
                                  <p:cTn id="23" dur="1" fill="hold"/>
                                  <p:tgtEl>
                                    <p:spTgt spid="28"/>
                                  </p:tgtEl>
                                  <p:attrNameLst>
                                    <p:attrName>style.visibility</p:attrName>
                                  </p:attrNameLst>
                                </p:cBhvr>
                                <p:to>
                                  <p:strVal val="visible"/>
                                </p:to>
                              </p:set>
                              <p:animEffect transition="in" filter="fade">
                                <p:cBhvr>
                                  <p:cTn id="24" dur="350"/>
                                  <p:tgtEl>
                                    <p:spTgt spid="28"/>
                                  </p:tgtEl>
                                </p:cBhvr>
                              </p:animEffect>
                            </p:childTnLst>
                          </p:cTn>
                        </p:par>
                        <p:par>
                          <p:cTn id="25" presetID="10" presetClass="entr" presetSubtype="0" fill="hold" nodeType="withEffect">
                            <p:stCondLst>
                              <p:cond delay="11257"/>
                            </p:stCondLst>
                            <p:childTnLst>
                              <p:set>
                                <p:cBhvr>
                                  <p:cTn id="26" dur="1" fill="hold"/>
                                  <p:tgtEl>
                                    <p:spTgt spid="29"/>
                                  </p:tgtEl>
                                  <p:attrNameLst>
                                    <p:attrName>style.visibility</p:attrName>
                                  </p:attrNameLst>
                                </p:cBhvr>
                                <p:to>
                                  <p:strVal val="visible"/>
                                </p:to>
                              </p:set>
                              <p:animEffect transition="in" filter="fade">
                                <p:cBhvr>
                                  <p:cTn id="27" dur="350"/>
                                  <p:tgtEl>
                                    <p:spTgt spid="29"/>
                                  </p:tgtEl>
                                </p:cBhvr>
                              </p:animEffect>
                            </p:childTnLst>
                          </p:cTn>
                        </p:par>
                        <p:par>
                          <p:cTn id="28" presetID="10" presetClass="entr" presetSubtype="0" fill="hold" nodeType="withEffect">
                            <p:stCondLst>
                              <p:cond delay="11257"/>
                            </p:stCondLst>
                            <p:childTnLst>
                              <p:set>
                                <p:cBhvr>
                                  <p:cTn id="29" dur="1" fill="hold"/>
                                  <p:tgtEl>
                                    <p:spTgt spid="30"/>
                                  </p:tgtEl>
                                  <p:attrNameLst>
                                    <p:attrName>style.visibility</p:attrName>
                                  </p:attrNameLst>
                                </p:cBhvr>
                                <p:to>
                                  <p:strVal val="visible"/>
                                </p:to>
                              </p:set>
                              <p:animEffect transition="in" filter="fade">
                                <p:cBhvr>
                                  <p:cTn id="30" dur="350"/>
                                  <p:tgtEl>
                                    <p:spTgt spid="30"/>
                                  </p:tgtEl>
                                </p:cBhvr>
                              </p:animEffect>
                            </p:childTnLst>
                          </p:cTn>
                        </p:par>
                        <p:par>
                          <p:cTn id="31" presetID="10" presetClass="entr" presetSubtype="0" fill="hold" nodeType="withEffect">
                            <p:stCondLst>
                              <p:cond delay="11257"/>
                            </p:stCondLst>
                            <p:childTnLst>
                              <p:set>
                                <p:cBhvr>
                                  <p:cTn id="32" dur="1" fill="hold"/>
                                  <p:tgtEl>
                                    <p:spTgt spid="31"/>
                                  </p:tgtEl>
                                  <p:attrNameLst>
                                    <p:attrName>style.visibility</p:attrName>
                                  </p:attrNameLst>
                                </p:cBhvr>
                                <p:to>
                                  <p:strVal val="visible"/>
                                </p:to>
                              </p:set>
                              <p:animEffect transition="in" filter="fade">
                                <p:cBhvr>
                                  <p:cTn id="33" dur="350"/>
                                  <p:tgtEl>
                                    <p:spTgt spid="31"/>
                                  </p:tgtEl>
                                </p:cBhvr>
                              </p:animEffect>
                            </p:childTnLst>
                          </p:cTn>
                        </p:par>
                        <p:par>
                          <p:cTn id="34" presetID="10" presetClass="entr" presetSubtype="0" fill="hold" nodeType="withEffect">
                            <p:stCondLst>
                              <p:cond delay="11257"/>
                            </p:stCondLst>
                            <p:childTnLst>
                              <p:set>
                                <p:cBhvr>
                                  <p:cTn id="35" dur="1" fill="hold"/>
                                  <p:tgtEl>
                                    <p:spTgt spid="32"/>
                                  </p:tgtEl>
                                  <p:attrNameLst>
                                    <p:attrName>style.visibility</p:attrName>
                                  </p:attrNameLst>
                                </p:cBhvr>
                                <p:to>
                                  <p:strVal val="visible"/>
                                </p:to>
                              </p:set>
                              <p:animEffect transition="in" filter="fade">
                                <p:cBhvr>
                                  <p:cTn id="36" dur="350"/>
                                  <p:tgtEl>
                                    <p:spTgt spid="32"/>
                                  </p:tgtEl>
                                </p:cBhvr>
                              </p:animEffect>
                            </p:childTnLst>
                          </p:cTn>
                        </p:par>
                        <p:par>
                          <p:cTn id="37" presetID="10" presetClass="entr" presetSubtype="0" fill="hold" nodeType="withEffect">
                            <p:stCondLst>
                              <p:cond delay="11257"/>
                            </p:stCondLst>
                            <p:childTnLst>
                              <p:set>
                                <p:cBhvr>
                                  <p:cTn id="38" dur="1" fill="hold"/>
                                  <p:tgtEl>
                                    <p:spTgt spid="33"/>
                                  </p:tgtEl>
                                  <p:attrNameLst>
                                    <p:attrName>style.visibility</p:attrName>
                                  </p:attrNameLst>
                                </p:cBhvr>
                                <p:to>
                                  <p:strVal val="visible"/>
                                </p:to>
                              </p:set>
                              <p:animEffect transition="in" filter="fade">
                                <p:cBhvr>
                                  <p:cTn id="39" dur="350"/>
                                  <p:tgtEl>
                                    <p:spTgt spid="33"/>
                                  </p:tgtEl>
                                </p:cBhvr>
                              </p:animEffect>
                            </p:childTnLst>
                          </p:cTn>
                        </p:par>
                        <p:par>
                          <p:cTn id="40" presetID="10" presetClass="entr" presetSubtype="0" fill="hold" nodeType="withEffect">
                            <p:stCondLst>
                              <p:cond delay="18636"/>
                            </p:stCondLst>
                            <p:childTnLst>
                              <p:set>
                                <p:cBhvr>
                                  <p:cTn id="41" dur="1" fill="hold"/>
                                  <p:tgtEl>
                                    <p:spTgt spid="34"/>
                                  </p:tgtEl>
                                  <p:attrNameLst>
                                    <p:attrName>style.visibility</p:attrName>
                                  </p:attrNameLst>
                                </p:cBhvr>
                                <p:to>
                                  <p:strVal val="visible"/>
                                </p:to>
                              </p:set>
                              <p:animEffect transition="in" filter="fade">
                                <p:cBhvr>
                                  <p:cTn id="42" dur="350"/>
                                  <p:tgtEl>
                                    <p:spTgt spid="34"/>
                                  </p:tgtEl>
                                </p:cBhvr>
                              </p:animEffect>
                            </p:childTnLst>
                          </p:cTn>
                        </p:par>
                        <p:par>
                          <p:cTn id="43" presetID="10" presetClass="entr" presetSubtype="0" fill="hold" nodeType="withEffect">
                            <p:stCondLst>
                              <p:cond delay="13561"/>
                            </p:stCondLst>
                            <p:childTnLst>
                              <p:set>
                                <p:cBhvr>
                                  <p:cTn id="44" dur="1" fill="hold"/>
                                  <p:tgtEl>
                                    <p:spTgt spid="35"/>
                                  </p:tgtEl>
                                  <p:attrNameLst>
                                    <p:attrName>style.visibility</p:attrName>
                                  </p:attrNameLst>
                                </p:cBhvr>
                                <p:to>
                                  <p:strVal val="visible"/>
                                </p:to>
                              </p:set>
                              <p:animEffect transition="in" filter="fade">
                                <p:cBhvr>
                                  <p:cTn id="45" dur="350"/>
                                  <p:tgtEl>
                                    <p:spTgt spid="3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457200" y="258762"/>
            <a:ext cx="409575" cy="273050"/>
          </a:xfrm>
          <a:prstGeom prst="rect">
            <a:avLst/>
          </a:prstGeom>
          <a:effectLst/>
        </p:spPr>
      </p:pic>
      <p:sp>
        <p:nvSpPr>
          <p:cNvPr id="3" name="TextBox 2"/>
          <p:cNvSpPr txBox="1"/>
          <p:nvPr/>
        </p:nvSpPr>
        <p:spPr>
          <a:xfrm>
            <a:off x="990600" y="276225"/>
            <a:ext cx="2095500" cy="295275"/>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1" lang="en-US">
                <a:solidFill>
                  <a:srgbClr val="262626"/>
                </a:solidFill>
                <a:latin typeface="Manrope"/>
              </a:rPr>
              <a:t>GRINDCTRL</a:t>
            </a:r>
          </a:p>
        </p:txBody>
      </p:sp>
      <p:sp>
        <p:nvSpPr>
          <p:cNvPr id="4" name="TextBox 3"/>
          <p:cNvSpPr txBox="1"/>
          <p:nvPr/>
        </p:nvSpPr>
        <p:spPr>
          <a:xfrm>
            <a:off x="6572250" y="276225"/>
            <a:ext cx="5162550" cy="28575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Expected benefits to validate</a:t>
            </a:r>
          </a:p>
        </p:txBody>
      </p:sp>
      <p:sp>
        <p:nvSpPr>
          <p:cNvPr id="5" name="TextBox 4"/>
          <p:cNvSpPr txBox="1"/>
          <p:nvPr/>
        </p:nvSpPr>
        <p:spPr>
          <a:xfrm>
            <a:off x="457200" y="866775"/>
            <a:ext cx="11277600" cy="619125"/>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62626"/>
                </a:solidFill>
                <a:latin typeface="Manrope"/>
              </a:rPr>
              <a:t>Less searching. More attention to the customer.</a:t>
            </a:r>
          </a:p>
        </p:txBody>
      </p:sp>
      <p:cxnSp>
        <p:nvCxnSpPr>
          <p:cNvPr id="6" name="Connector 5"/>
          <p:cNvCxnSpPr/>
          <p:nvPr/>
        </p:nvCxnSpPr>
        <p:spPr>
          <a:xfrm>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6505575"/>
            <a:ext cx="10287000" cy="22860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en-US">
                <a:solidFill>
                  <a:srgbClr val="68645E"/>
                </a:solidFill>
                <a:latin typeface="Manrope"/>
              </a:rPr>
              <a:t>Concrete · Proposed collaboration · Illustrative UI and fictional records</a:t>
            </a:r>
          </a:p>
        </p:txBody>
      </p:sp>
      <p:sp>
        <p:nvSpPr>
          <p:cNvPr id="8" name="TextBox 7"/>
          <p:cNvSpPr txBox="1"/>
          <p:nvPr/>
        </p:nvSpPr>
        <p:spPr>
          <a:xfrm>
            <a:off x="10953750" y="6505575"/>
            <a:ext cx="781050" cy="238125"/>
          </a:xfrm>
          <a:prstGeom prst="rect">
            <a:avLst/>
          </a:prstGeom>
          <a:noFill/>
          <a:effectLst/>
        </p:spPr>
        <p:txBody>
          <a:bodyPr wrap="square" lIns="0" rIns="0" tIns="0" bIns="0" anchor="t">
            <a:spAutoFit/>
          </a:bodyPr>
          <a:lstStyle/>
          <a:p>
            <a:pPr algn="r" rtl="0">
              <a:lnSpc>
                <a:spcPts val="1260"/>
              </a:lnSpc>
              <a:spcBef>
                <a:spcPts val="0"/>
              </a:spcBef>
              <a:spcAft>
                <a:spcPts val="0"/>
              </a:spcAft>
            </a:pPr>
            <a:r>
              <a:rPr sz="1125" b="0" lang="en-US">
                <a:solidFill>
                  <a:srgbClr val="68645E"/>
                </a:solidFill>
                <a:latin typeface="Manrope"/>
              </a:rPr>
              <a:t>06 / 07</a:t>
            </a:r>
          </a:p>
        </p:txBody>
      </p:sp>
      <p:sp>
        <p:nvSpPr>
          <p:cNvPr id="9" name="Rounded Rectangle 8"/>
          <p:cNvSpPr/>
          <p:nvPr/>
        </p:nvSpPr>
        <p:spPr>
          <a:xfrm>
            <a:off x="457200" y="1695450"/>
            <a:ext cx="8343900" cy="4305300"/>
          </a:xfrm>
          <a:prstGeom prst="roundRect">
            <a:avLst>
              <a:gd name="adj" fmla="val 2654"/>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genesys.png"/>
          <p:cNvPicPr>
            <a:picLocks noChangeAspect="1"/>
          </p:cNvPicPr>
          <p:nvPr/>
        </p:nvPicPr>
        <p:blipFill>
          <a:blip r:embed="rId3"/>
          <a:stretch>
            <a:fillRect/>
          </a:stretch>
        </p:blipFill>
        <p:spPr>
          <a:xfrm>
            <a:off x="685800" y="1919844"/>
            <a:ext cx="1314450" cy="256062"/>
          </a:xfrm>
          <a:prstGeom prst="rect">
            <a:avLst/>
          </a:prstGeom>
          <a:effectLst/>
        </p:spPr>
      </p:pic>
      <p:pic>
        <p:nvPicPr>
          <p:cNvPr id="11" name="Picture 10" descr="icon-call.png"/>
          <p:cNvPicPr>
            <a:picLocks noChangeAspect="1"/>
          </p:cNvPicPr>
          <p:nvPr/>
        </p:nvPicPr>
        <p:blipFill>
          <a:blip r:embed="rId4"/>
          <a:stretch>
            <a:fillRect/>
          </a:stretch>
        </p:blipFill>
        <p:spPr>
          <a:xfrm>
            <a:off x="2247900" y="1952625"/>
            <a:ext cx="276225" cy="276225"/>
          </a:xfrm>
          <a:prstGeom prst="rect">
            <a:avLst/>
          </a:prstGeom>
          <a:effectLst/>
        </p:spPr>
      </p:pic>
      <p:sp>
        <p:nvSpPr>
          <p:cNvPr id="12" name="TextBox 11"/>
          <p:cNvSpPr txBox="1"/>
          <p:nvPr/>
        </p:nvSpPr>
        <p:spPr>
          <a:xfrm>
            <a:off x="2724150" y="1905000"/>
            <a:ext cx="5143500" cy="419100"/>
          </a:xfrm>
          <a:prstGeom prst="rect">
            <a:avLst/>
          </a:prstGeom>
          <a:noFill/>
          <a:effectLst/>
        </p:spPr>
        <p:txBody>
          <a:bodyPr wrap="square" lIns="0" rIns="0" tIns="0" bIns="0" anchor="t">
            <a:spAutoFit/>
          </a:bodyPr>
          <a:lstStyle/>
          <a:p>
            <a:pPr algn="l" rtl="0">
              <a:lnSpc>
                <a:spcPts val="2352"/>
              </a:lnSpc>
              <a:spcBef>
                <a:spcPts val="0"/>
              </a:spcBef>
              <a:spcAft>
                <a:spcPts val="0"/>
              </a:spcAft>
            </a:pPr>
            <a:r>
              <a:rPr sz="2100" b="1" lang="en-US">
                <a:solidFill>
                  <a:srgbClr val="262626"/>
                </a:solidFill>
                <a:latin typeface="Manrope"/>
              </a:rPr>
              <a:t>+20 ••• 410</a:t>
            </a:r>
          </a:p>
        </p:txBody>
      </p:sp>
      <p:cxnSp>
        <p:nvCxnSpPr>
          <p:cNvPr id="13" name="Connector 12"/>
          <p:cNvCxnSpPr/>
          <p:nvPr/>
        </p:nvCxnSpPr>
        <p:spPr>
          <a:xfrm>
            <a:off x="457200" y="2495550"/>
            <a:ext cx="83439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685800" y="2771775"/>
            <a:ext cx="466725" cy="466725"/>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actor.png"/>
          <p:cNvPicPr>
            <a:picLocks noChangeAspect="1"/>
          </p:cNvPicPr>
          <p:nvPr/>
        </p:nvPicPr>
        <p:blipFill>
          <a:blip r:embed="rId5"/>
          <a:stretch>
            <a:fillRect/>
          </a:stretch>
        </p:blipFill>
        <p:spPr>
          <a:xfrm>
            <a:off x="788480" y="2874454"/>
            <a:ext cx="261366" cy="261366"/>
          </a:xfrm>
          <a:prstGeom prst="rect">
            <a:avLst/>
          </a:prstGeom>
          <a:effectLst/>
        </p:spPr>
      </p:pic>
      <p:sp>
        <p:nvSpPr>
          <p:cNvPr id="16" name="TextBox 15"/>
          <p:cNvSpPr txBox="1"/>
          <p:nvPr/>
        </p:nvSpPr>
        <p:spPr>
          <a:xfrm>
            <a:off x="1343025" y="2781300"/>
            <a:ext cx="5219700" cy="381000"/>
          </a:xfrm>
          <a:prstGeom prst="rect">
            <a:avLst/>
          </a:prstGeom>
          <a:noFill/>
          <a:effectLst/>
        </p:spPr>
        <p:txBody>
          <a:bodyPr wrap="square" lIns="0" rIns="0" tIns="0" bIns="0" anchor="t">
            <a:spAutoFit/>
          </a:bodyPr>
          <a:lstStyle/>
          <a:p>
            <a:pPr algn="l" rtl="0">
              <a:lnSpc>
                <a:spcPts val="2352"/>
              </a:lnSpc>
              <a:spcBef>
                <a:spcPts val="0"/>
              </a:spcBef>
              <a:spcAft>
                <a:spcPts val="0"/>
              </a:spcAft>
            </a:pPr>
            <a:r>
              <a:rPr sz="2100" b="1" lang="en-US">
                <a:solidFill>
                  <a:srgbClr val="262626"/>
                </a:solidFill>
                <a:latin typeface="Manrope"/>
              </a:rPr>
              <a:t>Contact A</a:t>
            </a:r>
          </a:p>
        </p:txBody>
      </p:sp>
      <p:pic>
        <p:nvPicPr>
          <p:cNvPr id="17" name="Picture 16" descr="zoho.png"/>
          <p:cNvPicPr>
            <a:picLocks noChangeAspect="1"/>
          </p:cNvPicPr>
          <p:nvPr/>
        </p:nvPicPr>
        <p:blipFill>
          <a:blip r:embed="rId6"/>
          <a:stretch>
            <a:fillRect/>
          </a:stretch>
        </p:blipFill>
        <p:spPr>
          <a:xfrm>
            <a:off x="7679575" y="2809875"/>
            <a:ext cx="642851" cy="276225"/>
          </a:xfrm>
          <a:prstGeom prst="rect">
            <a:avLst/>
          </a:prstGeom>
          <a:effectLst/>
        </p:spPr>
      </p:pic>
      <p:sp>
        <p:nvSpPr>
          <p:cNvPr id="18" name="TextBox 17"/>
          <p:cNvSpPr txBox="1"/>
          <p:nvPr/>
        </p:nvSpPr>
        <p:spPr>
          <a:xfrm>
            <a:off x="1343025" y="3257550"/>
            <a:ext cx="6696075" cy="304800"/>
          </a:xfrm>
          <a:prstGeom prst="rect">
            <a:avLst/>
          </a:prstGeom>
          <a:noFill/>
          <a:effectLst/>
        </p:spPr>
        <p:txBody>
          <a:bodyPr wrap="square" lIns="0" rIns="0" tIns="0" bIns="0" anchor="t">
            <a:spAutoFit/>
          </a:bodyPr>
          <a:lstStyle/>
          <a:p>
            <a:pPr algn="l" rtl="0">
              <a:lnSpc>
                <a:spcPts val="1848"/>
              </a:lnSpc>
              <a:spcBef>
                <a:spcPts val="0"/>
              </a:spcBef>
              <a:spcAft>
                <a:spcPts val="0"/>
              </a:spcAft>
            </a:pPr>
            <a:r>
              <a:rPr sz="1650" b="0" lang="en-US">
                <a:solidFill>
                  <a:srgbClr val="68645E"/>
                </a:solidFill>
                <a:latin typeface="Manrope"/>
              </a:rPr>
              <a:t>Associated record · Existing ticket history</a:t>
            </a:r>
          </a:p>
        </p:txBody>
      </p:sp>
      <p:cxnSp>
        <p:nvCxnSpPr>
          <p:cNvPr id="19" name="Connector 18"/>
          <p:cNvCxnSpPr/>
          <p:nvPr/>
        </p:nvCxnSpPr>
        <p:spPr>
          <a:xfrm>
            <a:off x="685800" y="3762375"/>
            <a:ext cx="78867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20" name="Picture 19" descr="icon-case.png"/>
          <p:cNvPicPr>
            <a:picLocks noChangeAspect="1"/>
          </p:cNvPicPr>
          <p:nvPr/>
        </p:nvPicPr>
        <p:blipFill>
          <a:blip r:embed="rId7"/>
          <a:stretch>
            <a:fillRect/>
          </a:stretch>
        </p:blipFill>
        <p:spPr>
          <a:xfrm>
            <a:off x="695325" y="3943350"/>
            <a:ext cx="266700" cy="266700"/>
          </a:xfrm>
          <a:prstGeom prst="rect">
            <a:avLst/>
          </a:prstGeom>
          <a:effectLst/>
        </p:spPr>
      </p:pic>
      <p:sp>
        <p:nvSpPr>
          <p:cNvPr id="21" name="TextBox 20"/>
          <p:cNvSpPr txBox="1"/>
          <p:nvPr/>
        </p:nvSpPr>
        <p:spPr>
          <a:xfrm>
            <a:off x="1123950" y="3895725"/>
            <a:ext cx="7000875" cy="419100"/>
          </a:xfrm>
          <a:prstGeom prst="rect">
            <a:avLst/>
          </a:prstGeom>
          <a:noFill/>
          <a:effectLst/>
        </p:spPr>
        <p:txBody>
          <a:bodyPr wrap="square" lIns="0" rIns="0" tIns="0" bIns="0" anchor="t">
            <a:spAutoFit/>
          </a:bodyPr>
          <a:lstStyle/>
          <a:p>
            <a:pPr algn="l" rtl="0">
              <a:lnSpc>
                <a:spcPts val="2268"/>
              </a:lnSpc>
              <a:spcBef>
                <a:spcPts val="0"/>
              </a:spcBef>
              <a:spcAft>
                <a:spcPts val="0"/>
              </a:spcAft>
            </a:pPr>
            <a:r>
              <a:rPr sz="2025" b="1" lang="en-US">
                <a:solidFill>
                  <a:srgbClr val="262626"/>
                </a:solidFill>
                <a:latin typeface="Manrope"/>
              </a:rPr>
              <a:t>T101 · Exchange follow-up</a:t>
            </a:r>
          </a:p>
        </p:txBody>
      </p:sp>
      <p:pic>
        <p:nvPicPr>
          <p:cNvPr id="22" name="Picture 21" descr="icon-clock.png"/>
          <p:cNvPicPr>
            <a:picLocks noChangeAspect="1"/>
          </p:cNvPicPr>
          <p:nvPr/>
        </p:nvPicPr>
        <p:blipFill>
          <a:blip r:embed="rId8"/>
          <a:stretch>
            <a:fillRect/>
          </a:stretch>
        </p:blipFill>
        <p:spPr>
          <a:xfrm>
            <a:off x="695325" y="4476750"/>
            <a:ext cx="209550" cy="209550"/>
          </a:xfrm>
          <a:prstGeom prst="rect">
            <a:avLst/>
          </a:prstGeom>
          <a:effectLst/>
        </p:spPr>
      </p:pic>
      <p:sp>
        <p:nvSpPr>
          <p:cNvPr id="23" name="TextBox 22"/>
          <p:cNvSpPr txBox="1"/>
          <p:nvPr/>
        </p:nvSpPr>
        <p:spPr>
          <a:xfrm>
            <a:off x="1019175" y="4457700"/>
            <a:ext cx="6343650" cy="333375"/>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965318"/>
                </a:solidFill>
                <a:latin typeface="Manrope"/>
              </a:rPr>
              <a:t>Waiting on the branch</a:t>
            </a:r>
          </a:p>
        </p:txBody>
      </p:sp>
      <p:sp>
        <p:nvSpPr>
          <p:cNvPr id="24" name="Rounded Rectangle 23"/>
          <p:cNvSpPr/>
          <p:nvPr/>
        </p:nvSpPr>
        <p:spPr>
          <a:xfrm>
            <a:off x="685800" y="5000625"/>
            <a:ext cx="7886700" cy="771525"/>
          </a:xfrm>
          <a:prstGeom prst="roundRect">
            <a:avLst>
              <a:gd name="adj" fmla="val 9876"/>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icon-file.png"/>
          <p:cNvPicPr>
            <a:picLocks noChangeAspect="1"/>
          </p:cNvPicPr>
          <p:nvPr/>
        </p:nvPicPr>
        <p:blipFill>
          <a:blip r:embed="rId9"/>
          <a:stretch>
            <a:fillRect/>
          </a:stretch>
        </p:blipFill>
        <p:spPr>
          <a:xfrm>
            <a:off x="876300" y="5219700"/>
            <a:ext cx="276225" cy="276225"/>
          </a:xfrm>
          <a:prstGeom prst="rect">
            <a:avLst/>
          </a:prstGeom>
          <a:effectLst/>
        </p:spPr>
      </p:pic>
      <p:sp>
        <p:nvSpPr>
          <p:cNvPr id="26" name="TextBox 25"/>
          <p:cNvSpPr txBox="1"/>
          <p:nvPr/>
        </p:nvSpPr>
        <p:spPr>
          <a:xfrm>
            <a:off x="1352550" y="5181600"/>
            <a:ext cx="7000875" cy="400050"/>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1" lang="en-US">
                <a:solidFill>
                  <a:srgbClr val="262626"/>
                </a:solidFill>
                <a:latin typeface="Manrope"/>
              </a:rPr>
              <a:t>Branch review is still pending.</a:t>
            </a:r>
          </a:p>
        </p:txBody>
      </p:sp>
      <p:cxnSp>
        <p:nvCxnSpPr>
          <p:cNvPr id="27" name="Connector 26"/>
          <p:cNvCxnSpPr/>
          <p:nvPr/>
        </p:nvCxnSpPr>
        <p:spPr>
          <a:xfrm>
            <a:off x="8858250" y="3028950"/>
            <a:ext cx="247650" cy="0"/>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sp>
        <p:nvSpPr>
          <p:cNvPr id="28" name="Oval 27"/>
          <p:cNvSpPr/>
          <p:nvPr/>
        </p:nvSpPr>
        <p:spPr>
          <a:xfrm>
            <a:off x="8772525" y="2990850"/>
            <a:ext cx="76200" cy="76200"/>
          </a:xfrm>
          <a:prstGeom prst="ellipse">
            <a:avLst/>
          </a:prstGeom>
          <a:solidFill>
            <a:srgbClr val="965318"/>
          </a:solidFill>
          <a:ln w="9525">
            <a:solidFill>
              <a:srgbClr val="96531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315450" y="2857500"/>
            <a:ext cx="2343150" cy="752475"/>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1" lang="en-US">
                <a:solidFill>
                  <a:srgbClr val="262626"/>
                </a:solidFill>
                <a:latin typeface="Manrope"/>
              </a:rPr>
              <a:t>Fewer manual</a:t>
            </a:r>
          </a:p>
          <a:p>
            <a:pPr algn="l" rtl="0">
              <a:lnSpc>
                <a:spcPts val="2016"/>
              </a:lnSpc>
              <a:spcBef>
                <a:spcPts val="0"/>
              </a:spcBef>
              <a:spcAft>
                <a:spcPts val="0"/>
              </a:spcAft>
            </a:pPr>
            <a:r>
              <a:rPr sz="1800" b="1" lang="en-US">
                <a:solidFill>
                  <a:srgbClr val="262626"/>
                </a:solidFill>
                <a:latin typeface="Manrope"/>
              </a:rPr>
              <a:t>search steps</a:t>
            </a:r>
          </a:p>
        </p:txBody>
      </p:sp>
      <p:cxnSp>
        <p:nvCxnSpPr>
          <p:cNvPr id="30" name="Connector 29"/>
          <p:cNvCxnSpPr/>
          <p:nvPr/>
        </p:nvCxnSpPr>
        <p:spPr>
          <a:xfrm>
            <a:off x="8858250" y="4124325"/>
            <a:ext cx="247650" cy="0"/>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sp>
        <p:nvSpPr>
          <p:cNvPr id="31" name="Oval 30"/>
          <p:cNvSpPr/>
          <p:nvPr/>
        </p:nvSpPr>
        <p:spPr>
          <a:xfrm>
            <a:off x="8772525" y="4086225"/>
            <a:ext cx="76200" cy="76200"/>
          </a:xfrm>
          <a:prstGeom prst="ellipse">
            <a:avLst/>
          </a:prstGeom>
          <a:solidFill>
            <a:srgbClr val="965318"/>
          </a:solidFill>
          <a:ln w="9525">
            <a:solidFill>
              <a:srgbClr val="96531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9315450" y="4010025"/>
            <a:ext cx="2343150" cy="752475"/>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1" lang="en-US">
                <a:solidFill>
                  <a:srgbClr val="262626"/>
                </a:solidFill>
                <a:latin typeface="Manrope"/>
              </a:rPr>
              <a:t>Clearer</a:t>
            </a:r>
          </a:p>
          <a:p>
            <a:pPr algn="l" rtl="0">
              <a:lnSpc>
                <a:spcPts val="2016"/>
              </a:lnSpc>
              <a:spcBef>
                <a:spcPts val="0"/>
              </a:spcBef>
              <a:spcAft>
                <a:spcPts val="0"/>
              </a:spcAft>
            </a:pPr>
            <a:r>
              <a:rPr sz="1800" b="1" lang="en-US">
                <a:solidFill>
                  <a:srgbClr val="262626"/>
                </a:solidFill>
                <a:latin typeface="Manrope"/>
              </a:rPr>
              <a:t>follow-up</a:t>
            </a:r>
          </a:p>
        </p:txBody>
      </p:sp>
      <p:cxnSp>
        <p:nvCxnSpPr>
          <p:cNvPr id="33" name="Connector 32"/>
          <p:cNvCxnSpPr/>
          <p:nvPr/>
        </p:nvCxnSpPr>
        <p:spPr>
          <a:xfrm>
            <a:off x="8858250" y="5391150"/>
            <a:ext cx="247650" cy="0"/>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sp>
        <p:nvSpPr>
          <p:cNvPr id="34" name="Oval 33"/>
          <p:cNvSpPr/>
          <p:nvPr/>
        </p:nvSpPr>
        <p:spPr>
          <a:xfrm>
            <a:off x="8772525" y="5353050"/>
            <a:ext cx="76200" cy="76200"/>
          </a:xfrm>
          <a:prstGeom prst="ellipse">
            <a:avLst/>
          </a:prstGeom>
          <a:solidFill>
            <a:srgbClr val="965318"/>
          </a:solidFill>
          <a:ln w="9525">
            <a:solidFill>
              <a:srgbClr val="96531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315450" y="5133975"/>
            <a:ext cx="2343150" cy="752475"/>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1" lang="en-US">
                <a:solidFill>
                  <a:srgbClr val="262626"/>
                </a:solidFill>
                <a:latin typeface="Manrope"/>
              </a:rPr>
              <a:t>More informed</a:t>
            </a:r>
          </a:p>
          <a:p>
            <a:pPr algn="l" rtl="0">
              <a:lnSpc>
                <a:spcPts val="2016"/>
              </a:lnSpc>
              <a:spcBef>
                <a:spcPts val="0"/>
              </a:spcBef>
              <a:spcAft>
                <a:spcPts val="0"/>
              </a:spcAft>
            </a:pPr>
            <a:r>
              <a:rPr sz="1800" b="1" lang="en-US">
                <a:solidFill>
                  <a:srgbClr val="262626"/>
                </a:solidFill>
                <a:latin typeface="Manrope"/>
              </a:rPr>
              <a:t>conversations</a:t>
            </a:r>
          </a:p>
        </p:txBody>
      </p:sp>
      <p:sp>
        <p:nvSpPr>
          <p:cNvPr id="36" name="TextBox 35"/>
          <p:cNvSpPr txBox="1"/>
          <p:nvPr/>
        </p:nvSpPr>
        <p:spPr>
          <a:xfrm>
            <a:off x="457200" y="6096000"/>
            <a:ext cx="10477500" cy="257175"/>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0" lang="en-US">
                <a:solidFill>
                  <a:srgbClr val="965318"/>
                </a:solidFill>
                <a:latin typeface="Manrope"/>
              </a:rPr>
              <a:t>Expected benefits · Measure in an authorized pilot</a:t>
            </a:r>
          </a:p>
        </p:txBody>
      </p:sp>
    </p:spTree>
  </p:cSld>
  <p:clrMapOvr>
    <a:masterClrMapping/>
  </p:clrMapOvr>
  <p:transition spd="med" advClick="0" advTm="19033"/>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3160"/>
                            </p:stCondLst>
                            <p:childTnLst>
                              <p:set>
                                <p:cBhvr>
                                  <p:cTn id="5" dur="1" fill="hold"/>
                                  <p:tgtEl>
                                    <p:spTgt spid="30"/>
                                  </p:tgtEl>
                                  <p:attrNameLst>
                                    <p:attrName>style.visibility</p:attrName>
                                  </p:attrNameLst>
                                </p:cBhvr>
                                <p:to>
                                  <p:strVal val="visible"/>
                                </p:to>
                              </p:set>
                              <p:animEffect transition="in" filter="fade">
                                <p:cBhvr>
                                  <p:cTn id="6" dur="350"/>
                                  <p:tgtEl>
                                    <p:spTgt spid="30"/>
                                  </p:tgtEl>
                                </p:cBhvr>
                              </p:animEffect>
                            </p:childTnLst>
                          </p:cTn>
                        </p:par>
                        <p:par>
                          <p:cTn id="7" presetID="10" presetClass="entr" presetSubtype="0" fill="hold" nodeType="withEffect">
                            <p:stCondLst>
                              <p:cond delay="3160"/>
                            </p:stCondLst>
                            <p:childTnLst>
                              <p:set>
                                <p:cBhvr>
                                  <p:cTn id="8" dur="1" fill="hold"/>
                                  <p:tgtEl>
                                    <p:spTgt spid="31"/>
                                  </p:tgtEl>
                                  <p:attrNameLst>
                                    <p:attrName>style.visibility</p:attrName>
                                  </p:attrNameLst>
                                </p:cBhvr>
                                <p:to>
                                  <p:strVal val="visible"/>
                                </p:to>
                              </p:set>
                              <p:animEffect transition="in" filter="fade">
                                <p:cBhvr>
                                  <p:cTn id="9" dur="350"/>
                                  <p:tgtEl>
                                    <p:spTgt spid="31"/>
                                  </p:tgtEl>
                                </p:cBhvr>
                              </p:animEffect>
                            </p:childTnLst>
                          </p:cTn>
                        </p:par>
                        <p:par>
                          <p:cTn id="10" presetID="10" presetClass="entr" presetSubtype="0" fill="hold" nodeType="withEffect">
                            <p:stCondLst>
                              <p:cond delay="3160"/>
                            </p:stCondLst>
                            <p:childTnLst>
                              <p:set>
                                <p:cBhvr>
                                  <p:cTn id="11" dur="1" fill="hold"/>
                                  <p:tgtEl>
                                    <p:spTgt spid="32"/>
                                  </p:tgtEl>
                                  <p:attrNameLst>
                                    <p:attrName>style.visibility</p:attrName>
                                  </p:attrNameLst>
                                </p:cBhvr>
                                <p:to>
                                  <p:strVal val="visible"/>
                                </p:to>
                              </p:set>
                              <p:animEffect transition="in" filter="fade">
                                <p:cBhvr>
                                  <p:cTn id="12" dur="350"/>
                                  <p:tgtEl>
                                    <p:spTgt spid="32"/>
                                  </p:tgtEl>
                                </p:cBhvr>
                              </p:animEffect>
                            </p:childTnLst>
                          </p:cTn>
                        </p:par>
                        <p:par>
                          <p:cTn id="13" presetID="10" presetClass="entr" presetSubtype="0" fill="hold" nodeType="withEffect">
                            <p:stCondLst>
                              <p:cond delay="3160"/>
                            </p:stCondLst>
                            <p:childTnLst>
                              <p:set>
                                <p:cBhvr>
                                  <p:cTn id="14" dur="1" fill="hold"/>
                                  <p:tgtEl>
                                    <p:spTgt spid="33"/>
                                  </p:tgtEl>
                                  <p:attrNameLst>
                                    <p:attrName>style.visibility</p:attrName>
                                  </p:attrNameLst>
                                </p:cBhvr>
                                <p:to>
                                  <p:strVal val="visible"/>
                                </p:to>
                              </p:set>
                              <p:animEffect transition="in" filter="fade">
                                <p:cBhvr>
                                  <p:cTn id="15" dur="350"/>
                                  <p:tgtEl>
                                    <p:spTgt spid="33"/>
                                  </p:tgtEl>
                                </p:cBhvr>
                              </p:animEffect>
                            </p:childTnLst>
                          </p:cTn>
                        </p:par>
                        <p:par>
                          <p:cTn id="16" presetID="10" presetClass="entr" presetSubtype="0" fill="hold" nodeType="withEffect">
                            <p:stCondLst>
                              <p:cond delay="3160"/>
                            </p:stCondLst>
                            <p:childTnLst>
                              <p:set>
                                <p:cBhvr>
                                  <p:cTn id="17" dur="1" fill="hold"/>
                                  <p:tgtEl>
                                    <p:spTgt spid="34"/>
                                  </p:tgtEl>
                                  <p:attrNameLst>
                                    <p:attrName>style.visibility</p:attrName>
                                  </p:attrNameLst>
                                </p:cBhvr>
                                <p:to>
                                  <p:strVal val="visible"/>
                                </p:to>
                              </p:set>
                              <p:animEffect transition="in" filter="fade">
                                <p:cBhvr>
                                  <p:cTn id="18" dur="350"/>
                                  <p:tgtEl>
                                    <p:spTgt spid="34"/>
                                  </p:tgtEl>
                                </p:cBhvr>
                              </p:animEffect>
                            </p:childTnLst>
                          </p:cTn>
                        </p:par>
                        <p:par>
                          <p:cTn id="19" presetID="10" presetClass="entr" presetSubtype="0" fill="hold" nodeType="withEffect">
                            <p:stCondLst>
                              <p:cond delay="3160"/>
                            </p:stCondLst>
                            <p:childTnLst>
                              <p:set>
                                <p:cBhvr>
                                  <p:cTn id="20" dur="1" fill="hold"/>
                                  <p:tgtEl>
                                    <p:spTgt spid="35"/>
                                  </p:tgtEl>
                                  <p:attrNameLst>
                                    <p:attrName>style.visibility</p:attrName>
                                  </p:attrNameLst>
                                </p:cBhvr>
                                <p:to>
                                  <p:strVal val="visible"/>
                                </p:to>
                              </p:set>
                              <p:animEffect transition="in" filter="fade">
                                <p:cBhvr>
                                  <p:cTn id="21" dur="350"/>
                                  <p:tgtEl>
                                    <p:spTgt spid="35"/>
                                  </p:tgtEl>
                                </p:cBhvr>
                              </p:animEffect>
                            </p:childTnLst>
                          </p:cTn>
                        </p:par>
                        <p:par>
                          <p:cTn id="22" presetID="10" presetClass="entr" presetSubtype="0" fill="hold" nodeType="withEffect">
                            <p:stCondLst>
                              <p:cond delay="12131"/>
                            </p:stCondLst>
                            <p:childTnLst>
                              <p:set>
                                <p:cBhvr>
                                  <p:cTn id="23" dur="1" fill="hold"/>
                                  <p:tgtEl>
                                    <p:spTgt spid="36"/>
                                  </p:tgtEl>
                                  <p:attrNameLst>
                                    <p:attrName>style.visibility</p:attrName>
                                  </p:attrNameLst>
                                </p:cBhvr>
                                <p:to>
                                  <p:strVal val="visible"/>
                                </p:to>
                              </p:set>
                              <p:animEffect transition="in" filter="fade">
                                <p:cBhvr>
                                  <p:cTn id="24" dur="350"/>
                                  <p:tgtEl>
                                    <p:spTgt spid="3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457200" y="258762"/>
            <a:ext cx="409575" cy="273050"/>
          </a:xfrm>
          <a:prstGeom prst="rect">
            <a:avLst/>
          </a:prstGeom>
          <a:effectLst/>
        </p:spPr>
      </p:pic>
      <p:sp>
        <p:nvSpPr>
          <p:cNvPr id="3" name="TextBox 2"/>
          <p:cNvSpPr txBox="1"/>
          <p:nvPr/>
        </p:nvSpPr>
        <p:spPr>
          <a:xfrm>
            <a:off x="990600" y="276225"/>
            <a:ext cx="2095500" cy="295275"/>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1" lang="en-US">
                <a:solidFill>
                  <a:srgbClr val="262626"/>
                </a:solidFill>
                <a:latin typeface="Manrope"/>
              </a:rPr>
              <a:t>GRINDCTRL</a:t>
            </a:r>
          </a:p>
        </p:txBody>
      </p:sp>
      <p:sp>
        <p:nvSpPr>
          <p:cNvPr id="4" name="TextBox 3"/>
          <p:cNvSpPr txBox="1"/>
          <p:nvPr/>
        </p:nvSpPr>
        <p:spPr>
          <a:xfrm>
            <a:off x="6572250" y="276225"/>
            <a:ext cx="5162550" cy="28575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A practical first collaboration</a:t>
            </a:r>
          </a:p>
        </p:txBody>
      </p:sp>
      <p:sp>
        <p:nvSpPr>
          <p:cNvPr id="5" name="TextBox 4"/>
          <p:cNvSpPr txBox="1"/>
          <p:nvPr/>
        </p:nvSpPr>
        <p:spPr>
          <a:xfrm>
            <a:off x="457200" y="866775"/>
            <a:ext cx="11277600" cy="619125"/>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62626"/>
                </a:solidFill>
                <a:latin typeface="Manrope"/>
              </a:rPr>
              <a:t>Inspect the existing setup. Then test the experience.</a:t>
            </a:r>
          </a:p>
        </p:txBody>
      </p:sp>
      <p:cxnSp>
        <p:nvCxnSpPr>
          <p:cNvPr id="6" name="Connector 5"/>
          <p:cNvCxnSpPr/>
          <p:nvPr/>
        </p:nvCxnSpPr>
        <p:spPr>
          <a:xfrm>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6505575"/>
            <a:ext cx="10287000" cy="22860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en-US">
                <a:solidFill>
                  <a:srgbClr val="68645E"/>
                </a:solidFill>
                <a:latin typeface="Manrope"/>
              </a:rPr>
              <a:t>Concrete · Proposed collaboration · Illustrative UI and fictional records</a:t>
            </a:r>
          </a:p>
        </p:txBody>
      </p:sp>
      <p:sp>
        <p:nvSpPr>
          <p:cNvPr id="8" name="TextBox 7"/>
          <p:cNvSpPr txBox="1"/>
          <p:nvPr/>
        </p:nvSpPr>
        <p:spPr>
          <a:xfrm>
            <a:off x="10953750" y="6505575"/>
            <a:ext cx="781050" cy="238125"/>
          </a:xfrm>
          <a:prstGeom prst="rect">
            <a:avLst/>
          </a:prstGeom>
          <a:noFill/>
          <a:effectLst/>
        </p:spPr>
        <p:txBody>
          <a:bodyPr wrap="square" lIns="0" rIns="0" tIns="0" bIns="0" anchor="t">
            <a:spAutoFit/>
          </a:bodyPr>
          <a:lstStyle/>
          <a:p>
            <a:pPr algn="r" rtl="0">
              <a:lnSpc>
                <a:spcPts val="1260"/>
              </a:lnSpc>
              <a:spcBef>
                <a:spcPts val="0"/>
              </a:spcBef>
              <a:spcAft>
                <a:spcPts val="0"/>
              </a:spcAft>
            </a:pPr>
            <a:r>
              <a:rPr sz="1125" b="0" lang="en-US">
                <a:solidFill>
                  <a:srgbClr val="68645E"/>
                </a:solidFill>
                <a:latin typeface="Manrope"/>
              </a:rPr>
              <a:t>07 / 07</a:t>
            </a:r>
          </a:p>
        </p:txBody>
      </p:sp>
      <p:sp>
        <p:nvSpPr>
          <p:cNvPr id="9" name="Rounded Rectangle 8"/>
          <p:cNvSpPr/>
          <p:nvPr/>
        </p:nvSpPr>
        <p:spPr>
          <a:xfrm>
            <a:off x="457200" y="1809750"/>
            <a:ext cx="3514725" cy="3752850"/>
          </a:xfrm>
          <a:prstGeom prst="roundRect">
            <a:avLst>
              <a:gd name="adj" fmla="val 3252"/>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icon-file.png"/>
          <p:cNvPicPr>
            <a:picLocks noChangeAspect="1"/>
          </p:cNvPicPr>
          <p:nvPr/>
        </p:nvPicPr>
        <p:blipFill>
          <a:blip r:embed="rId3"/>
          <a:stretch>
            <a:fillRect/>
          </a:stretch>
        </p:blipFill>
        <p:spPr>
          <a:xfrm>
            <a:off x="714375" y="2038350"/>
            <a:ext cx="361950" cy="361950"/>
          </a:xfrm>
          <a:prstGeom prst="rect">
            <a:avLst/>
          </a:prstGeom>
          <a:effectLst/>
        </p:spPr>
      </p:pic>
      <p:sp>
        <p:nvSpPr>
          <p:cNvPr id="11" name="TextBox 10"/>
          <p:cNvSpPr txBox="1"/>
          <p:nvPr/>
        </p:nvSpPr>
        <p:spPr>
          <a:xfrm>
            <a:off x="1257300" y="2047875"/>
            <a:ext cx="2400300" cy="381000"/>
          </a:xfrm>
          <a:prstGeom prst="rect">
            <a:avLst/>
          </a:prstGeom>
          <a:noFill/>
          <a:effectLst/>
        </p:spPr>
        <p:txBody>
          <a:bodyPr wrap="square" lIns="0" rIns="0" tIns="0" bIns="0" anchor="t">
            <a:spAutoFit/>
          </a:bodyPr>
          <a:lstStyle/>
          <a:p>
            <a:pPr algn="l" rtl="0">
              <a:lnSpc>
                <a:spcPts val="2100"/>
              </a:lnSpc>
              <a:spcBef>
                <a:spcPts val="0"/>
              </a:spcBef>
              <a:spcAft>
                <a:spcPts val="0"/>
              </a:spcAft>
            </a:pPr>
            <a:r>
              <a:rPr sz="1875" b="1" lang="en-US">
                <a:solidFill>
                  <a:srgbClr val="262626"/>
                </a:solidFill>
                <a:latin typeface="Manrope"/>
              </a:rPr>
              <a:t>2023 contract</a:t>
            </a:r>
          </a:p>
        </p:txBody>
      </p:sp>
      <p:sp>
        <p:nvSpPr>
          <p:cNvPr id="12" name="Rectangle 11"/>
          <p:cNvSpPr/>
          <p:nvPr/>
        </p:nvSpPr>
        <p:spPr>
          <a:xfrm>
            <a:off x="723900" y="2714625"/>
            <a:ext cx="2705100" cy="38100"/>
          </a:xfrm>
          <a:prstGeom prst="rect">
            <a:avLst/>
          </a:prstGeom>
          <a:solidFill>
            <a:srgbClr val="E6E3DE"/>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723900" y="2924175"/>
            <a:ext cx="2400300" cy="38100"/>
          </a:xfrm>
          <a:prstGeom prst="rect">
            <a:avLst/>
          </a:prstGeom>
          <a:solidFill>
            <a:srgbClr val="E6E3DE"/>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723900" y="3133725"/>
            <a:ext cx="2552700" cy="38100"/>
          </a:xfrm>
          <a:prstGeom prst="rect">
            <a:avLst/>
          </a:prstGeom>
          <a:solidFill>
            <a:srgbClr val="E6E3DE"/>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666750" y="3476625"/>
            <a:ext cx="3095625" cy="1181100"/>
          </a:xfrm>
          <a:prstGeom prst="roundRect">
            <a:avLst>
              <a:gd name="adj" fmla="val 6451"/>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57250" y="3657600"/>
            <a:ext cx="2714625" cy="847725"/>
          </a:xfrm>
          <a:prstGeom prst="rect">
            <a:avLst/>
          </a:prstGeom>
          <a:noFill/>
          <a:effectLst/>
        </p:spPr>
        <p:txBody>
          <a:bodyPr wrap="square" lIns="0" rIns="0" tIns="0" bIns="0" anchor="t">
            <a:spAutoFit/>
          </a:bodyPr>
          <a:lstStyle/>
          <a:p>
            <a:pPr algn="l" rtl="0">
              <a:lnSpc>
                <a:spcPts val="2268"/>
              </a:lnSpc>
              <a:spcBef>
                <a:spcPts val="0"/>
              </a:spcBef>
              <a:spcAft>
                <a:spcPts val="0"/>
              </a:spcAft>
            </a:pPr>
            <a:r>
              <a:rPr sz="2025" b="1" lang="en-US">
                <a:solidFill>
                  <a:srgbClr val="262626"/>
                </a:solidFill>
                <a:latin typeface="Manrope"/>
              </a:rPr>
              <a:t>“CRM URL pop up</a:t>
            </a:r>
          </a:p>
          <a:p>
            <a:pPr algn="l" rtl="0">
              <a:lnSpc>
                <a:spcPts val="2268"/>
              </a:lnSpc>
              <a:spcBef>
                <a:spcPts val="0"/>
              </a:spcBef>
              <a:spcAft>
                <a:spcPts val="0"/>
              </a:spcAft>
            </a:pPr>
            <a:r>
              <a:rPr sz="2025" b="1" lang="en-US">
                <a:solidFill>
                  <a:srgbClr val="262626"/>
                </a:solidFill>
                <a:latin typeface="Manrope"/>
              </a:rPr>
              <a:t>integration”</a:t>
            </a:r>
          </a:p>
        </p:txBody>
      </p:sp>
      <p:sp>
        <p:nvSpPr>
          <p:cNvPr id="17" name="TextBox 16"/>
          <p:cNvSpPr txBox="1"/>
          <p:nvPr/>
        </p:nvSpPr>
        <p:spPr>
          <a:xfrm>
            <a:off x="723900" y="5038725"/>
            <a:ext cx="2895600" cy="32385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68645E"/>
                </a:solidFill>
                <a:latin typeface="Manrope"/>
              </a:rPr>
              <a:t>November 2023 · p. 4</a:t>
            </a:r>
          </a:p>
        </p:txBody>
      </p:sp>
      <p:sp>
        <p:nvSpPr>
          <p:cNvPr id="18" name="TextBox 17"/>
          <p:cNvSpPr txBox="1"/>
          <p:nvPr/>
        </p:nvSpPr>
        <p:spPr>
          <a:xfrm>
            <a:off x="723900" y="4733925"/>
            <a:ext cx="2895600" cy="285750"/>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0" lang="en-US">
                <a:solidFill>
                  <a:srgbClr val="68645E"/>
                </a:solidFill>
                <a:latin typeface="Manrope"/>
              </a:rPr>
              <a:t>Current operation unverified.</a:t>
            </a:r>
          </a:p>
        </p:txBody>
      </p:sp>
      <p:pic>
        <p:nvPicPr>
          <p:cNvPr id="19" name="Picture 18" descr="icon-settings.png"/>
          <p:cNvPicPr>
            <a:picLocks noChangeAspect="1"/>
          </p:cNvPicPr>
          <p:nvPr/>
        </p:nvPicPr>
        <p:blipFill>
          <a:blip r:embed="rId4"/>
          <a:stretch>
            <a:fillRect/>
          </a:stretch>
        </p:blipFill>
        <p:spPr>
          <a:xfrm>
            <a:off x="4448175" y="2438400"/>
            <a:ext cx="419100" cy="419100"/>
          </a:xfrm>
          <a:prstGeom prst="rect">
            <a:avLst/>
          </a:prstGeom>
          <a:effectLst/>
        </p:spPr>
      </p:pic>
      <p:sp>
        <p:nvSpPr>
          <p:cNvPr id="20" name="TextBox 19"/>
          <p:cNvSpPr txBox="1"/>
          <p:nvPr/>
        </p:nvSpPr>
        <p:spPr>
          <a:xfrm>
            <a:off x="4448175" y="3028950"/>
            <a:ext cx="2600325" cy="771525"/>
          </a:xfrm>
          <a:prstGeom prst="rect">
            <a:avLst/>
          </a:prstGeom>
          <a:noFill/>
          <a:effectLst/>
        </p:spPr>
        <p:txBody>
          <a:bodyPr wrap="square" lIns="0" rIns="0" tIns="0" bIns="0" anchor="t">
            <a:spAutoFit/>
          </a:bodyPr>
          <a:lstStyle/>
          <a:p>
            <a:pPr algn="l" rtl="0">
              <a:lnSpc>
                <a:spcPts val="2268"/>
              </a:lnSpc>
              <a:spcBef>
                <a:spcPts val="0"/>
              </a:spcBef>
              <a:spcAft>
                <a:spcPts val="0"/>
              </a:spcAft>
            </a:pPr>
            <a:r>
              <a:rPr sz="2025" b="1" lang="en-US">
                <a:solidFill>
                  <a:srgbClr val="262626"/>
                </a:solidFill>
                <a:latin typeface="Manrope"/>
              </a:rPr>
              <a:t>Inspect the</a:t>
            </a:r>
          </a:p>
          <a:p>
            <a:pPr algn="l" rtl="0">
              <a:lnSpc>
                <a:spcPts val="2268"/>
              </a:lnSpc>
              <a:spcBef>
                <a:spcPts val="0"/>
              </a:spcBef>
              <a:spcAft>
                <a:spcPts val="0"/>
              </a:spcAft>
            </a:pPr>
            <a:r>
              <a:rPr sz="2025" b="1" lang="en-US">
                <a:solidFill>
                  <a:srgbClr val="262626"/>
                </a:solidFill>
                <a:latin typeface="Manrope"/>
              </a:rPr>
              <a:t>configuration</a:t>
            </a:r>
          </a:p>
        </p:txBody>
      </p:sp>
      <p:sp>
        <p:nvSpPr>
          <p:cNvPr id="21" name="TextBox 20"/>
          <p:cNvSpPr txBox="1"/>
          <p:nvPr/>
        </p:nvSpPr>
        <p:spPr>
          <a:xfrm>
            <a:off x="4448175" y="4048125"/>
            <a:ext cx="2600325" cy="790575"/>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0" lang="en-US">
                <a:solidFill>
                  <a:srgbClr val="68645E"/>
                </a:solidFill>
                <a:latin typeface="Manrope"/>
              </a:rPr>
              <a:t>Smallest supported</a:t>
            </a:r>
          </a:p>
          <a:p>
            <a:pPr algn="l" rtl="0">
              <a:lnSpc>
                <a:spcPts val="1932"/>
              </a:lnSpc>
              <a:spcBef>
                <a:spcPts val="0"/>
              </a:spcBef>
              <a:spcAft>
                <a:spcPts val="0"/>
              </a:spcAft>
            </a:pPr>
            <a:r>
              <a:rPr sz="1725" b="0" lang="en-US">
                <a:solidFill>
                  <a:srgbClr val="68645E"/>
                </a:solidFill>
                <a:latin typeface="Manrope"/>
              </a:rPr>
              <a:t>improvement</a:t>
            </a:r>
          </a:p>
        </p:txBody>
      </p:sp>
      <p:cxnSp>
        <p:nvCxnSpPr>
          <p:cNvPr id="22" name="Connector 21"/>
          <p:cNvCxnSpPr/>
          <p:nvPr/>
        </p:nvCxnSpPr>
        <p:spPr>
          <a:xfrm>
            <a:off x="4000500" y="3800475"/>
            <a:ext cx="295275"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3" name="Rounded Rectangle 22"/>
          <p:cNvSpPr/>
          <p:nvPr/>
        </p:nvSpPr>
        <p:spPr>
          <a:xfrm>
            <a:off x="7524750" y="2314575"/>
            <a:ext cx="4210050" cy="3286125"/>
          </a:xfrm>
          <a:prstGeom prst="roundRect">
            <a:avLst>
              <a:gd name="adj" fmla="val 3478"/>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con-call.png"/>
          <p:cNvPicPr>
            <a:picLocks noChangeAspect="1"/>
          </p:cNvPicPr>
          <p:nvPr/>
        </p:nvPicPr>
        <p:blipFill>
          <a:blip r:embed="rId5"/>
          <a:stretch>
            <a:fillRect/>
          </a:stretch>
        </p:blipFill>
        <p:spPr>
          <a:xfrm>
            <a:off x="7753350" y="2533650"/>
            <a:ext cx="276225" cy="276225"/>
          </a:xfrm>
          <a:prstGeom prst="rect">
            <a:avLst/>
          </a:prstGeom>
          <a:effectLst/>
        </p:spPr>
      </p:pic>
      <p:sp>
        <p:nvSpPr>
          <p:cNvPr id="25" name="TextBox 24"/>
          <p:cNvSpPr txBox="1"/>
          <p:nvPr/>
        </p:nvSpPr>
        <p:spPr>
          <a:xfrm>
            <a:off x="8181975" y="2505075"/>
            <a:ext cx="3181350" cy="390525"/>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1" lang="en-US">
                <a:solidFill>
                  <a:srgbClr val="262626"/>
                </a:solidFill>
                <a:latin typeface="Manrope"/>
              </a:rPr>
              <a:t>Authorized test call</a:t>
            </a:r>
          </a:p>
        </p:txBody>
      </p:sp>
      <p:cxnSp>
        <p:nvCxnSpPr>
          <p:cNvPr id="26" name="Connector 25"/>
          <p:cNvCxnSpPr/>
          <p:nvPr/>
        </p:nvCxnSpPr>
        <p:spPr>
          <a:xfrm>
            <a:off x="7524750" y="3095625"/>
            <a:ext cx="42100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7753350" y="3305175"/>
            <a:ext cx="3686175" cy="390525"/>
          </a:xfrm>
          <a:prstGeom prst="rect">
            <a:avLst/>
          </a:prstGeom>
          <a:noFill/>
          <a:effectLst/>
        </p:spPr>
        <p:txBody>
          <a:bodyPr wrap="square" lIns="0" rIns="0" tIns="0" bIns="0" anchor="t">
            <a:spAutoFit/>
          </a:bodyPr>
          <a:lstStyle/>
          <a:p>
            <a:pPr algn="l" rtl="0">
              <a:lnSpc>
                <a:spcPts val="2268"/>
              </a:lnSpc>
              <a:spcBef>
                <a:spcPts val="0"/>
              </a:spcBef>
              <a:spcAft>
                <a:spcPts val="0"/>
              </a:spcAft>
            </a:pPr>
            <a:r>
              <a:rPr sz="2025" b="1" lang="en-US">
                <a:solidFill>
                  <a:srgbClr val="262626"/>
                </a:solidFill>
                <a:latin typeface="Manrope"/>
              </a:rPr>
              <a:t>+20 ••• 410</a:t>
            </a:r>
          </a:p>
        </p:txBody>
      </p:sp>
      <p:pic>
        <p:nvPicPr>
          <p:cNvPr id="28" name="Picture 27" descr="zoho.png"/>
          <p:cNvPicPr>
            <a:picLocks noChangeAspect="1"/>
          </p:cNvPicPr>
          <p:nvPr/>
        </p:nvPicPr>
        <p:blipFill>
          <a:blip r:embed="rId6"/>
          <a:stretch>
            <a:fillRect/>
          </a:stretch>
        </p:blipFill>
        <p:spPr>
          <a:xfrm>
            <a:off x="7812838" y="3886200"/>
            <a:ext cx="576349" cy="247650"/>
          </a:xfrm>
          <a:prstGeom prst="rect">
            <a:avLst/>
          </a:prstGeom>
          <a:effectLst/>
        </p:spPr>
      </p:pic>
      <p:sp>
        <p:nvSpPr>
          <p:cNvPr id="29" name="TextBox 28"/>
          <p:cNvSpPr txBox="1"/>
          <p:nvPr/>
        </p:nvSpPr>
        <p:spPr>
          <a:xfrm>
            <a:off x="8648700" y="3857625"/>
            <a:ext cx="2790825" cy="361950"/>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1" lang="en-US">
                <a:solidFill>
                  <a:srgbClr val="262626"/>
                </a:solidFill>
                <a:latin typeface="Manrope"/>
              </a:rPr>
              <a:t>T101 · Exchange</a:t>
            </a:r>
          </a:p>
        </p:txBody>
      </p:sp>
      <p:sp>
        <p:nvSpPr>
          <p:cNvPr id="30" name="Rounded Rectangle 29"/>
          <p:cNvSpPr/>
          <p:nvPr/>
        </p:nvSpPr>
        <p:spPr>
          <a:xfrm>
            <a:off x="7734300" y="4391025"/>
            <a:ext cx="3800475" cy="952500"/>
          </a:xfrm>
          <a:prstGeom prst="roundRect">
            <a:avLst>
              <a:gd name="adj" fmla="val 8000"/>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1" name="Picture 30" descr="icon-file.png"/>
          <p:cNvPicPr>
            <a:picLocks noChangeAspect="1"/>
          </p:cNvPicPr>
          <p:nvPr/>
        </p:nvPicPr>
        <p:blipFill>
          <a:blip r:embed="rId3"/>
          <a:stretch>
            <a:fillRect/>
          </a:stretch>
        </p:blipFill>
        <p:spPr>
          <a:xfrm>
            <a:off x="7924800" y="4562475"/>
            <a:ext cx="238125" cy="238125"/>
          </a:xfrm>
          <a:prstGeom prst="rect">
            <a:avLst/>
          </a:prstGeom>
          <a:effectLst/>
        </p:spPr>
      </p:pic>
      <p:sp>
        <p:nvSpPr>
          <p:cNvPr id="32" name="TextBox 31"/>
          <p:cNvSpPr txBox="1"/>
          <p:nvPr/>
        </p:nvSpPr>
        <p:spPr>
          <a:xfrm>
            <a:off x="8305800" y="4533900"/>
            <a:ext cx="2971800" cy="314325"/>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0" lang="en-US">
                <a:solidFill>
                  <a:srgbClr val="965318"/>
                </a:solidFill>
                <a:latin typeface="Manrope"/>
              </a:rPr>
              <a:t>Latest recorded note</a:t>
            </a:r>
          </a:p>
        </p:txBody>
      </p:sp>
      <p:sp>
        <p:nvSpPr>
          <p:cNvPr id="33" name="TextBox 32"/>
          <p:cNvSpPr txBox="1"/>
          <p:nvPr/>
        </p:nvSpPr>
        <p:spPr>
          <a:xfrm>
            <a:off x="7924800" y="4953000"/>
            <a:ext cx="3324225" cy="333375"/>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1" lang="en-US">
                <a:solidFill>
                  <a:srgbClr val="262626"/>
                </a:solidFill>
                <a:latin typeface="Manrope"/>
              </a:rPr>
              <a:t>Branch review pending.</a:t>
            </a:r>
          </a:p>
        </p:txBody>
      </p:sp>
      <p:cxnSp>
        <p:nvCxnSpPr>
          <p:cNvPr id="34" name="Connector 33"/>
          <p:cNvCxnSpPr/>
          <p:nvPr/>
        </p:nvCxnSpPr>
        <p:spPr>
          <a:xfrm>
            <a:off x="7086600" y="3800475"/>
            <a:ext cx="342900"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5" name="TextBox 34"/>
          <p:cNvSpPr txBox="1"/>
          <p:nvPr/>
        </p:nvSpPr>
        <p:spPr>
          <a:xfrm>
            <a:off x="4448175" y="5867400"/>
            <a:ext cx="7105650" cy="333375"/>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1" lang="en-US">
                <a:solidFill>
                  <a:srgbClr val="262626"/>
                </a:solidFill>
                <a:latin typeface="Manrope"/>
              </a:rPr>
              <a:t>Start the call with existing customer context.</a:t>
            </a:r>
          </a:p>
        </p:txBody>
      </p:sp>
    </p:spTree>
  </p:cSld>
  <p:clrMapOvr>
    <a:masterClrMapping/>
  </p:clrMapOvr>
  <p:transition spd="med" advClick="1"/>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3076"/>
                            </p:stCondLst>
                            <p:childTnLst>
                              <p:set>
                                <p:cBhvr>
                                  <p:cTn id="5" dur="1" fill="hold"/>
                                  <p:tgtEl>
                                    <p:spTgt spid="15"/>
                                  </p:tgtEl>
                                  <p:attrNameLst>
                                    <p:attrName>style.visibility</p:attrName>
                                  </p:attrNameLst>
                                </p:cBhvr>
                                <p:to>
                                  <p:strVal val="visible"/>
                                </p:to>
                              </p:set>
                              <p:animEffect transition="in" filter="fade">
                                <p:cBhvr>
                                  <p:cTn id="6" dur="350"/>
                                  <p:tgtEl>
                                    <p:spTgt spid="15"/>
                                  </p:tgtEl>
                                </p:cBhvr>
                              </p:animEffect>
                            </p:childTnLst>
                          </p:cTn>
                        </p:par>
                        <p:par>
                          <p:cTn id="7" presetID="10" presetClass="entr" presetSubtype="0" fill="hold" nodeType="withEffect">
                            <p:stCondLst>
                              <p:cond delay="3076"/>
                            </p:stCondLst>
                            <p:childTnLst>
                              <p:set>
                                <p:cBhvr>
                                  <p:cTn id="8" dur="1" fill="hold"/>
                                  <p:tgtEl>
                                    <p:spTgt spid="16"/>
                                  </p:tgtEl>
                                  <p:attrNameLst>
                                    <p:attrName>style.visibility</p:attrName>
                                  </p:attrNameLst>
                                </p:cBhvr>
                                <p:to>
                                  <p:strVal val="visible"/>
                                </p:to>
                              </p:set>
                              <p:animEffect transition="in" filter="fade">
                                <p:cBhvr>
                                  <p:cTn id="9" dur="350"/>
                                  <p:tgtEl>
                                    <p:spTgt spid="16"/>
                                  </p:tgtEl>
                                </p:cBhvr>
                              </p:animEffect>
                            </p:childTnLst>
                          </p:cTn>
                        </p:par>
                        <p:par>
                          <p:cTn id="10" presetID="10" presetClass="entr" presetSubtype="0" fill="hold" nodeType="withEffect">
                            <p:stCondLst>
                              <p:cond delay="3076"/>
                            </p:stCondLst>
                            <p:childTnLst>
                              <p:set>
                                <p:cBhvr>
                                  <p:cTn id="11" dur="1" fill="hold"/>
                                  <p:tgtEl>
                                    <p:spTgt spid="18"/>
                                  </p:tgtEl>
                                  <p:attrNameLst>
                                    <p:attrName>style.visibility</p:attrName>
                                  </p:attrNameLst>
                                </p:cBhvr>
                                <p:to>
                                  <p:strVal val="visible"/>
                                </p:to>
                              </p:set>
                              <p:animEffect transition="in" filter="fade">
                                <p:cBhvr>
                                  <p:cTn id="12" dur="350"/>
                                  <p:tgtEl>
                                    <p:spTgt spid="18"/>
                                  </p:tgtEl>
                                </p:cBhvr>
                              </p:animEffect>
                            </p:childTnLst>
                          </p:cTn>
                        </p:par>
                        <p:par>
                          <p:cTn id="13" presetID="10" presetClass="entr" presetSubtype="0" fill="hold" nodeType="withEffect">
                            <p:stCondLst>
                              <p:cond delay="3076"/>
                            </p:stCondLst>
                            <p:childTnLst>
                              <p:set>
                                <p:cBhvr>
                                  <p:cTn id="14" dur="1" fill="hold"/>
                                  <p:tgtEl>
                                    <p:spTgt spid="19"/>
                                  </p:tgtEl>
                                  <p:attrNameLst>
                                    <p:attrName>style.visibility</p:attrName>
                                  </p:attrNameLst>
                                </p:cBhvr>
                                <p:to>
                                  <p:strVal val="visible"/>
                                </p:to>
                              </p:set>
                              <p:animEffect transition="in" filter="fade">
                                <p:cBhvr>
                                  <p:cTn id="15" dur="350"/>
                                  <p:tgtEl>
                                    <p:spTgt spid="19"/>
                                  </p:tgtEl>
                                </p:cBhvr>
                              </p:animEffect>
                            </p:childTnLst>
                          </p:cTn>
                        </p:par>
                        <p:par>
                          <p:cTn id="16" presetID="10" presetClass="entr" presetSubtype="0" fill="hold" nodeType="withEffect">
                            <p:stCondLst>
                              <p:cond delay="3076"/>
                            </p:stCondLst>
                            <p:childTnLst>
                              <p:set>
                                <p:cBhvr>
                                  <p:cTn id="17" dur="1" fill="hold"/>
                                  <p:tgtEl>
                                    <p:spTgt spid="20"/>
                                  </p:tgtEl>
                                  <p:attrNameLst>
                                    <p:attrName>style.visibility</p:attrName>
                                  </p:attrNameLst>
                                </p:cBhvr>
                                <p:to>
                                  <p:strVal val="visible"/>
                                </p:to>
                              </p:set>
                              <p:animEffect transition="in" filter="fade">
                                <p:cBhvr>
                                  <p:cTn id="18" dur="350"/>
                                  <p:tgtEl>
                                    <p:spTgt spid="20"/>
                                  </p:tgtEl>
                                </p:cBhvr>
                              </p:animEffect>
                            </p:childTnLst>
                          </p:cTn>
                        </p:par>
                        <p:par>
                          <p:cTn id="19" presetID="10" presetClass="entr" presetSubtype="0" fill="hold" nodeType="withEffect">
                            <p:stCondLst>
                              <p:cond delay="9902"/>
                            </p:stCondLst>
                            <p:childTnLst>
                              <p:set>
                                <p:cBhvr>
                                  <p:cTn id="20" dur="1" fill="hold"/>
                                  <p:tgtEl>
                                    <p:spTgt spid="21"/>
                                  </p:tgtEl>
                                  <p:attrNameLst>
                                    <p:attrName>style.visibility</p:attrName>
                                  </p:attrNameLst>
                                </p:cBhvr>
                                <p:to>
                                  <p:strVal val="visible"/>
                                </p:to>
                              </p:set>
                              <p:animEffect transition="in" filter="fade">
                                <p:cBhvr>
                                  <p:cTn id="21" dur="350"/>
                                  <p:tgtEl>
                                    <p:spTgt spid="21"/>
                                  </p:tgtEl>
                                </p:cBhvr>
                              </p:animEffect>
                            </p:childTnLst>
                          </p:cTn>
                        </p:par>
                        <p:par>
                          <p:cTn id="22" presetID="10" presetClass="entr" presetSubtype="0" fill="hold" nodeType="withEffect">
                            <p:stCondLst>
                              <p:cond delay="3076"/>
                            </p:stCondLst>
                            <p:childTnLst>
                              <p:set>
                                <p:cBhvr>
                                  <p:cTn id="23" dur="1" fill="hold"/>
                                  <p:tgtEl>
                                    <p:spTgt spid="22"/>
                                  </p:tgtEl>
                                  <p:attrNameLst>
                                    <p:attrName>style.visibility</p:attrName>
                                  </p:attrNameLst>
                                </p:cBhvr>
                                <p:to>
                                  <p:strVal val="visible"/>
                                </p:to>
                              </p:set>
                              <p:animEffect transition="in" filter="fade">
                                <p:cBhvr>
                                  <p:cTn id="24" dur="350"/>
                                  <p:tgtEl>
                                    <p:spTgt spid="22"/>
                                  </p:tgtEl>
                                </p:cBhvr>
                              </p:animEffect>
                            </p:childTnLst>
                          </p:cTn>
                        </p:par>
                        <p:par>
                          <p:cTn id="25" presetID="10" presetClass="entr" presetSubtype="0" fill="hold" nodeType="withEffect">
                            <p:stCondLst>
                              <p:cond delay="9902"/>
                            </p:stCondLst>
                            <p:childTnLst>
                              <p:set>
                                <p:cBhvr>
                                  <p:cTn id="26" dur="1" fill="hold"/>
                                  <p:tgtEl>
                                    <p:spTgt spid="23"/>
                                  </p:tgtEl>
                                  <p:attrNameLst>
                                    <p:attrName>style.visibility</p:attrName>
                                  </p:attrNameLst>
                                </p:cBhvr>
                                <p:to>
                                  <p:strVal val="visible"/>
                                </p:to>
                              </p:set>
                              <p:animEffect transition="in" filter="fade">
                                <p:cBhvr>
                                  <p:cTn id="27" dur="350"/>
                                  <p:tgtEl>
                                    <p:spTgt spid="23"/>
                                  </p:tgtEl>
                                </p:cBhvr>
                              </p:animEffect>
                            </p:childTnLst>
                          </p:cTn>
                        </p:par>
                        <p:par>
                          <p:cTn id="28" presetID="10" presetClass="entr" presetSubtype="0" fill="hold" nodeType="withEffect">
                            <p:stCondLst>
                              <p:cond delay="9902"/>
                            </p:stCondLst>
                            <p:childTnLst>
                              <p:set>
                                <p:cBhvr>
                                  <p:cTn id="29" dur="1" fill="hold"/>
                                  <p:tgtEl>
                                    <p:spTgt spid="24"/>
                                  </p:tgtEl>
                                  <p:attrNameLst>
                                    <p:attrName>style.visibility</p:attrName>
                                  </p:attrNameLst>
                                </p:cBhvr>
                                <p:to>
                                  <p:strVal val="visible"/>
                                </p:to>
                              </p:set>
                              <p:animEffect transition="in" filter="fade">
                                <p:cBhvr>
                                  <p:cTn id="30" dur="350"/>
                                  <p:tgtEl>
                                    <p:spTgt spid="24"/>
                                  </p:tgtEl>
                                </p:cBhvr>
                              </p:animEffect>
                            </p:childTnLst>
                          </p:cTn>
                        </p:par>
                        <p:par>
                          <p:cTn id="31" presetID="10" presetClass="entr" presetSubtype="0" fill="hold" nodeType="withEffect">
                            <p:stCondLst>
                              <p:cond delay="9902"/>
                            </p:stCondLst>
                            <p:childTnLst>
                              <p:set>
                                <p:cBhvr>
                                  <p:cTn id="32" dur="1" fill="hold"/>
                                  <p:tgtEl>
                                    <p:spTgt spid="25"/>
                                  </p:tgtEl>
                                  <p:attrNameLst>
                                    <p:attrName>style.visibility</p:attrName>
                                  </p:attrNameLst>
                                </p:cBhvr>
                                <p:to>
                                  <p:strVal val="visible"/>
                                </p:to>
                              </p:set>
                              <p:animEffect transition="in" filter="fade">
                                <p:cBhvr>
                                  <p:cTn id="33" dur="350"/>
                                  <p:tgtEl>
                                    <p:spTgt spid="25"/>
                                  </p:tgtEl>
                                </p:cBhvr>
                              </p:animEffect>
                            </p:childTnLst>
                          </p:cTn>
                        </p:par>
                        <p:par>
                          <p:cTn id="34" presetID="10" presetClass="entr" presetSubtype="0" fill="hold" nodeType="withEffect">
                            <p:stCondLst>
                              <p:cond delay="9902"/>
                            </p:stCondLst>
                            <p:childTnLst>
                              <p:set>
                                <p:cBhvr>
                                  <p:cTn id="35" dur="1" fill="hold"/>
                                  <p:tgtEl>
                                    <p:spTgt spid="26"/>
                                  </p:tgtEl>
                                  <p:attrNameLst>
                                    <p:attrName>style.visibility</p:attrName>
                                  </p:attrNameLst>
                                </p:cBhvr>
                                <p:to>
                                  <p:strVal val="visible"/>
                                </p:to>
                              </p:set>
                              <p:animEffect transition="in" filter="fade">
                                <p:cBhvr>
                                  <p:cTn id="36" dur="350"/>
                                  <p:tgtEl>
                                    <p:spTgt spid="26"/>
                                  </p:tgtEl>
                                </p:cBhvr>
                              </p:animEffect>
                            </p:childTnLst>
                          </p:cTn>
                        </p:par>
                        <p:par>
                          <p:cTn id="37" presetID="10" presetClass="entr" presetSubtype="0" fill="hold" nodeType="withEffect">
                            <p:stCondLst>
                              <p:cond delay="9902"/>
                            </p:stCondLst>
                            <p:childTnLst>
                              <p:set>
                                <p:cBhvr>
                                  <p:cTn id="38" dur="1" fill="hold"/>
                                  <p:tgtEl>
                                    <p:spTgt spid="27"/>
                                  </p:tgtEl>
                                  <p:attrNameLst>
                                    <p:attrName>style.visibility</p:attrName>
                                  </p:attrNameLst>
                                </p:cBhvr>
                                <p:to>
                                  <p:strVal val="visible"/>
                                </p:to>
                              </p:set>
                              <p:animEffect transition="in" filter="fade">
                                <p:cBhvr>
                                  <p:cTn id="39" dur="350"/>
                                  <p:tgtEl>
                                    <p:spTgt spid="27"/>
                                  </p:tgtEl>
                                </p:cBhvr>
                              </p:animEffect>
                            </p:childTnLst>
                          </p:cTn>
                        </p:par>
                        <p:par>
                          <p:cTn id="40" presetID="10" presetClass="entr" presetSubtype="0" fill="hold" nodeType="withEffect">
                            <p:stCondLst>
                              <p:cond delay="17517"/>
                            </p:stCondLst>
                            <p:childTnLst>
                              <p:set>
                                <p:cBhvr>
                                  <p:cTn id="41" dur="1" fill="hold"/>
                                  <p:tgtEl>
                                    <p:spTgt spid="28"/>
                                  </p:tgtEl>
                                  <p:attrNameLst>
                                    <p:attrName>style.visibility</p:attrName>
                                  </p:attrNameLst>
                                </p:cBhvr>
                                <p:to>
                                  <p:strVal val="visible"/>
                                </p:to>
                              </p:set>
                              <p:animEffect transition="in" filter="fade">
                                <p:cBhvr>
                                  <p:cTn id="42" dur="350"/>
                                  <p:tgtEl>
                                    <p:spTgt spid="28"/>
                                  </p:tgtEl>
                                </p:cBhvr>
                              </p:animEffect>
                            </p:childTnLst>
                          </p:cTn>
                        </p:par>
                        <p:par>
                          <p:cTn id="43" presetID="10" presetClass="entr" presetSubtype="0" fill="hold" nodeType="withEffect">
                            <p:stCondLst>
                              <p:cond delay="17517"/>
                            </p:stCondLst>
                            <p:childTnLst>
                              <p:set>
                                <p:cBhvr>
                                  <p:cTn id="44" dur="1" fill="hold"/>
                                  <p:tgtEl>
                                    <p:spTgt spid="29"/>
                                  </p:tgtEl>
                                  <p:attrNameLst>
                                    <p:attrName>style.visibility</p:attrName>
                                  </p:attrNameLst>
                                </p:cBhvr>
                                <p:to>
                                  <p:strVal val="visible"/>
                                </p:to>
                              </p:set>
                              <p:animEffect transition="in" filter="fade">
                                <p:cBhvr>
                                  <p:cTn id="45" dur="350"/>
                                  <p:tgtEl>
                                    <p:spTgt spid="29"/>
                                  </p:tgtEl>
                                </p:cBhvr>
                              </p:animEffect>
                            </p:childTnLst>
                          </p:cTn>
                        </p:par>
                        <p:par>
                          <p:cTn id="46" presetID="10" presetClass="entr" presetSubtype="0" fill="hold" nodeType="withEffect">
                            <p:stCondLst>
                              <p:cond delay="17517"/>
                            </p:stCondLst>
                            <p:childTnLst>
                              <p:set>
                                <p:cBhvr>
                                  <p:cTn id="47" dur="1" fill="hold"/>
                                  <p:tgtEl>
                                    <p:spTgt spid="30"/>
                                  </p:tgtEl>
                                  <p:attrNameLst>
                                    <p:attrName>style.visibility</p:attrName>
                                  </p:attrNameLst>
                                </p:cBhvr>
                                <p:to>
                                  <p:strVal val="visible"/>
                                </p:to>
                              </p:set>
                              <p:animEffect transition="in" filter="fade">
                                <p:cBhvr>
                                  <p:cTn id="48" dur="350"/>
                                  <p:tgtEl>
                                    <p:spTgt spid="30"/>
                                  </p:tgtEl>
                                </p:cBhvr>
                              </p:animEffect>
                            </p:childTnLst>
                          </p:cTn>
                        </p:par>
                        <p:par>
                          <p:cTn id="49" presetID="10" presetClass="entr" presetSubtype="0" fill="hold" nodeType="withEffect">
                            <p:stCondLst>
                              <p:cond delay="17517"/>
                            </p:stCondLst>
                            <p:childTnLst>
                              <p:set>
                                <p:cBhvr>
                                  <p:cTn id="50" dur="1" fill="hold"/>
                                  <p:tgtEl>
                                    <p:spTgt spid="31"/>
                                  </p:tgtEl>
                                  <p:attrNameLst>
                                    <p:attrName>style.visibility</p:attrName>
                                  </p:attrNameLst>
                                </p:cBhvr>
                                <p:to>
                                  <p:strVal val="visible"/>
                                </p:to>
                              </p:set>
                              <p:animEffect transition="in" filter="fade">
                                <p:cBhvr>
                                  <p:cTn id="51" dur="350"/>
                                  <p:tgtEl>
                                    <p:spTgt spid="31"/>
                                  </p:tgtEl>
                                </p:cBhvr>
                              </p:animEffect>
                            </p:childTnLst>
                          </p:cTn>
                        </p:par>
                        <p:par>
                          <p:cTn id="52" presetID="10" presetClass="entr" presetSubtype="0" fill="hold" nodeType="withEffect">
                            <p:stCondLst>
                              <p:cond delay="17517"/>
                            </p:stCondLst>
                            <p:childTnLst>
                              <p:set>
                                <p:cBhvr>
                                  <p:cTn id="53" dur="1" fill="hold"/>
                                  <p:tgtEl>
                                    <p:spTgt spid="32"/>
                                  </p:tgtEl>
                                  <p:attrNameLst>
                                    <p:attrName>style.visibility</p:attrName>
                                  </p:attrNameLst>
                                </p:cBhvr>
                                <p:to>
                                  <p:strVal val="visible"/>
                                </p:to>
                              </p:set>
                              <p:animEffect transition="in" filter="fade">
                                <p:cBhvr>
                                  <p:cTn id="54" dur="350"/>
                                  <p:tgtEl>
                                    <p:spTgt spid="32"/>
                                  </p:tgtEl>
                                </p:cBhvr>
                              </p:animEffect>
                            </p:childTnLst>
                          </p:cTn>
                        </p:par>
                        <p:par>
                          <p:cTn id="55" presetID="10" presetClass="entr" presetSubtype="0" fill="hold" nodeType="withEffect">
                            <p:stCondLst>
                              <p:cond delay="17517"/>
                            </p:stCondLst>
                            <p:childTnLst>
                              <p:set>
                                <p:cBhvr>
                                  <p:cTn id="56" dur="1" fill="hold"/>
                                  <p:tgtEl>
                                    <p:spTgt spid="33"/>
                                  </p:tgtEl>
                                  <p:attrNameLst>
                                    <p:attrName>style.visibility</p:attrName>
                                  </p:attrNameLst>
                                </p:cBhvr>
                                <p:to>
                                  <p:strVal val="visible"/>
                                </p:to>
                              </p:set>
                              <p:animEffect transition="in" filter="fade">
                                <p:cBhvr>
                                  <p:cTn id="57" dur="350"/>
                                  <p:tgtEl>
                                    <p:spTgt spid="33"/>
                                  </p:tgtEl>
                                </p:cBhvr>
                              </p:animEffect>
                            </p:childTnLst>
                          </p:cTn>
                        </p:par>
                        <p:par>
                          <p:cTn id="58" presetID="10" presetClass="entr" presetSubtype="0" fill="hold" nodeType="withEffect">
                            <p:stCondLst>
                              <p:cond delay="9902"/>
                            </p:stCondLst>
                            <p:childTnLst>
                              <p:set>
                                <p:cBhvr>
                                  <p:cTn id="59" dur="1" fill="hold"/>
                                  <p:tgtEl>
                                    <p:spTgt spid="34"/>
                                  </p:tgtEl>
                                  <p:attrNameLst>
                                    <p:attrName>style.visibility</p:attrName>
                                  </p:attrNameLst>
                                </p:cBhvr>
                                <p:to>
                                  <p:strVal val="visible"/>
                                </p:to>
                              </p:set>
                              <p:animEffect transition="in" filter="fade">
                                <p:cBhvr>
                                  <p:cTn id="60" dur="350"/>
                                  <p:tgtEl>
                                    <p:spTgt spid="34"/>
                                  </p:tgtEl>
                                </p:cBhvr>
                              </p:animEffect>
                            </p:childTnLst>
                          </p:cTn>
                        </p:par>
                        <p:par>
                          <p:cTn id="61" presetID="10" presetClass="entr" presetSubtype="0" fill="hold" nodeType="withEffect">
                            <p:stCondLst>
                              <p:cond delay="16266"/>
                            </p:stCondLst>
                            <p:childTnLst>
                              <p:set>
                                <p:cBhvr>
                                  <p:cTn id="62" dur="1" fill="hold"/>
                                  <p:tgtEl>
                                    <p:spTgt spid="35"/>
                                  </p:tgtEl>
                                  <p:attrNameLst>
                                    <p:attrName>style.visibility</p:attrName>
                                  </p:attrNameLst>
                                </p:cBhvr>
                                <p:to>
                                  <p:strVal val="visible"/>
                                </p:to>
                              </p:set>
                              <p:animEffect transition="in" filter="fade">
                                <p:cBhvr>
                                  <p:cTn id="63" dur="350"/>
                                  <p:tgtEl>
                                    <p:spTgt spid="3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457200" y="258762"/>
            <a:ext cx="409575" cy="273050"/>
          </a:xfrm>
          <a:prstGeom prst="rect">
            <a:avLst/>
          </a:prstGeom>
          <a:effectLst/>
        </p:spPr>
      </p:pic>
      <p:sp>
        <p:nvSpPr>
          <p:cNvPr id="3" name="TextBox 2"/>
          <p:cNvSpPr txBox="1"/>
          <p:nvPr/>
        </p:nvSpPr>
        <p:spPr>
          <a:xfrm>
            <a:off x="990600" y="276225"/>
            <a:ext cx="2095500" cy="295275"/>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1" lang="en-US">
                <a:solidFill>
                  <a:srgbClr val="262626"/>
                </a:solidFill>
                <a:latin typeface="Manrope"/>
              </a:rPr>
              <a:t>GRINDCTRL</a:t>
            </a:r>
          </a:p>
        </p:txBody>
      </p:sp>
      <p:sp>
        <p:nvSpPr>
          <p:cNvPr id="4" name="TextBox 3"/>
          <p:cNvSpPr txBox="1"/>
          <p:nvPr/>
        </p:nvSpPr>
        <p:spPr>
          <a:xfrm>
            <a:off x="6572250" y="276225"/>
            <a:ext cx="5162550" cy="28575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Proposed lookup and record choice</a:t>
            </a:r>
          </a:p>
        </p:txBody>
      </p:sp>
      <p:sp>
        <p:nvSpPr>
          <p:cNvPr id="5" name="TextBox 4"/>
          <p:cNvSpPr txBox="1"/>
          <p:nvPr/>
        </p:nvSpPr>
        <p:spPr>
          <a:xfrm>
            <a:off x="457200" y="866775"/>
            <a:ext cx="11277600" cy="619125"/>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62626"/>
                </a:solidFill>
                <a:latin typeface="Manrope"/>
              </a:rPr>
              <a:t>When one number has more than one match.</a:t>
            </a:r>
          </a:p>
        </p:txBody>
      </p:sp>
      <p:cxnSp>
        <p:nvCxnSpPr>
          <p:cNvPr id="6" name="Connector 5"/>
          <p:cNvCxnSpPr/>
          <p:nvPr/>
        </p:nvCxnSpPr>
        <p:spPr>
          <a:xfrm>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6505575"/>
            <a:ext cx="10287000" cy="22860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en-US">
                <a:solidFill>
                  <a:srgbClr val="68645E"/>
                </a:solidFill>
                <a:latin typeface="Manrope"/>
              </a:rPr>
              <a:t>Concrete · Proposed collaboration · Illustrative UI and fictional records</a:t>
            </a:r>
          </a:p>
        </p:txBody>
      </p:sp>
      <p:sp>
        <p:nvSpPr>
          <p:cNvPr id="8" name="TextBox 7"/>
          <p:cNvSpPr txBox="1"/>
          <p:nvPr/>
        </p:nvSpPr>
        <p:spPr>
          <a:xfrm>
            <a:off x="10953750" y="6505575"/>
            <a:ext cx="781050" cy="238125"/>
          </a:xfrm>
          <a:prstGeom prst="rect">
            <a:avLst/>
          </a:prstGeom>
          <a:noFill/>
          <a:effectLst/>
        </p:spPr>
        <p:txBody>
          <a:bodyPr wrap="square" lIns="0" rIns="0" tIns="0" bIns="0" anchor="t">
            <a:spAutoFit/>
          </a:bodyPr>
          <a:lstStyle/>
          <a:p>
            <a:pPr algn="r" rtl="0">
              <a:lnSpc>
                <a:spcPts val="1260"/>
              </a:lnSpc>
              <a:spcBef>
                <a:spcPts val="0"/>
              </a:spcBef>
              <a:spcAft>
                <a:spcPts val="0"/>
              </a:spcAft>
            </a:pPr>
            <a:r>
              <a:rPr sz="1125" b="0" lang="en-US">
                <a:solidFill>
                  <a:srgbClr val="68645E"/>
                </a:solidFill>
                <a:latin typeface="Manrope"/>
              </a:rPr>
              <a:t>Appendix</a:t>
            </a:r>
          </a:p>
        </p:txBody>
      </p:sp>
      <p:sp>
        <p:nvSpPr>
          <p:cNvPr id="9" name="Rounded Rectangle 8"/>
          <p:cNvSpPr/>
          <p:nvPr/>
        </p:nvSpPr>
        <p:spPr>
          <a:xfrm>
            <a:off x="457200" y="1724025"/>
            <a:ext cx="3067050" cy="4495800"/>
          </a:xfrm>
          <a:prstGeom prst="roundRect">
            <a:avLst>
              <a:gd name="adj" fmla="val 3726"/>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457200" y="1676400"/>
            <a:ext cx="3067050" cy="4495800"/>
          </a:xfrm>
          <a:prstGeom prst="roundRect">
            <a:avLst>
              <a:gd name="adj" fmla="val 3726"/>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685800" y="1881744"/>
            <a:ext cx="1314450" cy="256062"/>
          </a:xfrm>
          <a:prstGeom prst="rect">
            <a:avLst/>
          </a:prstGeom>
          <a:effectLst/>
        </p:spPr>
      </p:pic>
      <p:sp>
        <p:nvSpPr>
          <p:cNvPr id="12" name="TextBox 11"/>
          <p:cNvSpPr txBox="1"/>
          <p:nvPr/>
        </p:nvSpPr>
        <p:spPr>
          <a:xfrm>
            <a:off x="2171700" y="1885950"/>
            <a:ext cx="1123950" cy="304800"/>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0" lang="en-US">
                <a:solidFill>
                  <a:srgbClr val="68645E"/>
                </a:solidFill>
                <a:latin typeface="Manrope"/>
              </a:rPr>
              <a:t>Call</a:t>
            </a:r>
          </a:p>
        </p:txBody>
      </p:sp>
      <p:cxnSp>
        <p:nvCxnSpPr>
          <p:cNvPr id="13" name="Connector 12"/>
          <p:cNvCxnSpPr/>
          <p:nvPr/>
        </p:nvCxnSpPr>
        <p:spPr>
          <a:xfrm>
            <a:off x="457200" y="2362200"/>
            <a:ext cx="30670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704850" y="2667000"/>
            <a:ext cx="781050" cy="78105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call.png"/>
          <p:cNvPicPr>
            <a:picLocks noChangeAspect="1"/>
          </p:cNvPicPr>
          <p:nvPr/>
        </p:nvPicPr>
        <p:blipFill>
          <a:blip r:embed="rId4"/>
          <a:stretch>
            <a:fillRect/>
          </a:stretch>
        </p:blipFill>
        <p:spPr>
          <a:xfrm>
            <a:off x="914400" y="2876550"/>
            <a:ext cx="361950" cy="361950"/>
          </a:xfrm>
          <a:prstGeom prst="rect">
            <a:avLst/>
          </a:prstGeom>
          <a:effectLst/>
        </p:spPr>
      </p:pic>
      <p:sp>
        <p:nvSpPr>
          <p:cNvPr id="16" name="TextBox 15"/>
          <p:cNvSpPr txBox="1"/>
          <p:nvPr/>
        </p:nvSpPr>
        <p:spPr>
          <a:xfrm>
            <a:off x="704850" y="3686175"/>
            <a:ext cx="2571750" cy="409575"/>
          </a:xfrm>
          <a:prstGeom prst="rect">
            <a:avLst/>
          </a:prstGeom>
          <a:noFill/>
          <a:effectLst/>
        </p:spPr>
        <p:txBody>
          <a:bodyPr wrap="square" lIns="0" rIns="0" tIns="0" bIns="0" anchor="t">
            <a:spAutoFit/>
          </a:bodyPr>
          <a:lstStyle/>
          <a:p>
            <a:pPr algn="l" rtl="0">
              <a:lnSpc>
                <a:spcPts val="2100"/>
              </a:lnSpc>
              <a:spcBef>
                <a:spcPts val="0"/>
              </a:spcBef>
              <a:spcAft>
                <a:spcPts val="0"/>
              </a:spcAft>
            </a:pPr>
            <a:r>
              <a:rPr sz="1875" b="1" lang="en-US">
                <a:solidFill>
                  <a:srgbClr val="262626"/>
                </a:solidFill>
                <a:latin typeface="Manrope"/>
              </a:rPr>
              <a:t>Incoming caller</a:t>
            </a:r>
          </a:p>
        </p:txBody>
      </p:sp>
      <p:sp>
        <p:nvSpPr>
          <p:cNvPr id="17" name="TextBox 16"/>
          <p:cNvSpPr txBox="1"/>
          <p:nvPr/>
        </p:nvSpPr>
        <p:spPr>
          <a:xfrm>
            <a:off x="704850" y="4219575"/>
            <a:ext cx="2571750" cy="409575"/>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1" lang="en-US">
                <a:solidFill>
                  <a:srgbClr val="262626"/>
                </a:solidFill>
                <a:latin typeface="Manrope"/>
              </a:rPr>
              <a:t>+20 ••• 410</a:t>
            </a:r>
          </a:p>
        </p:txBody>
      </p:sp>
      <p:sp>
        <p:nvSpPr>
          <p:cNvPr id="18" name="TextBox 17"/>
          <p:cNvSpPr txBox="1"/>
          <p:nvPr/>
        </p:nvSpPr>
        <p:spPr>
          <a:xfrm>
            <a:off x="704850" y="4695825"/>
            <a:ext cx="2571750"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49654E"/>
                </a:solidFill>
                <a:latin typeface="Manrope"/>
              </a:rPr>
              <a:t>Call active</a:t>
            </a:r>
          </a:p>
        </p:txBody>
      </p:sp>
      <p:sp>
        <p:nvSpPr>
          <p:cNvPr id="19" name="Oval 18"/>
          <p:cNvSpPr/>
          <p:nvPr/>
        </p:nvSpPr>
        <p:spPr>
          <a:xfrm>
            <a:off x="70485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icon-mic.png"/>
          <p:cNvPicPr>
            <a:picLocks noChangeAspect="1"/>
          </p:cNvPicPr>
          <p:nvPr/>
        </p:nvPicPr>
        <p:blipFill>
          <a:blip r:embed="rId5"/>
          <a:stretch>
            <a:fillRect/>
          </a:stretch>
        </p:blipFill>
        <p:spPr>
          <a:xfrm>
            <a:off x="819150" y="5467350"/>
            <a:ext cx="209550" cy="209550"/>
          </a:xfrm>
          <a:prstGeom prst="rect">
            <a:avLst/>
          </a:prstGeom>
          <a:effectLst/>
        </p:spPr>
      </p:pic>
      <p:sp>
        <p:nvSpPr>
          <p:cNvPr id="21" name="Oval 20"/>
          <p:cNvSpPr/>
          <p:nvPr/>
        </p:nvSpPr>
        <p:spPr>
          <a:xfrm>
            <a:off x="133350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icon-pause.png"/>
          <p:cNvPicPr>
            <a:picLocks noChangeAspect="1"/>
          </p:cNvPicPr>
          <p:nvPr/>
        </p:nvPicPr>
        <p:blipFill>
          <a:blip r:embed="rId6"/>
          <a:stretch>
            <a:fillRect/>
          </a:stretch>
        </p:blipFill>
        <p:spPr>
          <a:xfrm>
            <a:off x="1447800" y="5467350"/>
            <a:ext cx="209550" cy="209550"/>
          </a:xfrm>
          <a:prstGeom prst="rect">
            <a:avLst/>
          </a:prstGeom>
          <a:effectLst/>
        </p:spPr>
      </p:pic>
      <p:sp>
        <p:nvSpPr>
          <p:cNvPr id="23" name="Oval 22"/>
          <p:cNvSpPr/>
          <p:nvPr/>
        </p:nvSpPr>
        <p:spPr>
          <a:xfrm>
            <a:off x="196215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con-end.png"/>
          <p:cNvPicPr>
            <a:picLocks noChangeAspect="1"/>
          </p:cNvPicPr>
          <p:nvPr/>
        </p:nvPicPr>
        <p:blipFill>
          <a:blip r:embed="rId7"/>
          <a:stretch>
            <a:fillRect/>
          </a:stretch>
        </p:blipFill>
        <p:spPr>
          <a:xfrm>
            <a:off x="2076450" y="5467350"/>
            <a:ext cx="209550" cy="209550"/>
          </a:xfrm>
          <a:prstGeom prst="rect">
            <a:avLst/>
          </a:prstGeom>
          <a:effectLst/>
        </p:spPr>
      </p:pic>
      <p:sp>
        <p:nvSpPr>
          <p:cNvPr id="25" name="Rounded Rectangle 24"/>
          <p:cNvSpPr/>
          <p:nvPr/>
        </p:nvSpPr>
        <p:spPr>
          <a:xfrm>
            <a:off x="3810000" y="1724025"/>
            <a:ext cx="7924800" cy="4495800"/>
          </a:xfrm>
          <a:prstGeom prst="roundRect">
            <a:avLst>
              <a:gd name="adj" fmla="val 2542"/>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3810000" y="1676400"/>
            <a:ext cx="7924800" cy="4495800"/>
          </a:xfrm>
          <a:prstGeom prst="roundRect">
            <a:avLst>
              <a:gd name="adj" fmla="val 2542"/>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zoho.png"/>
          <p:cNvPicPr>
            <a:picLocks noChangeAspect="1"/>
          </p:cNvPicPr>
          <p:nvPr/>
        </p:nvPicPr>
        <p:blipFill>
          <a:blip r:embed="rId8"/>
          <a:stretch>
            <a:fillRect/>
          </a:stretch>
        </p:blipFill>
        <p:spPr>
          <a:xfrm>
            <a:off x="4045874" y="1857375"/>
            <a:ext cx="709353" cy="304800"/>
          </a:xfrm>
          <a:prstGeom prst="rect">
            <a:avLst/>
          </a:prstGeom>
          <a:effectLst/>
        </p:spPr>
      </p:pic>
      <p:sp>
        <p:nvSpPr>
          <p:cNvPr id="28" name="TextBox 27"/>
          <p:cNvSpPr txBox="1"/>
          <p:nvPr/>
        </p:nvSpPr>
        <p:spPr>
          <a:xfrm>
            <a:off x="4924425" y="1857375"/>
            <a:ext cx="6496050" cy="371475"/>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1" lang="en-US">
                <a:solidFill>
                  <a:srgbClr val="262626"/>
                </a:solidFill>
                <a:latin typeface="Manrope"/>
              </a:rPr>
              <a:t>Zoho Desk · Customer context</a:t>
            </a:r>
          </a:p>
        </p:txBody>
      </p:sp>
      <p:cxnSp>
        <p:nvCxnSpPr>
          <p:cNvPr id="29" name="Connector 28"/>
          <p:cNvCxnSpPr/>
          <p:nvPr/>
        </p:nvCxnSpPr>
        <p:spPr>
          <a:xfrm>
            <a:off x="3810000" y="2362200"/>
            <a:ext cx="79248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30" name="Oval 29"/>
          <p:cNvSpPr/>
          <p:nvPr/>
        </p:nvSpPr>
        <p:spPr>
          <a:xfrm>
            <a:off x="4038600" y="2590800"/>
            <a:ext cx="447675" cy="447675"/>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1" name="Picture 30" descr="icon-actor.png"/>
          <p:cNvPicPr>
            <a:picLocks noChangeAspect="1"/>
          </p:cNvPicPr>
          <p:nvPr/>
        </p:nvPicPr>
        <p:blipFill>
          <a:blip r:embed="rId9"/>
          <a:stretch>
            <a:fillRect/>
          </a:stretch>
        </p:blipFill>
        <p:spPr>
          <a:xfrm>
            <a:off x="4137088" y="2689288"/>
            <a:ext cx="250698" cy="250698"/>
          </a:xfrm>
          <a:prstGeom prst="rect">
            <a:avLst/>
          </a:prstGeom>
          <a:effectLst/>
        </p:spPr>
      </p:pic>
      <p:sp>
        <p:nvSpPr>
          <p:cNvPr id="32" name="TextBox 31"/>
          <p:cNvSpPr txBox="1"/>
          <p:nvPr/>
        </p:nvSpPr>
        <p:spPr>
          <a:xfrm>
            <a:off x="4648200" y="2581275"/>
            <a:ext cx="6667500" cy="381000"/>
          </a:xfrm>
          <a:prstGeom prst="rect">
            <a:avLst/>
          </a:prstGeom>
          <a:noFill/>
          <a:effectLst/>
        </p:spPr>
        <p:txBody>
          <a:bodyPr wrap="square" lIns="0" rIns="0" tIns="0" bIns="0" anchor="t">
            <a:spAutoFit/>
          </a:bodyPr>
          <a:lstStyle/>
          <a:p>
            <a:pPr algn="l" rtl="0">
              <a:lnSpc>
                <a:spcPts val="2268"/>
              </a:lnSpc>
              <a:spcBef>
                <a:spcPts val="0"/>
              </a:spcBef>
              <a:spcAft>
                <a:spcPts val="0"/>
              </a:spcAft>
            </a:pPr>
            <a:r>
              <a:rPr sz="2025" b="1" lang="en-US">
                <a:solidFill>
                  <a:srgbClr val="262626"/>
                </a:solidFill>
                <a:latin typeface="Manrope"/>
              </a:rPr>
              <a:t>Contact A</a:t>
            </a:r>
          </a:p>
        </p:txBody>
      </p:sp>
      <p:sp>
        <p:nvSpPr>
          <p:cNvPr id="33" name="TextBox 32"/>
          <p:cNvSpPr txBox="1"/>
          <p:nvPr/>
        </p:nvSpPr>
        <p:spPr>
          <a:xfrm>
            <a:off x="4648200" y="3038475"/>
            <a:ext cx="2143125" cy="304800"/>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0" lang="en-US">
                <a:solidFill>
                  <a:srgbClr val="68645E"/>
                </a:solidFill>
                <a:latin typeface="Manrope"/>
              </a:rPr>
              <a:t>Associated record</a:t>
            </a:r>
          </a:p>
        </p:txBody>
      </p:sp>
      <p:sp>
        <p:nvSpPr>
          <p:cNvPr id="34" name="TextBox 33"/>
          <p:cNvSpPr txBox="1"/>
          <p:nvPr/>
        </p:nvSpPr>
        <p:spPr>
          <a:xfrm>
            <a:off x="6972300" y="3028950"/>
            <a:ext cx="2524125" cy="314325"/>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68645E"/>
                </a:solidFill>
                <a:latin typeface="Manrope"/>
              </a:rPr>
              <a:t>+20 ••• 410</a:t>
            </a:r>
          </a:p>
        </p:txBody>
      </p:sp>
      <p:cxnSp>
        <p:nvCxnSpPr>
          <p:cNvPr id="35" name="Connector 34"/>
          <p:cNvCxnSpPr/>
          <p:nvPr/>
        </p:nvCxnSpPr>
        <p:spPr>
          <a:xfrm>
            <a:off x="4038600" y="3457575"/>
            <a:ext cx="746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4038600" y="3648075"/>
            <a:ext cx="2314575" cy="342900"/>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1" lang="en-US">
                <a:solidFill>
                  <a:srgbClr val="262626"/>
                </a:solidFill>
                <a:latin typeface="Manrope"/>
              </a:rPr>
              <a:t>Previous tickets</a:t>
            </a:r>
          </a:p>
        </p:txBody>
      </p:sp>
      <p:sp>
        <p:nvSpPr>
          <p:cNvPr id="37" name="Rounded Rectangle 36"/>
          <p:cNvSpPr/>
          <p:nvPr/>
        </p:nvSpPr>
        <p:spPr>
          <a:xfrm>
            <a:off x="3962400" y="4076700"/>
            <a:ext cx="2505075" cy="1152525"/>
          </a:xfrm>
          <a:prstGeom prst="roundRect">
            <a:avLst>
              <a:gd name="adj" fmla="val 6611"/>
            </a:avLst>
          </a:prstGeom>
          <a:solidFill>
            <a:srgbClr val="F4F2EE"/>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8" name="Picture 37" descr="icon-case.png"/>
          <p:cNvPicPr>
            <a:picLocks noChangeAspect="1"/>
          </p:cNvPicPr>
          <p:nvPr/>
        </p:nvPicPr>
        <p:blipFill>
          <a:blip r:embed="rId10"/>
          <a:stretch>
            <a:fillRect/>
          </a:stretch>
        </p:blipFill>
        <p:spPr>
          <a:xfrm>
            <a:off x="4095750" y="4248150"/>
            <a:ext cx="257175" cy="257175"/>
          </a:xfrm>
          <a:prstGeom prst="rect">
            <a:avLst/>
          </a:prstGeom>
          <a:effectLst/>
        </p:spPr>
      </p:pic>
      <p:sp>
        <p:nvSpPr>
          <p:cNvPr id="39" name="TextBox 38"/>
          <p:cNvSpPr txBox="1"/>
          <p:nvPr/>
        </p:nvSpPr>
        <p:spPr>
          <a:xfrm>
            <a:off x="4505325" y="4229100"/>
            <a:ext cx="1752600" cy="323850"/>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1" lang="en-US">
                <a:solidFill>
                  <a:srgbClr val="262626"/>
                </a:solidFill>
                <a:latin typeface="Manrope"/>
              </a:rPr>
              <a:t>T101 · Exchange</a:t>
            </a:r>
          </a:p>
        </p:txBody>
      </p:sp>
      <p:sp>
        <p:nvSpPr>
          <p:cNvPr id="40" name="TextBox 39"/>
          <p:cNvSpPr txBox="1"/>
          <p:nvPr/>
        </p:nvSpPr>
        <p:spPr>
          <a:xfrm>
            <a:off x="4095750" y="4676775"/>
            <a:ext cx="2171700" cy="504825"/>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965318"/>
                </a:solidFill>
                <a:latin typeface="Manrope"/>
              </a:rPr>
              <a:t>Branch review</a:t>
            </a:r>
          </a:p>
          <a:p>
            <a:pPr algn="l" rtl="0">
              <a:lnSpc>
                <a:spcPts val="1680"/>
              </a:lnSpc>
              <a:spcBef>
                <a:spcPts val="0"/>
              </a:spcBef>
              <a:spcAft>
                <a:spcPts val="0"/>
              </a:spcAft>
            </a:pPr>
            <a:r>
              <a:rPr sz="1500" b="0" lang="en-US">
                <a:solidFill>
                  <a:srgbClr val="965318"/>
                </a:solidFill>
                <a:latin typeface="Manrope"/>
              </a:rPr>
              <a:t>pending</a:t>
            </a:r>
          </a:p>
        </p:txBody>
      </p:sp>
      <p:pic>
        <p:nvPicPr>
          <p:cNvPr id="41" name="Picture 40" descr="icon-case.png"/>
          <p:cNvPicPr>
            <a:picLocks noChangeAspect="1"/>
          </p:cNvPicPr>
          <p:nvPr/>
        </p:nvPicPr>
        <p:blipFill>
          <a:blip r:embed="rId10"/>
          <a:stretch>
            <a:fillRect/>
          </a:stretch>
        </p:blipFill>
        <p:spPr>
          <a:xfrm>
            <a:off x="4095750" y="5514975"/>
            <a:ext cx="238125" cy="238125"/>
          </a:xfrm>
          <a:prstGeom prst="rect">
            <a:avLst/>
          </a:prstGeom>
          <a:effectLst/>
        </p:spPr>
      </p:pic>
      <p:sp>
        <p:nvSpPr>
          <p:cNvPr id="42" name="TextBox 41"/>
          <p:cNvSpPr txBox="1"/>
          <p:nvPr/>
        </p:nvSpPr>
        <p:spPr>
          <a:xfrm>
            <a:off x="4505325" y="5448300"/>
            <a:ext cx="1809750" cy="333375"/>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0" lang="en-US">
                <a:solidFill>
                  <a:srgbClr val="262626"/>
                </a:solidFill>
                <a:latin typeface="Manrope"/>
              </a:rPr>
              <a:t>T098 · Size query</a:t>
            </a:r>
          </a:p>
        </p:txBody>
      </p:sp>
      <p:sp>
        <p:nvSpPr>
          <p:cNvPr id="43" name="TextBox 42"/>
          <p:cNvSpPr txBox="1"/>
          <p:nvPr/>
        </p:nvSpPr>
        <p:spPr>
          <a:xfrm>
            <a:off x="4505325" y="5781675"/>
            <a:ext cx="1790700" cy="266700"/>
          </a:xfrm>
          <a:prstGeom prst="rect">
            <a:avLst/>
          </a:prstGeom>
          <a:noFill/>
          <a:effectLst/>
        </p:spPr>
        <p:txBody>
          <a:bodyPr wrap="square" lIns="0" rIns="0" tIns="0" bIns="0" anchor="t">
            <a:spAutoFit/>
          </a:bodyPr>
          <a:lstStyle/>
          <a:p>
            <a:pPr algn="l" rtl="0">
              <a:lnSpc>
                <a:spcPts val="1428"/>
              </a:lnSpc>
              <a:spcBef>
                <a:spcPts val="0"/>
              </a:spcBef>
              <a:spcAft>
                <a:spcPts val="0"/>
              </a:spcAft>
            </a:pPr>
            <a:r>
              <a:rPr sz="1275" b="0" lang="en-US">
                <a:solidFill>
                  <a:srgbClr val="68645E"/>
                </a:solidFill>
                <a:latin typeface="Manrope"/>
              </a:rPr>
              <a:t>Closed</a:t>
            </a:r>
          </a:p>
        </p:txBody>
      </p:sp>
      <p:cxnSp>
        <p:nvCxnSpPr>
          <p:cNvPr id="44" name="Connector 43"/>
          <p:cNvCxnSpPr/>
          <p:nvPr/>
        </p:nvCxnSpPr>
        <p:spPr>
          <a:xfrm>
            <a:off x="6686550" y="3714750"/>
            <a:ext cx="0" cy="847725"/>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45" name="Connector 44"/>
          <p:cNvCxnSpPr/>
          <p:nvPr/>
        </p:nvCxnSpPr>
        <p:spPr>
          <a:xfrm>
            <a:off x="6686550" y="4876800"/>
            <a:ext cx="0" cy="104775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46" name="Connector 45"/>
          <p:cNvCxnSpPr/>
          <p:nvPr/>
        </p:nvCxnSpPr>
        <p:spPr>
          <a:xfrm>
            <a:off x="6543675" y="4724400"/>
            <a:ext cx="304800" cy="0"/>
          </a:xfrm>
          <a:prstGeom prst="line">
            <a:avLst/>
          </a:prstGeom>
          <a:ln w="16192">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7" name="TextBox 46"/>
          <p:cNvSpPr txBox="1"/>
          <p:nvPr/>
        </p:nvSpPr>
        <p:spPr>
          <a:xfrm>
            <a:off x="6934200" y="3629025"/>
            <a:ext cx="4552950" cy="381000"/>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1" lang="en-US">
                <a:solidFill>
                  <a:srgbClr val="262626"/>
                </a:solidFill>
                <a:latin typeface="Manrope"/>
              </a:rPr>
              <a:t>T101 · Exchange follow-up</a:t>
            </a:r>
          </a:p>
        </p:txBody>
      </p:sp>
      <p:pic>
        <p:nvPicPr>
          <p:cNvPr id="48" name="Picture 47" descr="icon-clock.png"/>
          <p:cNvPicPr>
            <a:picLocks noChangeAspect="1"/>
          </p:cNvPicPr>
          <p:nvPr/>
        </p:nvPicPr>
        <p:blipFill>
          <a:blip r:embed="rId11"/>
          <a:stretch>
            <a:fillRect/>
          </a:stretch>
        </p:blipFill>
        <p:spPr>
          <a:xfrm>
            <a:off x="6934200" y="4152900"/>
            <a:ext cx="209550" cy="209550"/>
          </a:xfrm>
          <a:prstGeom prst="rect">
            <a:avLst/>
          </a:prstGeom>
          <a:effectLst/>
        </p:spPr>
      </p:pic>
      <p:sp>
        <p:nvSpPr>
          <p:cNvPr id="49" name="TextBox 48"/>
          <p:cNvSpPr txBox="1"/>
          <p:nvPr/>
        </p:nvSpPr>
        <p:spPr>
          <a:xfrm>
            <a:off x="7258050" y="4133850"/>
            <a:ext cx="4257675" cy="333375"/>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965318"/>
                </a:solidFill>
                <a:latin typeface="Manrope"/>
              </a:rPr>
              <a:t>Waiting on the branch</a:t>
            </a:r>
          </a:p>
        </p:txBody>
      </p:sp>
      <p:sp>
        <p:nvSpPr>
          <p:cNvPr id="50" name="Rounded Rectangle 49"/>
          <p:cNvSpPr/>
          <p:nvPr/>
        </p:nvSpPr>
        <p:spPr>
          <a:xfrm>
            <a:off x="6896100" y="4648200"/>
            <a:ext cx="4610100" cy="1257300"/>
          </a:xfrm>
          <a:prstGeom prst="roundRect">
            <a:avLst>
              <a:gd name="adj" fmla="val 6060"/>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1" name="Picture 50" descr="icon-file.png"/>
          <p:cNvPicPr>
            <a:picLocks noChangeAspect="1"/>
          </p:cNvPicPr>
          <p:nvPr/>
        </p:nvPicPr>
        <p:blipFill>
          <a:blip r:embed="rId12"/>
          <a:stretch>
            <a:fillRect/>
          </a:stretch>
        </p:blipFill>
        <p:spPr>
          <a:xfrm>
            <a:off x="7086600" y="4810125"/>
            <a:ext cx="238125" cy="238125"/>
          </a:xfrm>
          <a:prstGeom prst="rect">
            <a:avLst/>
          </a:prstGeom>
          <a:effectLst/>
        </p:spPr>
      </p:pic>
      <p:sp>
        <p:nvSpPr>
          <p:cNvPr id="52" name="TextBox 51"/>
          <p:cNvSpPr txBox="1"/>
          <p:nvPr/>
        </p:nvSpPr>
        <p:spPr>
          <a:xfrm>
            <a:off x="7448550" y="4791075"/>
            <a:ext cx="4057650" cy="314325"/>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965318"/>
                </a:solidFill>
                <a:latin typeface="Manrope"/>
              </a:rPr>
              <a:t>Latest recorded note</a:t>
            </a:r>
          </a:p>
        </p:txBody>
      </p:sp>
      <p:sp>
        <p:nvSpPr>
          <p:cNvPr id="53" name="TextBox 52"/>
          <p:cNvSpPr txBox="1"/>
          <p:nvPr/>
        </p:nvSpPr>
        <p:spPr>
          <a:xfrm>
            <a:off x="7086600" y="5238750"/>
            <a:ext cx="4191000" cy="628650"/>
          </a:xfrm>
          <a:prstGeom prst="rect">
            <a:avLst/>
          </a:prstGeom>
          <a:noFill/>
          <a:effectLst/>
        </p:spPr>
        <p:txBody>
          <a:bodyPr wrap="square" lIns="0" rIns="0" tIns="0" bIns="0" anchor="t">
            <a:spAutoFit/>
          </a:bodyPr>
          <a:lstStyle/>
          <a:p>
            <a:pPr algn="l" rtl="0">
              <a:lnSpc>
                <a:spcPts val="2268"/>
              </a:lnSpc>
              <a:spcBef>
                <a:spcPts val="0"/>
              </a:spcBef>
              <a:spcAft>
                <a:spcPts val="0"/>
              </a:spcAft>
            </a:pPr>
            <a:r>
              <a:rPr sz="2025" b="1" lang="en-US">
                <a:solidFill>
                  <a:srgbClr val="262626"/>
                </a:solidFill>
                <a:latin typeface="Manrope"/>
              </a:rPr>
              <a:t>Branch review</a:t>
            </a:r>
          </a:p>
          <a:p>
            <a:pPr algn="l" rtl="0">
              <a:lnSpc>
                <a:spcPts val="2268"/>
              </a:lnSpc>
              <a:spcBef>
                <a:spcPts val="0"/>
              </a:spcBef>
              <a:spcAft>
                <a:spcPts val="0"/>
              </a:spcAft>
            </a:pPr>
            <a:r>
              <a:rPr sz="2025" b="1" lang="en-US">
                <a:solidFill>
                  <a:srgbClr val="262626"/>
                </a:solidFill>
                <a:latin typeface="Manrope"/>
              </a:rPr>
              <a:t>is still pending.</a:t>
            </a:r>
          </a:p>
        </p:txBody>
      </p:sp>
      <p:cxnSp>
        <p:nvCxnSpPr>
          <p:cNvPr id="54" name="Connector 53"/>
          <p:cNvCxnSpPr/>
          <p:nvPr/>
        </p:nvCxnSpPr>
        <p:spPr>
          <a:xfrm>
            <a:off x="3371850" y="4419600"/>
            <a:ext cx="361950"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Rectangle 54"/>
          <p:cNvSpPr/>
          <p:nvPr/>
        </p:nvSpPr>
        <p:spPr>
          <a:xfrm>
            <a:off x="3819525" y="2371725"/>
            <a:ext cx="7905750" cy="3790950"/>
          </a:xfrm>
          <a:prstGeom prst="rect">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ounded Rectangle 55"/>
          <p:cNvSpPr/>
          <p:nvPr/>
        </p:nvSpPr>
        <p:spPr>
          <a:xfrm>
            <a:off x="3962400" y="2438400"/>
            <a:ext cx="7696200" cy="3581400"/>
          </a:xfrm>
          <a:prstGeom prst="roundRect">
            <a:avLst>
              <a:gd name="adj" fmla="val 3191"/>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ounded Rectangle 56"/>
          <p:cNvSpPr/>
          <p:nvPr/>
        </p:nvSpPr>
        <p:spPr>
          <a:xfrm>
            <a:off x="4038600" y="2571750"/>
            <a:ext cx="7467600" cy="3352800"/>
          </a:xfrm>
          <a:prstGeom prst="roundRect">
            <a:avLst>
              <a:gd name="adj" fmla="val 3409"/>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4267200" y="2762250"/>
            <a:ext cx="7010400" cy="390525"/>
          </a:xfrm>
          <a:prstGeom prst="rect">
            <a:avLst/>
          </a:prstGeom>
          <a:noFill/>
          <a:effectLst/>
        </p:spPr>
        <p:txBody>
          <a:bodyPr wrap="square" lIns="0" rIns="0" tIns="0" bIns="0" anchor="t">
            <a:spAutoFit/>
          </a:bodyPr>
          <a:lstStyle/>
          <a:p>
            <a:pPr algn="l" rtl="0">
              <a:lnSpc>
                <a:spcPts val="2268"/>
              </a:lnSpc>
              <a:spcBef>
                <a:spcPts val="0"/>
              </a:spcBef>
              <a:spcAft>
                <a:spcPts val="0"/>
              </a:spcAft>
            </a:pPr>
            <a:r>
              <a:rPr sz="2025" b="1" lang="en-US">
                <a:solidFill>
                  <a:srgbClr val="262626"/>
                </a:solidFill>
                <a:latin typeface="Manrope"/>
              </a:rPr>
              <a:t>More than one customer record</a:t>
            </a:r>
          </a:p>
        </p:txBody>
      </p:sp>
      <p:sp>
        <p:nvSpPr>
          <p:cNvPr id="59" name="TextBox 58"/>
          <p:cNvSpPr txBox="1"/>
          <p:nvPr/>
        </p:nvSpPr>
        <p:spPr>
          <a:xfrm>
            <a:off x="4267200" y="3286125"/>
            <a:ext cx="7010400" cy="314325"/>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68645E"/>
                </a:solidFill>
                <a:latin typeface="Manrope"/>
              </a:rPr>
              <a:t>Employee chooses the appropriate record</a:t>
            </a:r>
          </a:p>
        </p:txBody>
      </p:sp>
      <p:sp>
        <p:nvSpPr>
          <p:cNvPr id="60" name="Rounded Rectangle 59"/>
          <p:cNvSpPr/>
          <p:nvPr/>
        </p:nvSpPr>
        <p:spPr>
          <a:xfrm>
            <a:off x="4267200" y="3810000"/>
            <a:ext cx="7010400" cy="590550"/>
          </a:xfrm>
          <a:prstGeom prst="roundRect">
            <a:avLst>
              <a:gd name="adj" fmla="val 12000"/>
            </a:avLst>
          </a:prstGeom>
          <a:solidFill>
            <a:srgbClr val="F4F2EE"/>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Oval 60"/>
          <p:cNvSpPr/>
          <p:nvPr/>
        </p:nvSpPr>
        <p:spPr>
          <a:xfrm>
            <a:off x="4400550" y="3895725"/>
            <a:ext cx="371475" cy="371475"/>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62" name="Picture 61" descr="icon-actor.png"/>
          <p:cNvPicPr>
            <a:picLocks noChangeAspect="1"/>
          </p:cNvPicPr>
          <p:nvPr/>
        </p:nvPicPr>
        <p:blipFill>
          <a:blip r:embed="rId9"/>
          <a:stretch>
            <a:fillRect/>
          </a:stretch>
        </p:blipFill>
        <p:spPr>
          <a:xfrm>
            <a:off x="4482274" y="3977450"/>
            <a:ext cx="208026" cy="208026"/>
          </a:xfrm>
          <a:prstGeom prst="rect">
            <a:avLst/>
          </a:prstGeom>
          <a:effectLst/>
        </p:spPr>
      </p:pic>
      <p:sp>
        <p:nvSpPr>
          <p:cNvPr id="63" name="TextBox 62"/>
          <p:cNvSpPr txBox="1"/>
          <p:nvPr/>
        </p:nvSpPr>
        <p:spPr>
          <a:xfrm>
            <a:off x="4933950" y="3952875"/>
            <a:ext cx="2962275" cy="352425"/>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1" lang="en-US">
                <a:solidFill>
                  <a:srgbClr val="262626"/>
                </a:solidFill>
                <a:latin typeface="Manrope"/>
              </a:rPr>
              <a:t>Contact A</a:t>
            </a:r>
          </a:p>
        </p:txBody>
      </p:sp>
      <p:sp>
        <p:nvSpPr>
          <p:cNvPr id="64" name="TextBox 63"/>
          <p:cNvSpPr txBox="1"/>
          <p:nvPr/>
        </p:nvSpPr>
        <p:spPr>
          <a:xfrm>
            <a:off x="8077200" y="3952875"/>
            <a:ext cx="2800350" cy="352425"/>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0" lang="en-US">
                <a:solidFill>
                  <a:srgbClr val="262626"/>
                </a:solidFill>
                <a:latin typeface="Manrope"/>
              </a:rPr>
              <a:t>+20 ••• 410</a:t>
            </a:r>
          </a:p>
        </p:txBody>
      </p:sp>
      <p:sp>
        <p:nvSpPr>
          <p:cNvPr id="65" name="Rounded Rectangle 64"/>
          <p:cNvSpPr/>
          <p:nvPr/>
        </p:nvSpPr>
        <p:spPr>
          <a:xfrm>
            <a:off x="4267200" y="4514850"/>
            <a:ext cx="7010400" cy="590550"/>
          </a:xfrm>
          <a:prstGeom prst="roundRect">
            <a:avLst>
              <a:gd name="adj" fmla="val 12000"/>
            </a:avLst>
          </a:prstGeom>
          <a:solidFill>
            <a:srgbClr val="F4F2EE"/>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Oval 65"/>
          <p:cNvSpPr/>
          <p:nvPr/>
        </p:nvSpPr>
        <p:spPr>
          <a:xfrm>
            <a:off x="4400550" y="4600575"/>
            <a:ext cx="371475" cy="371475"/>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67" name="Picture 66" descr="icon-actor.png"/>
          <p:cNvPicPr>
            <a:picLocks noChangeAspect="1"/>
          </p:cNvPicPr>
          <p:nvPr/>
        </p:nvPicPr>
        <p:blipFill>
          <a:blip r:embed="rId9"/>
          <a:stretch>
            <a:fillRect/>
          </a:stretch>
        </p:blipFill>
        <p:spPr>
          <a:xfrm>
            <a:off x="4482274" y="4682300"/>
            <a:ext cx="208026" cy="208026"/>
          </a:xfrm>
          <a:prstGeom prst="rect">
            <a:avLst/>
          </a:prstGeom>
          <a:effectLst/>
        </p:spPr>
      </p:pic>
      <p:sp>
        <p:nvSpPr>
          <p:cNvPr id="68" name="TextBox 67"/>
          <p:cNvSpPr txBox="1"/>
          <p:nvPr/>
        </p:nvSpPr>
        <p:spPr>
          <a:xfrm>
            <a:off x="4933950" y="4657725"/>
            <a:ext cx="2962275" cy="352425"/>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1" lang="en-US">
                <a:solidFill>
                  <a:srgbClr val="262626"/>
                </a:solidFill>
                <a:latin typeface="Manrope"/>
              </a:rPr>
              <a:t>Contact B</a:t>
            </a:r>
          </a:p>
        </p:txBody>
      </p:sp>
      <p:sp>
        <p:nvSpPr>
          <p:cNvPr id="69" name="TextBox 68"/>
          <p:cNvSpPr txBox="1"/>
          <p:nvPr/>
        </p:nvSpPr>
        <p:spPr>
          <a:xfrm>
            <a:off x="8077200" y="4657725"/>
            <a:ext cx="2800350" cy="352425"/>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0" lang="en-US">
                <a:solidFill>
                  <a:srgbClr val="262626"/>
                </a:solidFill>
                <a:latin typeface="Manrope"/>
              </a:rPr>
              <a:t>+20 ••• 410</a:t>
            </a:r>
          </a:p>
        </p:txBody>
      </p:sp>
      <p:sp>
        <p:nvSpPr>
          <p:cNvPr id="70" name="Rounded Rectangle 69"/>
          <p:cNvSpPr/>
          <p:nvPr/>
        </p:nvSpPr>
        <p:spPr>
          <a:xfrm>
            <a:off x="4267200" y="3810000"/>
            <a:ext cx="7010400" cy="590550"/>
          </a:xfrm>
          <a:prstGeom prst="roundRect">
            <a:avLst>
              <a:gd name="adj" fmla="val 10000"/>
            </a:avLst>
          </a:prstGeom>
          <a:noFill/>
          <a:ln w="19050">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71" name="Picture 70" descr="icon-pointer.png"/>
          <p:cNvPicPr>
            <a:picLocks noChangeAspect="1"/>
          </p:cNvPicPr>
          <p:nvPr/>
        </p:nvPicPr>
        <p:blipFill>
          <a:blip r:embed="rId13"/>
          <a:stretch>
            <a:fillRect/>
          </a:stretch>
        </p:blipFill>
        <p:spPr>
          <a:xfrm>
            <a:off x="10791825" y="4076700"/>
            <a:ext cx="371475" cy="371475"/>
          </a:xfrm>
          <a:prstGeom prst="rect">
            <a:avLst/>
          </a:prstGeom>
          <a:effectLst/>
        </p:spPr>
      </p:pic>
      <p:sp>
        <p:nvSpPr>
          <p:cNvPr id="72" name="TextBox 71"/>
          <p:cNvSpPr txBox="1"/>
          <p:nvPr/>
        </p:nvSpPr>
        <p:spPr>
          <a:xfrm>
            <a:off x="4267200" y="5219700"/>
            <a:ext cx="7010400" cy="304800"/>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0" lang="en-US">
                <a:solidFill>
                  <a:srgbClr val="68645E"/>
                </a:solidFill>
                <a:latin typeface="Manrope"/>
              </a:rPr>
              <a:t>Number association does not verify identity</a:t>
            </a:r>
          </a:p>
        </p:txBody>
      </p:sp>
    </p:spTree>
  </p:cSld>
  <p:clrMapOvr>
    <a:masterClrMapping/>
  </p:clrMapOvr>
  <p:transition spd="med" advClick="1"/>
  <p:timing>
    <p:tnLst>
      <p:par>
        <p:cTn id="1" dur="indefinite" restart="never" nodeType="tmRoot">
          <p:childTnLst>
            <p:seq concurrent="1" nextAc="seek">
              <p:cTn id="2" dur="indefinite" nodeType="mainSeq">
                <p:childTnLst>
                  <p:par>
                    <p:cTn id="3" fill="hold">
                      <p:stCondLst>
                        <p:cond delay="0"/>
                      </p:stCondLst>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GRINDCTRL × Concrete · Narrated product demonstration</dc:title>
  <dc:subject>Reported caller-context gap: Genesys call assignment and Zoho Desk ticket lookup. Proposed workflow; fictional records.</dc:subject>
  <dc:creator>GRINDCTRL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