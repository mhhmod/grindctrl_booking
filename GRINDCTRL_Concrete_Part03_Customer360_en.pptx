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grindctrl-part03-voiceover-ar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illustrative interaction workspace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Part 03 focuses on source-linked human call notes, not ticket history, customer-global notes, recordings, transcripts or AI summaries. All dates, times and actors are fictional. The current note belongs to DEMO-1012; the later active call is DEMO-1015 and only reads the former note. Native save/storage/retention/permissions remain unverified.</a:t>
            </a:r>
          </a:p>
          <a:p/>
          <a:p>
            <a:r>
              <a:t>C001 · 0.000–0.873s · في الفيديو الأول،</a:t>
            </a:r>
          </a:p>
          <a:p/>
          <a:p>
            <a:r>
              <a:t>C002 · 1.034–5.559s · شوفنا إزاي نقدر نخلي الـAgent يبدأ المكالمة وهو شايف الـCustomer Context</a:t>
            </a:r>
          </a:p>
          <a:p/>
          <a:p>
            <a:r>
              <a:t>C003 · 5.712–6.711s · والـTickets السابقة،</a:t>
            </a:r>
          </a:p>
          <a:p/>
          <a:p>
            <a:r>
              <a:t>C004 · 7.104–9.279s · بدل ما يضطر يدور على كل حاجة بنفسه.</a:t>
            </a:r>
          </a:p>
          <a:p/>
          <a:p>
            <a:r>
              <a:t>C005 · 9.884–10.714s · وفي الفيديو التاني،</a:t>
            </a:r>
          </a:p>
          <a:p/>
          <a:p>
            <a:r>
              <a:t>C006 · 10.957–12.782s · دخلنا أكتر في تفاصيل الـWorkflow،</a:t>
            </a:r>
          </a:p>
          <a:p/>
          <a:p>
            <a:r>
              <a:t>C007 · 13.260–14.682s · وشوفنا إزاي الـLookup بيتم،</a:t>
            </a:r>
          </a:p>
          <a:p/>
          <a:p>
            <a:r>
              <a:t>C008 · 15.002–17.500s · وإزاي الـAgent يقدر يتابع الـCases المختلفة.</a:t>
            </a:r>
          </a:p>
          <a:p/>
          <a:p>
            <a:r>
              <a:t>C009 · 18.302–18.775s · النهارده،</a:t>
            </a:r>
          </a:p>
          <a:p/>
          <a:p>
            <a:r>
              <a:t>C010 · 19.014–20.178s · هنكمل خطوة أبعد،</a:t>
            </a:r>
          </a:p>
          <a:p/>
          <a:p>
            <a:r>
              <a:t>C011 · 20.397–23.262s · بفكرة جاية من احتياج فريق المبيعات في Concrete نفسه.</a:t>
            </a:r>
          </a:p>
          <a:p/>
          <a:p>
            <a:r>
              <a:t>C012 · 23.954–25.700s · تخيلوا إن أول ما الـCall توصل،</a:t>
            </a:r>
          </a:p>
          <a:p/>
          <a:p>
            <a:r>
              <a:t>C013 · 25.953–28.530s · الـAgent يلاقي قدامه مش بس الـTickets السابقة،</a:t>
            </a:r>
          </a:p>
          <a:p/>
          <a:p>
            <a:r>
              <a:t>C014 · 28.825–31.128s · لكن كمان الـCustomer Profile بالكامل،</a:t>
            </a:r>
          </a:p>
          <a:p/>
          <a:p>
            <a:r>
              <a:t>C015 · 31.642–34.377s · وتاريخ كل المكالمات اللي حصلت مع العميل قبل كده،</a:t>
            </a:r>
          </a:p>
          <a:p/>
          <a:p>
            <a:r>
              <a:t>C016 · 34.784–36.781s · والـNotes اللي اتكتبت خلال كل مكالمة.</a:t>
            </a:r>
          </a:p>
          <a:p/>
          <a:p>
            <a:r>
              <a:t>C017 · 37.409–38.926s · خلينا نشوف التجربة دي بالتفصيل.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illustrative interaction workspace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Part 03 focuses on source-linked human call notes, not ticket history, customer-global notes, recordings, transcripts or AI summaries. All dates, times and actors are fictional. The current note belongs to DEMO-1012; the later active call is DEMO-1015 and only reads the former note. Native save/storage/retention/permissions remain unverified.</a:t>
            </a:r>
          </a:p>
          <a:p/>
          <a:p>
            <a:r>
              <a:t>C018 · 39.719–42.220s · أول ما العميل يتصل على الـHotline بتاع Concrete،</a:t>
            </a:r>
          </a:p>
          <a:p/>
          <a:p>
            <a:r>
              <a:t>C019 · 42.495–44.510s · الـCall بتوصل للـAgent على Genesys.</a:t>
            </a:r>
          </a:p>
          <a:p/>
          <a:p>
            <a:r>
              <a:t>C020 · 45.021–45.686s · وفي اللحظة دي،</a:t>
            </a:r>
          </a:p>
          <a:p/>
          <a:p>
            <a:r>
              <a:t>C021 · 45.936–51.554s · بنقترح إن النظام يستخدم رقم المتصل عشان يعمل Automatic Lookup عن الـCustomer Record المناسب.</a:t>
            </a:r>
          </a:p>
          <a:p/>
          <a:p>
            <a:r>
              <a:t>C022 · 52.280–54.577s · وبمجرد ما يتم تحديد الـCustomer الصحيح،</a:t>
            </a:r>
          </a:p>
          <a:p/>
          <a:p>
            <a:r>
              <a:t>C023 · 54.993–56.128s · يظهر قدام الموظف</a:t>
            </a:r>
          </a:p>
          <a:p/>
          <a:p>
            <a:r>
              <a:t>C024 · 56.281–57.484s · أربع معلومات أساسية.</a:t>
            </a:r>
          </a:p>
          <a:p/>
          <a:p>
            <a:r>
              <a:t>C025 · 58.101–58.663s · أول حاجة،</a:t>
            </a:r>
          </a:p>
          <a:p/>
          <a:p>
            <a:r>
              <a:t>C026 · 58.838–59.569s · الـMobile Number.</a:t>
            </a:r>
          </a:p>
          <a:p/>
          <a:p>
            <a:r>
              <a:t>C027 · 60.118–61.581s · تاني حاجة، الـCustomer Name.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illustrative interaction workspace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Part 03 focuses on source-linked human call notes, not ticket history, customer-global notes, recordings, transcripts or AI summaries. All dates, times and actors are fictional. The current note belongs to DEMO-1012; the later active call is DEMO-1015 and only reads the former note. Native save/storage/retention/permissions remain unverified.</a:t>
            </a:r>
          </a:p>
          <a:p/>
          <a:p>
            <a:r>
              <a:t>C028 · 62.167–62.767s · تالت حاجة،</a:t>
            </a:r>
          </a:p>
          <a:p/>
          <a:p>
            <a:r>
              <a:t>C029 · 62.922–63.923s · الـCustomer Segment،</a:t>
            </a:r>
          </a:p>
          <a:p/>
          <a:p>
            <a:r>
              <a:t>C030 · 64.121–66.722s · سواء كان Lifestyle أو Prestige أو Elite،</a:t>
            </a:r>
          </a:p>
          <a:p/>
          <a:p>
            <a:r>
              <a:t>C031 · 67.058–70.378s · حسب الـMembership Level المسجل للعميل في Concrete Icons Club.</a:t>
            </a:r>
          </a:p>
          <a:p/>
          <a:p>
            <a:r>
              <a:t>C032 · 71.055–71.765s · ورابع حاجة،</a:t>
            </a:r>
          </a:p>
          <a:p/>
          <a:p>
            <a:r>
              <a:t>C033 · 71.941–74.724s · الـEmail Address، لو موجود بالفعل في بيانات العميل.</a:t>
            </a:r>
          </a:p>
          <a:p/>
          <a:p>
            <a:r>
              <a:t>C034 · 75.534–79.664s · كل المعلومات دي هتبقى متجمعة في Customer Profile واضح ومنظم،</a:t>
            </a:r>
          </a:p>
          <a:p/>
          <a:p>
            <a:r>
              <a:t>C035 · 79.977–82.507s · وسهل جدًا إن الموظف يقراه أثناء المكالمة.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illustrative interaction workspace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Part 03 focuses on source-linked human call notes, not ticket history, customer-global notes, recordings, transcripts or AI summaries. All dates, times and actors are fictional. The current note belongs to DEMO-1012; the later active call is DEMO-1015 and only reads the former note. Native save/storage/retention/permissions remain unverified.</a:t>
            </a:r>
          </a:p>
          <a:p/>
          <a:p>
            <a:r>
              <a:t>C036 · 83.110–86.117s · لكن القيمة الحقيقية مش بس إننا نعرف مين العميل.</a:t>
            </a:r>
          </a:p>
          <a:p/>
          <a:p>
            <a:r>
              <a:t>C037 · 86.653–87.471s · القيمة الأكبر،</a:t>
            </a:r>
          </a:p>
          <a:p/>
          <a:p>
            <a:r>
              <a:t>C038 · 87.674–89.622s · إننا نعرف إيه اللي حصل معاه قبل كده.</a:t>
            </a:r>
          </a:p>
          <a:p/>
          <a:p>
            <a:r>
              <a:t>C039 · 90.203–92.041s · وهنا بييجي دور الـCall Activity.</a:t>
            </a:r>
          </a:p>
          <a:p/>
          <a:p>
            <a:r>
              <a:t>C040 · 92.738–96.396s · بدل ما الموظف يشوف مجرد قايمة بأرقام أو تواريخ مكالمات،</a:t>
            </a:r>
          </a:p>
          <a:p/>
          <a:p>
            <a:r>
              <a:t>C041 · 96.808–99.016s · إحنا بنقترح إنه يشوف Timeline واضحة،</a:t>
            </a:r>
          </a:p>
          <a:p/>
          <a:p>
            <a:r>
              <a:t>C042 · 99.260–101.495s · فيها كل الـPrevious Calls المتاحة للعميل.</a:t>
            </a:r>
          </a:p>
          <a:p/>
          <a:p>
            <a:r>
              <a:t>C043 · 102.208–104.495s · كل Call يكون لها تاريخها ووقتها،</a:t>
            </a:r>
          </a:p>
          <a:p/>
          <a:p>
            <a:r>
              <a:t>C044 · 104.942–107.547s · والـAgent اللي اتعامل معاها، لو البيانات دي متسجلة.</a:t>
            </a:r>
          </a:p>
          <a:p/>
          <a:p>
            <a:r>
              <a:t>C045 · 108.062–108.554s · والأهم،</a:t>
            </a:r>
          </a:p>
          <a:p/>
          <a:p>
            <a:r>
              <a:t>C046 · 108.940–110.924s · الـNotes الخاصة بالمكالمة دي تحديدًا.</a:t>
            </a:r>
          </a:p>
          <a:p/>
          <a:p>
            <a:r>
              <a:t>C047 · 111.467–113.628s · يعني كل مكالمة لها الـHistory بتاعتها،</a:t>
            </a:r>
          </a:p>
          <a:p/>
          <a:p>
            <a:r>
              <a:t>C048 · 113.875–115.144s · والـNotes اللي اتكتبت فيها،</a:t>
            </a:r>
          </a:p>
          <a:p/>
          <a:p>
            <a:r>
              <a:t>C049 · 115.461–117.013s · بشكل منفصل ومنظم.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illustrative interaction workspace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Part 03 focuses on source-linked human call notes, not ticket history, customer-global notes, recordings, transcripts or AI summaries. All dates, times and actors are fictional. The current note belongs to DEMO-1012; the later active call is DEMO-1015 and only reads the former note. Native save/storage/retention/permissions remain unverified.</a:t>
            </a:r>
          </a:p>
          <a:p/>
          <a:p>
            <a:r>
              <a:t>C050 · 117.618–118.792s · خلينا ناخد مثال عملي.</a:t>
            </a:r>
          </a:p>
          <a:p/>
          <a:p>
            <a:r>
              <a:t>C051 · 119.394–123.406s · عميل من الـElite Segment اتصل الأسبوع اللي فات بخصوص Exchange Request.</a:t>
            </a:r>
          </a:p>
          <a:p/>
          <a:p>
            <a:r>
              <a:t>C052 · 123.935–124.718s · خلال المكالمة،</a:t>
            </a:r>
          </a:p>
          <a:p/>
          <a:p>
            <a:r>
              <a:t>C053 · 124.923–127.764s · الـAgent كتب Note إن الطلب محتاج مراجعة من الفرع،</a:t>
            </a:r>
          </a:p>
          <a:p/>
          <a:p>
            <a:r>
              <a:t>C054 · 128.010–129.221s · وإن فيه Follow-up مطلوب.</a:t>
            </a:r>
          </a:p>
          <a:p/>
          <a:p>
            <a:r>
              <a:t>C055 · 129.934–130.412s · النهارده،</a:t>
            </a:r>
          </a:p>
          <a:p/>
          <a:p>
            <a:r>
              <a:t>C056 · 130.601–133.413s · نفس العميل بيتصل تاني يسأل عن آخر Update.</a:t>
            </a:r>
          </a:p>
          <a:p/>
          <a:p>
            <a:r>
              <a:t>C057 · 133.984–137.340s · بدل ما الموظف الجديد يبدأ يسأله عن كل التفاصيل من الأول،</a:t>
            </a:r>
          </a:p>
          <a:p/>
          <a:p>
            <a:r>
              <a:t>C058 · 137.735–139.186s · يقدر يفتح الـPrevious Call،</a:t>
            </a:r>
          </a:p>
          <a:p/>
          <a:p>
            <a:r>
              <a:t>C059 · 139.358–140.788s · ويشوف الـNote اللي زميله كتبها.</a:t>
            </a:r>
          </a:p>
          <a:p/>
          <a:p>
            <a:r>
              <a:t>C060 · 141.401–143.060s · يعرف العميل كان بيتكلم في إيه،</a:t>
            </a:r>
          </a:p>
          <a:p/>
          <a:p>
            <a:r>
              <a:t>C061 · 143.393–144.807s · وإيه آخر خطوة تسجلت،</a:t>
            </a:r>
          </a:p>
          <a:p/>
          <a:p>
            <a:r>
              <a:t>C062 · 144.964–146.632s · وإيه الموضوع اللي محتاج Follow-up.</a:t>
            </a:r>
          </a:p>
          <a:p/>
          <a:p>
            <a:r>
              <a:t>C063 · 147.129–147.657s · وبالتالي،</a:t>
            </a:r>
          </a:p>
          <a:p/>
          <a:p>
            <a:r>
              <a:t>C064 · 147.880–150.005s · يبدأ المحادثة وهو فاهم الـContext،</a:t>
            </a:r>
          </a:p>
          <a:p/>
          <a:p>
            <a:r>
              <a:t>C065 · 150.331–153.005s · من غير ما العميل يضطر يعيد نفس الشرح كل مرة.</a:t>
            </a:r>
          </a:p>
          <a:p/>
          <a:p>
            <a:r>
              <a:t>C066 · 153.658–154.086s · وطبعًا،</a:t>
            </a:r>
          </a:p>
          <a:p/>
          <a:p>
            <a:r>
              <a:t>C067 · 154.315–156.202s · الـNote بتوضح اللي تسجل في المكالمة،</a:t>
            </a:r>
          </a:p>
          <a:p/>
          <a:p>
            <a:r>
              <a:t>C068 · 156.442–158.993s · مش بالضرورة إن الإجراء المطلوب اتنفذ بالفعل.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illustrative interaction workspace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Part 03 focuses on source-linked human call notes, not ticket history, customer-global notes, recordings, transcripts or AI summaries. All dates, times and actors are fictional. The current note belongs to DEMO-1012; the later active call is DEMO-1015 and only reads the former note. Native save/storage/retention/permissions remain unverified.</a:t>
            </a:r>
          </a:p>
          <a:p/>
          <a:p>
            <a:r>
              <a:t>C069 · 160.266–162.928s · خلينا نشوف إيه اللي هيحصل أثناء الـCurrent Call نفسها.</a:t>
            </a:r>
          </a:p>
          <a:p/>
          <a:p>
            <a:r>
              <a:t>C070 · 163.323–164.919s · الـAgent بيتكلم مع العميل،</a:t>
            </a:r>
          </a:p>
          <a:p/>
          <a:p>
            <a:r>
              <a:t>C071 · 165.234–168.767s · وفي نفس الوقت يقدر يسجل Notes جديدة عن تفاصيل المحادثة،</a:t>
            </a:r>
          </a:p>
          <a:p/>
          <a:p>
            <a:r>
              <a:t>C072 · 169.235–170.899s · والإجراء اللي تم الاتفاق عليه،</a:t>
            </a:r>
          </a:p>
          <a:p/>
          <a:p>
            <a:r>
              <a:t>C073 · 171.076–172.306s · أو الـFollow-up المطلوب.</a:t>
            </a:r>
          </a:p>
          <a:p/>
          <a:p>
            <a:r>
              <a:t>C074 · 172.626–173.833s · وبعد ما الـCall تخلص،</a:t>
            </a:r>
          </a:p>
          <a:p/>
          <a:p>
            <a:r>
              <a:t>C075 · 174.027–176.839s · الملاحظات تتحفظ مرتبطة بنفس الـCall Activity،</a:t>
            </a:r>
          </a:p>
          <a:p/>
          <a:p>
            <a:r>
              <a:t>C076 · 177.357–179.936s · حسب طريقة التسجيل والـIntegration اللي هنعتمدها.</a:t>
            </a:r>
          </a:p>
          <a:p/>
          <a:p>
            <a:r>
              <a:t>C077 · 180.367–182.003s · ولما العميل يتصل مرة تانية،</a:t>
            </a:r>
          </a:p>
          <a:p/>
          <a:p>
            <a:r>
              <a:t>C078 · 182.301–183.259s · الـAgent التالي،</a:t>
            </a:r>
          </a:p>
          <a:p/>
          <a:p>
            <a:r>
              <a:t>C079 · 183.440–187.394s · يقدر يرجع للـPrevious Calls ويشوف الـNotes الخاصة بكل مكالمة،</a:t>
            </a:r>
          </a:p>
          <a:p/>
          <a:p>
            <a:r>
              <a:t>C080 · 187.781–189.220s · حسب الصلاحيات المتاحة له.</a:t>
            </a:r>
          </a:p>
          <a:p/>
          <a:p>
            <a:r>
              <a:t>C081 · 189.526–191.645s · يعني بدل ما كل مكالمة تبدأ من الصفر،</a:t>
            </a:r>
          </a:p>
          <a:p/>
          <a:p>
            <a:r>
              <a:t>C082 · 192.053–193.574s · كل Call بتضيف معلومات،</a:t>
            </a:r>
          </a:p>
          <a:p/>
          <a:p>
            <a:r>
              <a:t>C083 · 193.732–195.106s · تساعد في المكالمة اللي بعدها.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illustrative interaction workspace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Part 03 focuses on source-linked human call notes, not ticket history, customer-global notes, recordings, transcripts or AI summaries. All dates, times and actors are fictional. The current note belongs to DEMO-1012; the later active call is DEMO-1015 and only reads the former note. Native save/storage/retention/permissions remain unverified.</a:t>
            </a:r>
          </a:p>
          <a:p/>
          <a:p>
            <a:r>
              <a:t>C084 · 195.553–196.358s · وفي نفس الوقت،</a:t>
            </a:r>
          </a:p>
          <a:p/>
          <a:p>
            <a:r>
              <a:t>C085 · 196.560–199.615s · لازم التجربة تتعامل بشكل واضح مع الحالات المختلفة.</a:t>
            </a:r>
          </a:p>
          <a:p/>
          <a:p>
            <a:r>
              <a:t>C086 · 200.100–201.459s · لو رقم العميل مش موجود،</a:t>
            </a:r>
          </a:p>
          <a:p/>
          <a:p>
            <a:r>
              <a:t>C087 · 201.810–203.803s · الـAgent يقدر يعمل Manual Search.</a:t>
            </a:r>
          </a:p>
          <a:p/>
          <a:p>
            <a:r>
              <a:t>C088 · 204.095–206.530s · ولو نفس الرقم مرتبط بأكتر من Customer،</a:t>
            </a:r>
          </a:p>
          <a:p/>
          <a:p>
            <a:r>
              <a:t>C089 · 206.849–211.626s · الموظف يراجع الـPossible Matches ويحدد الـRecord الصحيح بعد التحقق المطلوب.</a:t>
            </a:r>
          </a:p>
          <a:p/>
          <a:p>
            <a:r>
              <a:t>C090 · 211.929–213.830s · ولو الـEmail أو الـSegment مش متاحة،</a:t>
            </a:r>
          </a:p>
          <a:p/>
          <a:p>
            <a:r>
              <a:t>C091 · 214.203–216.352s · النظام يوضح إن المعلومة مش موجودة،</a:t>
            </a:r>
          </a:p>
          <a:p/>
          <a:p>
            <a:r>
              <a:t>C092 · 216.642–218.299s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illustrative interaction workspace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Part 03 focuses on source-linked human call notes, not ticket history, customer-global notes, recordings, transcripts or AI summaries. All dates, times and actors are fictional. The current note belongs to DEMO-1012; the later active call is DEMO-1015 and only reads the former note. Native save/storage/retention/permissions remain unverified.</a:t>
            </a:r>
          </a:p>
          <a:p/>
          <a:p>
            <a:r>
              <a:t>C093 · 219.327–222.836s · إزاي هنطبق التجربة دي على الأنظمة الموجودة بالفعل في Concrete؟</a:t>
            </a:r>
          </a:p>
          <a:p/>
          <a:p>
            <a:r>
              <a:t>C094 · 223.379–225.237s · هنبدأ بمراجعة الـGenesys Setup،</a:t>
            </a:r>
          </a:p>
          <a:p/>
          <a:p>
            <a:r>
              <a:t>C095 · 225.401–226.405s · والـZoho Integration،</a:t>
            </a:r>
          </a:p>
          <a:p/>
          <a:p>
            <a:r>
              <a:t>C096 · 226.905–229.926s · ونحدد مكان تخزين الـCall Activities والـAgent Notes،</a:t>
            </a:r>
          </a:p>
          <a:p/>
          <a:p>
            <a:r>
              <a:t>C097 · 230.088–231.909s · ومصدر بيانات الـCustomer Segment.</a:t>
            </a:r>
          </a:p>
          <a:p/>
          <a:p>
            <a:r>
              <a:t>C098 · 232.144–232.593s · بعدها،</a:t>
            </a:r>
          </a:p>
          <a:p/>
          <a:p>
            <a:r>
              <a:t>C099 · 232.759–235.859s · نشوف إيه اللي نقدر نستخدمه من الـNative Features الموجودة،</a:t>
            </a:r>
          </a:p>
          <a:p/>
          <a:p>
            <a:r>
              <a:t>C100 · 236.108–237.835s · وإيه اللي محتاج Integration إضافية،</a:t>
            </a:r>
          </a:p>
          <a:p/>
          <a:p>
            <a:r>
              <a:t>C101 · 238.211–240.381s · من غير ما نبني System جديد لو مش محتاجينه.</a:t>
            </a:r>
          </a:p>
          <a:p/>
          <a:p>
            <a:r>
              <a:t>C102 · 240.697–243.010s · وهنختبر التجربة باستخدام Test Calls،</a:t>
            </a:r>
          </a:p>
          <a:p/>
          <a:p>
            <a:r>
              <a:t>C103 · 243.204–246.090s · عشان نتأكد إن بيانات العميل بتظهر بشكل صحيح،</a:t>
            </a:r>
          </a:p>
          <a:p/>
          <a:p>
            <a:r>
              <a:t>C104 · 246.647–249.041s · وإن كل Call مرتبطة بالـNotes الخاصة بيها،</a:t>
            </a:r>
          </a:p>
          <a:p/>
          <a:p>
            <a:r>
              <a:t>C105 · 249.631–251.892s · وإن المعلومات بتوصل للـAgent المناسب،</a:t>
            </a:r>
          </a:p>
          <a:p/>
          <a:p>
            <a:r>
              <a:t>C106 · 252.044–252.895s · بصلاحيات واضحة.</a:t>
            </a:r>
          </a:p>
          <a:p/>
          <a:p>
            <a:r>
              <a:t>C107 · 253.389–254.038s · وفي النهاية،</a:t>
            </a:r>
          </a:p>
          <a:p/>
          <a:p>
            <a:r>
              <a:t>C108 · 254.293–257.035s · إحنا مش بنتكلم عن مجرد شاشة فيها بيانات أكتر.</a:t>
            </a:r>
          </a:p>
          <a:p/>
          <a:p>
            <a:r>
              <a:t>C109 · 257.652–261.954s · إحنا بنتكلم عن تجربة بتساعد موظف خدمة العملاء يعرف مين العميل،</a:t>
            </a:r>
          </a:p>
          <a:p/>
          <a:p>
            <a:r>
              <a:t>C110 · 262.382–263.422s · ومستوى عضويته،</a:t>
            </a:r>
          </a:p>
          <a:p/>
          <a:p>
            <a:r>
              <a:t>C111 · 263.618–264.999s · وتاريخ تواصله مع الشركة،</a:t>
            </a:r>
          </a:p>
          <a:p/>
          <a:p>
            <a:r>
              <a:t>C112 · 265.365–267.115s · وآخر ملاحظات تسجلت عنه.</a:t>
            </a:r>
          </a:p>
          <a:p/>
          <a:p>
            <a:r>
              <a:t>C113 · 267.473–269.983s · وده يفتح فرصة حقيقية لتحسين الـFollow-up،</a:t>
            </a:r>
          </a:p>
          <a:p/>
          <a:p>
            <a:r>
              <a:t>C114 · 270.264–271.543s · وتسهيل شغل الـAgents،</a:t>
            </a:r>
          </a:p>
          <a:p/>
          <a:p>
            <a:r>
              <a:t>C115 · 271.876–275.044s · وتقديم Customer Experience أكتر تنظيمًا واستمرارية.</a:t>
            </a:r>
          </a:p>
          <a:p/>
          <a:p>
            <a:r>
              <a:t>C116 · 275.422–279.735s · وده بالضبط اللي GRINDCTRL بتقترح تقدمه لـConcrete:</a:t>
            </a:r>
          </a:p>
          <a:p/>
          <a:p>
            <a:r>
              <a:t>C117 · 280.192–281.428s · إن كل Call جديدة،</a:t>
            </a:r>
          </a:p>
          <a:p/>
          <a:p>
            <a:r>
              <a:t>C118 · 281.695–284.821s · تبدأ من آخر نقطة وصلت لها علاقة العميل بالشركة،</a:t>
            </a:r>
          </a:p>
          <a:p/>
          <a:p>
            <a:r>
              <a:t>C119 · 285.207–285.760s · مش من الصفر.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illustrative interaction workspace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Part 03 focuses on source-linked human call notes, not ticket history, customer-global notes, recordings, transcripts or AI summaries. All dates, times and actors are fictional. The current note belongs to DEMO-1012; the later active call is DEMO-1015 and only reads the former note. Native save/storage/retention/permissions remain unverified.</a:t>
            </a:r>
          </a:p>
          <a:p/>
          <a:p>
            <a:r>
              <a:t>C069 · 160.266–162.928s · خلينا نشوف إيه اللي هيحصل أثناء الـCurrent Call نفسها.</a:t>
            </a:r>
          </a:p>
          <a:p/>
          <a:p>
            <a:r>
              <a:t>C070 · 163.323–164.919s · الـAgent بيتكلم مع العميل،</a:t>
            </a:r>
          </a:p>
          <a:p/>
          <a:p>
            <a:r>
              <a:t>C071 · 165.234–168.767s · وفي نفس الوقت يقدر يسجل Notes جديدة عن تفاصيل المحادثة،</a:t>
            </a:r>
          </a:p>
          <a:p/>
          <a:p>
            <a:r>
              <a:t>C072 · 169.235–170.899s · والإجراء اللي تم الاتفاق عليه،</a:t>
            </a:r>
          </a:p>
          <a:p/>
          <a:p>
            <a:r>
              <a:t>C073 · 171.076–172.306s · أو الـFollow-up المطلوب.</a:t>
            </a:r>
          </a:p>
          <a:p/>
          <a:p>
            <a:r>
              <a:t>C074 · 172.626–173.833s · وبعد ما الـCall تخلص،</a:t>
            </a:r>
          </a:p>
          <a:p/>
          <a:p>
            <a:r>
              <a:t>C075 · 174.027–176.839s · الملاحظات تتحفظ مرتبطة بنفس الـCall Activity،</a:t>
            </a:r>
          </a:p>
          <a:p/>
          <a:p>
            <a:r>
              <a:t>C076 · 177.357–179.936s · حسب طريقة التسجيل والـIntegration اللي هنعتمدها.</a:t>
            </a:r>
          </a:p>
          <a:p/>
          <a:p>
            <a:r>
              <a:t>C077 · 180.367–182.003s · ولما العميل يتصل مرة تانية،</a:t>
            </a:r>
          </a:p>
          <a:p/>
          <a:p>
            <a:r>
              <a:t>C078 · 182.301–183.259s · الـAgent التالي،</a:t>
            </a:r>
          </a:p>
          <a:p/>
          <a:p>
            <a:r>
              <a:t>C079 · 183.440–187.394s · يقدر يرجع للـPrevious Calls ويشوف الـNotes الخاصة بكل مكالمة،</a:t>
            </a:r>
          </a:p>
          <a:p/>
          <a:p>
            <a:r>
              <a:t>C080 · 187.781–189.220s · حسب الصلاحيات المتاحة له.</a:t>
            </a:r>
          </a:p>
          <a:p/>
          <a:p>
            <a:r>
              <a:t>C081 · 189.526–191.645s · يعني بدل ما كل مكالمة تبدأ من الصفر،</a:t>
            </a:r>
          </a:p>
          <a:p/>
          <a:p>
            <a:r>
              <a:t>C082 · 192.053–193.574s · كل Call بتضيف معلومات،</a:t>
            </a:r>
          </a:p>
          <a:p/>
          <a:p>
            <a:r>
              <a:t>C083 · 193.732–195.106s · تساعد في المكالمة اللي بعدها.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illustrative interaction workspace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Part 03 focuses on source-linked human call notes, not ticket history, customer-global notes, recordings, transcripts or AI summaries. All dates, times and actors are fictional. The current note belongs to DEMO-1012; the later active call is DEMO-1015 and only reads the former note. Native save/storage/retention/permissions remain unverified.</a:t>
            </a:r>
          </a:p>
          <a:p/>
          <a:p>
            <a:r>
              <a:t>C084 · 195.553–196.358s · وفي نفس الوقت،</a:t>
            </a:r>
          </a:p>
          <a:p/>
          <a:p>
            <a:r>
              <a:t>C085 · 196.560–199.615s · لازم التجربة تتعامل بشكل واضح مع الحالات المختلفة.</a:t>
            </a:r>
          </a:p>
          <a:p/>
          <a:p>
            <a:r>
              <a:t>C086 · 200.100–201.459s · لو رقم العميل مش موجود،</a:t>
            </a:r>
          </a:p>
          <a:p/>
          <a:p>
            <a:r>
              <a:t>C087 · 201.810–203.803s · الـAgent يقدر يعمل Manual Search.</a:t>
            </a:r>
          </a:p>
          <a:p/>
          <a:p>
            <a:r>
              <a:t>C088 · 204.095–206.530s · ولو نفس الرقم مرتبط بأكتر من Customer،</a:t>
            </a:r>
          </a:p>
          <a:p/>
          <a:p>
            <a:r>
              <a:t>C089 · 206.849–211.626s · الموظف يراجع الـPossible Matches ويحدد الـRecord الصحيح بعد التحقق المطلوب.</a:t>
            </a:r>
          </a:p>
          <a:p/>
          <a:p>
            <a:r>
              <a:t>C090 · 211.929–213.830s · ولو الـEmail أو الـSegment مش متاحة،</a:t>
            </a:r>
          </a:p>
          <a:p/>
          <a:p>
            <a:r>
              <a:t>C091 · 214.203–216.352s · النظام يوضح إن المعلومة مش موجودة،</a:t>
            </a:r>
          </a:p>
          <a:p/>
          <a:p>
            <a:r>
              <a:t>C092 · 216.642–218.299s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illustrative interaction workspace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Part 03 focuses on source-linked human call notes, not ticket history, customer-global notes, recordings, transcripts or AI summaries. All dates, times and actors are fictional. The current note belongs to DEMO-1012; the later active call is DEMO-1015 and only reads the former note. Native save/storage/retention/permissions remain unverified.</a:t>
            </a:r>
          </a:p>
          <a:p/>
          <a:p>
            <a:r>
              <a:t>C084 · 195.553–196.358s · وفي نفس الوقت،</a:t>
            </a:r>
          </a:p>
          <a:p/>
          <a:p>
            <a:r>
              <a:t>C085 · 196.560–199.615s · لازم التجربة تتعامل بشكل واضح مع الحالات المختلفة.</a:t>
            </a:r>
          </a:p>
          <a:p/>
          <a:p>
            <a:r>
              <a:t>C086 · 200.100–201.459s · لو رقم العميل مش موجود،</a:t>
            </a:r>
          </a:p>
          <a:p/>
          <a:p>
            <a:r>
              <a:t>C087 · 201.810–203.803s · الـAgent يقدر يعمل Manual Search.</a:t>
            </a:r>
          </a:p>
          <a:p/>
          <a:p>
            <a:r>
              <a:t>C088 · 204.095–206.530s · ولو نفس الرقم مرتبط بأكتر من Customer،</a:t>
            </a:r>
          </a:p>
          <a:p/>
          <a:p>
            <a:r>
              <a:t>C089 · 206.849–211.626s · الموظف يراجع الـPossible Matches ويحدد الـRecord الصحيح بعد التحقق المطلوب.</a:t>
            </a:r>
          </a:p>
          <a:p/>
          <a:p>
            <a:r>
              <a:t>C090 · 211.929–213.830s · ولو الـEmail أو الـSegment مش متاحة،</a:t>
            </a:r>
          </a:p>
          <a:p/>
          <a:p>
            <a:r>
              <a:t>C091 · 214.203–216.352s · النظام يوضح إن المعلومة مش موجودة،</a:t>
            </a:r>
          </a:p>
          <a:p/>
          <a:p>
            <a:r>
              <a:t>C092 · 216.642–218.299s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GRINDCTRL collaboration proposal. All visible records are fictional. Customer-reported workflow has not been independently verified. No live tenant screenshots, configuration, API access, licensing or performance results were inspected.</a:t>
            </a:r>
          </a:p>
          <a:p/>
          <a:p>
            <a:r>
              <a:t>This illustrative interaction workspace does not guarantee a native embedded sidebar. Inspect the contracted CRM URL pop up integration (November 2023 PDF p.4), actual supported display and permission-equivalent lookup before implementation. Number association is not identity verification.</a:t>
            </a:r>
          </a:p>
          <a:p/>
          <a:p>
            <a:r>
              <a:t>Part 03 focuses on source-linked human call notes, not ticket history, customer-global notes, recordings, transcripts or AI summaries. All dates, times and actors are fictional. The current note belongs to DEMO-1012; the later active call is DEMO-1015 and only reads the former note. Native save/storage/retention/permissions remain unverified.</a:t>
            </a:r>
          </a:p>
          <a:p/>
          <a:p>
            <a:r>
              <a:t>C084 · 195.553–196.358s · وفي نفس الوقت،</a:t>
            </a:r>
          </a:p>
          <a:p/>
          <a:p>
            <a:r>
              <a:t>C085 · 196.560–199.615s · لازم التجربة تتعامل بشكل واضح مع الحالات المختلفة.</a:t>
            </a:r>
          </a:p>
          <a:p/>
          <a:p>
            <a:r>
              <a:t>C086 · 200.100–201.459s · لو رقم العميل مش موجود،</a:t>
            </a:r>
          </a:p>
          <a:p/>
          <a:p>
            <a:r>
              <a:t>C087 · 201.810–203.803s · الـAgent يقدر يعمل Manual Search.</a:t>
            </a:r>
          </a:p>
          <a:p/>
          <a:p>
            <a:r>
              <a:t>C088 · 204.095–206.530s · ولو نفس الرقم مرتبط بأكتر من Customer،</a:t>
            </a:r>
          </a:p>
          <a:p/>
          <a:p>
            <a:r>
              <a:t>C089 · 206.849–211.626s · الموظف يراجع الـPossible Matches ويحدد الـRecord الصحيح بعد التحقق المطلوب.</a:t>
            </a:r>
          </a:p>
          <a:p/>
          <a:p>
            <a:r>
              <a:t>C090 · 211.929–213.830s · ولو الـEmail أو الـSegment مش متاحة،</a:t>
            </a:r>
          </a:p>
          <a:p/>
          <a:p>
            <a:r>
              <a:t>C091 · 214.203–216.352s · النظام يوضح إن المعلومة مش موجودة،</a:t>
            </a:r>
          </a:p>
          <a:p/>
          <a:p>
            <a:r>
              <a:t>C092 · 216.642–218.299s · بدل ما يعرض بيانات غير مؤكدة.</a:t>
            </a:r>
          </a:p>
          <a:p/>
          <a:p>
            <a:r>
              <a:t>SOURCES (PDF pages):</a:t>
            </a:r>
          </a:p>
          <a:p/>
          <a:p>
            <a:r>
              <a:t>Part 03 Sales Manager requirement, reported by the user —  — Name, phone, membership, optional email, per-call history and human notes; not an independently verified tenant workflow.</a:t>
            </a:r>
          </a:p>
          <a:p/>
          <a:p>
            <a:r>
              <a:t>Concrete contract (29-11-2023).pdf — 4 — CRM URL pop up integration scope; not evidence of operation or linked notes.</a:t>
            </a:r>
          </a:p>
          <a:p/>
          <a:p>
            <a:r>
              <a:t>No existing Concrete/Centro relationship. All sample records are fictional. No live connector. Reported workflow has not been independently tested.</a:t>
            </a:r>
          </a:p>
          <a:p/>
          <a:p>
            <a:r>
              <a:t>Editable static scene reference. The original continuous MP3 is embedded unchanged on slide 1. Native PowerPoint playback has not been verified; slides advance manually and do not reproduce the full HTML animation choreography. HTML and MP4 are the synchronized audiovisual masters. Twelve pages: eight principal scenes plus four note-entry and exception-state references. Install the bundled Manrope and IBM Plex Sans Arabic fonts for layout fidelity.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audio" Target="../media/grindctrl-part03-voiceover-ar.mp3"/><Relationship Id="rId12" Type="http://schemas.microsoft.com/office/2007/relationships/media" Target="../media/grindctrl-part03-voiceover-ar.mp3"/><Relationship Id="rId1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10.png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1.png"/><Relationship Id="rId9" Type="http://schemas.openxmlformats.org/officeDocument/2006/relationships/image" Target="../media/image7.png"/><Relationship Id="rId10" Type="http://schemas.openxmlformats.org/officeDocument/2006/relationships/image" Target="../media/image12.png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1.png"/><Relationship Id="rId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12.png"/><Relationship Id="rId11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13.png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Customer recognition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The call becomes a customer conversation.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Synthetic records · Native UI, sources and recording behavior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01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717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Interaction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Customer 360° · Illustrative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718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66750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6675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6667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2763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12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18859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072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667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Fictional interaction</a:t>
            </a:r>
          </a:p>
        </p:txBody>
      </p:sp>
      <p:sp>
        <p:nvSpPr>
          <p:cNvPr id="31" name="Oval 30"/>
          <p:cNvSpPr/>
          <p:nvPr/>
        </p:nvSpPr>
        <p:spPr>
          <a:xfrm>
            <a:off x="321945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60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29050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219575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3025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Concrete Icons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3025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965318"/>
                </a:solidFill>
                <a:latin typeface="Manrope"/>
              </a:rPr>
              <a:t>ELITE (Illustrative)</a:t>
            </a:r>
          </a:p>
        </p:txBody>
      </p:sp>
      <p:pic>
        <p:nvPicPr>
          <p:cNvPr id="38" name="Picture 37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650" y="3248025"/>
            <a:ext cx="200025" cy="2000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786765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29050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Associated record · Not identity proof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19450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19450" y="3686175"/>
            <a:ext cx="43434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Call activity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53350" y="3724275"/>
            <a:ext cx="37623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Retained · Linked · Permitted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19450" y="4086225"/>
            <a:ext cx="8296275" cy="581025"/>
          </a:xfrm>
          <a:prstGeom prst="roundRect">
            <a:avLst>
              <a:gd name="adj" fmla="val 8196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71850" y="4162425"/>
            <a:ext cx="13811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08 Oct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1850" y="4448175"/>
            <a:ext cx="139065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14:32 · Inbound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5375" y="4162425"/>
            <a:ext cx="14954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5375" y="4448175"/>
            <a:ext cx="1495425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DEMO-1008</a:t>
            </a:r>
          </a:p>
        </p:txBody>
      </p:sp>
      <p:pic>
        <p:nvPicPr>
          <p:cNvPr id="49" name="Picture 48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6050" y="4171950"/>
            <a:ext cx="209550" cy="209550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6867525" y="4152900"/>
            <a:ext cx="4467225" cy="5048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Followed up on the exchange. Branch review requested.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19450" y="4714875"/>
            <a:ext cx="8296275" cy="581025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71850" y="4791075"/>
            <a:ext cx="13811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03 Oct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71850" y="5076825"/>
            <a:ext cx="139065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11:08 · Inbound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5375" y="4791075"/>
            <a:ext cx="14954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05375" y="5076825"/>
            <a:ext cx="1495425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DEMO-1003</a:t>
            </a:r>
          </a:p>
        </p:txBody>
      </p:sp>
      <p:pic>
        <p:nvPicPr>
          <p:cNvPr id="56" name="Picture 55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6050" y="4800600"/>
            <a:ext cx="209550" cy="209550"/>
          </a:xfrm>
          <a:prstGeom prst="rect">
            <a:avLst/>
          </a:prstGeom>
          <a:effectLst/>
        </p:spPr>
      </p:pic>
      <p:sp>
        <p:nvSpPr>
          <p:cNvPr id="57" name="TextBox 56"/>
          <p:cNvSpPr txBox="1"/>
          <p:nvPr/>
        </p:nvSpPr>
        <p:spPr>
          <a:xfrm>
            <a:off x="6867525" y="4781550"/>
            <a:ext cx="4467225" cy="5048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Customer requested a size exchange.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19450" y="5343525"/>
            <a:ext cx="8296275" cy="581025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71850" y="5419725"/>
            <a:ext cx="13811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26 Sep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71850" y="5705475"/>
            <a:ext cx="139065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16:45 · Inbound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05375" y="5419725"/>
            <a:ext cx="14954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05375" y="5705475"/>
            <a:ext cx="1495425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DEMO-0926</a:t>
            </a:r>
          </a:p>
        </p:txBody>
      </p:sp>
      <p:pic>
        <p:nvPicPr>
          <p:cNvPr id="63" name="Picture 62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6050" y="5429250"/>
            <a:ext cx="209550" cy="209550"/>
          </a:xfrm>
          <a:prstGeom prst="rect">
            <a:avLst/>
          </a:prstGeom>
          <a:effectLst/>
        </p:spPr>
      </p:pic>
      <p:sp>
        <p:nvSpPr>
          <p:cNvPr id="64" name="TextBox 63"/>
          <p:cNvSpPr txBox="1"/>
          <p:nvPr/>
        </p:nvSpPr>
        <p:spPr>
          <a:xfrm>
            <a:off x="6867525" y="5410200"/>
            <a:ext cx="4467225" cy="5048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Customer asked about product availability.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48425" y="4124325"/>
            <a:ext cx="4972050" cy="5048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Original Arabic narration — 286 seconds" descr="icon-mic.png">
            <a:hlinkClick action="ppaction://media" r:id=""/>
          </p:cNvPr>
          <p:cNvPicPr>
            <a:picLocks noChangeAspect="1"/>
          </p:cNvPicPr>
          <p:nvPr>
            <a:audioFile r:link="rId11"/>
            <p:extLst>
              <p:ext uri="{DAA4B4D4-6D71-4841-9C94-3DE7FCFB45AD}">
                <p14:media xmlns:p14="http://schemas.microsoft.com/office/powerpoint/2010/main" r:embed="rId1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572750" y="6486525"/>
            <a:ext cx="209550" cy="209550"/>
          </a:xfrm>
          <a:prstGeom prst="rect">
            <a:avLst/>
          </a:prstGeom>
        </p:spPr>
      </p:pic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100000" numSld="8" showWhenStopped="1">
                <p:cTn id="4" dur="286160" fill="hold" nodeType="withEffect">
                  <p:stCondLst>
                    <p:cond delay="0"/>
                  </p:stCondLst>
                </p:cTn>
                <p:tgtEl>
                  <p:spTgt spid="6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Identity and contact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Start with the caller number. Resolve a record.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Synthetic records · Native UI, sources and recording behavior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02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717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Interaction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Customer 360° · Illustrative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718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66750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6675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6667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2763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12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18859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072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667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Fictional interaction</a:t>
            </a:r>
          </a:p>
        </p:txBody>
      </p:sp>
      <p:sp>
        <p:nvSpPr>
          <p:cNvPr id="31" name="Oval 30"/>
          <p:cNvSpPr/>
          <p:nvPr/>
        </p:nvSpPr>
        <p:spPr>
          <a:xfrm>
            <a:off x="321945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60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29050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219575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29050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Associated record · Not identity proof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3219450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3190875" y="2333625"/>
            <a:ext cx="5219700" cy="120015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Icons Club in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Name, number, membership and email.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Synthetic records · Native UI, sources and recording behavior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03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717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Interaction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Customer 360° · Illustrative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718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66750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6675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6667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2763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12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18859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072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667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Fictional interaction</a:t>
            </a:r>
          </a:p>
        </p:txBody>
      </p:sp>
      <p:sp>
        <p:nvSpPr>
          <p:cNvPr id="31" name="Oval 30"/>
          <p:cNvSpPr/>
          <p:nvPr/>
        </p:nvSpPr>
        <p:spPr>
          <a:xfrm>
            <a:off x="321945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60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29050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219575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3025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Concrete Icons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3025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965318"/>
                </a:solidFill>
                <a:latin typeface="Manrope"/>
              </a:rPr>
              <a:t>ELITE (Illustrative)</a:t>
            </a:r>
          </a:p>
        </p:txBody>
      </p:sp>
      <p:pic>
        <p:nvPicPr>
          <p:cNvPr id="38" name="Picture 37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650" y="3248025"/>
            <a:ext cx="200025" cy="2000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786765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29050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Associated record · Not identity proof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19450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19450" y="3790950"/>
            <a:ext cx="82867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Concrete Icons Club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19450" y="4305300"/>
            <a:ext cx="8286750" cy="600075"/>
          </a:xfrm>
          <a:prstGeom prst="roundRect">
            <a:avLst>
              <a:gd name="adj" fmla="val 9523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29000" y="4486275"/>
            <a:ext cx="236220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LIFESTYLE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895975" y="4429125"/>
            <a:ext cx="0" cy="35242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172200" y="4486275"/>
            <a:ext cx="236220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262626"/>
                </a:solidFill>
                <a:latin typeface="Manrope"/>
              </a:rPr>
              <a:t>PRESTIGE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639175" y="4429125"/>
            <a:ext cx="0" cy="352425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915400" y="4486275"/>
            <a:ext cx="2362200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ELITE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05850" y="4314825"/>
            <a:ext cx="2600325" cy="5810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con-lin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6600" y="5267325"/>
            <a:ext cx="257175" cy="257175"/>
          </a:xfrm>
          <a:prstGeom prst="rect">
            <a:avLst/>
          </a:prstGeom>
          <a:effectLst/>
        </p:spPr>
      </p:pic>
      <p:sp>
        <p:nvSpPr>
          <p:cNvPr id="51" name="TextBox 50"/>
          <p:cNvSpPr txBox="1"/>
          <p:nvPr/>
        </p:nvSpPr>
        <p:spPr>
          <a:xfrm>
            <a:off x="3724275" y="5257800"/>
            <a:ext cx="7639050" cy="5524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Approved membership source required.</a:t>
            </a:r>
          </a:p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No tier inferred from the phone number.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Individual call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Each call keeps its own human-written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Synthetic records · Native UI, sources and recording behavior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04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717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Interaction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Customer 360° · Illustrative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718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66750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6675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6667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2763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12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18859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072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667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Fictional interaction</a:t>
            </a:r>
          </a:p>
        </p:txBody>
      </p:sp>
      <p:sp>
        <p:nvSpPr>
          <p:cNvPr id="31" name="Oval 30"/>
          <p:cNvSpPr/>
          <p:nvPr/>
        </p:nvSpPr>
        <p:spPr>
          <a:xfrm>
            <a:off x="321945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60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29050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219575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3025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Concrete Icons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3025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965318"/>
                </a:solidFill>
                <a:latin typeface="Manrope"/>
              </a:rPr>
              <a:t>ELITE (Illustrative)</a:t>
            </a:r>
          </a:p>
        </p:txBody>
      </p:sp>
      <p:pic>
        <p:nvPicPr>
          <p:cNvPr id="38" name="Picture 37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650" y="3248025"/>
            <a:ext cx="200025" cy="2000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786765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29050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Associated record · Not identity proof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19450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19450" y="3686175"/>
            <a:ext cx="43434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Call activity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53350" y="3724275"/>
            <a:ext cx="37623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Retained · Linked · Permitted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19450" y="4086225"/>
            <a:ext cx="8296275" cy="581025"/>
          </a:xfrm>
          <a:prstGeom prst="roundRect">
            <a:avLst>
              <a:gd name="adj" fmla="val 8196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71850" y="4162425"/>
            <a:ext cx="13811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08 Oct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71850" y="4448175"/>
            <a:ext cx="139065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14:32 · Inbound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05375" y="4162425"/>
            <a:ext cx="14954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A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905375" y="4448175"/>
            <a:ext cx="1495425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DEMO-1008</a:t>
            </a:r>
          </a:p>
        </p:txBody>
      </p:sp>
      <p:pic>
        <p:nvPicPr>
          <p:cNvPr id="49" name="Picture 48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6050" y="4171950"/>
            <a:ext cx="209550" cy="209550"/>
          </a:xfrm>
          <a:prstGeom prst="rect">
            <a:avLst/>
          </a:prstGeom>
          <a:effectLst/>
        </p:spPr>
      </p:pic>
      <p:sp>
        <p:nvSpPr>
          <p:cNvPr id="50" name="TextBox 49"/>
          <p:cNvSpPr txBox="1"/>
          <p:nvPr/>
        </p:nvSpPr>
        <p:spPr>
          <a:xfrm>
            <a:off x="6867525" y="4152900"/>
            <a:ext cx="4467225" cy="5048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Followed up on the exchange. Branch review requested.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19450" y="4714875"/>
            <a:ext cx="8296275" cy="581025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71850" y="4791075"/>
            <a:ext cx="13811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03 Oct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71850" y="5076825"/>
            <a:ext cx="139065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11:08 · Inbound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05375" y="4791075"/>
            <a:ext cx="14954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905375" y="5076825"/>
            <a:ext cx="1495425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DEMO-1003</a:t>
            </a:r>
          </a:p>
        </p:txBody>
      </p:sp>
      <p:pic>
        <p:nvPicPr>
          <p:cNvPr id="56" name="Picture 55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6050" y="4800600"/>
            <a:ext cx="209550" cy="209550"/>
          </a:xfrm>
          <a:prstGeom prst="rect">
            <a:avLst/>
          </a:prstGeom>
          <a:effectLst/>
        </p:spPr>
      </p:pic>
      <p:sp>
        <p:nvSpPr>
          <p:cNvPr id="57" name="TextBox 56"/>
          <p:cNvSpPr txBox="1"/>
          <p:nvPr/>
        </p:nvSpPr>
        <p:spPr>
          <a:xfrm>
            <a:off x="6867525" y="4781550"/>
            <a:ext cx="4467225" cy="5048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Customer requested a size exchange.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219450" y="5343525"/>
            <a:ext cx="8296275" cy="581025"/>
          </a:xfrm>
          <a:prstGeom prst="roundRect">
            <a:avLst>
              <a:gd name="adj" fmla="val 8196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371850" y="5419725"/>
            <a:ext cx="13811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26 Sep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371850" y="5705475"/>
            <a:ext cx="139065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16:45 · Inbound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905375" y="5419725"/>
            <a:ext cx="149542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Agent 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905375" y="5705475"/>
            <a:ext cx="1495425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DEMO-0926</a:t>
            </a:r>
          </a:p>
        </p:txBody>
      </p:sp>
      <p:pic>
        <p:nvPicPr>
          <p:cNvPr id="63" name="Picture 62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96050" y="5429250"/>
            <a:ext cx="209550" cy="209550"/>
          </a:xfrm>
          <a:prstGeom prst="rect">
            <a:avLst/>
          </a:prstGeom>
          <a:effectLst/>
        </p:spPr>
      </p:pic>
      <p:sp>
        <p:nvSpPr>
          <p:cNvPr id="64" name="TextBox 63"/>
          <p:cNvSpPr txBox="1"/>
          <p:nvPr/>
        </p:nvSpPr>
        <p:spPr>
          <a:xfrm>
            <a:off x="6867525" y="5410200"/>
            <a:ext cx="4467225" cy="5048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Customer asked about product availability.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467475" y="5343525"/>
            <a:ext cx="5010150" cy="581025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The 08 Oct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Open the earlier call. Read the original note.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Synthetic records · Native UI, sources and recording behavior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05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717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Interaction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Customer 360° · Illustrative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718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66750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6675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6667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2763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12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18859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072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667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Fictional interaction</a:t>
            </a:r>
          </a:p>
        </p:txBody>
      </p:sp>
      <p:sp>
        <p:nvSpPr>
          <p:cNvPr id="31" name="Oval 30"/>
          <p:cNvSpPr/>
          <p:nvPr/>
        </p:nvSpPr>
        <p:spPr>
          <a:xfrm>
            <a:off x="321945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60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29050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219575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3025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Concrete Icons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3025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965318"/>
                </a:solidFill>
                <a:latin typeface="Manrope"/>
              </a:rPr>
              <a:t>ELITE (Illustrative)</a:t>
            </a:r>
          </a:p>
        </p:txBody>
      </p:sp>
      <p:pic>
        <p:nvPicPr>
          <p:cNvPr id="38" name="Picture 37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650" y="3248025"/>
            <a:ext cx="200025" cy="2000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786765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29050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Associated record · Not identity proof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19450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19450" y="3705225"/>
            <a:ext cx="23622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Previous calls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0" y="4095750"/>
            <a:ext cx="2371725" cy="523875"/>
          </a:xfrm>
          <a:prstGeom prst="roundRect">
            <a:avLst>
              <a:gd name="adj" fmla="val 9090"/>
            </a:avLst>
          </a:prstGeom>
          <a:solidFill>
            <a:srgbClr val="F4F2EE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52800" y="41529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08 Oct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8650" y="41719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Agent 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352800" y="4410075"/>
            <a:ext cx="204787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DEMO-1008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200400" y="4695825"/>
            <a:ext cx="2371725" cy="523875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52800" y="4752975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03 Oct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38650" y="4772025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Agent 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52800" y="5010150"/>
            <a:ext cx="204787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DEMO-1003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0" y="5295900"/>
            <a:ext cx="2371725" cy="523875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52800" y="535305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26 Sep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8650" y="537210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Agent 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352800" y="5610225"/>
            <a:ext cx="2047875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DEMO-0926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724525" y="3714750"/>
            <a:ext cx="0" cy="226695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972175" y="3714750"/>
            <a:ext cx="55054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08 Oct 2026 · 14:32 · Inbound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72175" y="4076700"/>
            <a:ext cx="305752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Agent A · DEMO-1008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53525" y="4114800"/>
            <a:ext cx="23241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Note: 08 Oct · 14:36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62650" y="4495800"/>
            <a:ext cx="5524500" cy="1133475"/>
          </a:xfrm>
          <a:prstGeom prst="roundRect">
            <a:avLst>
              <a:gd name="adj" fmla="val 5042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25" y="4676775"/>
            <a:ext cx="238125" cy="238125"/>
          </a:xfrm>
          <a:prstGeom prst="rect">
            <a:avLst/>
          </a:prstGeom>
          <a:effectLst/>
        </p:spPr>
      </p:pic>
      <p:sp>
        <p:nvSpPr>
          <p:cNvPr id="61" name="TextBox 60"/>
          <p:cNvSpPr txBox="1"/>
          <p:nvPr/>
        </p:nvSpPr>
        <p:spPr>
          <a:xfrm>
            <a:off x="6553200" y="4638675"/>
            <a:ext cx="464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965318"/>
                </a:solidFill>
                <a:latin typeface="Manrope"/>
              </a:rPr>
              <a:t>Agent-written note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43625" y="5038725"/>
            <a:ext cx="51435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Followed up on the exchange. Branch review requested.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72175" y="5781675"/>
            <a:ext cx="5505450" cy="2190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Source: this interaction only · Synthetic record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24550" y="5676900"/>
            <a:ext cx="5619750" cy="33337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72175" y="5724525"/>
            <a:ext cx="549592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965318"/>
                </a:solidFill>
                <a:latin typeface="Manrope"/>
              </a:rPr>
              <a:t>Recorded request · Completion is not confirmed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Current note → later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Write it for this call. Retrieve it from this call.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Synthetic records · Native UI, sources and recording behavior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06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717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Interaction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Customer 360° · Illustrative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718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66750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6675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49654E"/>
                </a:solidFill>
                <a:latin typeface="Manrope"/>
              </a:rPr>
              <a:t>Later call (DEMO)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Agent 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15 Oct · 09:10</a:t>
            </a:r>
          </a:p>
        </p:txBody>
      </p:sp>
      <p:sp>
        <p:nvSpPr>
          <p:cNvPr id="24" name="Oval 23"/>
          <p:cNvSpPr/>
          <p:nvPr/>
        </p:nvSpPr>
        <p:spPr>
          <a:xfrm>
            <a:off x="6667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2763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12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18859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072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667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Fictional interaction</a:t>
            </a:r>
          </a:p>
        </p:txBody>
      </p:sp>
      <p:sp>
        <p:nvSpPr>
          <p:cNvPr id="31" name="Oval 30"/>
          <p:cNvSpPr/>
          <p:nvPr/>
        </p:nvSpPr>
        <p:spPr>
          <a:xfrm>
            <a:off x="321945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60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29050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219575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3025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Concrete Icons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3025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965318"/>
                </a:solidFill>
                <a:latin typeface="Manrope"/>
              </a:rPr>
              <a:t>ELITE (Illustrative)</a:t>
            </a:r>
          </a:p>
        </p:txBody>
      </p:sp>
      <p:pic>
        <p:nvPicPr>
          <p:cNvPr id="38" name="Picture 37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650" y="3248025"/>
            <a:ext cx="200025" cy="2000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786765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29050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Associated record · Not identity proof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19450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19450" y="3705225"/>
            <a:ext cx="23622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Previous calls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00400" y="40957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4F2EE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352800" y="41529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12 Oct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38650" y="41719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Agent 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00400" y="45529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52800" y="46101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08 Oct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8650" y="46291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Agent A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200400" y="50101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52800" y="50673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03 Oct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438650" y="50863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Agent B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200400" y="54673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352800" y="55245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26 Sep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438650" y="55435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Agent C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724525" y="3714750"/>
            <a:ext cx="0" cy="226695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5972175" y="3714750"/>
            <a:ext cx="55054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12 Oct 2026 · 10:24 · Inbound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72175" y="4076700"/>
            <a:ext cx="305752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Agent D · DEMO-1012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53525" y="4114800"/>
            <a:ext cx="23241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Note: 12 Oct · 10:29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962650" y="4495800"/>
            <a:ext cx="5524500" cy="1133475"/>
          </a:xfrm>
          <a:prstGeom prst="roundRect">
            <a:avLst>
              <a:gd name="adj" fmla="val 5042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0" name="Picture 59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25" y="4676775"/>
            <a:ext cx="238125" cy="238125"/>
          </a:xfrm>
          <a:prstGeom prst="rect">
            <a:avLst/>
          </a:prstGeom>
          <a:effectLst/>
        </p:spPr>
      </p:pic>
      <p:sp>
        <p:nvSpPr>
          <p:cNvPr id="61" name="TextBox 60"/>
          <p:cNvSpPr txBox="1"/>
          <p:nvPr/>
        </p:nvSpPr>
        <p:spPr>
          <a:xfrm>
            <a:off x="6553200" y="4638675"/>
            <a:ext cx="464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965318"/>
                </a:solidFill>
                <a:latin typeface="Manrope"/>
              </a:rPr>
              <a:t>Agent-written note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143625" y="5038725"/>
            <a:ext cx="51435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Customer called again; awaiting a confirmed branch update.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72175" y="5781675"/>
            <a:ext cx="5505450" cy="2190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Original author: Agent D · Source: DEMO-1012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Safe exception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Show the truth. Keep the call moving.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Synthetic records · Native UI, sources and recording behavior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07 / 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717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Interaction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Customer 360° · Illustrative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718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66750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6675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6667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2763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12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18859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072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667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Fictional interaction</a:t>
            </a:r>
          </a:p>
        </p:txBody>
      </p:sp>
      <p:pic>
        <p:nvPicPr>
          <p:cNvPr id="31" name="Picture 30" descr="icon-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8525" y="2733675"/>
            <a:ext cx="409575" cy="409575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4095750" y="2733675"/>
            <a:ext cx="695325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en-US">
                <a:solidFill>
                  <a:srgbClr val="262626"/>
                </a:solidFill>
                <a:latin typeface="Manrope"/>
              </a:rPr>
              <a:t>More than one possible customer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3705225"/>
            <a:ext cx="7924800" cy="581025"/>
          </a:xfrm>
          <a:prstGeom prst="roundRect">
            <a:avLst>
              <a:gd name="adj" fmla="val 8196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581400" y="3810000"/>
            <a:ext cx="371475" cy="371475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-ac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0554" y="3899154"/>
            <a:ext cx="193167" cy="193167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4143375" y="3838575"/>
            <a:ext cx="36195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1975" y="3838575"/>
            <a:ext cx="29908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429000" y="4448175"/>
            <a:ext cx="7924800" cy="581025"/>
          </a:xfrm>
          <a:prstGeom prst="roundRect">
            <a:avLst>
              <a:gd name="adj" fmla="val 8196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581400" y="4552950"/>
            <a:ext cx="371475" cy="371475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con-acto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0554" y="4642104"/>
            <a:ext cx="193167" cy="193167"/>
          </a:xfrm>
          <a:prstGeom prst="rect">
            <a:avLst/>
          </a:prstGeom>
          <a:effectLst/>
        </p:spPr>
      </p:pic>
      <p:sp>
        <p:nvSpPr>
          <p:cNvPr id="41" name="TextBox 40"/>
          <p:cNvSpPr txBox="1"/>
          <p:nvPr/>
        </p:nvSpPr>
        <p:spPr>
          <a:xfrm>
            <a:off x="4143375" y="4581525"/>
            <a:ext cx="361950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Customer B (DEMO)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81975" y="4581525"/>
            <a:ext cx="2990850" cy="3143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pic>
        <p:nvPicPr>
          <p:cNvPr id="43" name="Picture 42" descr="icon-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6625" y="5448300"/>
            <a:ext cx="247650" cy="247650"/>
          </a:xfrm>
          <a:prstGeom prst="rect">
            <a:avLst/>
          </a:prstGeom>
          <a:effectLst/>
        </p:spPr>
      </p:pic>
      <p:sp>
        <p:nvSpPr>
          <p:cNvPr id="44" name="TextBox 43"/>
          <p:cNvSpPr txBox="1"/>
          <p:nvPr/>
        </p:nvSpPr>
        <p:spPr>
          <a:xfrm>
            <a:off x="3914775" y="5438775"/>
            <a:ext cx="7439025" cy="4095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68645E"/>
                </a:solidFill>
                <a:latin typeface="Manrope"/>
              </a:rPr>
              <a:t>Agreed verification first. No candidate history disclosed.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Native capability and a pilot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Synthetic records · Native UI, sources and recording behavior to validate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08 / 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21717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Interaction 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135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Customer 360° · Illustrative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9718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666750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95575"/>
            <a:ext cx="257175" cy="257175"/>
          </a:xfrm>
          <a:prstGeom prst="rect">
            <a:avLst/>
          </a:prstGeom>
          <a:effectLst/>
        </p:spPr>
      </p:pic>
      <p:sp>
        <p:nvSpPr>
          <p:cNvPr id="17" name="TextBox 16"/>
          <p:cNvSpPr txBox="1"/>
          <p:nvPr/>
        </p:nvSpPr>
        <p:spPr>
          <a:xfrm>
            <a:off x="66675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49654E"/>
                </a:solidFill>
                <a:latin typeface="Manrope"/>
              </a:rPr>
              <a:t>Later call (DEMO)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Agent 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15 Oct · 09:10</a:t>
            </a:r>
          </a:p>
        </p:txBody>
      </p:sp>
      <p:sp>
        <p:nvSpPr>
          <p:cNvPr id="23" name="Oval 22"/>
          <p:cNvSpPr/>
          <p:nvPr/>
        </p:nvSpPr>
        <p:spPr>
          <a:xfrm>
            <a:off x="6667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486400"/>
            <a:ext cx="190500" cy="190500"/>
          </a:xfrm>
          <a:prstGeom prst="rect">
            <a:avLst/>
          </a:prstGeom>
          <a:effectLst/>
        </p:spPr>
      </p:pic>
      <p:sp>
        <p:nvSpPr>
          <p:cNvPr id="25" name="Oval 24"/>
          <p:cNvSpPr/>
          <p:nvPr/>
        </p:nvSpPr>
        <p:spPr>
          <a:xfrm>
            <a:off x="12763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125" y="5486400"/>
            <a:ext cx="190500" cy="190500"/>
          </a:xfrm>
          <a:prstGeom prst="rect">
            <a:avLst/>
          </a:prstGeom>
          <a:effectLst/>
        </p:spPr>
      </p:pic>
      <p:sp>
        <p:nvSpPr>
          <p:cNvPr id="27" name="Oval 26"/>
          <p:cNvSpPr/>
          <p:nvPr/>
        </p:nvSpPr>
        <p:spPr>
          <a:xfrm>
            <a:off x="18859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0725" y="5486400"/>
            <a:ext cx="190500" cy="190500"/>
          </a:xfrm>
          <a:prstGeom prst="rect">
            <a:avLst/>
          </a:prstGeom>
          <a:effectLst/>
        </p:spPr>
      </p:pic>
      <p:sp>
        <p:nvSpPr>
          <p:cNvPr id="29" name="TextBox 28"/>
          <p:cNvSpPr txBox="1"/>
          <p:nvPr/>
        </p:nvSpPr>
        <p:spPr>
          <a:xfrm>
            <a:off x="6667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Fictional interaction</a:t>
            </a:r>
          </a:p>
        </p:txBody>
      </p:sp>
      <p:sp>
        <p:nvSpPr>
          <p:cNvPr id="30" name="Oval 29"/>
          <p:cNvSpPr/>
          <p:nvPr/>
        </p:nvSpPr>
        <p:spPr>
          <a:xfrm>
            <a:off x="321945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606" y="2486406"/>
            <a:ext cx="227838" cy="227838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3829050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33" name="Picture 32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2895600"/>
            <a:ext cx="209550" cy="209550"/>
          </a:xfrm>
          <a:prstGeom prst="rect">
            <a:avLst/>
          </a:prstGeom>
          <a:effectLst/>
        </p:spPr>
      </p:pic>
      <p:sp>
        <p:nvSpPr>
          <p:cNvPr id="34" name="TextBox 33"/>
          <p:cNvSpPr txBox="1"/>
          <p:nvPr/>
        </p:nvSpPr>
        <p:spPr>
          <a:xfrm>
            <a:off x="4219575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3025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Concrete Icons Club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3025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965318"/>
                </a:solidFill>
                <a:latin typeface="Manrope"/>
              </a:rPr>
              <a:t>ELITE (Illustrative)</a:t>
            </a:r>
          </a:p>
        </p:txBody>
      </p:sp>
      <p:pic>
        <p:nvPicPr>
          <p:cNvPr id="37" name="Picture 36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650" y="3248025"/>
            <a:ext cx="200025" cy="200025"/>
          </a:xfrm>
          <a:prstGeom prst="rect">
            <a:avLst/>
          </a:prstGeom>
          <a:effectLst/>
        </p:spPr>
      </p:pic>
      <p:sp>
        <p:nvSpPr>
          <p:cNvPr id="38" name="TextBox 37"/>
          <p:cNvSpPr txBox="1"/>
          <p:nvPr/>
        </p:nvSpPr>
        <p:spPr>
          <a:xfrm>
            <a:off x="786765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29050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Associated record · Not identity proof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219450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3219450" y="3705225"/>
            <a:ext cx="23622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262626"/>
                </a:solidFill>
                <a:latin typeface="Manrope"/>
              </a:rPr>
              <a:t>Previous calls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200400" y="40957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4F2EE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52800" y="41529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12 Oct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8650" y="41719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Agent 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200400" y="45529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52800" y="46101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08 Oct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8650" y="46291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Agent A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200400" y="50101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352800" y="50673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03 Oct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38650" y="50863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Agent B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0" y="5467350"/>
            <a:ext cx="2371725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52800" y="5524500"/>
            <a:ext cx="10191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1" lang="en-US">
                <a:solidFill>
                  <a:srgbClr val="262626"/>
                </a:solidFill>
                <a:latin typeface="Manrope"/>
              </a:rPr>
              <a:t>26 Sep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38650" y="5543550"/>
            <a:ext cx="9810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428"/>
              </a:lnSpc>
              <a:spcBef>
                <a:spcPts val="0"/>
              </a:spcBef>
              <a:spcAft>
                <a:spcPts val="0"/>
              </a:spcAft>
            </a:pPr>
            <a:r>
              <a:rPr sz="1275" b="0" lang="en-US">
                <a:solidFill>
                  <a:srgbClr val="68645E"/>
                </a:solidFill>
                <a:latin typeface="Manrope"/>
              </a:rPr>
              <a:t>Agent C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724525" y="3714750"/>
            <a:ext cx="0" cy="226695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972175" y="3714750"/>
            <a:ext cx="55054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12 Oct 2026 · 10:24 · Inbound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72175" y="4076700"/>
            <a:ext cx="3057525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Agent D · DEMO-1012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53525" y="4114800"/>
            <a:ext cx="23241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Note: 12 Oct · 10:29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62650" y="4495800"/>
            <a:ext cx="5524500" cy="1133475"/>
          </a:xfrm>
          <a:prstGeom prst="roundRect">
            <a:avLst>
              <a:gd name="adj" fmla="val 5042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9" name="Picture 58" descr="icon-pe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25" y="4676775"/>
            <a:ext cx="238125" cy="238125"/>
          </a:xfrm>
          <a:prstGeom prst="rect">
            <a:avLst/>
          </a:prstGeom>
          <a:effectLst/>
        </p:spPr>
      </p:pic>
      <p:sp>
        <p:nvSpPr>
          <p:cNvPr id="60" name="TextBox 59"/>
          <p:cNvSpPr txBox="1"/>
          <p:nvPr/>
        </p:nvSpPr>
        <p:spPr>
          <a:xfrm>
            <a:off x="6553200" y="4638675"/>
            <a:ext cx="464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965318"/>
                </a:solidFill>
                <a:latin typeface="Manrope"/>
              </a:rPr>
              <a:t>Agent-written note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43625" y="5038725"/>
            <a:ext cx="5143500" cy="5334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Customer called again; awaiting a confirmed branch update.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72175" y="5781675"/>
            <a:ext cx="5505450" cy="2190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Agent D wrote this for DEMO-1012, not DEMO-1015.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934075" y="4467225"/>
            <a:ext cx="5600700" cy="11811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Start from the last recorded interaction.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Current note → later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A human note for the current interaction.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Synthetic records · Native UI, sources and recording behavior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717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Interaction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Customer 360° · Illustrative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718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66750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6675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6667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2763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12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18859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072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667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Fictional interaction</a:t>
            </a:r>
          </a:p>
        </p:txBody>
      </p:sp>
      <p:sp>
        <p:nvSpPr>
          <p:cNvPr id="31" name="Oval 30"/>
          <p:cNvSpPr/>
          <p:nvPr/>
        </p:nvSpPr>
        <p:spPr>
          <a:xfrm>
            <a:off x="321945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60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29050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219575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3025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Concrete Icons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3025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965318"/>
                </a:solidFill>
                <a:latin typeface="Manrope"/>
              </a:rPr>
              <a:t>ELITE (Illustrative)</a:t>
            </a:r>
          </a:p>
        </p:txBody>
      </p:sp>
      <p:pic>
        <p:nvPicPr>
          <p:cNvPr id="38" name="Picture 37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650" y="3248025"/>
            <a:ext cx="200025" cy="2000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786765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ahmed@example.com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29050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Associated record · Not identity proof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19450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219450" y="3705225"/>
            <a:ext cx="8220075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016"/>
              </a:lnSpc>
              <a:spcBef>
                <a:spcPts val="0"/>
              </a:spcBef>
              <a:spcAft>
                <a:spcPts val="0"/>
              </a:spcAft>
            </a:pPr>
            <a:r>
              <a:rPr sz="1800" b="1" lang="en-US">
                <a:solidFill>
                  <a:srgbClr val="262626"/>
                </a:solidFill>
                <a:latin typeface="Manrope"/>
              </a:rPr>
              <a:t>Current call note · Human Agent 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19450" y="4086225"/>
            <a:ext cx="8220075" cy="2476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12 Oct 2026 · 10:24 · DEMO-1012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19450" y="4476750"/>
            <a:ext cx="8286750" cy="9715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400425" y="4648200"/>
            <a:ext cx="7896225" cy="6858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lang="en-US">
                <a:solidFill>
                  <a:srgbClr val="262626"/>
                </a:solidFill>
                <a:latin typeface="Manrope"/>
              </a:rPr>
              <a:t>Customer called again; awaiting a confirmed branch update.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639300" y="5619750"/>
            <a:ext cx="1866900" cy="409575"/>
          </a:xfrm>
          <a:prstGeom prst="roundRect">
            <a:avLst>
              <a:gd name="adj" fmla="val 11627"/>
            </a:avLst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01225" y="5705475"/>
            <a:ext cx="15430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ct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Save note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19450" y="5667375"/>
            <a:ext cx="62674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Draft · Proposed recording step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Safe exception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No matching record: manual procedure.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Synthetic records · Native UI, sources and recording behavior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717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Interaction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Customer 360° · Illustrative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718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66750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6675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6667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2763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12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18859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072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667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Fictional interaction</a:t>
            </a:r>
          </a:p>
        </p:txBody>
      </p:sp>
      <p:pic>
        <p:nvPicPr>
          <p:cNvPr id="31" name="Picture 30" descr="icon-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8525" y="2733675"/>
            <a:ext cx="409575" cy="409575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4095750" y="2733675"/>
            <a:ext cx="695325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en-US">
                <a:solidFill>
                  <a:srgbClr val="262626"/>
                </a:solidFill>
                <a:latin typeface="Manrope"/>
              </a:rPr>
              <a:t>No matching record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8525" y="3476625"/>
            <a:ext cx="7820025" cy="742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68645E"/>
                </a:solidFill>
                <a:latin typeface="Manrope"/>
              </a:rPr>
              <a:t>Continue with the existing manual-search procedure.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29000" y="4552950"/>
            <a:ext cx="3162300" cy="561975"/>
          </a:xfrm>
          <a:prstGeom prst="roundRect">
            <a:avLst>
              <a:gd name="adj" fmla="val 8474"/>
            </a:avLst>
          </a:prstGeom>
          <a:solidFill>
            <a:srgbClr val="F4F2EE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con-sear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975" y="4733925"/>
            <a:ext cx="228600" cy="228600"/>
          </a:xfrm>
          <a:prstGeom prst="rect">
            <a:avLst/>
          </a:prstGeom>
          <a:effectLst/>
        </p:spPr>
      </p:pic>
      <p:sp>
        <p:nvSpPr>
          <p:cNvPr id="36" name="TextBox 35"/>
          <p:cNvSpPr txBox="1"/>
          <p:nvPr/>
        </p:nvSpPr>
        <p:spPr>
          <a:xfrm>
            <a:off x="4048125" y="4695825"/>
            <a:ext cx="2333625" cy="3333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1" lang="en-US">
                <a:solidFill>
                  <a:srgbClr val="262626"/>
                </a:solidFill>
                <a:latin typeface="Manrope"/>
              </a:rPr>
              <a:t>Manual search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Safe exception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Missing email and membership stay unavailable.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Synthetic records · Native UI, sources and recording behavior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717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Interaction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Customer 360° · Illustrative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718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66750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6675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6667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2763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12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18859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072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667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Fictional interaction</a:t>
            </a:r>
          </a:p>
        </p:txBody>
      </p:sp>
      <p:sp>
        <p:nvSpPr>
          <p:cNvPr id="31" name="Oval 30"/>
          <p:cNvSpPr/>
          <p:nvPr/>
        </p:nvSpPr>
        <p:spPr>
          <a:xfrm>
            <a:off x="3219450" y="2381250"/>
            <a:ext cx="438150" cy="438150"/>
          </a:xfrm>
          <a:prstGeom prst="ellipse">
            <a:avLst/>
          </a:prstGeom>
          <a:solidFill>
            <a:srgbClr val="FFF2DD"/>
          </a:solidFill>
          <a:ln w="9525">
            <a:solidFill>
              <a:srgbClr val="FFF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con-acto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24606" y="2486406"/>
            <a:ext cx="227838" cy="227838"/>
          </a:xfrm>
          <a:prstGeom prst="rect">
            <a:avLst/>
          </a:prstGeom>
          <a:effectLst/>
        </p:spPr>
      </p:pic>
      <p:sp>
        <p:nvSpPr>
          <p:cNvPr id="33" name="TextBox 32"/>
          <p:cNvSpPr txBox="1"/>
          <p:nvPr/>
        </p:nvSpPr>
        <p:spPr>
          <a:xfrm>
            <a:off x="3829050" y="2362200"/>
            <a:ext cx="4505325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lang="en-US">
                <a:solidFill>
                  <a:srgbClr val="262626"/>
                </a:solidFill>
                <a:latin typeface="Manrope"/>
              </a:rPr>
              <a:t>Ahmed M. (DEMO)</a:t>
            </a:r>
          </a:p>
        </p:txBody>
      </p:sp>
      <p:pic>
        <p:nvPicPr>
          <p:cNvPr id="34" name="Picture 33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8100" y="2895600"/>
            <a:ext cx="209550" cy="209550"/>
          </a:xfrm>
          <a:prstGeom prst="rect">
            <a:avLst/>
          </a:prstGeom>
          <a:effectLst/>
        </p:spPr>
      </p:pic>
      <p:sp>
        <p:nvSpPr>
          <p:cNvPr id="35" name="TextBox 34"/>
          <p:cNvSpPr txBox="1"/>
          <p:nvPr/>
        </p:nvSpPr>
        <p:spPr>
          <a:xfrm>
            <a:off x="4219575" y="2857500"/>
            <a:ext cx="3152775" cy="3238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63025" y="2362200"/>
            <a:ext cx="2466975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Concrete Icons Club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3025" y="2705100"/>
            <a:ext cx="2466975" cy="342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68645E"/>
                </a:solidFill>
                <a:latin typeface="Manrope"/>
              </a:rPr>
              <a:t>Segment not available</a:t>
            </a:r>
          </a:p>
        </p:txBody>
      </p:sp>
      <p:pic>
        <p:nvPicPr>
          <p:cNvPr id="38" name="Picture 37" descr="icon-mai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86650" y="3248025"/>
            <a:ext cx="200025" cy="200025"/>
          </a:xfrm>
          <a:prstGeom prst="rect">
            <a:avLst/>
          </a:prstGeom>
          <a:effectLst/>
        </p:spPr>
      </p:pic>
      <p:sp>
        <p:nvSpPr>
          <p:cNvPr id="39" name="TextBox 38"/>
          <p:cNvSpPr txBox="1"/>
          <p:nvPr/>
        </p:nvSpPr>
        <p:spPr>
          <a:xfrm>
            <a:off x="7867650" y="3209925"/>
            <a:ext cx="352425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68645E"/>
                </a:solidFill>
                <a:latin typeface="Manrope"/>
              </a:rPr>
              <a:t>Not available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29050" y="3238500"/>
            <a:ext cx="3495675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Associated record · Not identity proof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19450" y="3571875"/>
            <a:ext cx="8296275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icon-lock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67075" y="3943350"/>
            <a:ext cx="266700" cy="266700"/>
          </a:xfrm>
          <a:prstGeom prst="rect">
            <a:avLst/>
          </a:prstGeom>
          <a:effectLst/>
        </p:spPr>
      </p:pic>
      <p:sp>
        <p:nvSpPr>
          <p:cNvPr id="43" name="TextBox 42"/>
          <p:cNvSpPr txBox="1"/>
          <p:nvPr/>
        </p:nvSpPr>
        <p:spPr>
          <a:xfrm>
            <a:off x="3724275" y="3933825"/>
            <a:ext cx="7648575" cy="7239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0" lang="en-US">
                <a:solidFill>
                  <a:srgbClr val="68645E"/>
                </a:solidFill>
                <a:latin typeface="Manrope"/>
              </a:rPr>
              <a:t>Unavailable or unlinked data is not guessed.</a:t>
            </a:r>
          </a:p>
          <a:p>
            <a:pPr algn="l" rtl="0">
              <a:lnSpc>
                <a:spcPts val="1932"/>
              </a:lnSpc>
              <a:spcBef>
                <a:spcPts val="0"/>
              </a:spcBef>
              <a:spcAft>
                <a:spcPts val="0"/>
              </a:spcAft>
            </a:pPr>
            <a:r>
              <a:rPr sz="1725" b="0" lang="en-US">
                <a:solidFill>
                  <a:srgbClr val="68645E"/>
                </a:solidFill>
                <a:latin typeface="Manrope"/>
              </a:rPr>
              <a:t>History and note permissions still apply.</a:t>
            </a:r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r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8762"/>
            <a:ext cx="409575" cy="273050"/>
          </a:xfrm>
          <a:prstGeom prst="rect">
            <a:avLst/>
          </a:prstGeom>
          <a:effectLst/>
        </p:spPr>
      </p:pic>
      <p:sp>
        <p:nvSpPr>
          <p:cNvPr id="3" name="TextBox 2"/>
          <p:cNvSpPr txBox="1"/>
          <p:nvPr/>
        </p:nvSpPr>
        <p:spPr>
          <a:xfrm>
            <a:off x="990600" y="276225"/>
            <a:ext cx="2428875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1" lang="en-US">
                <a:solidFill>
                  <a:srgbClr val="262626"/>
                </a:solidFill>
                <a:latin typeface="Manrope"/>
              </a:rPr>
              <a:t>GRINDCTRL × Concrete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86500" y="276225"/>
            <a:ext cx="5448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344"/>
              </a:lnSpc>
              <a:spcBef>
                <a:spcPts val="0"/>
              </a:spcBef>
              <a:spcAft>
                <a:spcPts val="0"/>
              </a:spcAft>
            </a:pPr>
            <a:r>
              <a:rPr sz="1200" b="0" lang="en-US">
                <a:solidFill>
                  <a:srgbClr val="68645E"/>
                </a:solidFill>
                <a:latin typeface="Manrope"/>
              </a:rPr>
              <a:t>Part 03 · Safe exception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95350"/>
            <a:ext cx="1127760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3192"/>
              </a:lnSpc>
              <a:spcBef>
                <a:spcPts val="0"/>
              </a:spcBef>
              <a:spcAft>
                <a:spcPts val="0"/>
              </a:spcAft>
            </a:pPr>
            <a:r>
              <a:rPr sz="2850" b="1" lang="en-US">
                <a:solidFill>
                  <a:srgbClr val="262626"/>
                </a:solidFill>
                <a:latin typeface="Manrope"/>
              </a:rPr>
              <a:t>Lookup unavailable; the call continues.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6381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57200" y="6505575"/>
            <a:ext cx="10287000" cy="2286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Proposed experience · Synthetic records · Native UI, sources and recording behavior to validate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15650" y="6505575"/>
            <a:ext cx="81915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Appendix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383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EDEAE4"/>
          </a:solidFill>
          <a:ln w="9525">
            <a:solidFill>
              <a:srgbClr val="EDEA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1600200"/>
            <a:ext cx="11277600" cy="4552950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9525">
            <a:solidFill>
              <a:srgbClr val="E6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enesy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1786247"/>
            <a:ext cx="1219200" cy="237506"/>
          </a:xfrm>
          <a:prstGeom prst="rect">
            <a:avLst/>
          </a:prstGeom>
          <a:effectLst/>
        </p:spPr>
      </p:pic>
      <p:sp>
        <p:nvSpPr>
          <p:cNvPr id="12" name="TextBox 11"/>
          <p:cNvSpPr txBox="1"/>
          <p:nvPr/>
        </p:nvSpPr>
        <p:spPr>
          <a:xfrm>
            <a:off x="2171700" y="1790700"/>
            <a:ext cx="21717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Interaction workspace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1790700"/>
            <a:ext cx="451485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r" rtl="0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lang="en-US">
                <a:solidFill>
                  <a:srgbClr val="262626"/>
                </a:solidFill>
                <a:latin typeface="Manrope"/>
              </a:rPr>
              <a:t>Customer 360° · Illustrative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2190750"/>
            <a:ext cx="11277600" cy="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971800" y="2190750"/>
            <a:ext cx="0" cy="3962400"/>
          </a:xfrm>
          <a:prstGeom prst="line">
            <a:avLst/>
          </a:prstGeom>
          <a:ln w="9525">
            <a:solidFill>
              <a:srgbClr val="E6E3D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666750" y="2514600"/>
            <a:ext cx="619125" cy="619125"/>
          </a:xfrm>
          <a:prstGeom prst="ellipse">
            <a:avLst/>
          </a:prstGeom>
          <a:solidFill>
            <a:srgbClr val="EFF4EE"/>
          </a:solidFill>
          <a:ln w="9525">
            <a:solidFill>
              <a:srgbClr val="EFF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con-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725" y="2695575"/>
            <a:ext cx="257175" cy="257175"/>
          </a:xfrm>
          <a:prstGeom prst="rect">
            <a:avLst/>
          </a:prstGeom>
          <a:effectLst/>
        </p:spPr>
      </p:pic>
      <p:sp>
        <p:nvSpPr>
          <p:cNvPr id="18" name="TextBox 17"/>
          <p:cNvSpPr txBox="1"/>
          <p:nvPr/>
        </p:nvSpPr>
        <p:spPr>
          <a:xfrm>
            <a:off x="666750" y="3286125"/>
            <a:ext cx="211455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Caller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3648075"/>
            <a:ext cx="2133600" cy="3905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1" lang="en-US">
                <a:solidFill>
                  <a:srgbClr val="262626"/>
                </a:solidFill>
                <a:latin typeface="Manrope"/>
              </a:rPr>
              <a:t>+20 10 •••• 4821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4171950"/>
            <a:ext cx="2133600" cy="29527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764"/>
              </a:lnSpc>
              <a:spcBef>
                <a:spcPts val="0"/>
              </a:spcBef>
              <a:spcAft>
                <a:spcPts val="0"/>
              </a:spcAft>
            </a:pPr>
            <a:r>
              <a:rPr sz="1575" b="1" lang="en-US">
                <a:solidFill>
                  <a:srgbClr val="49654E"/>
                </a:solidFill>
                <a:latin typeface="Manrope"/>
              </a:rPr>
              <a:t>Call active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750" y="4533900"/>
            <a:ext cx="2133600" cy="2762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96"/>
              </a:lnSpc>
              <a:spcBef>
                <a:spcPts val="0"/>
              </a:spcBef>
              <a:spcAft>
                <a:spcPts val="0"/>
              </a:spcAft>
            </a:pPr>
            <a:r>
              <a:rPr sz="1425" b="0" lang="en-US">
                <a:solidFill>
                  <a:srgbClr val="262626"/>
                </a:solidFill>
                <a:latin typeface="Manrope"/>
              </a:rPr>
              <a:t>Agent 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750" y="4848225"/>
            <a:ext cx="2133600" cy="238125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512"/>
              </a:lnSpc>
              <a:spcBef>
                <a:spcPts val="0"/>
              </a:spcBef>
              <a:spcAft>
                <a:spcPts val="0"/>
              </a:spcAft>
            </a:pPr>
            <a:r>
              <a:rPr sz="1350" b="0" lang="en-US">
                <a:solidFill>
                  <a:srgbClr val="68645E"/>
                </a:solidFill>
                <a:latin typeface="Manrope"/>
              </a:rPr>
              <a:t>DEMO-1012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750" y="5143500"/>
            <a:ext cx="2133600" cy="2095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sz="1125" b="0" lang="en-US">
                <a:solidFill>
                  <a:srgbClr val="68645E"/>
                </a:solidFill>
                <a:latin typeface="Manrope"/>
              </a:rPr>
              <a:t>12 Oct · 10:24</a:t>
            </a:r>
          </a:p>
        </p:txBody>
      </p:sp>
      <p:sp>
        <p:nvSpPr>
          <p:cNvPr id="24" name="Oval 23"/>
          <p:cNvSpPr/>
          <p:nvPr/>
        </p:nvSpPr>
        <p:spPr>
          <a:xfrm>
            <a:off x="6667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con-mi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486400"/>
            <a:ext cx="190500" cy="190500"/>
          </a:xfrm>
          <a:prstGeom prst="rect">
            <a:avLst/>
          </a:prstGeom>
          <a:effectLst/>
        </p:spPr>
      </p:pic>
      <p:sp>
        <p:nvSpPr>
          <p:cNvPr id="26" name="Oval 25"/>
          <p:cNvSpPr/>
          <p:nvPr/>
        </p:nvSpPr>
        <p:spPr>
          <a:xfrm>
            <a:off x="12763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pau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81125" y="5486400"/>
            <a:ext cx="190500" cy="190500"/>
          </a:xfrm>
          <a:prstGeom prst="rect">
            <a:avLst/>
          </a:prstGeom>
          <a:effectLst/>
        </p:spPr>
      </p:pic>
      <p:sp>
        <p:nvSpPr>
          <p:cNvPr id="28" name="Oval 27"/>
          <p:cNvSpPr/>
          <p:nvPr/>
        </p:nvSpPr>
        <p:spPr>
          <a:xfrm>
            <a:off x="1885950" y="5381625"/>
            <a:ext cx="400050" cy="400050"/>
          </a:xfrm>
          <a:prstGeom prst="ellipse">
            <a:avLst/>
          </a:prstGeom>
          <a:solidFill>
            <a:srgbClr val="F4F2EE"/>
          </a:solidFill>
          <a:ln w="9525">
            <a:solidFill>
              <a:srgbClr val="F4F2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icon-en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90725" y="5486400"/>
            <a:ext cx="190500" cy="190500"/>
          </a:xfrm>
          <a:prstGeom prst="rect">
            <a:avLst/>
          </a:prstGeom>
          <a:effectLst/>
        </p:spPr>
      </p:pic>
      <p:sp>
        <p:nvSpPr>
          <p:cNvPr id="30" name="TextBox 29"/>
          <p:cNvSpPr txBox="1"/>
          <p:nvPr/>
        </p:nvSpPr>
        <p:spPr>
          <a:xfrm>
            <a:off x="666750" y="5915025"/>
            <a:ext cx="2133600" cy="1905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176"/>
              </a:lnSpc>
              <a:spcBef>
                <a:spcPts val="0"/>
              </a:spcBef>
              <a:spcAft>
                <a:spcPts val="0"/>
              </a:spcAft>
            </a:pPr>
            <a:r>
              <a:rPr sz="1050" b="0" lang="en-US">
                <a:solidFill>
                  <a:srgbClr val="68645E"/>
                </a:solidFill>
                <a:latin typeface="Manrope"/>
              </a:rPr>
              <a:t>Fictional interaction</a:t>
            </a:r>
          </a:p>
        </p:txBody>
      </p:sp>
      <p:pic>
        <p:nvPicPr>
          <p:cNvPr id="31" name="Picture 30" descr="icon-warni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38525" y="2733675"/>
            <a:ext cx="409575" cy="409575"/>
          </a:xfrm>
          <a:prstGeom prst="rect">
            <a:avLst/>
          </a:prstGeom>
          <a:effectLst/>
        </p:spPr>
      </p:pic>
      <p:sp>
        <p:nvSpPr>
          <p:cNvPr id="32" name="TextBox 31"/>
          <p:cNvSpPr txBox="1"/>
          <p:nvPr/>
        </p:nvSpPr>
        <p:spPr>
          <a:xfrm>
            <a:off x="4095750" y="2733675"/>
            <a:ext cx="6953250" cy="49530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lang="en-US">
                <a:solidFill>
                  <a:srgbClr val="262626"/>
                </a:solidFill>
                <a:latin typeface="Manrope"/>
              </a:rPr>
              <a:t>Lookup unavailable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38525" y="3476625"/>
            <a:ext cx="7820025" cy="742950"/>
          </a:xfrm>
          <a:prstGeom prst="rect">
            <a:avLst/>
          </a:prstGeom>
          <a:noFill/>
          <a:effectLst/>
        </p:spPr>
        <p:txBody>
          <a:bodyPr wrap="square" lIns="0" rIns="0" tIns="0" bIns="0" anchor="t">
            <a:spAutoFit/>
          </a:bodyPr>
          <a:lstStyle/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68645E"/>
                </a:solidFill>
                <a:latin typeface="Manrope"/>
              </a:rPr>
              <a:t>Availability error · Not an empty call history.</a:t>
            </a:r>
          </a:p>
          <a:p>
            <a:pPr algn="l" rtl="0">
              <a:lnSpc>
                <a:spcPts val="1848"/>
              </a:lnSpc>
              <a:spcBef>
                <a:spcPts val="0"/>
              </a:spcBef>
              <a:spcAft>
                <a:spcPts val="0"/>
              </a:spcAft>
            </a:pPr>
            <a:r>
              <a:rPr sz="1650" b="0" lang="en-US">
                <a:solidFill>
                  <a:srgbClr val="68645E"/>
                </a:solidFill>
                <a:latin typeface="Manrope"/>
              </a:rPr>
              <a:t>The active call continues.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125" y="4114800"/>
            <a:ext cx="2200275" cy="381000"/>
          </a:xfrm>
          <a:prstGeom prst="roundRect">
            <a:avLst>
              <a:gd name="adj" fmla="val 10000"/>
            </a:avLst>
          </a:prstGeom>
          <a:noFill/>
          <a:ln w="19050">
            <a:solidFill>
              <a:srgbClr val="FFBA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 advClick="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/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GRINDCTRL × Concrete — Part 03: Customer 360° call experience</dc:title>
  <dc:subject>Customer 360 call experience and source-linked human interaction notes. Proposed workflow; synthetic records.</dc:subject>
  <dc:creator>GRINDCTRL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