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art03_Corrected_Master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C001 · 0.000–0.918s · في الفيديو الأول،</a:t>
            </a:r>
          </a:p>
          <a:p/>
          <a:p>
            <a:r>
              <a:t>C002 · 1.083–5.786s · شوفنا إزاي نقدر نخلي الـAgent يبدأ المكالمة وهو شايف الـCustomer Context،</a:t>
            </a:r>
          </a:p>
          <a:p/>
          <a:p>
            <a:r>
              <a:t>C003 · 5.940–6.861s · والـTickets السابقة،</a:t>
            </a:r>
          </a:p>
          <a:p/>
          <a:p>
            <a:r>
              <a:t>C004 · 7.439–9.502s · بدل ما يضطر يدور على كل حاجة بنفسه.</a:t>
            </a:r>
          </a:p>
          <a:p/>
          <a:p>
            <a:r>
              <a:t>C005 · 10.034–10.889s · وفي الفيديو التاني،</a:t>
            </a:r>
          </a:p>
          <a:p/>
          <a:p>
            <a:r>
              <a:t>C006 · 11.282–13.098s · دخلنا أكتر في تفاصيل الـWorkflow،</a:t>
            </a:r>
          </a:p>
          <a:p/>
          <a:p>
            <a:r>
              <a:t>C007 · 13.436–14.896s · وشوفنا إزاي الـLookup بيتم،</a:t>
            </a:r>
          </a:p>
          <a:p/>
          <a:p>
            <a:r>
              <a:t>C008 · 15.320–17.770s · وإزاي الـAgent يقدر يتابع الـCases المختلفة.</a:t>
            </a:r>
          </a:p>
          <a:p/>
          <a:p>
            <a:r>
              <a:t>C009 · 18.462–18.967s · النهارده،</a:t>
            </a:r>
          </a:p>
          <a:p/>
          <a:p>
            <a:r>
              <a:t>C010 · 19.168–20.281s · هنكمل خطوة أبعد،</a:t>
            </a:r>
          </a:p>
          <a:p/>
          <a:p>
            <a:r>
              <a:t>C011 · 20.516–23.526s · بفكرة جاية من احتياج فريق المبيعات في Concrete نفسه.</a:t>
            </a:r>
          </a:p>
          <a:p/>
          <a:p>
            <a:r>
              <a:t>C012 · 24.130–25.918s · تخيلوا إن أول ما الـCall توصل،</a:t>
            </a:r>
          </a:p>
          <a:p/>
          <a:p>
            <a:r>
              <a:t>C013 · 26.213–29.011s · الـAgent يلاقي قدامه مش بس الـTickets السابقة،</a:t>
            </a:r>
          </a:p>
          <a:p/>
          <a:p>
            <a:r>
              <a:t>C014 · 29.527–31.751s · لكن كمان الـCustomer Profile بالكامل،</a:t>
            </a:r>
          </a:p>
          <a:p/>
          <a:p>
            <a:r>
              <a:t>C015 · 32.191–35.005s · وتاريخ كل المكالمات اللي حصلت مع العميل قبل كده،</a:t>
            </a:r>
          </a:p>
          <a:p/>
          <a:p>
            <a:r>
              <a:t>C016 · 35.424–37.376s · والـNotes اللي اتكتبت خلال كل مكالمة.</a:t>
            </a:r>
          </a:p>
          <a:p/>
          <a:p>
            <a:r>
              <a:t>C017 · 38.081–39.626s · خلينا نشوف التجربة دي بالتفصيل.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C018 · 40.432–42.961s · أول ما العميل يتصل على الـHotline بتاع Concrete،</a:t>
            </a:r>
          </a:p>
          <a:p/>
          <a:p>
            <a:r>
              <a:t>C019 · 43.256–45.354s · الـCall بتوصل للـAgent على Genesys.</a:t>
            </a:r>
          </a:p>
          <a:p/>
          <a:p>
            <a:r>
              <a:t>C020 · 45.795–46.483s · وفي اللحظة دي،</a:t>
            </a:r>
          </a:p>
          <a:p/>
          <a:p>
            <a:r>
              <a:t>C021 · 46.744–49.229s · بنقترح إن النظام يستخدم رقم المتصل،</a:t>
            </a:r>
          </a:p>
          <a:p/>
          <a:p>
            <a:r>
              <a:t>C022 · 49.635–52.797s · عشان يعمل Automatic Lookup عن الـCustomer Record المناسب.</a:t>
            </a:r>
          </a:p>
          <a:p/>
          <a:p>
            <a:r>
              <a:t>C023 · 53.272–55.672s · وبمجرد ما يتم تحديد الـCustomer الصحيح،</a:t>
            </a:r>
          </a:p>
          <a:p/>
          <a:p>
            <a:r>
              <a:t>C024 · 56.092–58.572s · يظهر قدام الموظف أربع معلومات أساسية.</a:t>
            </a:r>
          </a:p>
          <a:p/>
          <a:p>
            <a:r>
              <a:t>C025 · 59.154–59.764s · أول حاجة،</a:t>
            </a:r>
          </a:p>
          <a:p/>
          <a:p>
            <a:r>
              <a:t>C026 · 59.975–60.694s · الـMobile Number.</a:t>
            </a:r>
          </a:p>
          <a:p/>
          <a:p>
            <a:r>
              <a:t>C027 · 61.227–61.794s · تاني حاجة،</a:t>
            </a:r>
          </a:p>
          <a:p/>
          <a:p>
            <a:r>
              <a:t>C028 · 62.010–62.763s · الـCustomer Name.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C029 · 63.227–63.838s · تالت حاجة،</a:t>
            </a:r>
          </a:p>
          <a:p/>
          <a:p>
            <a:r>
              <a:t>C030 · 63.992–65.018s · الـCustomer Segment،</a:t>
            </a:r>
          </a:p>
          <a:p/>
          <a:p>
            <a:r>
              <a:t>C031 · 65.220–67.994s · سواء كان Lifestyle أو Prestige أو Elite،</a:t>
            </a:r>
          </a:p>
          <a:p/>
          <a:p>
            <a:r>
              <a:t>C032 · 68.385–71.825s · حسب الـMembership Level المسجل للعميل في Concrete Icons Club.</a:t>
            </a:r>
          </a:p>
          <a:p/>
          <a:p>
            <a:r>
              <a:t>C033 · 72.237–72.960s · ورابع حاجة،</a:t>
            </a:r>
          </a:p>
          <a:p/>
          <a:p>
            <a:r>
              <a:t>C034 · 73.153–75.916s · الـEmail Address، لو موجود بالفعل في بيانات العميل.</a:t>
            </a:r>
          </a:p>
          <a:p/>
          <a:p>
            <a:r>
              <a:t>C035 · 76.606–80.782s · كل المعلومات دي هتبقى متجمعة في Customer Profile واضح ومنظم،</a:t>
            </a:r>
          </a:p>
          <a:p/>
          <a:p>
            <a:r>
              <a:t>C036 · 80.977–83.701s · وسهل جدًا إن الموظف يقراه أثناء المكالمة.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C037 · 84.242–87.345s · لكن القيمة الحقيقية مش بس إننا نعرف مين العميل.</a:t>
            </a:r>
          </a:p>
          <a:p/>
          <a:p>
            <a:r>
              <a:t>C038 · 87.980–88.805s · القيمة الأكبر،</a:t>
            </a:r>
          </a:p>
          <a:p/>
          <a:p>
            <a:r>
              <a:t>C039 · 89.059–91.133s · إننا نعرف إيه اللي حصل معاه قبل كده.</a:t>
            </a:r>
          </a:p>
          <a:p/>
          <a:p>
            <a:r>
              <a:t>C040 · 91.730–92.089s · وهنا،</a:t>
            </a:r>
          </a:p>
          <a:p/>
          <a:p>
            <a:r>
              <a:t>C041 · 92.245–93.561s · بييجي دور الـCall Activity.</a:t>
            </a:r>
          </a:p>
          <a:p/>
          <a:p>
            <a:r>
              <a:t>C042 · 94.135–97.995s · بدل ما الموظف يشوف مجرد قايمة بأرقام أو تواريخ مكالمات،</a:t>
            </a:r>
          </a:p>
          <a:p/>
          <a:p>
            <a:r>
              <a:t>C043 · 98.406–100.687s · بنقترح إنه يشوف Timeline واضحة،</a:t>
            </a:r>
          </a:p>
          <a:p/>
          <a:p>
            <a:r>
              <a:t>C044 · 100.933–103.219s · فيها كل الـPrevious Calls المتاحة للعميل.</a:t>
            </a:r>
          </a:p>
          <a:p/>
          <a:p>
            <a:r>
              <a:t>C045 · 103.771–105.973s · كل Call يكون لها تاريخها ووقتها،</a:t>
            </a:r>
          </a:p>
          <a:p/>
          <a:p>
            <a:r>
              <a:t>C046 · 106.275–109.014s · والـAgent اللي اتعامل معاها، لو البيانات دي متسجلة.</a:t>
            </a:r>
          </a:p>
          <a:p/>
          <a:p>
            <a:r>
              <a:t>C047 · 109.487–109.997s · والأهم،</a:t>
            </a:r>
          </a:p>
          <a:p/>
          <a:p>
            <a:r>
              <a:t>C048 · 110.344–112.369s · الـNotes الخاصة بالمكالمة دي تحديدًا.</a:t>
            </a:r>
          </a:p>
          <a:p/>
          <a:p>
            <a:r>
              <a:t>C049 · 113.020–116.816s · يعني كل مكالمة لها الـHistory بتاعتها والـNotes اللي اتكتبت فيها،</a:t>
            </a:r>
          </a:p>
          <a:p/>
          <a:p>
            <a:r>
              <a:t>C050 · 117.169–118.049s · بشكل منفصل،</a:t>
            </a:r>
          </a:p>
          <a:p/>
          <a:p>
            <a:r>
              <a:t>C051 · 118.243–118.723s · ومنظم.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C052 · 119.347–120.512s · خلينا ناخد مثال عملي.</a:t>
            </a:r>
          </a:p>
          <a:p/>
          <a:p>
            <a:r>
              <a:t>C053 · 121.070–125.098s · عميل من الـElite Segment اتصل الأسبوع اللي فات بخصوص Exchange Request.</a:t>
            </a:r>
          </a:p>
          <a:p/>
          <a:p>
            <a:r>
              <a:t>C054 · 125.658–126.453s · خلال المكالمة،</a:t>
            </a:r>
          </a:p>
          <a:p/>
          <a:p>
            <a:r>
              <a:t>C055 · 126.692–129.651s · الـAgent كتب Note إن الطلب محتاج مراجعة من الفرع،</a:t>
            </a:r>
          </a:p>
          <a:p/>
          <a:p>
            <a:r>
              <a:t>C056 · 129.944–131.186s · وإن فيه Follow-up مطلوب.</a:t>
            </a:r>
          </a:p>
          <a:p/>
          <a:p>
            <a:r>
              <a:t>C057 · 131.707–132.203s · النهارده،</a:t>
            </a:r>
          </a:p>
          <a:p/>
          <a:p>
            <a:r>
              <a:t>C058 · 132.371–135.099s · نفس العميل بيتصل تاني يسأل عن آخر Update.</a:t>
            </a:r>
          </a:p>
          <a:p/>
          <a:p>
            <a:r>
              <a:t>C059 · 135.743–139.089s · بدل ما الموظف الجديد يبدأ يسأله عن كل التفاصيل من الأول،</a:t>
            </a:r>
          </a:p>
          <a:p/>
          <a:p>
            <a:r>
              <a:t>C060 · 139.535–140.986s · يقدر يفتح الـPrevious Call،</a:t>
            </a:r>
          </a:p>
          <a:p/>
          <a:p>
            <a:r>
              <a:t>C061 · 141.159–142.641s · ويشوف الـNote اللي زميله كتبها.</a:t>
            </a:r>
          </a:p>
          <a:p/>
          <a:p>
            <a:r>
              <a:t>C062 · 143.145–144.865s · يعرف العميل كان بيتكلم في إيه،</a:t>
            </a:r>
          </a:p>
          <a:p/>
          <a:p>
            <a:r>
              <a:t>C063 · 145.117–146.492s · وإيه آخر خطوة تسجلت،</a:t>
            </a:r>
          </a:p>
          <a:p/>
          <a:p>
            <a:r>
              <a:t>C064 · 147.009–148.488s · وإيه الموضوع اللي محتاج Follow-up.</a:t>
            </a:r>
          </a:p>
          <a:p/>
          <a:p>
            <a:r>
              <a:t>C065 · 149.065–149.600s · وبالتالي،</a:t>
            </a:r>
          </a:p>
          <a:p/>
          <a:p>
            <a:r>
              <a:t>C066 · 149.823–152.159s · يبدأ المحادثة وهو فاهم الـContext،</a:t>
            </a:r>
          </a:p>
          <a:p/>
          <a:p>
            <a:r>
              <a:t>C067 · 152.312–155.093s · من غير ما العميل يضطر يعيد نفس الشرح كل مرة.</a:t>
            </a:r>
          </a:p>
          <a:p/>
          <a:p>
            <a:r>
              <a:t>C068 · 155.614–156.064s · وطبعًا،</a:t>
            </a:r>
          </a:p>
          <a:p/>
          <a:p>
            <a:r>
              <a:t>C069 · 156.284–158.239s · الـNote بتوضح اللي تسجل في المكالمة،</a:t>
            </a:r>
          </a:p>
          <a:p/>
          <a:p>
            <a:r>
              <a:t>C070 · 158.528–161.197s · مش بالضرورة إن الإجراء المطلوب اتنفذ بالفعل.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C071 · 162.408–165.127s · خلينا نشوف إيه اللي هيحصل أثناء الـCurrent Call نفسها.</a:t>
            </a:r>
          </a:p>
          <a:p/>
          <a:p>
            <a:r>
              <a:t>C072 · 165.691–167.256s · الـAgent بيتكلم مع العميل،</a:t>
            </a:r>
          </a:p>
          <a:p/>
          <a:p>
            <a:r>
              <a:t>C073 · 167.436–170.985s · وفي نفس الوقت يقدر يسجل Notes جديدة عن تفاصيل المحادثة،</a:t>
            </a:r>
          </a:p>
          <a:p/>
          <a:p>
            <a:r>
              <a:t>C074 · 171.157–172.819s · والإجراء اللي تم الاتفاق عليه،</a:t>
            </a:r>
          </a:p>
          <a:p/>
          <a:p>
            <a:r>
              <a:t>C075 · 173.020–174.209s · أو الـFollow-up المطلوب.</a:t>
            </a:r>
          </a:p>
          <a:p/>
          <a:p>
            <a:r>
              <a:t>C076 · 174.470–175.789s · وبعد ما الـCall تخلص،</a:t>
            </a:r>
          </a:p>
          <a:p/>
          <a:p>
            <a:r>
              <a:t>C077 · 175.966–178.900s · الملاحظات تتحفظ مرتبطة بنفس الـCall Activity،</a:t>
            </a:r>
          </a:p>
          <a:p/>
          <a:p>
            <a:r>
              <a:t>C078 · 179.246–181.953s · حسب طريقة التسجيل والـIntegration اللي هنعتمدها.</a:t>
            </a:r>
          </a:p>
          <a:p/>
          <a:p>
            <a:r>
              <a:t>C079 · 182.373–184.002s · ولما العميل يتصل مرة تانية،</a:t>
            </a:r>
          </a:p>
          <a:p/>
          <a:p>
            <a:r>
              <a:t>C080 · 184.327–187.043s · الـAgent التالي يقدر يرجع للـPrevious Calls،</a:t>
            </a:r>
          </a:p>
          <a:p/>
          <a:p>
            <a:r>
              <a:t>C081 · 187.326–189.333s · ويشوف الـNotes الخاصة بكل مكالمة،</a:t>
            </a:r>
          </a:p>
          <a:p/>
          <a:p>
            <a:r>
              <a:t>C082 · 189.598–191.072s · حسب الصلاحيات المتاحة له.</a:t>
            </a:r>
          </a:p>
          <a:p/>
          <a:p>
            <a:r>
              <a:t>C083 · 191.395–193.620s · يعني بدل ما كل مكالمة تبدأ من الصفر،</a:t>
            </a:r>
          </a:p>
          <a:p/>
          <a:p>
            <a:r>
              <a:t>C084 · 193.962–194.566s · كل Call،</a:t>
            </a:r>
          </a:p>
          <a:p/>
          <a:p>
            <a:r>
              <a:t>C085 · 194.719–197.101s · بتضيف معلومات تساعد في المكالمة اللي بعدها.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C086 · 197.489–201.551s · وفي نفس الوقت لازم التجربة تتعامل بشكل واضح مع الحالات المختلفة.</a:t>
            </a:r>
          </a:p>
          <a:p/>
          <a:p>
            <a:r>
              <a:t>C087 · 202.023–203.454s · لو رقم العميل مش موجود،</a:t>
            </a:r>
          </a:p>
          <a:p/>
          <a:p>
            <a:r>
              <a:t>C088 · 203.733–205.774s · الـAgent يقدر يعمل Manual Search.</a:t>
            </a:r>
          </a:p>
          <a:p/>
          <a:p>
            <a:r>
              <a:t>C089 · 206.083–208.466s · ولو نفس الرقم مرتبط بأكتر من Customer،</a:t>
            </a:r>
          </a:p>
          <a:p/>
          <a:p>
            <a:r>
              <a:t>C090 · 208.808–211.608s · الموظف يراجع الـPossible Matches،</a:t>
            </a:r>
          </a:p>
          <a:p/>
          <a:p>
            <a:r>
              <a:t>C091 · 211.807–214.465s · ويحدد الـRecord الصحيح بعد التحقق المطلوب.</a:t>
            </a:r>
          </a:p>
          <a:p/>
          <a:p>
            <a:r>
              <a:t>C092 · 214.889–216.858s · ولو الـEmail أو الـSegment مش متاحة،</a:t>
            </a:r>
          </a:p>
          <a:p/>
          <a:p>
            <a:r>
              <a:t>C093 · 217.191–219.356s · النظام يوضح إن المعلومة مش موجودة،</a:t>
            </a:r>
          </a:p>
          <a:p/>
          <a:p>
            <a:r>
              <a:t>C094 · 219.587–221.347s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C095 · 222.299–225.926s · إزاي هنطبق التجربة دي على الأنظمة الموجودة بالفعل في Concrete؟</a:t>
            </a:r>
          </a:p>
          <a:p/>
          <a:p>
            <a:r>
              <a:t>C096 · 226.322–228.214s · هنبدأ بمراجعة الـGenesys Setup،</a:t>
            </a:r>
          </a:p>
          <a:p/>
          <a:p>
            <a:r>
              <a:t>C097 · 228.366–229.372s · والـZoho Integration،</a:t>
            </a:r>
          </a:p>
          <a:p/>
          <a:p>
            <a:r>
              <a:t>C098 · 229.726–232.790s · ونحدد مكان تخزين الـCall Activities والـAgent Notes،</a:t>
            </a:r>
          </a:p>
          <a:p/>
          <a:p>
            <a:r>
              <a:t>C099 · 233.057–234.889s · ومصدر بيانات الـCustomer Segment.</a:t>
            </a:r>
          </a:p>
          <a:p/>
          <a:p>
            <a:r>
              <a:t>C100 · 235.187–235.651s · بعدها،</a:t>
            </a:r>
          </a:p>
          <a:p/>
          <a:p>
            <a:r>
              <a:t>C101 · 235.857–238.633s · نشوف إيه اللي نقدر نستخدمه من الـNative Features الموجودة،</a:t>
            </a:r>
          </a:p>
          <a:p/>
          <a:p>
            <a:r>
              <a:t>C102 · 238.901–240.755s · وإيه اللي محتاج Integration إضافية،</a:t>
            </a:r>
          </a:p>
          <a:p/>
          <a:p>
            <a:r>
              <a:t>C103 · 240.998–243.204s · من غير ما نبني System جديد لو مش محتاجينه.</a:t>
            </a:r>
          </a:p>
          <a:p/>
          <a:p>
            <a:r>
              <a:t>C104 · 243.546–245.957s · وهنختبر التجربة باستخدام Test Calls،</a:t>
            </a:r>
          </a:p>
          <a:p/>
          <a:p>
            <a:r>
              <a:t>C105 · 246.137–249.115s · عشان نتأكد إن بيانات العميل بتظهر بشكل صحيح،</a:t>
            </a:r>
          </a:p>
          <a:p/>
          <a:p>
            <a:r>
              <a:t>C106 · 249.421–251.905s · وإن كل Call مرتبطة بالـNotes الخاصة بيها،</a:t>
            </a:r>
          </a:p>
          <a:p/>
          <a:p>
            <a:r>
              <a:t>C107 · 252.287–255.664s · وإن المعلومات بتوصل للـAgent المناسب بصلاحيات واضحة.</a:t>
            </a:r>
          </a:p>
          <a:p/>
          <a:p>
            <a:r>
              <a:t>C108 · 256.030–256.685s · وفي النهاية،</a:t>
            </a:r>
          </a:p>
          <a:p/>
          <a:p>
            <a:r>
              <a:t>C109 · 256.924–259.606s · إحنا مش بنتكلم عن مجرد شاشة فيها بيانات أكتر.</a:t>
            </a:r>
          </a:p>
          <a:p/>
          <a:p>
            <a:r>
              <a:t>C110 · 259.970–263.103s · إحنا بنتكلم عن تجربة بتساعد موظف خدمة العملاء،</a:t>
            </a:r>
          </a:p>
          <a:p/>
          <a:p>
            <a:r>
              <a:t>C111 · 263.312–264.357s · يعرف مين العميل،</a:t>
            </a:r>
          </a:p>
          <a:p/>
          <a:p>
            <a:r>
              <a:t>C112 · 264.583–265.594s · ومستوى عضويته،</a:t>
            </a:r>
          </a:p>
          <a:p/>
          <a:p>
            <a:r>
              <a:t>C113 · 265.816–269.177s · وتاريخ تواصله مع الشركة وآخر ملاحظات تسجلت عنه.</a:t>
            </a:r>
          </a:p>
          <a:p/>
          <a:p>
            <a:r>
              <a:t>C114 · 269.472–272.121s · وده يفتح فرصة حقيقية لتحسين الـFollow-up،</a:t>
            </a:r>
          </a:p>
          <a:p/>
          <a:p>
            <a:r>
              <a:t>C115 · 272.345–273.691s · وتسهيل شغل الـAgents،</a:t>
            </a:r>
          </a:p>
          <a:p/>
          <a:p>
            <a:r>
              <a:t>C116 · 273.898–277.150s · وتقديم Customer Experience أكتر تنظيمًا واستمرارية.</a:t>
            </a:r>
          </a:p>
          <a:p/>
          <a:p>
            <a:r>
              <a:t>C117 · 277.527–280.851s · وده بالضبط اللي GRINDCTRL بتقترح تقدمه لـConcrete:</a:t>
            </a:r>
          </a:p>
          <a:p/>
          <a:p>
            <a:r>
              <a:t>C118 · 281.167–282.355s · إن كل Call جديدة،</a:t>
            </a:r>
          </a:p>
          <a:p/>
          <a:p>
            <a:r>
              <a:t>C119 · 282.578–285.739s · تبدأ من آخر نقطة وصلت لها علاقة العميل بالشركة،</a:t>
            </a:r>
          </a:p>
          <a:p/>
          <a:p>
            <a:r>
              <a:t>C120 · 286.021–286.618s · مش من الصفر.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C071 · 162.408–165.127s · خلينا نشوف إيه اللي هيحصل أثناء الـCurrent Call نفسها.</a:t>
            </a:r>
          </a:p>
          <a:p/>
          <a:p>
            <a:r>
              <a:t>C072 · 165.691–167.256s · الـAgent بيتكلم مع العميل،</a:t>
            </a:r>
          </a:p>
          <a:p/>
          <a:p>
            <a:r>
              <a:t>C073 · 167.436–170.985s · وفي نفس الوقت يقدر يسجل Notes جديدة عن تفاصيل المحادثة،</a:t>
            </a:r>
          </a:p>
          <a:p/>
          <a:p>
            <a:r>
              <a:t>C074 · 171.157–172.819s · والإجراء اللي تم الاتفاق عليه،</a:t>
            </a:r>
          </a:p>
          <a:p/>
          <a:p>
            <a:r>
              <a:t>C075 · 173.020–174.209s · أو الـFollow-up المطلوب.</a:t>
            </a:r>
          </a:p>
          <a:p/>
          <a:p>
            <a:r>
              <a:t>C076 · 174.470–175.789s · وبعد ما الـCall تخلص،</a:t>
            </a:r>
          </a:p>
          <a:p/>
          <a:p>
            <a:r>
              <a:t>C077 · 175.966–178.900s · الملاحظات تتحفظ مرتبطة بنفس الـCall Activity،</a:t>
            </a:r>
          </a:p>
          <a:p/>
          <a:p>
            <a:r>
              <a:t>C078 · 179.246–181.953s · حسب طريقة التسجيل والـIntegration اللي هنعتمدها.</a:t>
            </a:r>
          </a:p>
          <a:p/>
          <a:p>
            <a:r>
              <a:t>C079 · 182.373–184.002s · ولما العميل يتصل مرة تانية،</a:t>
            </a:r>
          </a:p>
          <a:p/>
          <a:p>
            <a:r>
              <a:t>C080 · 184.327–187.043s · الـAgent التالي يقدر يرجع للـPrevious Calls،</a:t>
            </a:r>
          </a:p>
          <a:p/>
          <a:p>
            <a:r>
              <a:t>C081 · 187.326–189.333s · ويشوف الـNotes الخاصة بكل مكالمة،</a:t>
            </a:r>
          </a:p>
          <a:p/>
          <a:p>
            <a:r>
              <a:t>C082 · 189.598–191.072s · حسب الصلاحيات المتاحة له.</a:t>
            </a:r>
          </a:p>
          <a:p/>
          <a:p>
            <a:r>
              <a:t>C083 · 191.395–193.620s · يعني بدل ما كل مكالمة تبدأ من الصفر،</a:t>
            </a:r>
          </a:p>
          <a:p/>
          <a:p>
            <a:r>
              <a:t>C084 · 193.962–194.566s · كل Call،</a:t>
            </a:r>
          </a:p>
          <a:p/>
          <a:p>
            <a:r>
              <a:t>C085 · 194.719–197.101s · بتضيف معلومات تساعد في المكالمة اللي بعدها.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C086 · 197.489–201.551s · وفي نفس الوقت لازم التجربة تتعامل بشكل واضح مع الحالات المختلفة.</a:t>
            </a:r>
          </a:p>
          <a:p/>
          <a:p>
            <a:r>
              <a:t>C087 · 202.023–203.454s · لو رقم العميل مش موجود،</a:t>
            </a:r>
          </a:p>
          <a:p/>
          <a:p>
            <a:r>
              <a:t>C088 · 203.733–205.774s · الـAgent يقدر يعمل Manual Search.</a:t>
            </a:r>
          </a:p>
          <a:p/>
          <a:p>
            <a:r>
              <a:t>C089 · 206.083–208.466s · ولو نفس الرقم مرتبط بأكتر من Customer،</a:t>
            </a:r>
          </a:p>
          <a:p/>
          <a:p>
            <a:r>
              <a:t>C090 · 208.808–211.608s · الموظف يراجع الـPossible Matches،</a:t>
            </a:r>
          </a:p>
          <a:p/>
          <a:p>
            <a:r>
              <a:t>C091 · 211.807–214.465s · ويحدد الـRecord الصحيح بعد التحقق المطلوب.</a:t>
            </a:r>
          </a:p>
          <a:p/>
          <a:p>
            <a:r>
              <a:t>C092 · 214.889–216.858s · ولو الـEmail أو الـSegment مش متاحة،</a:t>
            </a:r>
          </a:p>
          <a:p/>
          <a:p>
            <a:r>
              <a:t>C093 · 217.191–219.356s · النظام يوضح إن المعلومة مش موجودة،</a:t>
            </a:r>
          </a:p>
          <a:p/>
          <a:p>
            <a:r>
              <a:t>C094 · 219.587–221.347s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C086 · 197.489–201.551s · وفي نفس الوقت لازم التجربة تتعامل بشكل واضح مع الحالات المختلفة.</a:t>
            </a:r>
          </a:p>
          <a:p/>
          <a:p>
            <a:r>
              <a:t>C087 · 202.023–203.454s · لو رقم العميل مش موجود،</a:t>
            </a:r>
          </a:p>
          <a:p/>
          <a:p>
            <a:r>
              <a:t>C088 · 203.733–205.774s · الـAgent يقدر يعمل Manual Search.</a:t>
            </a:r>
          </a:p>
          <a:p/>
          <a:p>
            <a:r>
              <a:t>C089 · 206.083–208.466s · ولو نفس الرقم مرتبط بأكتر من Customer،</a:t>
            </a:r>
          </a:p>
          <a:p/>
          <a:p>
            <a:r>
              <a:t>C090 · 208.808–211.608s · الموظف يراجع الـPossible Matches،</a:t>
            </a:r>
          </a:p>
          <a:p/>
          <a:p>
            <a:r>
              <a:t>C091 · 211.807–214.465s · ويحدد الـRecord الصحيح بعد التحقق المطلوب.</a:t>
            </a:r>
          </a:p>
          <a:p/>
          <a:p>
            <a:r>
              <a:t>C092 · 214.889–216.858s · ولو الـEmail أو الـSegment مش متاحة،</a:t>
            </a:r>
          </a:p>
          <a:p/>
          <a:p>
            <a:r>
              <a:t>C093 · 217.191–219.356s · النظام يوضح إن المعلومة مش موجودة،</a:t>
            </a:r>
          </a:p>
          <a:p/>
          <a:p>
            <a:r>
              <a:t>C094 · 219.587–221.347s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C086 · 197.489–201.551s · وفي نفس الوقت لازم التجربة تتعامل بشكل واضح مع الحالات المختلفة.</a:t>
            </a:r>
          </a:p>
          <a:p/>
          <a:p>
            <a:r>
              <a:t>C087 · 202.023–203.454s · لو رقم العميل مش موجود،</a:t>
            </a:r>
          </a:p>
          <a:p/>
          <a:p>
            <a:r>
              <a:t>C088 · 203.733–205.774s · الـAgent يقدر يعمل Manual Search.</a:t>
            </a:r>
          </a:p>
          <a:p/>
          <a:p>
            <a:r>
              <a:t>C089 · 206.083–208.466s · ولو نفس الرقم مرتبط بأكتر من Customer،</a:t>
            </a:r>
          </a:p>
          <a:p/>
          <a:p>
            <a:r>
              <a:t>C090 · 208.808–211.608s · الموظف يراجع الـPossible Matches،</a:t>
            </a:r>
          </a:p>
          <a:p/>
          <a:p>
            <a:r>
              <a:t>C091 · 211.807–214.465s · ويحدد الـRecord الصحيح بعد التحقق المطلوب.</a:t>
            </a:r>
          </a:p>
          <a:p/>
          <a:p>
            <a:r>
              <a:t>C092 · 214.889–216.858s · ولو الـEmail أو الـSegment مش متاحة،</a:t>
            </a:r>
          </a:p>
          <a:p/>
          <a:p>
            <a:r>
              <a:t>C093 · 217.191–219.356s · النظام يوضح إن المعلومة مش موجودة،</a:t>
            </a:r>
          </a:p>
          <a:p/>
          <a:p>
            <a:r>
              <a:t>C094 · 219.587–221.347s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C095 · 222.299–225.926s · إزاي هنطبق التجربة دي على الأنظمة الموجودة بالفعل في Concrete؟</a:t>
            </a:r>
          </a:p>
          <a:p/>
          <a:p>
            <a:r>
              <a:t>C096 · 226.322–228.214s · هنبدأ بمراجعة الـGenesys Setup،</a:t>
            </a:r>
          </a:p>
          <a:p/>
          <a:p>
            <a:r>
              <a:t>C097 · 228.366–229.372s · والـZoho Integration،</a:t>
            </a:r>
          </a:p>
          <a:p/>
          <a:p>
            <a:r>
              <a:t>C098 · 229.726–232.790s · ونحدد مكان تخزين الـCall Activities والـAgent Notes،</a:t>
            </a:r>
          </a:p>
          <a:p/>
          <a:p>
            <a:r>
              <a:t>C099 · 233.057–234.889s · ومصدر بيانات الـCustomer Segment.</a:t>
            </a:r>
          </a:p>
          <a:p/>
          <a:p>
            <a:r>
              <a:t>C100 · 235.187–235.651s · بعدها،</a:t>
            </a:r>
          </a:p>
          <a:p/>
          <a:p>
            <a:r>
              <a:t>C101 · 235.857–238.633s · نشوف إيه اللي نقدر نستخدمه من الـNative Features الموجودة،</a:t>
            </a:r>
          </a:p>
          <a:p/>
          <a:p>
            <a:r>
              <a:t>C102 · 238.901–240.755s · وإيه اللي محتاج Integration إضافية،</a:t>
            </a:r>
          </a:p>
          <a:p/>
          <a:p>
            <a:r>
              <a:t>C103 · 240.998–243.204s · من غير ما نبني System جديد لو مش محتاجينه.</a:t>
            </a:r>
          </a:p>
          <a:p/>
          <a:p>
            <a:r>
              <a:t>C104 · 243.546–245.957s · وهنختبر التجربة باستخدام Test Calls،</a:t>
            </a:r>
          </a:p>
          <a:p/>
          <a:p>
            <a:r>
              <a:t>C105 · 246.137–249.115s · عشان نتأكد إن بيانات العميل بتظهر بشكل صحيح،</a:t>
            </a:r>
          </a:p>
          <a:p/>
          <a:p>
            <a:r>
              <a:t>C106 · 249.421–251.905s · وإن كل Call مرتبطة بالـNotes الخاصة بيها،</a:t>
            </a:r>
          </a:p>
          <a:p/>
          <a:p>
            <a:r>
              <a:t>C107 · 252.287–255.664s · وإن المعلومات بتوصل للـAgent المناسب بصلاحيات واضحة.</a:t>
            </a:r>
          </a:p>
          <a:p/>
          <a:p>
            <a:r>
              <a:t>C108 · 256.030–256.685s · وفي النهاية،</a:t>
            </a:r>
          </a:p>
          <a:p/>
          <a:p>
            <a:r>
              <a:t>C109 · 256.924–259.606s · إحنا مش بنتكلم عن مجرد شاشة فيها بيانات أكتر.</a:t>
            </a:r>
          </a:p>
          <a:p/>
          <a:p>
            <a:r>
              <a:t>C110 · 259.970–263.103s · إحنا بنتكلم عن تجربة بتساعد موظف خدمة العملاء،</a:t>
            </a:r>
          </a:p>
          <a:p/>
          <a:p>
            <a:r>
              <a:t>C111 · 263.312–264.357s · يعرف مين العميل،</a:t>
            </a:r>
          </a:p>
          <a:p/>
          <a:p>
            <a:r>
              <a:t>C112 · 264.583–265.594s · ومستوى عضويته،</a:t>
            </a:r>
          </a:p>
          <a:p/>
          <a:p>
            <a:r>
              <a:t>C113 · 265.816–269.177s · وتاريخ تواصله مع الشركة وآخر ملاحظات تسجلت عنه.</a:t>
            </a:r>
          </a:p>
          <a:p/>
          <a:p>
            <a:r>
              <a:t>C114 · 269.472–272.121s · وده يفتح فرصة حقيقية لتحسين الـFollow-up،</a:t>
            </a:r>
          </a:p>
          <a:p/>
          <a:p>
            <a:r>
              <a:t>C115 · 272.345–273.691s · وتسهيل شغل الـAgents،</a:t>
            </a:r>
          </a:p>
          <a:p/>
          <a:p>
            <a:r>
              <a:t>C116 · 273.898–277.150s · وتقديم Customer Experience أكتر تنظيمًا واستمرارية.</a:t>
            </a:r>
          </a:p>
          <a:p/>
          <a:p>
            <a:r>
              <a:t>C117 · 277.527–280.851s · وده بالضبط اللي GRINDCTRL بتقترح تقدمه لـConcrete:</a:t>
            </a:r>
          </a:p>
          <a:p/>
          <a:p>
            <a:r>
              <a:t>C118 · 281.167–282.355s · إن كل Call جديدة،</a:t>
            </a:r>
          </a:p>
          <a:p/>
          <a:p>
            <a:r>
              <a:t>C119 · 282.578–285.739s · تبدأ من آخر نقطة وصلت لها علاقة العميل بالشركة،</a:t>
            </a:r>
          </a:p>
          <a:p/>
          <a:p>
            <a:r>
              <a:t>C120 · 286.021–286.618s · مش من الصفر.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C095 · 222.299–225.926s · إزاي هنطبق التجربة دي على الأنظمة الموجودة بالفعل في Concrete؟</a:t>
            </a:r>
          </a:p>
          <a:p/>
          <a:p>
            <a:r>
              <a:t>C096 · 226.322–228.214s · هنبدأ بمراجعة الـGenesys Setup،</a:t>
            </a:r>
          </a:p>
          <a:p/>
          <a:p>
            <a:r>
              <a:t>C097 · 228.366–229.372s · والـZoho Integration،</a:t>
            </a:r>
          </a:p>
          <a:p/>
          <a:p>
            <a:r>
              <a:t>C098 · 229.726–232.790s · ونحدد مكان تخزين الـCall Activities والـAgent Notes،</a:t>
            </a:r>
          </a:p>
          <a:p/>
          <a:p>
            <a:r>
              <a:t>C099 · 233.057–234.889s · ومصدر بيانات الـCustomer Segment.</a:t>
            </a:r>
          </a:p>
          <a:p/>
          <a:p>
            <a:r>
              <a:t>C100 · 235.187–235.651s · بعدها،</a:t>
            </a:r>
          </a:p>
          <a:p/>
          <a:p>
            <a:r>
              <a:t>C101 · 235.857–238.633s · نشوف إيه اللي نقدر نستخدمه من الـNative Features الموجودة،</a:t>
            </a:r>
          </a:p>
          <a:p/>
          <a:p>
            <a:r>
              <a:t>C102 · 238.901–240.755s · وإيه اللي محتاج Integration إضافية،</a:t>
            </a:r>
          </a:p>
          <a:p/>
          <a:p>
            <a:r>
              <a:t>C103 · 240.998–243.204s · من غير ما نبني System جديد لو مش محتاجينه.</a:t>
            </a:r>
          </a:p>
          <a:p/>
          <a:p>
            <a:r>
              <a:t>C104 · 243.546–245.957s · وهنختبر التجربة باستخدام Test Calls،</a:t>
            </a:r>
          </a:p>
          <a:p/>
          <a:p>
            <a:r>
              <a:t>C105 · 246.137–249.115s · عشان نتأكد إن بيانات العميل بتظهر بشكل صحيح،</a:t>
            </a:r>
          </a:p>
          <a:p/>
          <a:p>
            <a:r>
              <a:t>C106 · 249.421–251.905s · وإن كل Call مرتبطة بالـNotes الخاصة بيها،</a:t>
            </a:r>
          </a:p>
          <a:p/>
          <a:p>
            <a:r>
              <a:t>C107 · 252.287–255.664s · وإن المعلومات بتوصل للـAgent المناسب بصلاحيات واضحة.</a:t>
            </a:r>
          </a:p>
          <a:p/>
          <a:p>
            <a:r>
              <a:t>C108 · 256.030–256.685s · وفي النهاية،</a:t>
            </a:r>
          </a:p>
          <a:p/>
          <a:p>
            <a:r>
              <a:t>C109 · 256.924–259.606s · إحنا مش بنتكلم عن مجرد شاشة فيها بيانات أكتر.</a:t>
            </a:r>
          </a:p>
          <a:p/>
          <a:p>
            <a:r>
              <a:t>C110 · 259.970–263.103s · إحنا بنتكلم عن تجربة بتساعد موظف خدمة العملاء،</a:t>
            </a:r>
          </a:p>
          <a:p/>
          <a:p>
            <a:r>
              <a:t>C111 · 263.312–264.357s · يعرف مين العميل،</a:t>
            </a:r>
          </a:p>
          <a:p/>
          <a:p>
            <a:r>
              <a:t>C112 · 264.583–265.594s · ومستوى عضويته،</a:t>
            </a:r>
          </a:p>
          <a:p/>
          <a:p>
            <a:r>
              <a:t>C113 · 265.816–269.177s · وتاريخ تواصله مع الشركة وآخر ملاحظات تسجلت عنه.</a:t>
            </a:r>
          </a:p>
          <a:p/>
          <a:p>
            <a:r>
              <a:t>C114 · 269.472–272.121s · وده يفتح فرصة حقيقية لتحسين الـFollow-up،</a:t>
            </a:r>
          </a:p>
          <a:p/>
          <a:p>
            <a:r>
              <a:t>C115 · 272.345–273.691s · وتسهيل شغل الـAgents،</a:t>
            </a:r>
          </a:p>
          <a:p/>
          <a:p>
            <a:r>
              <a:t>C116 · 273.898–277.150s · وتقديم Customer Experience أكتر تنظيمًا واستمرارية.</a:t>
            </a:r>
          </a:p>
          <a:p/>
          <a:p>
            <a:r>
              <a:t>C117 · 277.527–280.851s · وده بالضبط اللي GRINDCTRL بتقترح تقدمه لـConcrete:</a:t>
            </a:r>
          </a:p>
          <a:p/>
          <a:p>
            <a:r>
              <a:t>C118 · 281.167–282.355s · إن كل Call جديدة،</a:t>
            </a:r>
          </a:p>
          <a:p/>
          <a:p>
            <a:r>
              <a:t>C119 · 282.578–285.739s · تبدأ من آخر نقطة وصلت لها علاقة العميل بالشركة،</a:t>
            </a:r>
          </a:p>
          <a:p/>
          <a:p>
            <a:r>
              <a:t>C120 · 286.021–286.618s · مش من الصفر.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audio" Target="../media/Part03_Corrected_Master.mp3"/><Relationship Id="rId13" Type="http://schemas.microsoft.com/office/2007/relationships/media" Target="../media/Part03_Corrected_Master.mp3"/><Relationship Id="rId1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1.png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2.png"/><Relationship Id="rId1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3.png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5.png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3.png"/><Relationship Id="rId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0.png"/><Relationship Id="rId9" Type="http://schemas.openxmlformats.org/officeDocument/2006/relationships/image" Target="../media/image13.png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The next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One call. A customer you can understand.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01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24200" y="3752850"/>
            <a:ext cx="43148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Call 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6675" y="3790950"/>
            <a:ext cx="38290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Retained · Linked · Permitted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381375" y="4238625"/>
            <a:ext cx="0" cy="1571625"/>
          </a:xfrm>
          <a:prstGeom prst="line">
            <a:avLst/>
          </a:prstGeom>
          <a:ln w="19050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305175" y="42862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4314825"/>
            <a:ext cx="95250" cy="95250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3676650" y="41719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08 Oct · 14:32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6650" y="44672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4050" y="41719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A</a:t>
            </a:r>
          </a:p>
        </p:txBody>
      </p:sp>
      <p:pic>
        <p:nvPicPr>
          <p:cNvPr id="57" name="Picture 56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4200525"/>
            <a:ext cx="200025" cy="200025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7467600" y="41719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Followed up on the exchange. Branch review requested.</a:t>
            </a:r>
          </a:p>
        </p:txBody>
      </p:sp>
      <p:sp>
        <p:nvSpPr>
          <p:cNvPr id="59" name="Oval 58"/>
          <p:cNvSpPr/>
          <p:nvPr/>
        </p:nvSpPr>
        <p:spPr>
          <a:xfrm>
            <a:off x="3305175" y="487680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4905375"/>
            <a:ext cx="95250" cy="95250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3676650" y="476250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03 Oct · 11:08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6650" y="505777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34050" y="476250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pic>
        <p:nvPicPr>
          <p:cNvPr id="64" name="Picture 6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4791075"/>
            <a:ext cx="200025" cy="200025"/>
          </a:xfrm>
          <a:prstGeom prst="rect">
            <a:avLst/>
          </a:prstGeom>
          <a:effectLst/>
        </p:spPr>
      </p:pic>
      <p:sp>
        <p:nvSpPr>
          <p:cNvPr id="65" name="TextBox 64"/>
          <p:cNvSpPr txBox="1"/>
          <p:nvPr/>
        </p:nvSpPr>
        <p:spPr>
          <a:xfrm>
            <a:off x="7467600" y="476250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requested a size exchange.</a:t>
            </a:r>
          </a:p>
        </p:txBody>
      </p:sp>
      <p:sp>
        <p:nvSpPr>
          <p:cNvPr id="66" name="Oval 65"/>
          <p:cNvSpPr/>
          <p:nvPr/>
        </p:nvSpPr>
        <p:spPr>
          <a:xfrm>
            <a:off x="3305175" y="54673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5495925"/>
            <a:ext cx="95250" cy="95250"/>
          </a:xfrm>
          <a:prstGeom prst="rect">
            <a:avLst/>
          </a:prstGeom>
          <a:effectLst/>
        </p:spPr>
      </p:pic>
      <p:sp>
        <p:nvSpPr>
          <p:cNvPr id="68" name="TextBox 67"/>
          <p:cNvSpPr txBox="1"/>
          <p:nvPr/>
        </p:nvSpPr>
        <p:spPr>
          <a:xfrm>
            <a:off x="3676650" y="53530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26 Sep · 16:45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76650" y="56483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DEMO-0926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4050" y="53530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C</a:t>
            </a:r>
          </a:p>
        </p:txBody>
      </p:sp>
      <p:pic>
        <p:nvPicPr>
          <p:cNvPr id="71" name="Picture 70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5381625"/>
            <a:ext cx="200025" cy="200025"/>
          </a:xfrm>
          <a:prstGeom prst="rect">
            <a:avLst/>
          </a:prstGeom>
          <a:effectLst/>
        </p:spPr>
      </p:pic>
      <p:sp>
        <p:nvSpPr>
          <p:cNvPr id="72" name="TextBox 71"/>
          <p:cNvSpPr txBox="1"/>
          <p:nvPr/>
        </p:nvSpPr>
        <p:spPr>
          <a:xfrm>
            <a:off x="7467600" y="53530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asked about product availability.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29450" y="4152900"/>
            <a:ext cx="4467225" cy="5334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Unchanged replacement Arabic narration" descr="icon-mic.png">
            <a:hlinkClick action="ppaction://media" r:id=""/>
          </p:cNvPr>
          <p:cNvPicPr>
            <a:picLocks noChangeAspect="1"/>
          </p:cNvPicPr>
          <p:nvPr>
            <a:audioFile r:link="rId12"/>
            <p:extLst>
              <p:ext uri="{DAA4B4D4-6D71-4841-9C94-3DE7FCFB45AD}">
                <p14:media xmlns:p14="http://schemas.microsoft.com/office/powerpoint/2010/main" r:embed="rId1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572750" y="6486525"/>
            <a:ext cx="209550" cy="209550"/>
          </a:xfrm>
          <a:prstGeom prst="rect">
            <a:avLst/>
          </a:prstGeom>
        </p:spPr>
      </p:pic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numSld="8" showWhenStopped="1">
                <p:cTn id="4" dur="286960" fill="hold" nodeType="withEffect">
                  <p:stCondLst>
                    <p:cond delay="0"/>
                  </p:stCondLst>
                </p:cTn>
                <p:tgtEl>
                  <p:spTgt spid="7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Caller 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An incoming call. Four useful fields.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24200" y="3752850"/>
            <a:ext cx="43148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Call 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6675" y="3790950"/>
            <a:ext cx="38290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Retained · Linked · Permitted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381375" y="4238625"/>
            <a:ext cx="0" cy="1571625"/>
          </a:xfrm>
          <a:prstGeom prst="line">
            <a:avLst/>
          </a:prstGeom>
          <a:ln w="19050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305175" y="42862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4314825"/>
            <a:ext cx="95250" cy="95250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3676650" y="41719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08 Oct · 14:32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6650" y="44672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4050" y="41719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A</a:t>
            </a:r>
          </a:p>
        </p:txBody>
      </p:sp>
      <p:pic>
        <p:nvPicPr>
          <p:cNvPr id="57" name="Picture 56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4200525"/>
            <a:ext cx="200025" cy="200025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7467600" y="41719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Followed up on the exchange. Branch review requested.</a:t>
            </a:r>
          </a:p>
        </p:txBody>
      </p:sp>
      <p:sp>
        <p:nvSpPr>
          <p:cNvPr id="59" name="Oval 58"/>
          <p:cNvSpPr/>
          <p:nvPr/>
        </p:nvSpPr>
        <p:spPr>
          <a:xfrm>
            <a:off x="3305175" y="487680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4905375"/>
            <a:ext cx="95250" cy="95250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3676650" y="476250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03 Oct · 11:08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6650" y="505777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34050" y="476250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pic>
        <p:nvPicPr>
          <p:cNvPr id="64" name="Picture 6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4791075"/>
            <a:ext cx="200025" cy="200025"/>
          </a:xfrm>
          <a:prstGeom prst="rect">
            <a:avLst/>
          </a:prstGeom>
          <a:effectLst/>
        </p:spPr>
      </p:pic>
      <p:sp>
        <p:nvSpPr>
          <p:cNvPr id="65" name="TextBox 64"/>
          <p:cNvSpPr txBox="1"/>
          <p:nvPr/>
        </p:nvSpPr>
        <p:spPr>
          <a:xfrm>
            <a:off x="7467600" y="476250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requested a size exchange.</a:t>
            </a:r>
          </a:p>
        </p:txBody>
      </p:sp>
      <p:sp>
        <p:nvSpPr>
          <p:cNvPr id="66" name="Oval 65"/>
          <p:cNvSpPr/>
          <p:nvPr/>
        </p:nvSpPr>
        <p:spPr>
          <a:xfrm>
            <a:off x="3305175" y="54673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5495925"/>
            <a:ext cx="95250" cy="95250"/>
          </a:xfrm>
          <a:prstGeom prst="rect">
            <a:avLst/>
          </a:prstGeom>
          <a:effectLst/>
        </p:spPr>
      </p:pic>
      <p:sp>
        <p:nvSpPr>
          <p:cNvPr id="68" name="TextBox 67"/>
          <p:cNvSpPr txBox="1"/>
          <p:nvPr/>
        </p:nvSpPr>
        <p:spPr>
          <a:xfrm>
            <a:off x="3676650" y="53530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26 Sep · 16:45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76650" y="56483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DEMO-0926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4050" y="53530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C</a:t>
            </a:r>
          </a:p>
        </p:txBody>
      </p:sp>
      <p:pic>
        <p:nvPicPr>
          <p:cNvPr id="71" name="Picture 70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5381625"/>
            <a:ext cx="200025" cy="200025"/>
          </a:xfrm>
          <a:prstGeom prst="rect">
            <a:avLst/>
          </a:prstGeom>
          <a:effectLst/>
        </p:spPr>
      </p:pic>
      <p:sp>
        <p:nvSpPr>
          <p:cNvPr id="72" name="TextBox 71"/>
          <p:cNvSpPr txBox="1"/>
          <p:nvPr/>
        </p:nvSpPr>
        <p:spPr>
          <a:xfrm>
            <a:off x="7467600" y="53530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asked about product availability.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200650" y="2790825"/>
            <a:ext cx="2085975" cy="6572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Icons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Membership comes from a record, not a guess.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24200" y="3781425"/>
            <a:ext cx="83629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Concrete Icons Club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24200" y="4333875"/>
            <a:ext cx="8391525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5650" y="4505325"/>
            <a:ext cx="248602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LIFESTYLE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895975" y="4467225"/>
            <a:ext cx="0" cy="3048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048375" y="4505325"/>
            <a:ext cx="248602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PRESTIGE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648700" y="4467225"/>
            <a:ext cx="0" cy="3048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801100" y="4505325"/>
            <a:ext cx="248602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ELITE</a:t>
            </a:r>
          </a:p>
        </p:txBody>
      </p:sp>
      <p:pic>
        <p:nvPicPr>
          <p:cNvPr id="56" name="Picture 55" descr="icon-lin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3725" y="5257800"/>
            <a:ext cx="247650" cy="247650"/>
          </a:xfrm>
          <a:prstGeom prst="rect">
            <a:avLst/>
          </a:prstGeom>
          <a:effectLst/>
        </p:spPr>
      </p:pic>
      <p:sp>
        <p:nvSpPr>
          <p:cNvPr id="57" name="TextBox 56"/>
          <p:cNvSpPr txBox="1"/>
          <p:nvPr/>
        </p:nvSpPr>
        <p:spPr>
          <a:xfrm>
            <a:off x="3552825" y="5229225"/>
            <a:ext cx="7886700" cy="5429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Illustrative ELITE record · Trusted membership source to verify.</a:t>
            </a:r>
          </a:p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If no tier is available, show “Not available”.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Per-call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Every call has its own note.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24200" y="3752850"/>
            <a:ext cx="43148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Call 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6675" y="3790950"/>
            <a:ext cx="38290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Retained · Linked · Permitted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381375" y="4238625"/>
            <a:ext cx="0" cy="1571625"/>
          </a:xfrm>
          <a:prstGeom prst="line">
            <a:avLst/>
          </a:prstGeom>
          <a:ln w="19050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305175" y="42862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4314825"/>
            <a:ext cx="95250" cy="95250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3676650" y="41719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08 Oct · 14:32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6650" y="44672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4050" y="41719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A</a:t>
            </a:r>
          </a:p>
        </p:txBody>
      </p:sp>
      <p:pic>
        <p:nvPicPr>
          <p:cNvPr id="57" name="Picture 56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4200525"/>
            <a:ext cx="200025" cy="200025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7467600" y="41719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Followed up on the exchange. Branch review requested.</a:t>
            </a:r>
          </a:p>
        </p:txBody>
      </p:sp>
      <p:sp>
        <p:nvSpPr>
          <p:cNvPr id="59" name="Oval 58"/>
          <p:cNvSpPr/>
          <p:nvPr/>
        </p:nvSpPr>
        <p:spPr>
          <a:xfrm>
            <a:off x="3305175" y="487680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4905375"/>
            <a:ext cx="95250" cy="95250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3676650" y="476250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03 Oct · 11:08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6650" y="505777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34050" y="476250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pic>
        <p:nvPicPr>
          <p:cNvPr id="64" name="Picture 6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4791075"/>
            <a:ext cx="200025" cy="200025"/>
          </a:xfrm>
          <a:prstGeom prst="rect">
            <a:avLst/>
          </a:prstGeom>
          <a:effectLst/>
        </p:spPr>
      </p:pic>
      <p:sp>
        <p:nvSpPr>
          <p:cNvPr id="65" name="TextBox 64"/>
          <p:cNvSpPr txBox="1"/>
          <p:nvPr/>
        </p:nvSpPr>
        <p:spPr>
          <a:xfrm>
            <a:off x="7467600" y="476250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requested a size exchange.</a:t>
            </a:r>
          </a:p>
        </p:txBody>
      </p:sp>
      <p:sp>
        <p:nvSpPr>
          <p:cNvPr id="66" name="Oval 65"/>
          <p:cNvSpPr/>
          <p:nvPr/>
        </p:nvSpPr>
        <p:spPr>
          <a:xfrm>
            <a:off x="3305175" y="54673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5495925"/>
            <a:ext cx="95250" cy="95250"/>
          </a:xfrm>
          <a:prstGeom prst="rect">
            <a:avLst/>
          </a:prstGeom>
          <a:effectLst/>
        </p:spPr>
      </p:pic>
      <p:sp>
        <p:nvSpPr>
          <p:cNvPr id="68" name="TextBox 67"/>
          <p:cNvSpPr txBox="1"/>
          <p:nvPr/>
        </p:nvSpPr>
        <p:spPr>
          <a:xfrm>
            <a:off x="3676650" y="53530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26 Sep · 16:45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76650" y="56483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DEMO-0926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4050" y="53530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C</a:t>
            </a:r>
          </a:p>
        </p:txBody>
      </p:sp>
      <p:pic>
        <p:nvPicPr>
          <p:cNvPr id="71" name="Picture 70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5381625"/>
            <a:ext cx="200025" cy="200025"/>
          </a:xfrm>
          <a:prstGeom prst="rect">
            <a:avLst/>
          </a:prstGeom>
          <a:effectLst/>
        </p:spPr>
      </p:pic>
      <p:sp>
        <p:nvSpPr>
          <p:cNvPr id="72" name="TextBox 71"/>
          <p:cNvSpPr txBox="1"/>
          <p:nvPr/>
        </p:nvSpPr>
        <p:spPr>
          <a:xfrm>
            <a:off x="7467600" y="53530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asked about product availability.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77075" y="4143375"/>
            <a:ext cx="4410075" cy="17621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An exchange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Read where the last conversation stopped.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24200" y="3724275"/>
            <a:ext cx="24765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Call activity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24200" y="414337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2DD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248150"/>
            <a:ext cx="171450" cy="171450"/>
          </a:xfrm>
          <a:prstGeom prst="rect">
            <a:avLst/>
          </a:prstGeom>
          <a:effectLst/>
        </p:spPr>
      </p:pic>
      <p:sp>
        <p:nvSpPr>
          <p:cNvPr id="52" name="TextBox 51"/>
          <p:cNvSpPr txBox="1"/>
          <p:nvPr/>
        </p:nvSpPr>
        <p:spPr>
          <a:xfrm>
            <a:off x="3514725" y="419100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08 Oct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91075" y="420052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14:32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38500" y="443865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29150" y="443865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24200" y="4762500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867275"/>
            <a:ext cx="171450" cy="171450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3514725" y="4810125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03 Oct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91075" y="4819650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11:08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38500" y="5057775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9150" y="5057775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24200" y="538162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5486400"/>
            <a:ext cx="171450" cy="171450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3514725" y="542925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26 Sep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91075" y="543877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16:45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38500" y="567690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DEMO-0926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9150" y="567690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C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915025" y="3743325"/>
            <a:ext cx="0" cy="21812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172200" y="3714750"/>
            <a:ext cx="52197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08 Oct 2026 call · Original note</a:t>
            </a:r>
          </a:p>
        </p:txBody>
      </p:sp>
      <p:pic>
        <p:nvPicPr>
          <p:cNvPr id="70" name="Picture 69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4162425"/>
            <a:ext cx="190500" cy="190500"/>
          </a:xfrm>
          <a:prstGeom prst="rect">
            <a:avLst/>
          </a:prstGeom>
          <a:effectLst/>
        </p:spPr>
      </p:pic>
      <p:sp>
        <p:nvSpPr>
          <p:cNvPr id="71" name="TextBox 70"/>
          <p:cNvSpPr txBox="1"/>
          <p:nvPr/>
        </p:nvSpPr>
        <p:spPr>
          <a:xfrm>
            <a:off x="6486525" y="4114800"/>
            <a:ext cx="26003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A · DEMO-1008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8775" y="4124325"/>
            <a:ext cx="22574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Written 14:36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72200" y="4552950"/>
            <a:ext cx="5343525" cy="1114425"/>
          </a:xfrm>
          <a:prstGeom prst="roundRect">
            <a:avLst>
              <a:gd name="adj" fmla="val 427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4125" y="4686300"/>
            <a:ext cx="190500" cy="190500"/>
          </a:xfrm>
          <a:prstGeom prst="rect">
            <a:avLst/>
          </a:prstGeom>
          <a:effectLst/>
        </p:spPr>
      </p:pic>
      <p:sp>
        <p:nvSpPr>
          <p:cNvPr id="75" name="TextBox 74"/>
          <p:cNvSpPr txBox="1"/>
          <p:nvPr/>
        </p:nvSpPr>
        <p:spPr>
          <a:xfrm>
            <a:off x="6657975" y="4667250"/>
            <a:ext cx="46196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65318"/>
                </a:solidFill>
                <a:latin typeface="Manrope"/>
              </a:rPr>
              <a:t>Human-written agent note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43650" y="5029200"/>
            <a:ext cx="4953000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Followed up on the exchange. Branch review requested.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2200" y="5781675"/>
            <a:ext cx="534352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Source: DEMO-1008 · No global-note merge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62675" y="5734050"/>
            <a:ext cx="5372100" cy="3143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con-clo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0" y="5781675"/>
            <a:ext cx="180975" cy="180975"/>
          </a:xfrm>
          <a:prstGeom prst="rect">
            <a:avLst/>
          </a:prstGeom>
          <a:effectLst/>
        </p:spPr>
      </p:pic>
      <p:sp>
        <p:nvSpPr>
          <p:cNvPr id="80" name="TextBox 79"/>
          <p:cNvSpPr txBox="1"/>
          <p:nvPr/>
        </p:nvSpPr>
        <p:spPr>
          <a:xfrm>
            <a:off x="6486525" y="5743575"/>
            <a:ext cx="50196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965318"/>
                </a:solidFill>
                <a:latin typeface="Manrope"/>
              </a:rPr>
              <a:t>Review requested · Completion not confirmed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Note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Write for this call. Retrieve this same call.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15 Oct · 09:10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24200" y="3724275"/>
            <a:ext cx="24765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Call activity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24200" y="414337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2DD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248150"/>
            <a:ext cx="171450" cy="171450"/>
          </a:xfrm>
          <a:prstGeom prst="rect">
            <a:avLst/>
          </a:prstGeom>
          <a:effectLst/>
        </p:spPr>
      </p:pic>
      <p:sp>
        <p:nvSpPr>
          <p:cNvPr id="52" name="TextBox 51"/>
          <p:cNvSpPr txBox="1"/>
          <p:nvPr/>
        </p:nvSpPr>
        <p:spPr>
          <a:xfrm>
            <a:off x="3514725" y="419100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12 Oct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91075" y="420052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10:24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38500" y="443865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29150" y="443865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24200" y="4762500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867275"/>
            <a:ext cx="171450" cy="171450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3514725" y="4810125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08 Oct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91075" y="4819650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14:32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38500" y="5057775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9150" y="5057775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24200" y="538162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5486400"/>
            <a:ext cx="171450" cy="171450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3514725" y="542925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03 Oct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91075" y="543877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11:08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38500" y="567690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9150" y="567690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915025" y="3743325"/>
            <a:ext cx="0" cy="21812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172200" y="3714750"/>
            <a:ext cx="52197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12 Oct call · Original note</a:t>
            </a:r>
          </a:p>
        </p:txBody>
      </p:sp>
      <p:pic>
        <p:nvPicPr>
          <p:cNvPr id="70" name="Picture 69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4162425"/>
            <a:ext cx="190500" cy="190500"/>
          </a:xfrm>
          <a:prstGeom prst="rect">
            <a:avLst/>
          </a:prstGeom>
          <a:effectLst/>
        </p:spPr>
      </p:pic>
      <p:sp>
        <p:nvSpPr>
          <p:cNvPr id="71" name="TextBox 70"/>
          <p:cNvSpPr txBox="1"/>
          <p:nvPr/>
        </p:nvSpPr>
        <p:spPr>
          <a:xfrm>
            <a:off x="6486525" y="4114800"/>
            <a:ext cx="26003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D · DEMO-1012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8775" y="4124325"/>
            <a:ext cx="22574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Written 10:29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72200" y="4552950"/>
            <a:ext cx="5343525" cy="1114425"/>
          </a:xfrm>
          <a:prstGeom prst="roundRect">
            <a:avLst>
              <a:gd name="adj" fmla="val 427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4125" y="4686300"/>
            <a:ext cx="190500" cy="190500"/>
          </a:xfrm>
          <a:prstGeom prst="rect">
            <a:avLst/>
          </a:prstGeom>
          <a:effectLst/>
        </p:spPr>
      </p:pic>
      <p:sp>
        <p:nvSpPr>
          <p:cNvPr id="75" name="TextBox 74"/>
          <p:cNvSpPr txBox="1"/>
          <p:nvPr/>
        </p:nvSpPr>
        <p:spPr>
          <a:xfrm>
            <a:off x="6657975" y="4667250"/>
            <a:ext cx="46196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65318"/>
                </a:solidFill>
                <a:latin typeface="Manrope"/>
              </a:rPr>
              <a:t>Human-written agent note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43650" y="5029200"/>
            <a:ext cx="4953000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Customer called again; awaiting a confirmed branch update.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2200" y="5781675"/>
            <a:ext cx="534352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Original author: Agent D · Original call: DEMO-1012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48425" y="4057650"/>
            <a:ext cx="2638425" cy="37147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Safe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Keep the call. Show only what is known.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543175"/>
            <a:ext cx="838200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262626"/>
                </a:solidFill>
                <a:latin typeface="Manrope"/>
              </a:rPr>
              <a:t>More than one possible customer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24200" y="3248025"/>
            <a:ext cx="8391525" cy="657225"/>
          </a:xfrm>
          <a:prstGeom prst="roundRect">
            <a:avLst>
              <a:gd name="adj" fmla="val 8695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5" y="3457575"/>
            <a:ext cx="238125" cy="23812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762375" y="3419475"/>
            <a:ext cx="368617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3375" y="3438525"/>
            <a:ext cx="334327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24200" y="4086225"/>
            <a:ext cx="8391525" cy="657225"/>
          </a:xfrm>
          <a:prstGeom prst="roundRect">
            <a:avLst>
              <a:gd name="adj" fmla="val 8695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5" y="4295775"/>
            <a:ext cx="238125" cy="238125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3762375" y="4257675"/>
            <a:ext cx="368617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Customer B (DEMO)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3375" y="4276725"/>
            <a:ext cx="334327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43" name="Picture 42" descr="icon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0" y="5153025"/>
            <a:ext cx="266700" cy="266700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3590925" y="5114925"/>
            <a:ext cx="7896225" cy="6000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Verify, then choose the correct record.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Candidate history stays hidden until permitted.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Implementation and pilot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3" name="Picture 12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2" name="Oval 21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15 Oct · 09:10</a:t>
            </a:r>
          </a:p>
        </p:txBody>
      </p:sp>
      <p:sp>
        <p:nvSpPr>
          <p:cNvPr id="27" name="Oval 26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29" name="Oval 28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1" name="Oval 30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5" name="Picture 34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8" name="Picture 37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1" name="Picture 40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ELITE · Demo</a:t>
            </a:r>
          </a:p>
        </p:txBody>
      </p:sp>
      <p:pic>
        <p:nvPicPr>
          <p:cNvPr id="44" name="Picture 43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124200" y="3724275"/>
            <a:ext cx="24765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Call activity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24200" y="414337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2DD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248150"/>
            <a:ext cx="171450" cy="171450"/>
          </a:xfrm>
          <a:prstGeom prst="rect">
            <a:avLst/>
          </a:prstGeom>
          <a:effectLst/>
        </p:spPr>
      </p:pic>
      <p:sp>
        <p:nvSpPr>
          <p:cNvPr id="51" name="TextBox 50"/>
          <p:cNvSpPr txBox="1"/>
          <p:nvPr/>
        </p:nvSpPr>
        <p:spPr>
          <a:xfrm>
            <a:off x="3514725" y="419100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12 Oct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1075" y="420052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10:24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38500" y="443865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29150" y="443865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24200" y="4762500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867275"/>
            <a:ext cx="171450" cy="171450"/>
          </a:xfrm>
          <a:prstGeom prst="rect">
            <a:avLst/>
          </a:prstGeom>
          <a:effectLst/>
        </p:spPr>
      </p:pic>
      <p:sp>
        <p:nvSpPr>
          <p:cNvPr id="57" name="TextBox 56"/>
          <p:cNvSpPr txBox="1"/>
          <p:nvPr/>
        </p:nvSpPr>
        <p:spPr>
          <a:xfrm>
            <a:off x="3514725" y="4810125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08 Oct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91075" y="4819650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14:32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8500" y="5057775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29150" y="5057775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24200" y="538162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5486400"/>
            <a:ext cx="171450" cy="171450"/>
          </a:xfrm>
          <a:prstGeom prst="rect">
            <a:avLst/>
          </a:prstGeom>
          <a:effectLst/>
        </p:spPr>
      </p:pic>
      <p:sp>
        <p:nvSpPr>
          <p:cNvPr id="63" name="TextBox 62"/>
          <p:cNvSpPr txBox="1"/>
          <p:nvPr/>
        </p:nvSpPr>
        <p:spPr>
          <a:xfrm>
            <a:off x="3514725" y="542925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03 Oct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075" y="543877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11:08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38500" y="567690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29150" y="567690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915025" y="3743325"/>
            <a:ext cx="0" cy="21812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172200" y="3714750"/>
            <a:ext cx="52197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12 Oct call · Original note</a:t>
            </a:r>
          </a:p>
        </p:txBody>
      </p:sp>
      <p:pic>
        <p:nvPicPr>
          <p:cNvPr id="69" name="Picture 6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4162425"/>
            <a:ext cx="190500" cy="190500"/>
          </a:xfrm>
          <a:prstGeom prst="rect">
            <a:avLst/>
          </a:prstGeom>
          <a:effectLst/>
        </p:spPr>
      </p:pic>
      <p:sp>
        <p:nvSpPr>
          <p:cNvPr id="70" name="TextBox 69"/>
          <p:cNvSpPr txBox="1"/>
          <p:nvPr/>
        </p:nvSpPr>
        <p:spPr>
          <a:xfrm>
            <a:off x="6486525" y="4114800"/>
            <a:ext cx="26003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D · DEMO-1012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8775" y="4124325"/>
            <a:ext cx="22574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Written 10:29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200" y="4552950"/>
            <a:ext cx="5343525" cy="1114425"/>
          </a:xfrm>
          <a:prstGeom prst="roundRect">
            <a:avLst>
              <a:gd name="adj" fmla="val 427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4125" y="4686300"/>
            <a:ext cx="190500" cy="190500"/>
          </a:xfrm>
          <a:prstGeom prst="rect">
            <a:avLst/>
          </a:prstGeom>
          <a:effectLst/>
        </p:spPr>
      </p:pic>
      <p:sp>
        <p:nvSpPr>
          <p:cNvPr id="74" name="TextBox 73"/>
          <p:cNvSpPr txBox="1"/>
          <p:nvPr/>
        </p:nvSpPr>
        <p:spPr>
          <a:xfrm>
            <a:off x="6657975" y="4667250"/>
            <a:ext cx="46196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965318"/>
                </a:solidFill>
                <a:latin typeface="Manrope"/>
              </a:rPr>
              <a:t>Human-written agent note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43650" y="5029200"/>
            <a:ext cx="4953000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Customer called again; awaiting a confirmed branch update.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781675"/>
            <a:ext cx="534352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Agent E reads Agent D’s original DEMO-1012 note.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The next call starts with the last recorded note.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43625" y="4524375"/>
            <a:ext cx="5400675" cy="11525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Note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Write a human note for the current call.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24200" y="3752850"/>
            <a:ext cx="80962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Current call note · Human Agent 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4200" y="4143375"/>
            <a:ext cx="82581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 ID: DEMO-1012 · 12 Oct 2026 · 10:24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24200" y="4552950"/>
            <a:ext cx="8391525" cy="89535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3275" y="4676775"/>
            <a:ext cx="7915275" cy="676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en-US">
                <a:solidFill>
                  <a:srgbClr val="262626"/>
                </a:solidFill>
                <a:latin typeface="Manrope"/>
              </a:rPr>
              <a:t>Customer called again; awaiting a confirmed branch update.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24200" y="5648325"/>
            <a:ext cx="56769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Draft · Proposed recording mechanism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29750" y="5610225"/>
            <a:ext cx="2085975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25000" y="5686425"/>
            <a:ext cx="18954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lang="en-US">
                <a:solidFill>
                  <a:srgbClr val="262626"/>
                </a:solidFill>
                <a:latin typeface="Manrope"/>
              </a:rPr>
              <a:t>Record note (demo)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Safe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Service failure: preserve the active call.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pic>
        <p:nvPicPr>
          <p:cNvPr id="34" name="Picture 33" descr="icon-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900" y="2781300"/>
            <a:ext cx="400050" cy="4000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010025" y="2790825"/>
            <a:ext cx="7115175" cy="4762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 lang="en-US">
                <a:solidFill>
                  <a:srgbClr val="262626"/>
                </a:solidFill>
                <a:latin typeface="Manrope"/>
              </a:rPr>
              <a:t>Lookup temporarily unavailable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0900" y="3476625"/>
            <a:ext cx="7858125" cy="8191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Service failure is not an empty call history.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Continue the existing manual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1375" y="5133975"/>
            <a:ext cx="8086725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49654E"/>
                </a:solidFill>
                <a:latin typeface="Manrope"/>
              </a:rPr>
              <a:t>Illustrative failure case · The call remains active.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Safe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No match: continue manual search.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pic>
        <p:nvPicPr>
          <p:cNvPr id="34" name="Picture 33" descr="icon-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900" y="2781300"/>
            <a:ext cx="400050" cy="4000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010025" y="2790825"/>
            <a:ext cx="7115175" cy="4762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 lang="en-US">
                <a:solidFill>
                  <a:srgbClr val="262626"/>
                </a:solidFill>
                <a:latin typeface="Manrope"/>
              </a:rPr>
              <a:t>No matching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0900" y="3476625"/>
            <a:ext cx="7858125" cy="8191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Continue with manual search. Do not invent a customer record.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1375" y="4581525"/>
            <a:ext cx="3143250" cy="51435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-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2825" y="4743450"/>
            <a:ext cx="219075" cy="21907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3962400" y="4676775"/>
            <a:ext cx="23241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Manual search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Safe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Missing fields remain unavailable.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1455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73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32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0963275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262626"/>
                </a:solidFill>
                <a:latin typeface="Manrope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607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4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0017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7429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7239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3525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19812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645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1242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5700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34004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42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55245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2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76485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68645E"/>
                </a:solidFill>
                <a:latin typeface="Manrope"/>
              </a:rPr>
              <a:t>Not available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97726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64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Not available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4200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con-lo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90875" y="4019550"/>
            <a:ext cx="247650" cy="247650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3629025" y="3990975"/>
            <a:ext cx="781050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Missing fields stay “Not available”.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History and notes remain subject to permissions.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72350" y="2781300"/>
            <a:ext cx="4171950" cy="67627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Implementation and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Inspect sources and the smallest suitable change.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4375" y="1819275"/>
            <a:ext cx="1066800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Review the existing configuration</a:t>
            </a:r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484602"/>
            <a:ext cx="1285875" cy="2504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324100" y="2476500"/>
            <a:ext cx="38957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Genesys · Contracted screen 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476500"/>
            <a:ext cx="49244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Contracted scope · Operation unverified</a:t>
            </a:r>
          </a:p>
        </p:txBody>
      </p:sp>
      <p:pic>
        <p:nvPicPr>
          <p:cNvPr id="14" name="Picture 13" descr="zo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66678"/>
            <a:ext cx="666750" cy="286494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2324100" y="3057525"/>
            <a:ext cx="38957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Zoho Desk · Records to 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3057525"/>
            <a:ext cx="49244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Inspect records, permissions and display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4375" y="3533775"/>
            <a:ext cx="107823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771900"/>
            <a:ext cx="257175" cy="257175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171575" y="3714750"/>
            <a:ext cx="35623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Call ID </a:t>
            </a:r>
            <a:r>
              <a:rPr sz="1650" b="1" lang="en-US">
                <a:solidFill>
                  <a:srgbClr val="262626"/>
                </a:solidFill>
                <a:latin typeface="Arial"/>
              </a:rPr>
              <a:t>↔</a:t>
            </a:r>
            <a:r>
              <a:rPr sz="1650" b="1" lang="en-US">
                <a:solidFill>
                  <a:srgbClr val="262626"/>
                </a:solidFill>
                <a:latin typeface="Manrope"/>
              </a:rPr>
              <a:t> Human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0" y="3733800"/>
            <a:ext cx="615315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Locate storage, ownership, retention and access.</a:t>
            </a:r>
          </a:p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Keep call notes separate from ticket/global notes.</a:t>
            </a:r>
          </a:p>
        </p:txBody>
      </p:sp>
      <p:pic>
        <p:nvPicPr>
          <p:cNvPr id="21" name="Picture 20" descr="icon-qua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467225"/>
            <a:ext cx="238125" cy="238125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1181100" y="4410075"/>
            <a:ext cx="35433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Icons Club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50" y="4438650"/>
            <a:ext cx="615315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Trusted source and update policy: to validate.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900" y="5143500"/>
            <a:ext cx="10763250" cy="790575"/>
          </a:xfrm>
          <a:prstGeom prst="roundRect">
            <a:avLst>
              <a:gd name="adj" fmla="val 6024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sett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5343525"/>
            <a:ext cx="276225" cy="276225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1323975" y="5257800"/>
            <a:ext cx="4562475" cy="5619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Existing native features</a:t>
            </a:r>
          </a:p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if they meet the requirement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0" y="5229225"/>
            <a:ext cx="0" cy="6286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icon-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5353050"/>
            <a:ext cx="266700" cy="26670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6810375" y="5257800"/>
            <a:ext cx="445770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Smallest supported integration</a:t>
            </a:r>
          </a:p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only for a verified gap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Implementation and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Authorized test calls: accuracy, ownership and access.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4375" y="1819275"/>
            <a:ext cx="1066800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Review the existing configuration</a:t>
            </a:r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484602"/>
            <a:ext cx="1285875" cy="2504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324100" y="2476500"/>
            <a:ext cx="38957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Genesys · Contracted screen 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476500"/>
            <a:ext cx="49244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Contracted scope · Operation unverified</a:t>
            </a:r>
          </a:p>
        </p:txBody>
      </p:sp>
      <p:pic>
        <p:nvPicPr>
          <p:cNvPr id="14" name="Picture 13" descr="zo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66678"/>
            <a:ext cx="666750" cy="286494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2324100" y="3057525"/>
            <a:ext cx="38957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Zoho Desk · Records to 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3057525"/>
            <a:ext cx="49244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Inspect records, permissions and display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4375" y="3533775"/>
            <a:ext cx="107823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771900"/>
            <a:ext cx="257175" cy="257175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171575" y="3714750"/>
            <a:ext cx="35623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Call ID </a:t>
            </a:r>
            <a:r>
              <a:rPr sz="1650" b="1" lang="en-US">
                <a:solidFill>
                  <a:srgbClr val="262626"/>
                </a:solidFill>
                <a:latin typeface="Arial"/>
              </a:rPr>
              <a:t>↔</a:t>
            </a:r>
            <a:r>
              <a:rPr sz="1650" b="1" lang="en-US">
                <a:solidFill>
                  <a:srgbClr val="262626"/>
                </a:solidFill>
                <a:latin typeface="Manrope"/>
              </a:rPr>
              <a:t> Human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0" y="3733800"/>
            <a:ext cx="615315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Locate storage, ownership, retention and access.</a:t>
            </a:r>
          </a:p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Keep call notes separate from ticket/global notes.</a:t>
            </a:r>
          </a:p>
        </p:txBody>
      </p:sp>
      <p:pic>
        <p:nvPicPr>
          <p:cNvPr id="21" name="Picture 20" descr="icon-qua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467225"/>
            <a:ext cx="238125" cy="238125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1181100" y="4410075"/>
            <a:ext cx="35433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Icons Club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50" y="4438650"/>
            <a:ext cx="615315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Trusted source and update policy: to validate.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133975"/>
            <a:ext cx="107346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Authorized pilot · Observations to record, not claimed results</a:t>
            </a:r>
          </a:p>
        </p:txBody>
      </p:sp>
      <p:pic>
        <p:nvPicPr>
          <p:cNvPr id="25" name="Picture 24" descr="icon-ac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581650"/>
            <a:ext cx="238125" cy="238125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1200150" y="5514975"/>
            <a:ext cx="2952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Field accuracy</a:t>
            </a:r>
          </a:p>
        </p:txBody>
      </p:sp>
      <p:pic>
        <p:nvPicPr>
          <p:cNvPr id="27" name="Picture 26" descr="icon-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975" y="5581650"/>
            <a:ext cx="238125" cy="238125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791075" y="5514975"/>
            <a:ext cx="2952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Call </a:t>
            </a:r>
            <a:r>
              <a:rPr sz="1650" b="1" lang="en-US">
                <a:solidFill>
                  <a:srgbClr val="262626"/>
                </a:solidFill>
                <a:latin typeface="Arial"/>
              </a:rPr>
              <a:t>↔</a:t>
            </a:r>
            <a:r>
              <a:rPr sz="1650" b="1" lang="en-US">
                <a:solidFill>
                  <a:srgbClr val="262626"/>
                </a:solidFill>
                <a:latin typeface="Manrope"/>
              </a:rPr>
              <a:t> own note</a:t>
            </a:r>
          </a:p>
        </p:txBody>
      </p:sp>
      <p:pic>
        <p:nvPicPr>
          <p:cNvPr id="29" name="Picture 28" descr="icon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2900" y="5581650"/>
            <a:ext cx="238125" cy="238125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8382000" y="5514975"/>
            <a:ext cx="2952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Permitted access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GRINDCTRL × Concrete — Part 03: Customer 360° call experience</dc:title>
  <dc:subject>Customer 360 call experience and source-linked human interaction notes. Proposed workflow; synthetic records.</dc:subject>
  <dc:creator>GRINDCTRL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