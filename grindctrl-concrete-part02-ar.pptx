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grindctrl-part02-voiceover-ar.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C01 · 0.000–0.993 ثانية · Part 01 recap</a:t>
            </a:r>
          </a:p>
          <a:p/>
          <a:p>
            <a:r>
              <a:t>C02 · 1.146–2.246 ثانية · The idea, simply</a:t>
            </a:r>
          </a:p>
          <a:p/>
          <a:p>
            <a:r>
              <a:t>C03 · 2.747–3.534 ثانية · The call arrives</a:t>
            </a:r>
          </a:p>
          <a:p/>
          <a:p>
            <a:r>
              <a:t>C04 · 3.788–6.001 ثانية · The agent sees customer context</a:t>
            </a:r>
          </a:p>
          <a:p/>
          <a:p>
            <a:r>
              <a:t>C05 · 6.566–7.083 ثانية · This time</a:t>
            </a:r>
          </a:p>
          <a:p/>
          <a:p>
            <a:r>
              <a:t>C06 · 7.486–9.188 ثانية · Inside the workflow</a:t>
            </a:r>
          </a:p>
          <a:p/>
          <a:p>
            <a:r>
              <a:t>C07 · 9.662–12.357 ثانية · Follow one call through Genesys</a:t>
            </a:r>
          </a:p>
          <a:p/>
          <a:p>
            <a:r>
              <a:t>C08 · 12.715–14.839 ثانية · Find the correct ticket</a:t>
            </a:r>
          </a:p>
          <a:p/>
          <a:p>
            <a:r>
              <a:t>C09 · 15.085–15.906 ثانية · Continue the follow-up</a:t>
            </a:r>
          </a:p>
          <a:p/>
          <a:p>
            <a:r>
              <a:t>C10 · 16.383–18.983 ثانية · GRINDCTRL proposes this experience</a:t>
            </a:r>
          </a:p>
          <a:p/>
          <a:p>
            <a:r>
              <a:t>C11 · 19.309–21.644 ثانية · This is not a deployed Concrete system</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C12 · 22.309–24.643 ثانية · Call assigned to an agent</a:t>
            </a:r>
          </a:p>
          <a:p/>
          <a:p>
            <a:r>
              <a:t>C13 · 24.824–27.384 ثانية · Available call information</a:t>
            </a:r>
          </a:p>
          <a:p/>
          <a:p>
            <a:r>
              <a:t>C14 · 27.810–29.601 ثانية · Caller number, if available</a:t>
            </a:r>
          </a:p>
          <a:p/>
          <a:p>
            <a:r>
              <a:t>C15 · 29.821–33.203 ثانية · An authorized lookup key</a:t>
            </a:r>
          </a:p>
          <a:p/>
          <a:p>
            <a:r>
              <a:t>C16 · 33.664–34.838 ثانية · A matching detail</a:t>
            </a:r>
          </a:p>
          <a:p/>
          <a:p>
            <a:r>
              <a:t>C17 · 35.258–37.583 ثانية · Different number formats</a:t>
            </a:r>
          </a:p>
          <a:p/>
          <a:p>
            <a:r>
              <a:t>C18 · 37.963–39.747 ثانية · Handle formats correctly</a:t>
            </a:r>
          </a:p>
          <a:p/>
          <a:p>
            <a:r>
              <a:t>C19 · 40.202–40.652 ثانية · Also</a:t>
            </a:r>
          </a:p>
          <a:p/>
          <a:p>
            <a:r>
              <a:t>C20 · 40.893–42.661 ثانية · A number associated with a record</a:t>
            </a:r>
          </a:p>
          <a:p/>
          <a:p>
            <a:r>
              <a:t>C21 · 42.864–44.903 ثانية · Association is not identity verification</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C22 · 45.488–47.522 ثانية · One clear customer record</a:t>
            </a:r>
          </a:p>
          <a:p/>
          <a:p>
            <a:r>
              <a:t>C23 · 47.744–49.618 ثانية · Within the agent’s permitted access</a:t>
            </a:r>
          </a:p>
          <a:p/>
          <a:p>
            <a:r>
              <a:t>C24 · 49.875–51.822 ثانية · Show useful call context</a:t>
            </a:r>
          </a:p>
          <a:p/>
          <a:p>
            <a:r>
              <a:t>C25 · 52.152–54.968 ثانية · Previous tickets and each ticket’s status</a:t>
            </a:r>
          </a:p>
          <a:p/>
          <a:p>
            <a:r>
              <a:t>C26 · 55.163–57.735 ثانية · Assigned agent and latest recorded update</a:t>
            </a:r>
          </a:p>
          <a:p/>
          <a:p>
            <a:r>
              <a:t>C27 · 58.215–61.241 ثانية · Agent selects the relevant ticket</a:t>
            </a:r>
          </a:p>
          <a:p/>
          <a:p>
            <a:r>
              <a:t>C28 · 61.468–64.096 ثانية · Avoid searching again across screens</a:t>
            </a:r>
          </a:p>
          <a:p/>
          <a:p>
            <a:r>
              <a:t>C29 · 64.447–64.958 ثانية · Most importantly</a:t>
            </a:r>
          </a:p>
          <a:p/>
          <a:p>
            <a:r>
              <a:t>C30 · 65.222–66.978 ثانية · Information stays in context</a:t>
            </a:r>
          </a:p>
          <a:p/>
          <a:p>
            <a:r>
              <a:t>C31 · 67.240–69.560 ثانية · No unrelated dashboard</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C32 · 70.104–71.172 ثانية · A fictional example</a:t>
            </a:r>
          </a:p>
          <a:p/>
          <a:p>
            <a:r>
              <a:t>C33 · 71.632–74.039 ثانية · Earlier exchange request</a:t>
            </a:r>
          </a:p>
          <a:p/>
          <a:p>
            <a:r>
              <a:t>C34 · 74.523–77.446 ثانية · Open ticket; inspect status and owner</a:t>
            </a:r>
          </a:p>
          <a:p/>
          <a:p>
            <a:r>
              <a:t>C35 · 77.610–78.683 ثانية · Latest existing note</a:t>
            </a:r>
          </a:p>
          <a:p/>
          <a:p>
            <a:r>
              <a:t>C36 · 79.112–79.703 ثانية · In this example</a:t>
            </a:r>
          </a:p>
          <a:p/>
          <a:p>
            <a:r>
              <a:t>C37 · 79.964–82.253 ثانية · Branch review is still pending</a:t>
            </a:r>
          </a:p>
          <a:p/>
          <a:p>
            <a:r>
              <a:t>C38 · 82.744–83.196 ثانية · Pay attention</a:t>
            </a:r>
          </a:p>
          <a:p/>
          <a:p>
            <a:r>
              <a:t>C39 · 83.459–85.260 ثانية · This is the ticket’s note</a:t>
            </a:r>
          </a:p>
          <a:p/>
          <a:p>
            <a:r>
              <a:t>C40 · 85.441–87.188 ثانية · It need not be the status field</a:t>
            </a:r>
          </a:p>
          <a:p/>
          <a:p>
            <a:r>
              <a:t>C41 · 87.635–90.150 ثانية · Agent understands the last recorded position</a:t>
            </a:r>
          </a:p>
          <a:p/>
          <a:p>
            <a:r>
              <a:t>C42 · 90.444–93.644 ثانية · Continue without restarting every question</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التاريخ مخفي خلال عرض المرشحين. يظهر سجل A بعد اكتمال جملة التحقق والاختيار. لا اختيار تلقائي ولا علامة توثيق هوية.</a:t>
            </a:r>
          </a:p>
          <a:p/>
          <a:p>
            <a:r>
              <a:t>C43 · 94.098–97.381 ثانية · One number, multiple customers</a:t>
            </a:r>
          </a:p>
          <a:p/>
          <a:p>
            <a:r>
              <a:t>C44 · 97.969–102.387 ثانية · Do not automatically choose and expose history</a:t>
            </a:r>
          </a:p>
          <a:p/>
          <a:p>
            <a:r>
              <a:t>C45 · 102.777–105.249 ثانية · Possible matches</a:t>
            </a:r>
          </a:p>
          <a:p/>
          <a:p>
            <a:r>
              <a:t>C46 · 105.559–107.698 ثانية · Review permitted information</a:t>
            </a:r>
          </a:p>
          <a:p/>
          <a:p>
            <a:r>
              <a:t>C47 · 108.064–111.391 ثانية · Select after agreed verification steps</a:t>
            </a:r>
          </a:p>
          <a:p/>
          <a:p>
            <a:r>
              <a:t>C48 · 111.873–116.654 ثانية · Speed without compromising accuracy or privacy</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عدم التطابق بعد بحث ناجح مختلف عن خطأ الإتاحة. أثناء توقف Desk لا نضمن البحث اليدوي؛ تستمر المكالمة وطريقة المتابعة المتفق عليها. زر إعادة المحاولة توضيحي دون تشغيل أو ضمان نجاح.</a:t>
            </a:r>
          </a:p>
          <a:p/>
          <a:p>
            <a:r>
              <a:t>C49 · 117.093–119.422 ثانية · Two different fallback conditions</a:t>
            </a:r>
          </a:p>
          <a:p/>
          <a:p>
            <a:r>
              <a:t>C50 · 119.955–120.517 ثانية · First condition</a:t>
            </a:r>
          </a:p>
          <a:p/>
          <a:p>
            <a:r>
              <a:t>C51 · 120.846–121.652 ثانية · Lookup completed</a:t>
            </a:r>
          </a:p>
          <a:p/>
          <a:p>
            <a:r>
              <a:t>C52 · 121.852–123.612 ثانية · No matching customer record</a:t>
            </a:r>
          </a:p>
          <a:p/>
          <a:p>
            <a:r>
              <a:t>C53 · 123.982–127.541 ثانية · Existing manual search procedure</a:t>
            </a:r>
          </a:p>
          <a:p/>
          <a:p>
            <a:r>
              <a:t>C54 · 128.022–128.558 ثانية · Second condition</a:t>
            </a:r>
          </a:p>
          <a:p/>
          <a:p>
            <a:r>
              <a:t>C55 · 128.862–131.034 ثانية · Zoho Desk unavailable or lookup failed</a:t>
            </a:r>
          </a:p>
          <a:p/>
          <a:p>
            <a:r>
              <a:t>C56 · 131.462–133.904 ثانية · Show an error / unavailable state</a:t>
            </a:r>
          </a:p>
          <a:p/>
          <a:p>
            <a:r>
              <a:t>C57 · 134.192–136.077 ثانية · Do not report no tickets found</a:t>
            </a:r>
          </a:p>
          <a:p/>
          <a:p>
            <a:r>
              <a:t>C58 · 136.607–137.304 ثانية · In either condition</a:t>
            </a:r>
          </a:p>
          <a:p/>
          <a:p>
            <a:r>
              <a:t>C59 · 137.516–138.695 ثانية · The call continues</a:t>
            </a:r>
          </a:p>
          <a:p/>
          <a:p>
            <a:r>
              <a:t>C60 · 138.974–141.328 ثانية · Keep the usual follow-up route</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C61 · 142.327–143.156 ثانية · Implementation transition (short ASR uncertain)</a:t>
            </a:r>
          </a:p>
          <a:p/>
          <a:p>
            <a:r>
              <a:t>C62 · 143.633–146.966 ثانية · Review contracted screen pop / integration</a:t>
            </a:r>
          </a:p>
          <a:p/>
          <a:p>
            <a:r>
              <a:t>C63 · 147.218–150.431 ثانية · Inspect actual Genesys and Desk configuration</a:t>
            </a:r>
          </a:p>
          <a:p/>
          <a:p>
            <a:r>
              <a:t>C64 · 150.889–153.537 ثانية · Use native features if sufficient</a:t>
            </a:r>
          </a:p>
          <a:p/>
          <a:p>
            <a:r>
              <a:t>C65 · 153.728–154.215 ثانية · Use the suitable native configuration</a:t>
            </a:r>
          </a:p>
          <a:p/>
          <a:p>
            <a:r>
              <a:t>C66 · 154.688–155.918 ثانية · If there is a real gap</a:t>
            </a:r>
          </a:p>
          <a:p/>
          <a:p>
            <a:r>
              <a:t>C67 · 156.163–158.247 ثانية · Smallest necessary approved integration layer</a:t>
            </a:r>
          </a:p>
          <a:p/>
          <a:p>
            <a:r>
              <a:t>C68 · 158.674–159.521 ثانية · In every case</a:t>
            </a:r>
          </a:p>
          <a:p/>
          <a:p>
            <a:r>
              <a:t>C69 · 159.699–161.094 ثانية · Preserve permissions</a:t>
            </a:r>
          </a:p>
          <a:p/>
          <a:p>
            <a:r>
              <a:t>C70 · 161.375–164.971 ثانية · Call arrival does not change ticket status</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ورقة التقييم تعرض طرق القياس فقط: الخطوات والوقت للمعلومة الصحيحة والمطابقة والصلاحيات والاستثناءات. لا نسب أو توفير أو نتائج مصطنعة. نختبر الصلاحيات والأرقام المشتركة وغير المعروفة والإتاحة قبل تحديد القيمة.</a:t>
            </a:r>
          </a:p>
          <a:p/>
          <a:p>
            <a:r>
              <a:t>C71 · 165.313–166.773 ثانية · How will we know it works?</a:t>
            </a:r>
          </a:p>
          <a:p/>
          <a:p>
            <a:r>
              <a:t>C72 · 167.251–169.087 ثانية · A good-looking animation is insufficient</a:t>
            </a:r>
          </a:p>
          <a:p/>
          <a:p>
            <a:r>
              <a:t>C73 · 169.660–172.204 ثانية · Authorized pilot test calls</a:t>
            </a:r>
          </a:p>
          <a:p/>
          <a:p>
            <a:r>
              <a:t>C74 · 172.483–175.059 ثانية · Compare manual and proposed workflows</a:t>
            </a:r>
          </a:p>
          <a:p/>
          <a:p>
            <a:r>
              <a:t>C75 · 175.652–179.741 ثانية · Measure interactions and time to correct context</a:t>
            </a:r>
          </a:p>
          <a:p/>
          <a:p>
            <a:r>
              <a:t>C76 · 180.146–181.076 ثانية · Matching accuracy</a:t>
            </a:r>
          </a:p>
          <a:p/>
          <a:p>
            <a:r>
              <a:t>C77 · 181.349–183.634 ثانية · Shared numbers and errors</a:t>
            </a:r>
          </a:p>
          <a:p/>
          <a:p>
            <a:r>
              <a:t>C78 · 184.169–185.331 ثانية · When results are available</a:t>
            </a:r>
          </a:p>
          <a:p/>
          <a:p>
            <a:r>
              <a:t>C79 · 185.554–187.901 ثانية · Establish the actual value for Concrete</a:t>
            </a:r>
          </a:p>
          <a:p/>
          <a:p>
            <a:r>
              <a:t>C80 · 188.221–189.320 ثانية · A sound first step</a:t>
            </a:r>
          </a:p>
          <a:p/>
          <a:p>
            <a:r>
              <a:t>C81 · 189.786–191.311 ثانية · A testable experience</a:t>
            </a:r>
          </a:p>
          <a:p/>
          <a:p>
            <a:r>
              <a:t>C82 · 191.615–193.679 ثانية · Built on the existing systems</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عدم التطابق بعد بحث ناجح مختلف عن خطأ الإتاحة. أثناء توقف Desk لا نضمن البحث اليدوي؛ تستمر المكالمة وطريقة المتابعة المتفق عليها. زر إعادة المحاولة توضيحي دون تشغيل أو ضمان نجاح.</a:t>
            </a:r>
          </a:p>
          <a:p/>
          <a:p>
            <a:r>
              <a:t>C49 · 117.093–119.422 ثانية · Two different fallback conditions</a:t>
            </a:r>
          </a:p>
          <a:p/>
          <a:p>
            <a:r>
              <a:t>C50 · 119.955–120.517 ثانية · First condition</a:t>
            </a:r>
          </a:p>
          <a:p/>
          <a:p>
            <a:r>
              <a:t>C51 · 120.846–121.652 ثانية · Lookup completed</a:t>
            </a:r>
          </a:p>
          <a:p/>
          <a:p>
            <a:r>
              <a:t>C52 · 121.852–123.612 ثانية · No matching customer record</a:t>
            </a:r>
          </a:p>
          <a:p/>
          <a:p>
            <a:r>
              <a:t>C53 · 123.982–127.541 ثانية · Existing manual search procedure</a:t>
            </a:r>
          </a:p>
          <a:p/>
          <a:p>
            <a:r>
              <a:t>C54 · 128.022–128.558 ثانية · Second condition</a:t>
            </a:r>
          </a:p>
          <a:p/>
          <a:p>
            <a:r>
              <a:t>C55 · 128.862–131.034 ثانية · Zoho Desk unavailable or lookup failed</a:t>
            </a:r>
          </a:p>
          <a:p/>
          <a:p>
            <a:r>
              <a:t>C56 · 131.462–133.904 ثانية · Show an error / unavailable state</a:t>
            </a:r>
          </a:p>
          <a:p/>
          <a:p>
            <a:r>
              <a:t>C57 · 134.192–136.077 ثانية · Do not report no tickets found</a:t>
            </a:r>
          </a:p>
          <a:p/>
          <a:p>
            <a:r>
              <a:t>C58 · 136.607–137.304 ثانية · In either condition</a:t>
            </a:r>
          </a:p>
          <a:p/>
          <a:p>
            <a:r>
              <a:t>C59 · 137.516–138.695 ثانية · The call continues</a:t>
            </a:r>
          </a:p>
          <a:p/>
          <a:p>
            <a:r>
              <a:t>C60 · 138.974–141.328 ثانية · Keep the usual follow-up route</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تعاون جديد مقترح من GRINDCTRL. السجلات خيالية. طريقة العمل بحسب الإفادة ولم تُختبر مستقلًا. لم يتم فحص واجهات العميل الفعلية أو الإعدادات أو API أو التراخيص أو نتائج الأداء.</a:t>
            </a:r>
          </a:p>
          <a:p/>
          <a:p>
            <a:r>
              <a:t>الشكل المنفصل للمكالمة والمعلومات توضيحي ولا يضمن شريطًا مدمجًا. نفحص بند CRM URL pop up integration في عقد نوفمبر ٢٠٢٣ صفحة ٤ وشكل العرض والصلاحيات قبل التنفيذ. مطابقة الرقم لا تثبت الهوية.</a:t>
            </a:r>
          </a:p>
          <a:p/>
          <a:p>
            <a:r>
              <a:t>التاريخ مخفي خلال عرض المرشحين. يظهر سجل A بعد اكتمال جملة التحقق والاختيار. لا اختيار تلقائي ولا علامة توثيق هوية.</a:t>
            </a:r>
          </a:p>
          <a:p/>
          <a:p>
            <a:r>
              <a:t>C43 · 94.098–97.381 ثانية · One number, multiple customers</a:t>
            </a:r>
          </a:p>
          <a:p/>
          <a:p>
            <a:r>
              <a:t>C44 · 97.969–102.387 ثانية · Do not automatically choose and expose history</a:t>
            </a:r>
          </a:p>
          <a:p/>
          <a:p>
            <a:r>
              <a:t>C45 · 102.777–105.249 ثانية · Possible matches</a:t>
            </a:r>
          </a:p>
          <a:p/>
          <a:p>
            <a:r>
              <a:t>C46 · 105.559–107.698 ثانية · Review permitted information</a:t>
            </a:r>
          </a:p>
          <a:p/>
          <a:p>
            <a:r>
              <a:t>C47 · 108.064–111.391 ثانية · Select after agreed verification steps</a:t>
            </a:r>
          </a:p>
          <a:p/>
          <a:p>
            <a:r>
              <a:t>C48 · 111.873–116.654 ثانية · Speed without compromising accuracy or privacy</a:t>
            </a:r>
          </a:p>
          <a:p/>
          <a:p>
            <a:r>
              <a:t>SOURCES (PDF pages):</a:t>
            </a:r>
          </a:p>
          <a:p/>
          <a:p>
            <a:r>
              <a:t>Customer report in this conversation —  — Manual phone search retrieves prior tickets; automatic call context reportedly absent. Not independently verified.</a:t>
            </a:r>
          </a:p>
          <a:p/>
          <a:p>
            <a:r>
              <a:t>Concrete contract (29-11-2023).pdf — 4 — CRM URL pop up integration. Contracted scope is not evidence of live operation.</a:t>
            </a:r>
          </a:p>
          <a:p/>
          <a:p>
            <a:r>
              <a:t>No existing Concrete/Centro relationship. All sample records are fictional. No live connector. Reported workflow has not been independently tested.</a:t>
            </a:r>
          </a:p>
          <a:p/>
          <a:p>
            <a:r>
              <a:t>Editable static scene reference. The original continuous MP3 is embedded unchanged on slide 1. Native PowerPoint playback has not been verified; slides advance manually and do not reproduce the full HTML animation choreography. HTML and MP4 are the synchronized audiovisual masters. Ten pages: eight principal scenes plus no-match and selected-record reference states. Install the bundled Manrope and IBM Plex Sans Arabic fonts for layout fidelity.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audio" Target="../media/grindctrl-part02-voiceover-ar.mp3"/><Relationship Id="rId13" Type="http://schemas.microsoft.com/office/2007/relationships/media" Target="../media/grindctrl-part02-voiceover-ar.mp3"/><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12.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3.png"/><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2.png"/><Relationship Id="rId10" Type="http://schemas.openxmlformats.org/officeDocument/2006/relationships/image" Target="../media/image8.png"/><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2.png"/><Relationship Id="rId8" Type="http://schemas.openxmlformats.org/officeDocument/2006/relationships/image" Target="../media/image9.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8.png"/><Relationship Id="rId8" Type="http://schemas.openxmlformats.org/officeDocument/2006/relationships/image" Target="../media/image10.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1.png"/><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داخل التجربة</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داخل طريقة العمل. مكالمة واحدة بالتفصيل.</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01 / 08</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Customer context</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8239125" y="2390775"/>
            <a:ext cx="409575" cy="4095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actor.png"/>
          <p:cNvPicPr>
            <a:picLocks noChangeAspect="1"/>
          </p:cNvPicPr>
          <p:nvPr/>
        </p:nvPicPr>
        <p:blipFill>
          <a:blip r:embed="rId9"/>
          <a:stretch>
            <a:fillRect/>
          </a:stretch>
        </p:blipFill>
        <p:spPr>
          <a:xfrm>
            <a:off x="8337423" y="2489073"/>
            <a:ext cx="212979" cy="212979"/>
          </a:xfrm>
          <a:prstGeom prst="rect">
            <a:avLst/>
          </a:prstGeom>
          <a:effectLst/>
        </p:spPr>
      </p:pic>
      <p:sp>
        <p:nvSpPr>
          <p:cNvPr id="36" name="TextBox 35"/>
          <p:cNvSpPr txBox="1"/>
          <p:nvPr/>
        </p:nvSpPr>
        <p:spPr>
          <a:xfrm>
            <a:off x="923925" y="2371725"/>
            <a:ext cx="7143750" cy="3429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العميل A</a:t>
            </a:r>
          </a:p>
        </p:txBody>
      </p:sp>
      <p:sp>
        <p:nvSpPr>
          <p:cNvPr id="37" name="TextBox 36"/>
          <p:cNvSpPr txBox="1"/>
          <p:nvPr/>
        </p:nvSpPr>
        <p:spPr>
          <a:xfrm>
            <a:off x="5305425" y="2781300"/>
            <a:ext cx="2762250"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سجل عميل مرتبط</a:t>
            </a:r>
          </a:p>
        </p:txBody>
      </p:sp>
      <p:sp>
        <p:nvSpPr>
          <p:cNvPr id="38" name="TextBox 37"/>
          <p:cNvSpPr txBox="1"/>
          <p:nvPr/>
        </p:nvSpPr>
        <p:spPr>
          <a:xfrm>
            <a:off x="1495425" y="2771775"/>
            <a:ext cx="3333750" cy="28575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cxnSp>
        <p:nvCxnSpPr>
          <p:cNvPr id="39" name="Connector 38"/>
          <p:cNvCxnSpPr/>
          <p:nvPr/>
        </p:nvCxnSpPr>
        <p:spPr>
          <a:xfrm flipH="1">
            <a:off x="666750" y="3228975"/>
            <a:ext cx="7981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5695950" y="3381375"/>
            <a:ext cx="2952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التذاكر السابقة</a:t>
            </a:r>
          </a:p>
        </p:txBody>
      </p:sp>
      <p:sp>
        <p:nvSpPr>
          <p:cNvPr id="41" name="Rounded Rectangle 40"/>
          <p:cNvSpPr/>
          <p:nvPr/>
        </p:nvSpPr>
        <p:spPr>
          <a:xfrm>
            <a:off x="5743575" y="3781425"/>
            <a:ext cx="2962275" cy="895350"/>
          </a:xfrm>
          <a:prstGeom prst="roundRect">
            <a:avLst>
              <a:gd name="adj" fmla="val 638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con-case.png"/>
          <p:cNvPicPr>
            <a:picLocks noChangeAspect="1"/>
          </p:cNvPicPr>
          <p:nvPr/>
        </p:nvPicPr>
        <p:blipFill>
          <a:blip r:embed="rId10"/>
          <a:stretch>
            <a:fillRect/>
          </a:stretch>
        </p:blipFill>
        <p:spPr>
          <a:xfrm>
            <a:off x="8343900" y="3924300"/>
            <a:ext cx="228600" cy="228600"/>
          </a:xfrm>
          <a:prstGeom prst="rect">
            <a:avLst/>
          </a:prstGeom>
          <a:effectLst/>
        </p:spPr>
      </p:pic>
      <p:sp>
        <p:nvSpPr>
          <p:cNvPr id="43" name="TextBox 42"/>
          <p:cNvSpPr txBox="1"/>
          <p:nvPr/>
        </p:nvSpPr>
        <p:spPr>
          <a:xfrm>
            <a:off x="5924550" y="3895725"/>
            <a:ext cx="2286000" cy="31432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1" lang="ar-EG">
                <a:solidFill>
                  <a:srgbClr val="262626"/>
                </a:solidFill>
                <a:latin typeface="Manrope"/>
                <a:cs typeface="IBM Plex Sans Arabic Medium"/>
              </a:rPr>
              <a:t>T101 · متابعة استبدال</a:t>
            </a:r>
          </a:p>
        </p:txBody>
      </p:sp>
      <p:sp>
        <p:nvSpPr>
          <p:cNvPr id="44" name="TextBox 43"/>
          <p:cNvSpPr txBox="1"/>
          <p:nvPr/>
        </p:nvSpPr>
        <p:spPr>
          <a:xfrm>
            <a:off x="7486650" y="4314825"/>
            <a:ext cx="1085850" cy="2667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49654E"/>
                </a:solidFill>
                <a:latin typeface="Manrope"/>
                <a:cs typeface="IBM Plex Sans Arabic Medium"/>
              </a:rPr>
              <a:t>مفتوحة</a:t>
            </a:r>
          </a:p>
        </p:txBody>
      </p:sp>
      <p:sp>
        <p:nvSpPr>
          <p:cNvPr id="45" name="TextBox 44"/>
          <p:cNvSpPr txBox="1"/>
          <p:nvPr/>
        </p:nvSpPr>
        <p:spPr>
          <a:xfrm>
            <a:off x="5972175" y="4314825"/>
            <a:ext cx="1200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B</a:t>
            </a:r>
          </a:p>
        </p:txBody>
      </p:sp>
      <p:sp>
        <p:nvSpPr>
          <p:cNvPr id="46" name="Rounded Rectangle 45"/>
          <p:cNvSpPr/>
          <p:nvPr/>
        </p:nvSpPr>
        <p:spPr>
          <a:xfrm>
            <a:off x="5743575" y="4781550"/>
            <a:ext cx="2962275" cy="895350"/>
          </a:xfrm>
          <a:prstGeom prst="roundRect">
            <a:avLst>
              <a:gd name="adj" fmla="val 638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7" name="Picture 46" descr="icon-case.png"/>
          <p:cNvPicPr>
            <a:picLocks noChangeAspect="1"/>
          </p:cNvPicPr>
          <p:nvPr/>
        </p:nvPicPr>
        <p:blipFill>
          <a:blip r:embed="rId10"/>
          <a:stretch>
            <a:fillRect/>
          </a:stretch>
        </p:blipFill>
        <p:spPr>
          <a:xfrm>
            <a:off x="8343900" y="4924425"/>
            <a:ext cx="228600" cy="228600"/>
          </a:xfrm>
          <a:prstGeom prst="rect">
            <a:avLst/>
          </a:prstGeom>
          <a:effectLst/>
        </p:spPr>
      </p:pic>
      <p:sp>
        <p:nvSpPr>
          <p:cNvPr id="48" name="TextBox 47"/>
          <p:cNvSpPr txBox="1"/>
          <p:nvPr/>
        </p:nvSpPr>
        <p:spPr>
          <a:xfrm>
            <a:off x="5924550" y="4895850"/>
            <a:ext cx="2286000" cy="31432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262626"/>
                </a:solidFill>
                <a:latin typeface="Manrope"/>
                <a:cs typeface="IBM Plex Sans Arabic Medium"/>
              </a:rPr>
              <a:t>T098 · سؤال مقاس</a:t>
            </a:r>
          </a:p>
        </p:txBody>
      </p:sp>
      <p:sp>
        <p:nvSpPr>
          <p:cNvPr id="49" name="TextBox 48"/>
          <p:cNvSpPr txBox="1"/>
          <p:nvPr/>
        </p:nvSpPr>
        <p:spPr>
          <a:xfrm>
            <a:off x="7486650" y="5314950"/>
            <a:ext cx="1085850" cy="2667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مغلقة</a:t>
            </a:r>
          </a:p>
        </p:txBody>
      </p:sp>
      <p:sp>
        <p:nvSpPr>
          <p:cNvPr id="50" name="TextBox 49"/>
          <p:cNvSpPr txBox="1"/>
          <p:nvPr/>
        </p:nvSpPr>
        <p:spPr>
          <a:xfrm>
            <a:off x="5972175" y="5314950"/>
            <a:ext cx="1200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C</a:t>
            </a:r>
          </a:p>
        </p:txBody>
      </p:sp>
      <p:cxnSp>
        <p:nvCxnSpPr>
          <p:cNvPr id="51" name="Connector 50"/>
          <p:cNvCxnSpPr/>
          <p:nvPr/>
        </p:nvCxnSpPr>
        <p:spPr>
          <a:xfrm>
            <a:off x="5553075" y="3381375"/>
            <a:ext cx="0" cy="25241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762000" y="3390900"/>
            <a:ext cx="454342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متابعة استبدال</a:t>
            </a:r>
          </a:p>
        </p:txBody>
      </p:sp>
      <p:sp>
        <p:nvSpPr>
          <p:cNvPr id="53" name="TextBox 52"/>
          <p:cNvSpPr txBox="1"/>
          <p:nvPr/>
        </p:nvSpPr>
        <p:spPr>
          <a:xfrm>
            <a:off x="4352925" y="3829050"/>
            <a:ext cx="952500" cy="2571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الحالة</a:t>
            </a:r>
          </a:p>
        </p:txBody>
      </p:sp>
      <p:sp>
        <p:nvSpPr>
          <p:cNvPr id="54" name="TextBox 53"/>
          <p:cNvSpPr txBox="1"/>
          <p:nvPr/>
        </p:nvSpPr>
        <p:spPr>
          <a:xfrm>
            <a:off x="3781425" y="4124325"/>
            <a:ext cx="15240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49654E"/>
                </a:solidFill>
                <a:latin typeface="Manrope"/>
                <a:cs typeface="IBM Plex Sans Arabic Medium"/>
              </a:rPr>
              <a:t>مفتوحة</a:t>
            </a:r>
          </a:p>
        </p:txBody>
      </p:sp>
      <p:sp>
        <p:nvSpPr>
          <p:cNvPr id="55" name="TextBox 54"/>
          <p:cNvSpPr txBox="1"/>
          <p:nvPr/>
        </p:nvSpPr>
        <p:spPr>
          <a:xfrm>
            <a:off x="981075" y="3829050"/>
            <a:ext cx="2362200" cy="2571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الموظف المسؤول</a:t>
            </a:r>
          </a:p>
        </p:txBody>
      </p:sp>
      <p:sp>
        <p:nvSpPr>
          <p:cNvPr id="56" name="TextBox 55"/>
          <p:cNvSpPr txBox="1"/>
          <p:nvPr/>
        </p:nvSpPr>
        <p:spPr>
          <a:xfrm>
            <a:off x="981075" y="4124325"/>
            <a:ext cx="23622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262626"/>
                </a:solidFill>
                <a:latin typeface="Manrope"/>
                <a:cs typeface="IBM Plex Sans Arabic Medium"/>
              </a:rPr>
              <a:t>الموظف B</a:t>
            </a:r>
          </a:p>
        </p:txBody>
      </p:sp>
      <p:sp>
        <p:nvSpPr>
          <p:cNvPr id="57" name="Rounded Rectangle 56"/>
          <p:cNvSpPr/>
          <p:nvPr/>
        </p:nvSpPr>
        <p:spPr>
          <a:xfrm>
            <a:off x="781050" y="4648200"/>
            <a:ext cx="4543425" cy="1266825"/>
          </a:xfrm>
          <a:prstGeom prst="roundRect">
            <a:avLst>
              <a:gd name="adj" fmla="val 526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8" name="Picture 57" descr="icon-file.png"/>
          <p:cNvPicPr>
            <a:picLocks noChangeAspect="1"/>
          </p:cNvPicPr>
          <p:nvPr/>
        </p:nvPicPr>
        <p:blipFill>
          <a:blip r:embed="rId11"/>
          <a:stretch>
            <a:fillRect/>
          </a:stretch>
        </p:blipFill>
        <p:spPr>
          <a:xfrm>
            <a:off x="4924425" y="4819650"/>
            <a:ext cx="228600" cy="228600"/>
          </a:xfrm>
          <a:prstGeom prst="rect">
            <a:avLst/>
          </a:prstGeom>
          <a:effectLst/>
        </p:spPr>
      </p:pic>
      <p:sp>
        <p:nvSpPr>
          <p:cNvPr id="59" name="TextBox 58"/>
          <p:cNvSpPr txBox="1"/>
          <p:nvPr/>
        </p:nvSpPr>
        <p:spPr>
          <a:xfrm>
            <a:off x="1057275" y="4800600"/>
            <a:ext cx="3733800" cy="29527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965318"/>
                </a:solidFill>
                <a:latin typeface="Manrope"/>
                <a:cs typeface="IBM Plex Sans Arabic Medium"/>
              </a:rPr>
              <a:t>آخر ملاحظة مسجلة</a:t>
            </a:r>
          </a:p>
        </p:txBody>
      </p:sp>
      <p:sp>
        <p:nvSpPr>
          <p:cNvPr id="60" name="TextBox 59"/>
          <p:cNvSpPr txBox="1"/>
          <p:nvPr/>
        </p:nvSpPr>
        <p:spPr>
          <a:xfrm>
            <a:off x="1019175" y="5210175"/>
            <a:ext cx="4133850" cy="64770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مراجعة الفرع لسه مطلوبة.</a:t>
            </a:r>
          </a:p>
        </p:txBody>
      </p:sp>
      <p:pic>
        <p:nvPicPr>
          <p:cNvPr id="61" name="Original Arabic narration — 194 seconds" descr="icon-mic.png">
            <a:hlinkClick action="ppaction://media" r:id=""/>
          </p:cNvPr>
          <p:cNvPicPr>
            <a:picLocks noChangeAspect="1"/>
          </p:cNvPicPr>
          <p:nvPr>
            <a:audioFile r:link="rId12"/>
            <p:extLst>
              <p:ext uri="{DAA4B4D4-6D71-4841-9C94-3DE7FCFB45AD}">
                <p14:media xmlns:p14="http://schemas.microsoft.com/office/powerpoint/2010/main" r:embed="rId13"/>
              </p:ext>
            </p:extLst>
          </p:nvPr>
        </p:nvPicPr>
        <p:blipFill>
          <a:blip r:embed="rId5"/>
          <a:stretch>
            <a:fillRect/>
          </a:stretch>
        </p:blipFill>
        <p:spPr>
          <a:xfrm>
            <a:off x="1409700" y="6486525"/>
            <a:ext cx="209550" cy="209550"/>
          </a:xfrm>
          <a:prstGeom prst="rect">
            <a:avLst/>
          </a:prstGeom>
        </p:spPr>
      </p:pic>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audio isNarration="1">
              <p:cMediaNode vol="100000" numSld="8" showWhenStopped="1">
                <p:cTn id="4" dur="194000" fill="hold" nodeType="withEffect">
                  <p:stCondLst>
                    <p:cond delay="0"/>
                  </p:stCondLst>
                </p:cTn>
                <p:tgtEl>
                  <p:spTgt spid="61"/>
                </p:tgtEl>
              </p:cMediaNode>
            </p:audi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رقم المتصل والبحث</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رقم المتصل يبدأ البحث.</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02 / 08</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Lookup · Proposed</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4" name="Picture 33" descr="icon-search.png"/>
          <p:cNvPicPr>
            <a:picLocks noChangeAspect="1"/>
          </p:cNvPicPr>
          <p:nvPr/>
        </p:nvPicPr>
        <p:blipFill>
          <a:blip r:embed="rId9"/>
          <a:stretch>
            <a:fillRect/>
          </a:stretch>
        </p:blipFill>
        <p:spPr>
          <a:xfrm>
            <a:off x="8305800" y="2571750"/>
            <a:ext cx="285750" cy="285750"/>
          </a:xfrm>
          <a:prstGeom prst="rect">
            <a:avLst/>
          </a:prstGeom>
          <a:effectLst/>
        </p:spPr>
      </p:pic>
      <p:sp>
        <p:nvSpPr>
          <p:cNvPr id="35" name="Rounded Rectangle 34"/>
          <p:cNvSpPr/>
          <p:nvPr/>
        </p:nvSpPr>
        <p:spPr>
          <a:xfrm>
            <a:off x="685800" y="2571750"/>
            <a:ext cx="7943850" cy="762000"/>
          </a:xfrm>
          <a:prstGeom prst="roundRect">
            <a:avLst>
              <a:gd name="adj" fmla="val 10000"/>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icon-search.png"/>
          <p:cNvPicPr>
            <a:picLocks noChangeAspect="1"/>
          </p:cNvPicPr>
          <p:nvPr/>
        </p:nvPicPr>
        <p:blipFill>
          <a:blip r:embed="rId9"/>
          <a:stretch>
            <a:fillRect/>
          </a:stretch>
        </p:blipFill>
        <p:spPr>
          <a:xfrm>
            <a:off x="8162925" y="2800350"/>
            <a:ext cx="266700" cy="266700"/>
          </a:xfrm>
          <a:prstGeom prst="rect">
            <a:avLst/>
          </a:prstGeom>
          <a:effectLst/>
        </p:spPr>
      </p:pic>
      <p:sp>
        <p:nvSpPr>
          <p:cNvPr id="37" name="TextBox 36"/>
          <p:cNvSpPr txBox="1"/>
          <p:nvPr/>
        </p:nvSpPr>
        <p:spPr>
          <a:xfrm>
            <a:off x="3924300" y="2743200"/>
            <a:ext cx="4057650" cy="371475"/>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1" lang="ar-EG">
                <a:solidFill>
                  <a:srgbClr val="262626"/>
                </a:solidFill>
                <a:latin typeface="Manrope"/>
                <a:cs typeface="IBM Plex Sans Arabic Medium"/>
              </a:rPr>
              <a:t>+20 ••• 410</a:t>
            </a:r>
          </a:p>
        </p:txBody>
      </p:sp>
      <p:sp>
        <p:nvSpPr>
          <p:cNvPr id="38" name="TextBox 37"/>
          <p:cNvSpPr txBox="1"/>
          <p:nvPr/>
        </p:nvSpPr>
        <p:spPr>
          <a:xfrm>
            <a:off x="962025" y="2800350"/>
            <a:ext cx="2924175" cy="304800"/>
          </a:xfrm>
          <a:prstGeom prst="rect">
            <a:avLst/>
          </a:prstGeom>
          <a:noFill/>
          <a:effectLst/>
        </p:spPr>
        <p:txBody>
          <a:bodyPr wrap="square" lIns="0" rIns="0" tIns="0" bIns="0" anchor="t">
            <a:spAutoFit/>
          </a:bodyPr>
          <a:lstStyle/>
          <a:p>
            <a:pPr algn="l" rtl="1">
              <a:lnSpc>
                <a:spcPts val="1764"/>
              </a:lnSpc>
              <a:spcBef>
                <a:spcPts val="0"/>
              </a:spcBef>
              <a:spcAft>
                <a:spcPts val="0"/>
              </a:spcAft>
            </a:pPr>
            <a:r>
              <a:rPr sz="1575" b="0" lang="ar-EG">
                <a:solidFill>
                  <a:srgbClr val="965318"/>
                </a:solidFill>
                <a:latin typeface="Manrope"/>
                <a:cs typeface="IBM Plex Sans Arabic Medium"/>
              </a:rPr>
              <a:t>مفتاح بحث</a:t>
            </a:r>
          </a:p>
        </p:txBody>
      </p:sp>
      <p:sp>
        <p:nvSpPr>
          <p:cNvPr id="39" name="TextBox 38"/>
          <p:cNvSpPr txBox="1"/>
          <p:nvPr/>
        </p:nvSpPr>
        <p:spPr>
          <a:xfrm>
            <a:off x="1104900" y="3533775"/>
            <a:ext cx="7486650" cy="3143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سجلات العملاء الموجودة في Zoho Desk</a:t>
            </a:r>
          </a:p>
        </p:txBody>
      </p:sp>
      <p:sp>
        <p:nvSpPr>
          <p:cNvPr id="40" name="Rounded Rectangle 39"/>
          <p:cNvSpPr/>
          <p:nvPr/>
        </p:nvSpPr>
        <p:spPr>
          <a:xfrm>
            <a:off x="5124450" y="4019550"/>
            <a:ext cx="3486150" cy="685800"/>
          </a:xfrm>
          <a:prstGeom prst="roundRect">
            <a:avLst>
              <a:gd name="adj" fmla="val 11111"/>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04850" y="4019550"/>
            <a:ext cx="3695700" cy="685800"/>
          </a:xfrm>
          <a:prstGeom prst="roundRect">
            <a:avLst>
              <a:gd name="adj" fmla="val 11111"/>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314950" y="4229100"/>
            <a:ext cx="3105150" cy="32385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0" lang="ar-EG">
                <a:solidFill>
                  <a:srgbClr val="262626"/>
                </a:solidFill>
                <a:latin typeface="Manrope"/>
                <a:cs typeface="IBM Plex Sans Arabic Medium"/>
              </a:rPr>
              <a:t>0••• 410</a:t>
            </a:r>
          </a:p>
        </p:txBody>
      </p:sp>
      <p:sp>
        <p:nvSpPr>
          <p:cNvPr id="43" name="TextBox 42"/>
          <p:cNvSpPr txBox="1"/>
          <p:nvPr/>
        </p:nvSpPr>
        <p:spPr>
          <a:xfrm>
            <a:off x="895350" y="4229100"/>
            <a:ext cx="3314700" cy="323850"/>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0" lang="ar-EG">
                <a:solidFill>
                  <a:srgbClr val="262626"/>
                </a:solidFill>
                <a:latin typeface="Manrope"/>
                <a:cs typeface="IBM Plex Sans Arabic Medium"/>
              </a:rPr>
              <a:t>+20 ••• 410</a:t>
            </a:r>
          </a:p>
        </p:txBody>
      </p:sp>
      <p:cxnSp>
        <p:nvCxnSpPr>
          <p:cNvPr id="44" name="Connector 43"/>
          <p:cNvCxnSpPr/>
          <p:nvPr/>
        </p:nvCxnSpPr>
        <p:spPr>
          <a:xfrm flipH="1">
            <a:off x="4533900" y="4362450"/>
            <a:ext cx="46672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38200" y="4867275"/>
            <a:ext cx="7753350" cy="27622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أمثلة صيغ توضيحية · قواعد المطابقة تحتاج تحققًا</a:t>
            </a:r>
          </a:p>
        </p:txBody>
      </p:sp>
      <p:pic>
        <p:nvPicPr>
          <p:cNvPr id="46" name="Picture 45" descr="icon-lock.png"/>
          <p:cNvPicPr>
            <a:picLocks noChangeAspect="1"/>
          </p:cNvPicPr>
          <p:nvPr/>
        </p:nvPicPr>
        <p:blipFill>
          <a:blip r:embed="rId10"/>
          <a:stretch>
            <a:fillRect/>
          </a:stretch>
        </p:blipFill>
        <p:spPr>
          <a:xfrm>
            <a:off x="8334375" y="5476875"/>
            <a:ext cx="257175" cy="257175"/>
          </a:xfrm>
          <a:prstGeom prst="rect">
            <a:avLst/>
          </a:prstGeom>
          <a:effectLst/>
        </p:spPr>
      </p:pic>
      <p:sp>
        <p:nvSpPr>
          <p:cNvPr id="47" name="TextBox 46"/>
          <p:cNvSpPr txBox="1"/>
          <p:nvPr/>
        </p:nvSpPr>
        <p:spPr>
          <a:xfrm>
            <a:off x="866775" y="5457825"/>
            <a:ext cx="7286625" cy="3714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مطابقة الرقم لا تثبت هوية المتصل.</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الموظف هيشوف إيه</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المعلومات المناسبة، جنب المكالمة.</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03 / 08</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Customer context</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8239125" y="2390775"/>
            <a:ext cx="409575" cy="4095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actor.png"/>
          <p:cNvPicPr>
            <a:picLocks noChangeAspect="1"/>
          </p:cNvPicPr>
          <p:nvPr/>
        </p:nvPicPr>
        <p:blipFill>
          <a:blip r:embed="rId9"/>
          <a:stretch>
            <a:fillRect/>
          </a:stretch>
        </p:blipFill>
        <p:spPr>
          <a:xfrm>
            <a:off x="8337423" y="2489073"/>
            <a:ext cx="212979" cy="212979"/>
          </a:xfrm>
          <a:prstGeom prst="rect">
            <a:avLst/>
          </a:prstGeom>
          <a:effectLst/>
        </p:spPr>
      </p:pic>
      <p:sp>
        <p:nvSpPr>
          <p:cNvPr id="36" name="TextBox 35"/>
          <p:cNvSpPr txBox="1"/>
          <p:nvPr/>
        </p:nvSpPr>
        <p:spPr>
          <a:xfrm>
            <a:off x="923925" y="2371725"/>
            <a:ext cx="7143750" cy="3429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العميل A</a:t>
            </a:r>
          </a:p>
        </p:txBody>
      </p:sp>
      <p:sp>
        <p:nvSpPr>
          <p:cNvPr id="37" name="TextBox 36"/>
          <p:cNvSpPr txBox="1"/>
          <p:nvPr/>
        </p:nvSpPr>
        <p:spPr>
          <a:xfrm>
            <a:off x="5305425" y="2781300"/>
            <a:ext cx="2762250"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سجل عميل مرتبط</a:t>
            </a:r>
          </a:p>
        </p:txBody>
      </p:sp>
      <p:sp>
        <p:nvSpPr>
          <p:cNvPr id="38" name="TextBox 37"/>
          <p:cNvSpPr txBox="1"/>
          <p:nvPr/>
        </p:nvSpPr>
        <p:spPr>
          <a:xfrm>
            <a:off x="1495425" y="2771775"/>
            <a:ext cx="3333750" cy="28575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cxnSp>
        <p:nvCxnSpPr>
          <p:cNvPr id="39" name="Connector 38"/>
          <p:cNvCxnSpPr/>
          <p:nvPr/>
        </p:nvCxnSpPr>
        <p:spPr>
          <a:xfrm flipH="1">
            <a:off x="666750" y="3228975"/>
            <a:ext cx="7981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40" name="Picture 39" descr="icon-lock.png"/>
          <p:cNvPicPr>
            <a:picLocks noChangeAspect="1"/>
          </p:cNvPicPr>
          <p:nvPr/>
        </p:nvPicPr>
        <p:blipFill>
          <a:blip r:embed="rId10"/>
          <a:stretch>
            <a:fillRect/>
          </a:stretch>
        </p:blipFill>
        <p:spPr>
          <a:xfrm>
            <a:off x="1933575" y="2428875"/>
            <a:ext cx="209550" cy="209550"/>
          </a:xfrm>
          <a:prstGeom prst="rect">
            <a:avLst/>
          </a:prstGeom>
          <a:effectLst/>
        </p:spPr>
      </p:pic>
      <p:sp>
        <p:nvSpPr>
          <p:cNvPr id="41" name="TextBox 40"/>
          <p:cNvSpPr txBox="1"/>
          <p:nvPr/>
        </p:nvSpPr>
        <p:spPr>
          <a:xfrm>
            <a:off x="771525" y="2390775"/>
            <a:ext cx="1076325" cy="53340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68645E"/>
                </a:solidFill>
                <a:latin typeface="Manrope"/>
                <a:cs typeface="IBM Plex Sans Arabic Medium"/>
              </a:rPr>
              <a:t>الصلاحيات</a:t>
            </a:r>
          </a:p>
          <a:p>
            <a:pPr algn="r" rtl="1">
              <a:lnSpc>
                <a:spcPts val="1344"/>
              </a:lnSpc>
              <a:spcBef>
                <a:spcPts val="0"/>
              </a:spcBef>
              <a:spcAft>
                <a:spcPts val="0"/>
              </a:spcAft>
            </a:pPr>
            <a:r>
              <a:rPr sz="1200" b="0" lang="ar-EG">
                <a:solidFill>
                  <a:srgbClr val="68645E"/>
                </a:solidFill>
                <a:latin typeface="Manrope"/>
                <a:cs typeface="IBM Plex Sans Arabic Medium"/>
              </a:rPr>
              <a:t>المسموحة</a:t>
            </a:r>
          </a:p>
        </p:txBody>
      </p:sp>
      <p:sp>
        <p:nvSpPr>
          <p:cNvPr id="42" name="TextBox 41"/>
          <p:cNvSpPr txBox="1"/>
          <p:nvPr/>
        </p:nvSpPr>
        <p:spPr>
          <a:xfrm>
            <a:off x="5695950" y="3381375"/>
            <a:ext cx="2952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التذاكر السابقة</a:t>
            </a:r>
          </a:p>
        </p:txBody>
      </p:sp>
      <p:sp>
        <p:nvSpPr>
          <p:cNvPr id="43" name="Rounded Rectangle 42"/>
          <p:cNvSpPr/>
          <p:nvPr/>
        </p:nvSpPr>
        <p:spPr>
          <a:xfrm>
            <a:off x="5743575" y="3781425"/>
            <a:ext cx="2962275" cy="895350"/>
          </a:xfrm>
          <a:prstGeom prst="roundRect">
            <a:avLst>
              <a:gd name="adj" fmla="val 638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4" name="Picture 43" descr="icon-case.png"/>
          <p:cNvPicPr>
            <a:picLocks noChangeAspect="1"/>
          </p:cNvPicPr>
          <p:nvPr/>
        </p:nvPicPr>
        <p:blipFill>
          <a:blip r:embed="rId11"/>
          <a:stretch>
            <a:fillRect/>
          </a:stretch>
        </p:blipFill>
        <p:spPr>
          <a:xfrm>
            <a:off x="8343900" y="3924300"/>
            <a:ext cx="228600" cy="228600"/>
          </a:xfrm>
          <a:prstGeom prst="rect">
            <a:avLst/>
          </a:prstGeom>
          <a:effectLst/>
        </p:spPr>
      </p:pic>
      <p:sp>
        <p:nvSpPr>
          <p:cNvPr id="45" name="TextBox 44"/>
          <p:cNvSpPr txBox="1"/>
          <p:nvPr/>
        </p:nvSpPr>
        <p:spPr>
          <a:xfrm>
            <a:off x="5924550" y="3895725"/>
            <a:ext cx="2286000" cy="31432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1" lang="ar-EG">
                <a:solidFill>
                  <a:srgbClr val="262626"/>
                </a:solidFill>
                <a:latin typeface="Manrope"/>
                <a:cs typeface="IBM Plex Sans Arabic Medium"/>
              </a:rPr>
              <a:t>T101 · متابعة استبدال</a:t>
            </a:r>
          </a:p>
        </p:txBody>
      </p:sp>
      <p:sp>
        <p:nvSpPr>
          <p:cNvPr id="46" name="TextBox 45"/>
          <p:cNvSpPr txBox="1"/>
          <p:nvPr/>
        </p:nvSpPr>
        <p:spPr>
          <a:xfrm>
            <a:off x="7486650" y="4314825"/>
            <a:ext cx="1085850" cy="2667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49654E"/>
                </a:solidFill>
                <a:latin typeface="Manrope"/>
                <a:cs typeface="IBM Plex Sans Arabic Medium"/>
              </a:rPr>
              <a:t>مفتوحة</a:t>
            </a:r>
          </a:p>
        </p:txBody>
      </p:sp>
      <p:sp>
        <p:nvSpPr>
          <p:cNvPr id="47" name="TextBox 46"/>
          <p:cNvSpPr txBox="1"/>
          <p:nvPr/>
        </p:nvSpPr>
        <p:spPr>
          <a:xfrm>
            <a:off x="5972175" y="4314825"/>
            <a:ext cx="1200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B</a:t>
            </a:r>
          </a:p>
        </p:txBody>
      </p:sp>
      <p:sp>
        <p:nvSpPr>
          <p:cNvPr id="48" name="Rounded Rectangle 47"/>
          <p:cNvSpPr/>
          <p:nvPr/>
        </p:nvSpPr>
        <p:spPr>
          <a:xfrm>
            <a:off x="5743575" y="4781550"/>
            <a:ext cx="2962275" cy="895350"/>
          </a:xfrm>
          <a:prstGeom prst="roundRect">
            <a:avLst>
              <a:gd name="adj" fmla="val 638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9" name="Picture 48" descr="icon-case.png"/>
          <p:cNvPicPr>
            <a:picLocks noChangeAspect="1"/>
          </p:cNvPicPr>
          <p:nvPr/>
        </p:nvPicPr>
        <p:blipFill>
          <a:blip r:embed="rId11"/>
          <a:stretch>
            <a:fillRect/>
          </a:stretch>
        </p:blipFill>
        <p:spPr>
          <a:xfrm>
            <a:off x="8343900" y="4924425"/>
            <a:ext cx="228600" cy="228600"/>
          </a:xfrm>
          <a:prstGeom prst="rect">
            <a:avLst/>
          </a:prstGeom>
          <a:effectLst/>
        </p:spPr>
      </p:pic>
      <p:sp>
        <p:nvSpPr>
          <p:cNvPr id="50" name="TextBox 49"/>
          <p:cNvSpPr txBox="1"/>
          <p:nvPr/>
        </p:nvSpPr>
        <p:spPr>
          <a:xfrm>
            <a:off x="5924550" y="4895850"/>
            <a:ext cx="2286000" cy="31432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262626"/>
                </a:solidFill>
                <a:latin typeface="Manrope"/>
                <a:cs typeface="IBM Plex Sans Arabic Medium"/>
              </a:rPr>
              <a:t>T098 · سؤال مقاس</a:t>
            </a:r>
          </a:p>
        </p:txBody>
      </p:sp>
      <p:sp>
        <p:nvSpPr>
          <p:cNvPr id="51" name="TextBox 50"/>
          <p:cNvSpPr txBox="1"/>
          <p:nvPr/>
        </p:nvSpPr>
        <p:spPr>
          <a:xfrm>
            <a:off x="7486650" y="5314950"/>
            <a:ext cx="1085850" cy="2667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مغلقة</a:t>
            </a:r>
          </a:p>
        </p:txBody>
      </p:sp>
      <p:sp>
        <p:nvSpPr>
          <p:cNvPr id="52" name="TextBox 51"/>
          <p:cNvSpPr txBox="1"/>
          <p:nvPr/>
        </p:nvSpPr>
        <p:spPr>
          <a:xfrm>
            <a:off x="5972175" y="5314950"/>
            <a:ext cx="1200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C</a:t>
            </a:r>
          </a:p>
        </p:txBody>
      </p:sp>
      <p:cxnSp>
        <p:nvCxnSpPr>
          <p:cNvPr id="53" name="Connector 52"/>
          <p:cNvCxnSpPr/>
          <p:nvPr/>
        </p:nvCxnSpPr>
        <p:spPr>
          <a:xfrm>
            <a:off x="5553075" y="3381375"/>
            <a:ext cx="0" cy="25241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762000" y="3390900"/>
            <a:ext cx="454342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متابعة استبدال</a:t>
            </a:r>
          </a:p>
        </p:txBody>
      </p:sp>
      <p:sp>
        <p:nvSpPr>
          <p:cNvPr id="55" name="TextBox 54"/>
          <p:cNvSpPr txBox="1"/>
          <p:nvPr/>
        </p:nvSpPr>
        <p:spPr>
          <a:xfrm>
            <a:off x="4352925" y="3829050"/>
            <a:ext cx="952500" cy="2571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الحالة</a:t>
            </a:r>
          </a:p>
        </p:txBody>
      </p:sp>
      <p:sp>
        <p:nvSpPr>
          <p:cNvPr id="56" name="TextBox 55"/>
          <p:cNvSpPr txBox="1"/>
          <p:nvPr/>
        </p:nvSpPr>
        <p:spPr>
          <a:xfrm>
            <a:off x="3781425" y="4124325"/>
            <a:ext cx="15240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49654E"/>
                </a:solidFill>
                <a:latin typeface="Manrope"/>
                <a:cs typeface="IBM Plex Sans Arabic Medium"/>
              </a:rPr>
              <a:t>مفتوحة</a:t>
            </a:r>
          </a:p>
        </p:txBody>
      </p:sp>
      <p:sp>
        <p:nvSpPr>
          <p:cNvPr id="57" name="TextBox 56"/>
          <p:cNvSpPr txBox="1"/>
          <p:nvPr/>
        </p:nvSpPr>
        <p:spPr>
          <a:xfrm>
            <a:off x="981075" y="3829050"/>
            <a:ext cx="2362200" cy="2571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الموظف المسؤول</a:t>
            </a:r>
          </a:p>
        </p:txBody>
      </p:sp>
      <p:sp>
        <p:nvSpPr>
          <p:cNvPr id="58" name="TextBox 57"/>
          <p:cNvSpPr txBox="1"/>
          <p:nvPr/>
        </p:nvSpPr>
        <p:spPr>
          <a:xfrm>
            <a:off x="981075" y="4124325"/>
            <a:ext cx="23622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262626"/>
                </a:solidFill>
                <a:latin typeface="Manrope"/>
                <a:cs typeface="IBM Plex Sans Arabic Medium"/>
              </a:rPr>
              <a:t>الموظف B</a:t>
            </a:r>
          </a:p>
        </p:txBody>
      </p:sp>
      <p:sp>
        <p:nvSpPr>
          <p:cNvPr id="59" name="Rounded Rectangle 58"/>
          <p:cNvSpPr/>
          <p:nvPr/>
        </p:nvSpPr>
        <p:spPr>
          <a:xfrm>
            <a:off x="781050" y="4648200"/>
            <a:ext cx="4543425" cy="1266825"/>
          </a:xfrm>
          <a:prstGeom prst="roundRect">
            <a:avLst>
              <a:gd name="adj" fmla="val 526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60" name="Picture 59" descr="icon-file.png"/>
          <p:cNvPicPr>
            <a:picLocks noChangeAspect="1"/>
          </p:cNvPicPr>
          <p:nvPr/>
        </p:nvPicPr>
        <p:blipFill>
          <a:blip r:embed="rId12"/>
          <a:stretch>
            <a:fillRect/>
          </a:stretch>
        </p:blipFill>
        <p:spPr>
          <a:xfrm>
            <a:off x="4924425" y="4819650"/>
            <a:ext cx="228600" cy="228600"/>
          </a:xfrm>
          <a:prstGeom prst="rect">
            <a:avLst/>
          </a:prstGeom>
          <a:effectLst/>
        </p:spPr>
      </p:pic>
      <p:sp>
        <p:nvSpPr>
          <p:cNvPr id="61" name="TextBox 60"/>
          <p:cNvSpPr txBox="1"/>
          <p:nvPr/>
        </p:nvSpPr>
        <p:spPr>
          <a:xfrm>
            <a:off x="1057275" y="4800600"/>
            <a:ext cx="3733800" cy="29527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965318"/>
                </a:solidFill>
                <a:latin typeface="Manrope"/>
                <a:cs typeface="IBM Plex Sans Arabic Medium"/>
              </a:rPr>
              <a:t>آخر ملاحظة مسجلة</a:t>
            </a:r>
          </a:p>
        </p:txBody>
      </p:sp>
      <p:sp>
        <p:nvSpPr>
          <p:cNvPr id="62" name="TextBox 61"/>
          <p:cNvSpPr txBox="1"/>
          <p:nvPr/>
        </p:nvSpPr>
        <p:spPr>
          <a:xfrm>
            <a:off x="1019175" y="5210175"/>
            <a:ext cx="4133850" cy="64770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مراجعة الفرع لسه مطلوبة.</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متابعة الاستبدال</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T101: نقرأ الملاحظة، ونفرّقها عن الحالة.</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04 / 08</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Ticket T101 · Read-only</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4" name="Picture 33" descr="icon-case.png"/>
          <p:cNvPicPr>
            <a:picLocks noChangeAspect="1"/>
          </p:cNvPicPr>
          <p:nvPr/>
        </p:nvPicPr>
        <p:blipFill>
          <a:blip r:embed="rId9"/>
          <a:stretch>
            <a:fillRect/>
          </a:stretch>
        </p:blipFill>
        <p:spPr>
          <a:xfrm>
            <a:off x="8324850" y="2543175"/>
            <a:ext cx="266700" cy="266700"/>
          </a:xfrm>
          <a:prstGeom prst="rect">
            <a:avLst/>
          </a:prstGeom>
          <a:effectLst/>
        </p:spPr>
      </p:pic>
      <p:sp>
        <p:nvSpPr>
          <p:cNvPr id="35" name="TextBox 34"/>
          <p:cNvSpPr txBox="1"/>
          <p:nvPr/>
        </p:nvSpPr>
        <p:spPr>
          <a:xfrm>
            <a:off x="952500" y="2486025"/>
            <a:ext cx="7210425" cy="381000"/>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1" lang="ar-EG">
                <a:solidFill>
                  <a:srgbClr val="262626"/>
                </a:solidFill>
                <a:latin typeface="Manrope"/>
                <a:cs typeface="IBM Plex Sans Arabic Medium"/>
              </a:rPr>
              <a:t>T101 · طلب استبدال</a:t>
            </a:r>
          </a:p>
        </p:txBody>
      </p:sp>
      <p:sp>
        <p:nvSpPr>
          <p:cNvPr id="36" name="TextBox 35"/>
          <p:cNvSpPr txBox="1"/>
          <p:nvPr/>
        </p:nvSpPr>
        <p:spPr>
          <a:xfrm>
            <a:off x="1057275" y="2971800"/>
            <a:ext cx="753427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العميل A · متابعة طلب الاستبدال الموجود</a:t>
            </a:r>
          </a:p>
        </p:txBody>
      </p:sp>
      <p:cxnSp>
        <p:nvCxnSpPr>
          <p:cNvPr id="37" name="Connector 36"/>
          <p:cNvCxnSpPr/>
          <p:nvPr/>
        </p:nvCxnSpPr>
        <p:spPr>
          <a:xfrm flipH="1">
            <a:off x="714375" y="3419475"/>
            <a:ext cx="7896225"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6057900" y="3609975"/>
            <a:ext cx="25336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حالة التذكرة</a:t>
            </a:r>
          </a:p>
        </p:txBody>
      </p:sp>
      <p:sp>
        <p:nvSpPr>
          <p:cNvPr id="39" name="TextBox 38"/>
          <p:cNvSpPr txBox="1"/>
          <p:nvPr/>
        </p:nvSpPr>
        <p:spPr>
          <a:xfrm>
            <a:off x="6057900" y="3943350"/>
            <a:ext cx="2533650" cy="3429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49654E"/>
                </a:solidFill>
                <a:latin typeface="Manrope"/>
                <a:cs typeface="IBM Plex Sans Arabic Medium"/>
              </a:rPr>
              <a:t>مفتوحة</a:t>
            </a:r>
          </a:p>
        </p:txBody>
      </p:sp>
      <p:sp>
        <p:nvSpPr>
          <p:cNvPr id="40" name="TextBox 39"/>
          <p:cNvSpPr txBox="1"/>
          <p:nvPr/>
        </p:nvSpPr>
        <p:spPr>
          <a:xfrm>
            <a:off x="1123950" y="3609975"/>
            <a:ext cx="4248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المسؤول</a:t>
            </a:r>
          </a:p>
        </p:txBody>
      </p:sp>
      <p:sp>
        <p:nvSpPr>
          <p:cNvPr id="41" name="TextBox 40"/>
          <p:cNvSpPr txBox="1"/>
          <p:nvPr/>
        </p:nvSpPr>
        <p:spPr>
          <a:xfrm>
            <a:off x="1123950" y="3943350"/>
            <a:ext cx="4248150" cy="3429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0" lang="ar-EG">
                <a:solidFill>
                  <a:srgbClr val="262626"/>
                </a:solidFill>
                <a:latin typeface="Manrope"/>
                <a:cs typeface="IBM Plex Sans Arabic Medium"/>
              </a:rPr>
              <a:t>الموظف B</a:t>
            </a:r>
          </a:p>
        </p:txBody>
      </p:sp>
      <p:sp>
        <p:nvSpPr>
          <p:cNvPr id="42" name="Rounded Rectangle 41"/>
          <p:cNvSpPr/>
          <p:nvPr/>
        </p:nvSpPr>
        <p:spPr>
          <a:xfrm>
            <a:off x="704850" y="4572000"/>
            <a:ext cx="7905750" cy="1285875"/>
          </a:xfrm>
          <a:prstGeom prst="roundRect">
            <a:avLst>
              <a:gd name="adj" fmla="val 5925"/>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3" name="Picture 42" descr="icon-file.png"/>
          <p:cNvPicPr>
            <a:picLocks noChangeAspect="1"/>
          </p:cNvPicPr>
          <p:nvPr/>
        </p:nvPicPr>
        <p:blipFill>
          <a:blip r:embed="rId10"/>
          <a:stretch>
            <a:fillRect/>
          </a:stretch>
        </p:blipFill>
        <p:spPr>
          <a:xfrm>
            <a:off x="8172450" y="4762500"/>
            <a:ext cx="238125" cy="238125"/>
          </a:xfrm>
          <a:prstGeom prst="rect">
            <a:avLst/>
          </a:prstGeom>
          <a:effectLst/>
        </p:spPr>
      </p:pic>
      <p:sp>
        <p:nvSpPr>
          <p:cNvPr id="44" name="TextBox 43"/>
          <p:cNvSpPr txBox="1"/>
          <p:nvPr/>
        </p:nvSpPr>
        <p:spPr>
          <a:xfrm>
            <a:off x="1038225" y="4733925"/>
            <a:ext cx="6943725" cy="31432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965318"/>
                </a:solidFill>
                <a:latin typeface="Manrope"/>
                <a:cs typeface="IBM Plex Sans Arabic Medium"/>
              </a:rPr>
              <a:t>آخر ملاحظة مسجلة</a:t>
            </a:r>
          </a:p>
        </p:txBody>
      </p:sp>
      <p:sp>
        <p:nvSpPr>
          <p:cNvPr id="45" name="TextBox 44"/>
          <p:cNvSpPr txBox="1"/>
          <p:nvPr/>
        </p:nvSpPr>
        <p:spPr>
          <a:xfrm>
            <a:off x="1038225" y="5219700"/>
            <a:ext cx="7372350" cy="447675"/>
          </a:xfrm>
          <a:prstGeom prst="rect">
            <a:avLst/>
          </a:prstGeom>
          <a:noFill/>
          <a:effectLst/>
        </p:spPr>
        <p:txBody>
          <a:bodyPr wrap="square" lIns="0" rIns="0" tIns="0" bIns="0" anchor="t">
            <a:spAutoFit/>
          </a:bodyPr>
          <a:lstStyle/>
          <a:p>
            <a:pPr algn="r" rtl="1">
              <a:lnSpc>
                <a:spcPts val="2520"/>
              </a:lnSpc>
              <a:spcBef>
                <a:spcPts val="0"/>
              </a:spcBef>
              <a:spcAft>
                <a:spcPts val="0"/>
              </a:spcAft>
            </a:pPr>
            <a:r>
              <a:rPr sz="2250" b="1" lang="ar-EG">
                <a:solidFill>
                  <a:srgbClr val="262626"/>
                </a:solidFill>
                <a:latin typeface="Manrope"/>
                <a:cs typeface="IBM Plex Sans Arabic Medium"/>
              </a:rPr>
              <a:t>مراجعة الفرع لسه مطلوبة.</a:t>
            </a:r>
          </a:p>
        </p:txBody>
      </p:sp>
      <p:pic>
        <p:nvPicPr>
          <p:cNvPr id="46" name="Picture 45" descr="icon-speech.png"/>
          <p:cNvPicPr>
            <a:picLocks noChangeAspect="1"/>
          </p:cNvPicPr>
          <p:nvPr/>
        </p:nvPicPr>
        <p:blipFill>
          <a:blip r:embed="rId11"/>
          <a:stretch>
            <a:fillRect/>
          </a:stretch>
        </p:blipFill>
        <p:spPr>
          <a:xfrm>
            <a:off x="9277350" y="2552700"/>
            <a:ext cx="304800" cy="304800"/>
          </a:xfrm>
          <a:prstGeom prst="rect">
            <a:avLst/>
          </a:prstGeom>
          <a:effectLst/>
        </p:spPr>
      </p:pic>
      <p:cxnSp>
        <p:nvCxnSpPr>
          <p:cNvPr id="47" name="Connector 46"/>
          <p:cNvCxnSpPr/>
          <p:nvPr/>
        </p:nvCxnSpPr>
        <p:spPr>
          <a:xfrm flipH="1">
            <a:off x="8953500" y="269557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المطابقة غير المؤكدة ودور الموظف</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رقم واحد. سجلان محتملان.</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05 / 08</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Record choice · Proposed</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838200" y="2524125"/>
            <a:ext cx="7753350" cy="371475"/>
          </a:xfrm>
          <a:prstGeom prst="rect">
            <a:avLst/>
          </a:prstGeom>
          <a:noFill/>
          <a:effectLst/>
        </p:spPr>
        <p:txBody>
          <a:bodyPr wrap="square" lIns="0" rIns="0" tIns="0" bIns="0" anchor="t">
            <a:spAutoFit/>
          </a:bodyPr>
          <a:lstStyle/>
          <a:p>
            <a:pPr algn="r" rtl="1">
              <a:lnSpc>
                <a:spcPts val="2352"/>
              </a:lnSpc>
              <a:spcBef>
                <a:spcPts val="0"/>
              </a:spcBef>
              <a:spcAft>
                <a:spcPts val="0"/>
              </a:spcAft>
            </a:pPr>
            <a:r>
              <a:rPr sz="2100" b="1" lang="ar-EG">
                <a:solidFill>
                  <a:srgbClr val="262626"/>
                </a:solidFill>
                <a:latin typeface="Manrope"/>
                <a:cs typeface="IBM Plex Sans Arabic Medium"/>
              </a:rPr>
              <a:t>أكثر من عميل محتمل</a:t>
            </a:r>
          </a:p>
        </p:txBody>
      </p:sp>
      <p:pic>
        <p:nvPicPr>
          <p:cNvPr id="35" name="Picture 34" descr="icon-lock.png"/>
          <p:cNvPicPr>
            <a:picLocks noChangeAspect="1"/>
          </p:cNvPicPr>
          <p:nvPr/>
        </p:nvPicPr>
        <p:blipFill>
          <a:blip r:embed="rId9"/>
          <a:stretch>
            <a:fillRect/>
          </a:stretch>
        </p:blipFill>
        <p:spPr>
          <a:xfrm>
            <a:off x="8343900" y="3162300"/>
            <a:ext cx="247650" cy="247650"/>
          </a:xfrm>
          <a:prstGeom prst="rect">
            <a:avLst/>
          </a:prstGeom>
          <a:effectLst/>
        </p:spPr>
      </p:pic>
      <p:sp>
        <p:nvSpPr>
          <p:cNvPr id="36" name="TextBox 35"/>
          <p:cNvSpPr txBox="1"/>
          <p:nvPr/>
        </p:nvSpPr>
        <p:spPr>
          <a:xfrm>
            <a:off x="942975" y="3133725"/>
            <a:ext cx="7219950" cy="3810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تاريخ التذاكر لا يظهر قبل الاختيار.</a:t>
            </a:r>
          </a:p>
        </p:txBody>
      </p:sp>
      <p:sp>
        <p:nvSpPr>
          <p:cNvPr id="37" name="Rounded Rectangle 36"/>
          <p:cNvSpPr/>
          <p:nvPr/>
        </p:nvSpPr>
        <p:spPr>
          <a:xfrm>
            <a:off x="714375" y="3714750"/>
            <a:ext cx="7896225" cy="647700"/>
          </a:xfrm>
          <a:prstGeom prst="roundRect">
            <a:avLst>
              <a:gd name="adj" fmla="val 8823"/>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Oval 37"/>
          <p:cNvSpPr/>
          <p:nvPr/>
        </p:nvSpPr>
        <p:spPr>
          <a:xfrm>
            <a:off x="8067675" y="3848100"/>
            <a:ext cx="381000" cy="3810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icon-actor.png"/>
          <p:cNvPicPr>
            <a:picLocks noChangeAspect="1"/>
          </p:cNvPicPr>
          <p:nvPr/>
        </p:nvPicPr>
        <p:blipFill>
          <a:blip r:embed="rId10"/>
          <a:stretch>
            <a:fillRect/>
          </a:stretch>
        </p:blipFill>
        <p:spPr>
          <a:xfrm>
            <a:off x="8159115" y="3939540"/>
            <a:ext cx="198120" cy="198120"/>
          </a:xfrm>
          <a:prstGeom prst="rect">
            <a:avLst/>
          </a:prstGeom>
          <a:effectLst/>
        </p:spPr>
      </p:pic>
      <p:sp>
        <p:nvSpPr>
          <p:cNvPr id="40" name="TextBox 39"/>
          <p:cNvSpPr txBox="1"/>
          <p:nvPr/>
        </p:nvSpPr>
        <p:spPr>
          <a:xfrm>
            <a:off x="4743450" y="3867150"/>
            <a:ext cx="3162300" cy="35242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العميل A</a:t>
            </a:r>
          </a:p>
        </p:txBody>
      </p:sp>
      <p:sp>
        <p:nvSpPr>
          <p:cNvPr id="41" name="TextBox 40"/>
          <p:cNvSpPr txBox="1"/>
          <p:nvPr/>
        </p:nvSpPr>
        <p:spPr>
          <a:xfrm>
            <a:off x="1181100" y="3905250"/>
            <a:ext cx="3009900" cy="323850"/>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0" lang="ar-EG">
                <a:solidFill>
                  <a:srgbClr val="262626"/>
                </a:solidFill>
                <a:latin typeface="Manrope"/>
                <a:cs typeface="IBM Plex Sans Arabic Medium"/>
              </a:rPr>
              <a:t>+20 ••• 410</a:t>
            </a:r>
          </a:p>
        </p:txBody>
      </p:sp>
      <p:sp>
        <p:nvSpPr>
          <p:cNvPr id="42" name="Rounded Rectangle 41"/>
          <p:cNvSpPr/>
          <p:nvPr/>
        </p:nvSpPr>
        <p:spPr>
          <a:xfrm>
            <a:off x="714375" y="4495800"/>
            <a:ext cx="7896225" cy="647700"/>
          </a:xfrm>
          <a:prstGeom prst="roundRect">
            <a:avLst>
              <a:gd name="adj" fmla="val 8823"/>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Oval 42"/>
          <p:cNvSpPr/>
          <p:nvPr/>
        </p:nvSpPr>
        <p:spPr>
          <a:xfrm>
            <a:off x="8067675" y="4629150"/>
            <a:ext cx="381000" cy="381000"/>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4" name="Picture 43" descr="icon-actor.png"/>
          <p:cNvPicPr>
            <a:picLocks noChangeAspect="1"/>
          </p:cNvPicPr>
          <p:nvPr/>
        </p:nvPicPr>
        <p:blipFill>
          <a:blip r:embed="rId10"/>
          <a:stretch>
            <a:fillRect/>
          </a:stretch>
        </p:blipFill>
        <p:spPr>
          <a:xfrm>
            <a:off x="8159115" y="4720590"/>
            <a:ext cx="198120" cy="198120"/>
          </a:xfrm>
          <a:prstGeom prst="rect">
            <a:avLst/>
          </a:prstGeom>
          <a:effectLst/>
        </p:spPr>
      </p:pic>
      <p:sp>
        <p:nvSpPr>
          <p:cNvPr id="45" name="TextBox 44"/>
          <p:cNvSpPr txBox="1"/>
          <p:nvPr/>
        </p:nvSpPr>
        <p:spPr>
          <a:xfrm>
            <a:off x="4743450" y="4648200"/>
            <a:ext cx="3162300" cy="35242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العميل B</a:t>
            </a:r>
          </a:p>
        </p:txBody>
      </p:sp>
      <p:sp>
        <p:nvSpPr>
          <p:cNvPr id="46" name="TextBox 45"/>
          <p:cNvSpPr txBox="1"/>
          <p:nvPr/>
        </p:nvSpPr>
        <p:spPr>
          <a:xfrm>
            <a:off x="1181100" y="4686300"/>
            <a:ext cx="3009900" cy="323850"/>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0" lang="ar-EG">
                <a:solidFill>
                  <a:srgbClr val="262626"/>
                </a:solidFill>
                <a:latin typeface="Manrope"/>
                <a:cs typeface="IBM Plex Sans Arabic Medium"/>
              </a:rPr>
              <a:t>+20 ••• 410</a:t>
            </a:r>
          </a:p>
        </p:txBody>
      </p:sp>
      <p:pic>
        <p:nvPicPr>
          <p:cNvPr id="47" name="Picture 46" descr="icon-lock.png"/>
          <p:cNvPicPr>
            <a:picLocks noChangeAspect="1"/>
          </p:cNvPicPr>
          <p:nvPr/>
        </p:nvPicPr>
        <p:blipFill>
          <a:blip r:embed="rId9"/>
          <a:stretch>
            <a:fillRect/>
          </a:stretch>
        </p:blipFill>
        <p:spPr>
          <a:xfrm>
            <a:off x="8343900" y="5524500"/>
            <a:ext cx="228600" cy="228600"/>
          </a:xfrm>
          <a:prstGeom prst="rect">
            <a:avLst/>
          </a:prstGeom>
          <a:effectLst/>
        </p:spPr>
      </p:pic>
      <p:sp>
        <p:nvSpPr>
          <p:cNvPr id="48" name="TextBox 47"/>
          <p:cNvSpPr txBox="1"/>
          <p:nvPr/>
        </p:nvSpPr>
        <p:spPr>
          <a:xfrm>
            <a:off x="847725" y="5505450"/>
            <a:ext cx="7334250" cy="3429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نطبق خطوات التحقق المتفق عليها قبل الاختيار.</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عدم وجود تطابق ليس فشل البحث</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نتائج مختلفة. والمكالمة مستمرة.</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06 / 08</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Lookup result · Proposed</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895350" y="2524125"/>
            <a:ext cx="7696200" cy="371475"/>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نتيجة البحث عن المتصل</a:t>
            </a:r>
          </a:p>
        </p:txBody>
      </p:sp>
      <p:cxnSp>
        <p:nvCxnSpPr>
          <p:cNvPr id="35" name="Connector 34"/>
          <p:cNvCxnSpPr/>
          <p:nvPr/>
        </p:nvCxnSpPr>
        <p:spPr>
          <a:xfrm flipH="1">
            <a:off x="704850" y="3105150"/>
            <a:ext cx="79057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6" name="Picture 35" descr="icon-warning.png"/>
          <p:cNvPicPr>
            <a:picLocks noChangeAspect="1"/>
          </p:cNvPicPr>
          <p:nvPr/>
        </p:nvPicPr>
        <p:blipFill>
          <a:blip r:embed="rId9"/>
          <a:stretch>
            <a:fillRect/>
          </a:stretch>
        </p:blipFill>
        <p:spPr>
          <a:xfrm>
            <a:off x="8029575" y="3486150"/>
            <a:ext cx="409575" cy="409575"/>
          </a:xfrm>
          <a:prstGeom prst="rect">
            <a:avLst/>
          </a:prstGeom>
          <a:effectLst/>
        </p:spPr>
      </p:pic>
      <p:sp>
        <p:nvSpPr>
          <p:cNvPr id="37" name="TextBox 36"/>
          <p:cNvSpPr txBox="1"/>
          <p:nvPr/>
        </p:nvSpPr>
        <p:spPr>
          <a:xfrm>
            <a:off x="1038225" y="3429000"/>
            <a:ext cx="6772275" cy="3333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965318"/>
                </a:solidFill>
                <a:latin typeface="Manrope"/>
                <a:cs typeface="IBM Plex Sans Arabic Medium"/>
              </a:rPr>
              <a:t>البحث لم يكتمل</a:t>
            </a:r>
          </a:p>
        </p:txBody>
      </p:sp>
      <p:sp>
        <p:nvSpPr>
          <p:cNvPr id="38" name="TextBox 37"/>
          <p:cNvSpPr txBox="1"/>
          <p:nvPr/>
        </p:nvSpPr>
        <p:spPr>
          <a:xfrm>
            <a:off x="857250" y="4067175"/>
            <a:ext cx="7581900" cy="43815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262626"/>
                </a:solidFill>
                <a:latin typeface="Manrope"/>
                <a:cs typeface="IBM Plex Sans Arabic Medium"/>
              </a:rPr>
              <a:t>البحث غير متاح</a:t>
            </a:r>
          </a:p>
        </p:txBody>
      </p:sp>
      <p:sp>
        <p:nvSpPr>
          <p:cNvPr id="39" name="TextBox 38"/>
          <p:cNvSpPr txBox="1"/>
          <p:nvPr/>
        </p:nvSpPr>
        <p:spPr>
          <a:xfrm>
            <a:off x="857250" y="4638675"/>
            <a:ext cx="75819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خطأ إتاحة، وليس قائمة تذاكر فارغة.</a:t>
            </a:r>
          </a:p>
        </p:txBody>
      </p:sp>
      <p:sp>
        <p:nvSpPr>
          <p:cNvPr id="40" name="Rounded Rectangle 39"/>
          <p:cNvSpPr/>
          <p:nvPr/>
        </p:nvSpPr>
        <p:spPr>
          <a:xfrm>
            <a:off x="6534150" y="5238750"/>
            <a:ext cx="1905000" cy="523875"/>
          </a:xfrm>
          <a:prstGeom prst="roundRect">
            <a:avLst>
              <a:gd name="adj" fmla="val 9090"/>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1" name="Picture 40" descr="icon-retry.png"/>
          <p:cNvPicPr>
            <a:picLocks noChangeAspect="1"/>
          </p:cNvPicPr>
          <p:nvPr/>
        </p:nvPicPr>
        <p:blipFill>
          <a:blip r:embed="rId10"/>
          <a:stretch>
            <a:fillRect/>
          </a:stretch>
        </p:blipFill>
        <p:spPr>
          <a:xfrm>
            <a:off x="8067675" y="5381625"/>
            <a:ext cx="219075" cy="219075"/>
          </a:xfrm>
          <a:prstGeom prst="rect">
            <a:avLst/>
          </a:prstGeom>
          <a:effectLst/>
        </p:spPr>
      </p:pic>
      <p:sp>
        <p:nvSpPr>
          <p:cNvPr id="42" name="TextBox 41"/>
          <p:cNvSpPr txBox="1"/>
          <p:nvPr/>
        </p:nvSpPr>
        <p:spPr>
          <a:xfrm>
            <a:off x="6705600" y="5353050"/>
            <a:ext cx="1200150" cy="3238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إعادة المحاولة</a:t>
            </a:r>
          </a:p>
        </p:txBody>
      </p:sp>
      <p:sp>
        <p:nvSpPr>
          <p:cNvPr id="43" name="TextBox 42"/>
          <p:cNvSpPr txBox="1"/>
          <p:nvPr/>
        </p:nvSpPr>
        <p:spPr>
          <a:xfrm>
            <a:off x="847725" y="5257800"/>
            <a:ext cx="5381625" cy="5524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نحافظ على طريقة المتابعة المعتادة.</a:t>
            </a:r>
          </a:p>
          <a:p>
            <a:pPr algn="r" rtl="1">
              <a:lnSpc>
                <a:spcPts val="1512"/>
              </a:lnSpc>
              <a:spcBef>
                <a:spcPts val="0"/>
              </a:spcBef>
              <a:spcAft>
                <a:spcPts val="0"/>
              </a:spcAft>
            </a:pPr>
            <a:r>
              <a:rPr sz="1350" b="0" lang="ar-EG">
                <a:solidFill>
                  <a:srgbClr val="68645E"/>
                </a:solidFill>
                <a:latin typeface="Manrope"/>
                <a:cs typeface="IBM Plex Sans Arabic Medium"/>
              </a:rPr>
              <a:t>البحث اليدوي عند إتاحته.</a:t>
            </a:r>
          </a:p>
        </p:txBody>
      </p:sp>
      <p:sp>
        <p:nvSpPr>
          <p:cNvPr id="44" name="Rounded Rectangle 43"/>
          <p:cNvSpPr/>
          <p:nvPr/>
        </p:nvSpPr>
        <p:spPr>
          <a:xfrm>
            <a:off x="9229725" y="4619625"/>
            <a:ext cx="2362200" cy="581025"/>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اختيار طريقة التنفيذ</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نفحص أولًا. ونختار أبسط تغيير تدعمه الأنظمة.</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07 / 08</a:t>
            </a:r>
          </a:p>
        </p:txBody>
      </p:sp>
      <p:sp>
        <p:nvSpPr>
          <p:cNvPr id="9" name="Rounded Rectangle 8"/>
          <p:cNvSpPr/>
          <p:nvPr/>
        </p:nvSpPr>
        <p:spPr>
          <a:xfrm>
            <a:off x="8372475" y="1676400"/>
            <a:ext cx="3362325" cy="4057650"/>
          </a:xfrm>
          <a:prstGeom prst="roundRect">
            <a:avLst>
              <a:gd name="adj" fmla="val 283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genesys.png"/>
          <p:cNvPicPr>
            <a:picLocks noChangeAspect="1"/>
          </p:cNvPicPr>
          <p:nvPr/>
        </p:nvPicPr>
        <p:blipFill>
          <a:blip r:embed="rId3"/>
          <a:stretch>
            <a:fillRect/>
          </a:stretch>
        </p:blipFill>
        <p:spPr>
          <a:xfrm>
            <a:off x="10248900" y="1945388"/>
            <a:ext cx="1247775" cy="243073"/>
          </a:xfrm>
          <a:prstGeom prst="rect">
            <a:avLst/>
          </a:prstGeom>
          <a:effectLst/>
        </p:spPr>
      </p:pic>
      <p:pic>
        <p:nvPicPr>
          <p:cNvPr id="11" name="Picture 10" descr="zoho.png"/>
          <p:cNvPicPr>
            <a:picLocks noChangeAspect="1"/>
          </p:cNvPicPr>
          <p:nvPr/>
        </p:nvPicPr>
        <p:blipFill>
          <a:blip r:embed="rId4"/>
          <a:stretch>
            <a:fillRect/>
          </a:stretch>
        </p:blipFill>
        <p:spPr>
          <a:xfrm>
            <a:off x="8800321" y="1943100"/>
            <a:ext cx="620684" cy="266700"/>
          </a:xfrm>
          <a:prstGeom prst="rect">
            <a:avLst/>
          </a:prstGeom>
          <a:effectLst/>
        </p:spPr>
      </p:pic>
      <p:pic>
        <p:nvPicPr>
          <p:cNvPr id="12" name="Picture 11" descr="icon-settings.png"/>
          <p:cNvPicPr>
            <a:picLocks noChangeAspect="1"/>
          </p:cNvPicPr>
          <p:nvPr/>
        </p:nvPicPr>
        <p:blipFill>
          <a:blip r:embed="rId5"/>
          <a:stretch>
            <a:fillRect/>
          </a:stretch>
        </p:blipFill>
        <p:spPr>
          <a:xfrm>
            <a:off x="11115675" y="2543175"/>
            <a:ext cx="361950" cy="361950"/>
          </a:xfrm>
          <a:prstGeom prst="rect">
            <a:avLst/>
          </a:prstGeom>
          <a:effectLst/>
        </p:spPr>
      </p:pic>
      <p:sp>
        <p:nvSpPr>
          <p:cNvPr id="13" name="TextBox 12"/>
          <p:cNvSpPr txBox="1"/>
          <p:nvPr/>
        </p:nvSpPr>
        <p:spPr>
          <a:xfrm>
            <a:off x="8620125" y="3067050"/>
            <a:ext cx="2857500" cy="742950"/>
          </a:xfrm>
          <a:prstGeom prst="rect">
            <a:avLst/>
          </a:prstGeom>
          <a:noFill/>
          <a:effectLst/>
        </p:spPr>
        <p:txBody>
          <a:bodyPr wrap="square" lIns="0" rIns="0" tIns="0" bIns="0" anchor="t">
            <a:spAutoFit/>
          </a:bodyPr>
          <a:lstStyle/>
          <a:p>
            <a:pPr algn="r" rtl="1">
              <a:lnSpc>
                <a:spcPts val="2436"/>
              </a:lnSpc>
              <a:spcBef>
                <a:spcPts val="0"/>
              </a:spcBef>
              <a:spcAft>
                <a:spcPts val="0"/>
              </a:spcAft>
            </a:pPr>
            <a:r>
              <a:rPr sz="2175" b="1" lang="ar-EG">
                <a:solidFill>
                  <a:srgbClr val="262626"/>
                </a:solidFill>
                <a:latin typeface="Manrope"/>
                <a:cs typeface="IBM Plex Sans Arabic Medium"/>
              </a:rPr>
              <a:t>نفحص</a:t>
            </a:r>
          </a:p>
          <a:p>
            <a:pPr algn="r" rtl="1">
              <a:lnSpc>
                <a:spcPts val="2436"/>
              </a:lnSpc>
              <a:spcBef>
                <a:spcPts val="0"/>
              </a:spcBef>
              <a:spcAft>
                <a:spcPts val="0"/>
              </a:spcAft>
            </a:pPr>
            <a:r>
              <a:rPr sz="2175" b="1" lang="ar-EG">
                <a:solidFill>
                  <a:srgbClr val="262626"/>
                </a:solidFill>
                <a:latin typeface="Manrope"/>
                <a:cs typeface="IBM Plex Sans Arabic Medium"/>
              </a:rPr>
              <a:t>الإعدادات الحالية</a:t>
            </a:r>
          </a:p>
        </p:txBody>
      </p:sp>
      <p:sp>
        <p:nvSpPr>
          <p:cNvPr id="14" name="Rounded Rectangle 13"/>
          <p:cNvSpPr/>
          <p:nvPr/>
        </p:nvSpPr>
        <p:spPr>
          <a:xfrm>
            <a:off x="8591550" y="4048125"/>
            <a:ext cx="2943225" cy="1181100"/>
          </a:xfrm>
          <a:prstGeom prst="roundRect">
            <a:avLst>
              <a:gd name="adj" fmla="val 6451"/>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91575" y="4219575"/>
            <a:ext cx="2552700" cy="752475"/>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1" lang="ar-EG">
                <a:solidFill>
                  <a:srgbClr val="262626"/>
                </a:solidFill>
                <a:latin typeface="Manrope"/>
                <a:cs typeface="IBM Plex Sans Arabic Medium"/>
              </a:rPr>
              <a:t>“CRM URL pop up</a:t>
            </a:r>
          </a:p>
          <a:p>
            <a:pPr algn="r" rtl="0">
              <a:lnSpc>
                <a:spcPts val="1932"/>
              </a:lnSpc>
              <a:spcBef>
                <a:spcPts val="0"/>
              </a:spcBef>
              <a:spcAft>
                <a:spcPts val="0"/>
              </a:spcAft>
            </a:pPr>
            <a:r>
              <a:rPr sz="1725" b="1" lang="ar-EG">
                <a:solidFill>
                  <a:srgbClr val="262626"/>
                </a:solidFill>
                <a:latin typeface="Manrope"/>
                <a:cs typeface="IBM Plex Sans Arabic Medium"/>
              </a:rPr>
              <a:t>integration”</a:t>
            </a:r>
          </a:p>
        </p:txBody>
      </p:sp>
      <p:sp>
        <p:nvSpPr>
          <p:cNvPr id="16" name="TextBox 15"/>
          <p:cNvSpPr txBox="1"/>
          <p:nvPr/>
        </p:nvSpPr>
        <p:spPr>
          <a:xfrm>
            <a:off x="8601075" y="5343525"/>
            <a:ext cx="2876550" cy="29527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عقد ٢٠٢٣ · صفحة ٤</a:t>
            </a:r>
          </a:p>
        </p:txBody>
      </p:sp>
      <p:cxnSp>
        <p:nvCxnSpPr>
          <p:cNvPr id="17" name="Connector 16"/>
          <p:cNvCxnSpPr/>
          <p:nvPr/>
        </p:nvCxnSpPr>
        <p:spPr>
          <a:xfrm flipH="1">
            <a:off x="7981950" y="3705225"/>
            <a:ext cx="381000" cy="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981950" y="2676525"/>
            <a:ext cx="0" cy="1962150"/>
          </a:xfrm>
          <a:prstGeom prst="line">
            <a:avLst/>
          </a:prstGeom>
          <a:ln w="19050">
            <a:solidFill>
              <a:srgbClr val="965318"/>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H="1">
            <a:off x="7648575" y="267652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H="1">
            <a:off x="7648575" y="4638675"/>
            <a:ext cx="333375" cy="0"/>
          </a:xfrm>
          <a:prstGeom prst="line">
            <a:avLst/>
          </a:prstGeom>
          <a:ln w="19050">
            <a:solidFill>
              <a:srgbClr val="965318"/>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3486150" y="1990725"/>
            <a:ext cx="4086225" cy="1485900"/>
          </a:xfrm>
          <a:prstGeom prst="roundRect">
            <a:avLst>
              <a:gd name="adj" fmla="val 5769"/>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con-settings.png"/>
          <p:cNvPicPr>
            <a:picLocks noChangeAspect="1"/>
          </p:cNvPicPr>
          <p:nvPr/>
        </p:nvPicPr>
        <p:blipFill>
          <a:blip r:embed="rId5"/>
          <a:stretch>
            <a:fillRect/>
          </a:stretch>
        </p:blipFill>
        <p:spPr>
          <a:xfrm>
            <a:off x="7058025" y="2190750"/>
            <a:ext cx="304800" cy="304800"/>
          </a:xfrm>
          <a:prstGeom prst="rect">
            <a:avLst/>
          </a:prstGeom>
          <a:effectLst/>
        </p:spPr>
      </p:pic>
      <p:sp>
        <p:nvSpPr>
          <p:cNvPr id="23" name="TextBox 22"/>
          <p:cNvSpPr txBox="1"/>
          <p:nvPr/>
        </p:nvSpPr>
        <p:spPr>
          <a:xfrm>
            <a:off x="3724275" y="2190750"/>
            <a:ext cx="3152775" cy="39052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الإعدادات الأصلية</a:t>
            </a:r>
          </a:p>
        </p:txBody>
      </p:sp>
      <p:sp>
        <p:nvSpPr>
          <p:cNvPr id="24" name="TextBox 23"/>
          <p:cNvSpPr txBox="1"/>
          <p:nvPr/>
        </p:nvSpPr>
        <p:spPr>
          <a:xfrm>
            <a:off x="3743325" y="2762250"/>
            <a:ext cx="3609975" cy="5334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68645E"/>
                </a:solidFill>
                <a:latin typeface="Manrope"/>
                <a:cs typeface="IBM Plex Sans Arabic Medium"/>
              </a:rPr>
              <a:t>نستخدمها لو بتدعم</a:t>
            </a:r>
          </a:p>
          <a:p>
            <a:pPr algn="r" rtl="1">
              <a:lnSpc>
                <a:spcPts val="1848"/>
              </a:lnSpc>
              <a:spcBef>
                <a:spcPts val="0"/>
              </a:spcBef>
              <a:spcAft>
                <a:spcPts val="0"/>
              </a:spcAft>
            </a:pPr>
            <a:r>
              <a:rPr sz="1650" b="0" lang="ar-EG">
                <a:solidFill>
                  <a:srgbClr val="68645E"/>
                </a:solidFill>
                <a:latin typeface="Manrope"/>
                <a:cs typeface="IBM Plex Sans Arabic Medium"/>
              </a:rPr>
              <a:t>التجربة المطلوبة.</a:t>
            </a:r>
          </a:p>
        </p:txBody>
      </p:sp>
      <p:sp>
        <p:nvSpPr>
          <p:cNvPr id="25" name="Rounded Rectangle 24"/>
          <p:cNvSpPr/>
          <p:nvPr/>
        </p:nvSpPr>
        <p:spPr>
          <a:xfrm>
            <a:off x="3486150" y="3943350"/>
            <a:ext cx="4086225" cy="1485900"/>
          </a:xfrm>
          <a:prstGeom prst="roundRect">
            <a:avLst>
              <a:gd name="adj" fmla="val 5769"/>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con-link.png"/>
          <p:cNvPicPr>
            <a:picLocks noChangeAspect="1"/>
          </p:cNvPicPr>
          <p:nvPr/>
        </p:nvPicPr>
        <p:blipFill>
          <a:blip r:embed="rId6"/>
          <a:stretch>
            <a:fillRect/>
          </a:stretch>
        </p:blipFill>
        <p:spPr>
          <a:xfrm>
            <a:off x="7058025" y="4143375"/>
            <a:ext cx="304800" cy="304800"/>
          </a:xfrm>
          <a:prstGeom prst="rect">
            <a:avLst/>
          </a:prstGeom>
          <a:effectLst/>
        </p:spPr>
      </p:pic>
      <p:sp>
        <p:nvSpPr>
          <p:cNvPr id="27" name="TextBox 26"/>
          <p:cNvSpPr txBox="1"/>
          <p:nvPr/>
        </p:nvSpPr>
        <p:spPr>
          <a:xfrm>
            <a:off x="3724275" y="4143375"/>
            <a:ext cx="3152775" cy="3905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أبسط طبقة ربط معتمدة</a:t>
            </a:r>
          </a:p>
        </p:txBody>
      </p:sp>
      <p:sp>
        <p:nvSpPr>
          <p:cNvPr id="28" name="TextBox 27"/>
          <p:cNvSpPr txBox="1"/>
          <p:nvPr/>
        </p:nvSpPr>
        <p:spPr>
          <a:xfrm>
            <a:off x="3743325" y="4714875"/>
            <a:ext cx="3609975" cy="5334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فقط لسد فجوة مؤكدة.</a:t>
            </a:r>
          </a:p>
          <a:p>
            <a:pPr algn="r" rtl="1">
              <a:lnSpc>
                <a:spcPts val="1764"/>
              </a:lnSpc>
              <a:spcBef>
                <a:spcPts val="0"/>
              </a:spcBef>
              <a:spcAft>
                <a:spcPts val="0"/>
              </a:spcAft>
            </a:pPr>
            <a:r>
              <a:rPr sz="1575" b="0" lang="ar-EG">
                <a:solidFill>
                  <a:srgbClr val="68645E"/>
                </a:solidFill>
                <a:latin typeface="Manrope"/>
                <a:cs typeface="IBM Plex Sans Arabic Medium"/>
              </a:rPr>
              <a:t>بآليات تدعمها الأنظمة.</a:t>
            </a:r>
          </a:p>
        </p:txBody>
      </p:sp>
      <p:sp>
        <p:nvSpPr>
          <p:cNvPr id="29" name="Rounded Rectangle 28"/>
          <p:cNvSpPr/>
          <p:nvPr/>
        </p:nvSpPr>
        <p:spPr>
          <a:xfrm>
            <a:off x="457200" y="1990725"/>
            <a:ext cx="2609850" cy="3438525"/>
          </a:xfrm>
          <a:prstGeom prst="roundRect">
            <a:avLst>
              <a:gd name="adj" fmla="val 3284"/>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lock.png"/>
          <p:cNvPicPr>
            <a:picLocks noChangeAspect="1"/>
          </p:cNvPicPr>
          <p:nvPr/>
        </p:nvPicPr>
        <p:blipFill>
          <a:blip r:embed="rId7"/>
          <a:stretch>
            <a:fillRect/>
          </a:stretch>
        </p:blipFill>
        <p:spPr>
          <a:xfrm>
            <a:off x="2552700" y="2209800"/>
            <a:ext cx="295275" cy="295275"/>
          </a:xfrm>
          <a:prstGeom prst="rect">
            <a:avLst/>
          </a:prstGeom>
          <a:effectLst/>
        </p:spPr>
      </p:pic>
      <p:sp>
        <p:nvSpPr>
          <p:cNvPr id="31" name="TextBox 30"/>
          <p:cNvSpPr txBox="1"/>
          <p:nvPr/>
        </p:nvSpPr>
        <p:spPr>
          <a:xfrm>
            <a:off x="695325" y="2714625"/>
            <a:ext cx="2152650" cy="6381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62626"/>
                </a:solidFill>
                <a:latin typeface="Manrope"/>
                <a:cs typeface="IBM Plex Sans Arabic Medium"/>
              </a:rPr>
              <a:t>الصلاحيات</a:t>
            </a:r>
          </a:p>
          <a:p>
            <a:pPr algn="r" rtl="1">
              <a:lnSpc>
                <a:spcPts val="2100"/>
              </a:lnSpc>
              <a:spcBef>
                <a:spcPts val="0"/>
              </a:spcBef>
              <a:spcAft>
                <a:spcPts val="0"/>
              </a:spcAft>
            </a:pPr>
            <a:r>
              <a:rPr sz="1875" b="1" lang="ar-EG">
                <a:solidFill>
                  <a:srgbClr val="262626"/>
                </a:solidFill>
                <a:latin typeface="Manrope"/>
                <a:cs typeface="IBM Plex Sans Arabic Medium"/>
              </a:rPr>
              <a:t>محفوظة</a:t>
            </a:r>
          </a:p>
        </p:txBody>
      </p:sp>
      <p:cxnSp>
        <p:nvCxnSpPr>
          <p:cNvPr id="32" name="Connector 31"/>
          <p:cNvCxnSpPr/>
          <p:nvPr/>
        </p:nvCxnSpPr>
        <p:spPr>
          <a:xfrm flipH="1">
            <a:off x="676275" y="3571875"/>
            <a:ext cx="21717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3" name="Picture 32" descr="icon-case.png"/>
          <p:cNvPicPr>
            <a:picLocks noChangeAspect="1"/>
          </p:cNvPicPr>
          <p:nvPr/>
        </p:nvPicPr>
        <p:blipFill>
          <a:blip r:embed="rId8"/>
          <a:stretch>
            <a:fillRect/>
          </a:stretch>
        </p:blipFill>
        <p:spPr>
          <a:xfrm>
            <a:off x="2600325" y="3800475"/>
            <a:ext cx="247650" cy="247650"/>
          </a:xfrm>
          <a:prstGeom prst="rect">
            <a:avLst/>
          </a:prstGeom>
          <a:effectLst/>
        </p:spPr>
      </p:pic>
      <p:sp>
        <p:nvSpPr>
          <p:cNvPr id="34" name="TextBox 33"/>
          <p:cNvSpPr txBox="1"/>
          <p:nvPr/>
        </p:nvSpPr>
        <p:spPr>
          <a:xfrm>
            <a:off x="714375" y="3762375"/>
            <a:ext cx="1724025" cy="3429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62626"/>
                </a:solidFill>
                <a:latin typeface="Manrope"/>
                <a:cs typeface="IBM Plex Sans Arabic Medium"/>
              </a:rPr>
              <a:t>T101</a:t>
            </a:r>
          </a:p>
        </p:txBody>
      </p:sp>
      <p:sp>
        <p:nvSpPr>
          <p:cNvPr id="35" name="TextBox 34"/>
          <p:cNvSpPr txBox="1"/>
          <p:nvPr/>
        </p:nvSpPr>
        <p:spPr>
          <a:xfrm>
            <a:off x="695325" y="4248150"/>
            <a:ext cx="2152650" cy="2952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49654E"/>
                </a:solidFill>
                <a:latin typeface="Manrope"/>
                <a:cs typeface="IBM Plex Sans Arabic Medium"/>
              </a:rPr>
              <a:t>الحالة تظل مفتوحة</a:t>
            </a:r>
          </a:p>
        </p:txBody>
      </p:sp>
      <p:sp>
        <p:nvSpPr>
          <p:cNvPr id="36" name="TextBox 35"/>
          <p:cNvSpPr txBox="1"/>
          <p:nvPr/>
        </p:nvSpPr>
        <p:spPr>
          <a:xfrm>
            <a:off x="695325" y="4714875"/>
            <a:ext cx="2152650" cy="5143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645E"/>
                </a:solidFill>
                <a:latin typeface="Manrope"/>
                <a:cs typeface="IBM Plex Sans Arabic Medium"/>
              </a:rPr>
              <a:t>وصول المكالمة</a:t>
            </a:r>
          </a:p>
          <a:p>
            <a:pPr algn="r" rtl="1">
              <a:lnSpc>
                <a:spcPts val="1680"/>
              </a:lnSpc>
              <a:spcBef>
                <a:spcPts val="0"/>
              </a:spcBef>
              <a:spcAft>
                <a:spcPts val="0"/>
              </a:spcAft>
            </a:pPr>
            <a:r>
              <a:rPr sz="1500" b="0" lang="ar-EG">
                <a:solidFill>
                  <a:srgbClr val="68645E"/>
                </a:solidFill>
                <a:latin typeface="Manrope"/>
                <a:cs typeface="IBM Plex Sans Arabic Medium"/>
              </a:rPr>
              <a:t>لا يغيّر التذكرة.</a:t>
            </a:r>
          </a:p>
        </p:txBody>
      </p:sp>
      <p:sp>
        <p:nvSpPr>
          <p:cNvPr id="37" name="TextBox 36"/>
          <p:cNvSpPr txBox="1"/>
          <p:nvPr/>
        </p:nvSpPr>
        <p:spPr>
          <a:xfrm>
            <a:off x="457200" y="5953125"/>
            <a:ext cx="11277600" cy="32385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965318"/>
                </a:solidFill>
                <a:latin typeface="Manrope"/>
                <a:cs typeface="IBM Plex Sans Arabic Medium"/>
              </a:rPr>
              <a:t>نطاق أولي للقراءة فقط · شكل العرض والإعدادات تحتاج تحققًا</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تقييم التجربة الأولية</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نثبت القيمة بمكالمات اختبار مصرح بها.</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08 / 08</a:t>
            </a:r>
          </a:p>
        </p:txBody>
      </p:sp>
      <p:sp>
        <p:nvSpPr>
          <p:cNvPr id="9" name="TextBox 8"/>
          <p:cNvSpPr txBox="1"/>
          <p:nvPr/>
        </p:nvSpPr>
        <p:spPr>
          <a:xfrm>
            <a:off x="6353175" y="1657350"/>
            <a:ext cx="5381625" cy="32385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68645E"/>
                </a:solidFill>
                <a:latin typeface="Manrope"/>
                <a:cs typeface="IBM Plex Sans Arabic Medium"/>
              </a:rPr>
              <a:t>البحث اليدوي الحالي</a:t>
            </a:r>
          </a:p>
        </p:txBody>
      </p:sp>
      <p:sp>
        <p:nvSpPr>
          <p:cNvPr id="10" name="Rounded Rectangle 9"/>
          <p:cNvSpPr/>
          <p:nvPr/>
        </p:nvSpPr>
        <p:spPr>
          <a:xfrm>
            <a:off x="6343650" y="2105025"/>
            <a:ext cx="5391150" cy="2133600"/>
          </a:xfrm>
          <a:prstGeom prst="roundRect">
            <a:avLst>
              <a:gd name="adj" fmla="val 401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553700" y="2287670"/>
            <a:ext cx="1009650" cy="196685"/>
          </a:xfrm>
          <a:prstGeom prst="rect">
            <a:avLst/>
          </a:prstGeom>
          <a:effectLst/>
        </p:spPr>
      </p:pic>
      <p:pic>
        <p:nvPicPr>
          <p:cNvPr id="12" name="Picture 11" descr="icon-call.png"/>
          <p:cNvPicPr>
            <a:picLocks noChangeAspect="1"/>
          </p:cNvPicPr>
          <p:nvPr/>
        </p:nvPicPr>
        <p:blipFill>
          <a:blip r:embed="rId4"/>
          <a:stretch>
            <a:fillRect/>
          </a:stretch>
        </p:blipFill>
        <p:spPr>
          <a:xfrm>
            <a:off x="10067925" y="2286000"/>
            <a:ext cx="228600" cy="228600"/>
          </a:xfrm>
          <a:prstGeom prst="rect">
            <a:avLst/>
          </a:prstGeom>
          <a:effectLst/>
        </p:spPr>
      </p:pic>
      <p:sp>
        <p:nvSpPr>
          <p:cNvPr id="13" name="TextBox 12"/>
          <p:cNvSpPr txBox="1"/>
          <p:nvPr/>
        </p:nvSpPr>
        <p:spPr>
          <a:xfrm>
            <a:off x="6553200" y="2257425"/>
            <a:ext cx="3324225" cy="323850"/>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1" lang="ar-EG">
                <a:solidFill>
                  <a:srgbClr val="262626"/>
                </a:solidFill>
                <a:latin typeface="Manrope"/>
                <a:cs typeface="IBM Plex Sans Arabic Medium"/>
              </a:rPr>
              <a:t>+20 ••• 410</a:t>
            </a:r>
          </a:p>
        </p:txBody>
      </p:sp>
      <p:cxnSp>
        <p:nvCxnSpPr>
          <p:cNvPr id="14" name="Connector 13"/>
          <p:cNvCxnSpPr/>
          <p:nvPr/>
        </p:nvCxnSpPr>
        <p:spPr>
          <a:xfrm flipH="1">
            <a:off x="6343650" y="2724150"/>
            <a:ext cx="53911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zoho.png"/>
          <p:cNvPicPr>
            <a:picLocks noChangeAspect="1"/>
          </p:cNvPicPr>
          <p:nvPr/>
        </p:nvPicPr>
        <p:blipFill>
          <a:blip r:embed="rId5"/>
          <a:stretch>
            <a:fillRect/>
          </a:stretch>
        </p:blipFill>
        <p:spPr>
          <a:xfrm>
            <a:off x="11016355" y="2905125"/>
            <a:ext cx="532015" cy="228600"/>
          </a:xfrm>
          <a:prstGeom prst="rect">
            <a:avLst/>
          </a:prstGeom>
          <a:effectLst/>
        </p:spPr>
      </p:pic>
      <p:sp>
        <p:nvSpPr>
          <p:cNvPr id="16" name="Rounded Rectangle 15"/>
          <p:cNvSpPr/>
          <p:nvPr/>
        </p:nvSpPr>
        <p:spPr>
          <a:xfrm>
            <a:off x="6553200" y="2857500"/>
            <a:ext cx="4267200" cy="542925"/>
          </a:xfrm>
          <a:prstGeom prst="roundRect">
            <a:avLst>
              <a:gd name="adj" fmla="val 8771"/>
            </a:avLst>
          </a:prstGeom>
          <a:solidFill>
            <a:srgbClr val="FFFFFF"/>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search.png"/>
          <p:cNvPicPr>
            <a:picLocks noChangeAspect="1"/>
          </p:cNvPicPr>
          <p:nvPr/>
        </p:nvPicPr>
        <p:blipFill>
          <a:blip r:embed="rId6"/>
          <a:stretch>
            <a:fillRect/>
          </a:stretch>
        </p:blipFill>
        <p:spPr>
          <a:xfrm>
            <a:off x="10448925" y="3009900"/>
            <a:ext cx="228600" cy="228600"/>
          </a:xfrm>
          <a:prstGeom prst="rect">
            <a:avLst/>
          </a:prstGeom>
          <a:effectLst/>
        </p:spPr>
      </p:pic>
      <p:sp>
        <p:nvSpPr>
          <p:cNvPr id="18" name="TextBox 17"/>
          <p:cNvSpPr txBox="1"/>
          <p:nvPr/>
        </p:nvSpPr>
        <p:spPr>
          <a:xfrm>
            <a:off x="7038975" y="2962275"/>
            <a:ext cx="3248025" cy="352425"/>
          </a:xfrm>
          <a:prstGeom prst="rect">
            <a:avLst/>
          </a:prstGeom>
          <a:noFill/>
          <a:effectLst/>
        </p:spPr>
        <p:txBody>
          <a:bodyPr wrap="square" lIns="0" rIns="0" tIns="0" bIns="0" anchor="t">
            <a:spAutoFit/>
          </a:bodyPr>
          <a:lstStyle/>
          <a:p>
            <a:pPr algn="r" rtl="0">
              <a:lnSpc>
                <a:spcPts val="2016"/>
              </a:lnSpc>
              <a:spcBef>
                <a:spcPts val="0"/>
              </a:spcBef>
              <a:spcAft>
                <a:spcPts val="0"/>
              </a:spcAft>
            </a:pPr>
            <a:r>
              <a:rPr sz="1800" b="0" lang="ar-EG">
                <a:solidFill>
                  <a:srgbClr val="262626"/>
                </a:solidFill>
                <a:latin typeface="Manrope"/>
                <a:cs typeface="IBM Plex Sans Arabic Medium"/>
              </a:rPr>
              <a:t>+20 ••• 410</a:t>
            </a:r>
          </a:p>
        </p:txBody>
      </p:sp>
      <p:pic>
        <p:nvPicPr>
          <p:cNvPr id="19" name="Picture 18" descr="icon-pointer.png"/>
          <p:cNvPicPr>
            <a:picLocks noChangeAspect="1"/>
          </p:cNvPicPr>
          <p:nvPr/>
        </p:nvPicPr>
        <p:blipFill>
          <a:blip r:embed="rId7"/>
          <a:stretch>
            <a:fillRect/>
          </a:stretch>
        </p:blipFill>
        <p:spPr>
          <a:xfrm>
            <a:off x="6581775" y="3219450"/>
            <a:ext cx="285750" cy="285750"/>
          </a:xfrm>
          <a:prstGeom prst="rect">
            <a:avLst/>
          </a:prstGeom>
          <a:effectLst/>
        </p:spPr>
      </p:pic>
      <p:sp>
        <p:nvSpPr>
          <p:cNvPr id="20" name="TextBox 19"/>
          <p:cNvSpPr txBox="1"/>
          <p:nvPr/>
        </p:nvSpPr>
        <p:spPr>
          <a:xfrm>
            <a:off x="6562725" y="3609975"/>
            <a:ext cx="4257675"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62626"/>
                </a:solidFill>
                <a:latin typeface="Manrope"/>
                <a:cs typeface="IBM Plex Sans Arabic Medium"/>
              </a:rPr>
              <a:t>نبحث عن A ← نفتح T101</a:t>
            </a:r>
          </a:p>
        </p:txBody>
      </p:sp>
      <p:sp>
        <p:nvSpPr>
          <p:cNvPr id="21" name="TextBox 20"/>
          <p:cNvSpPr txBox="1"/>
          <p:nvPr/>
        </p:nvSpPr>
        <p:spPr>
          <a:xfrm>
            <a:off x="466725" y="1657350"/>
            <a:ext cx="5381625" cy="32385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49654E"/>
                </a:solidFill>
                <a:latin typeface="Manrope"/>
                <a:cs typeface="IBM Plex Sans Arabic Medium"/>
              </a:rPr>
              <a:t>معلومات المتصل المقترحة</a:t>
            </a:r>
          </a:p>
        </p:txBody>
      </p:sp>
      <p:sp>
        <p:nvSpPr>
          <p:cNvPr id="22" name="Rounded Rectangle 21"/>
          <p:cNvSpPr/>
          <p:nvPr/>
        </p:nvSpPr>
        <p:spPr>
          <a:xfrm>
            <a:off x="457200" y="2105025"/>
            <a:ext cx="5391150" cy="2133600"/>
          </a:xfrm>
          <a:prstGeom prst="roundRect">
            <a:avLst>
              <a:gd name="adj" fmla="val 401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genesys.png"/>
          <p:cNvPicPr>
            <a:picLocks noChangeAspect="1"/>
          </p:cNvPicPr>
          <p:nvPr/>
        </p:nvPicPr>
        <p:blipFill>
          <a:blip r:embed="rId3"/>
          <a:stretch>
            <a:fillRect/>
          </a:stretch>
        </p:blipFill>
        <p:spPr>
          <a:xfrm>
            <a:off x="4667250" y="2287670"/>
            <a:ext cx="1009650" cy="196685"/>
          </a:xfrm>
          <a:prstGeom prst="rect">
            <a:avLst/>
          </a:prstGeom>
          <a:effectLst/>
        </p:spPr>
      </p:pic>
      <p:pic>
        <p:nvPicPr>
          <p:cNvPr id="24" name="Picture 23" descr="icon-call.png"/>
          <p:cNvPicPr>
            <a:picLocks noChangeAspect="1"/>
          </p:cNvPicPr>
          <p:nvPr/>
        </p:nvPicPr>
        <p:blipFill>
          <a:blip r:embed="rId4"/>
          <a:stretch>
            <a:fillRect/>
          </a:stretch>
        </p:blipFill>
        <p:spPr>
          <a:xfrm>
            <a:off x="4181475" y="2286000"/>
            <a:ext cx="228600" cy="228600"/>
          </a:xfrm>
          <a:prstGeom prst="rect">
            <a:avLst/>
          </a:prstGeom>
          <a:effectLst/>
        </p:spPr>
      </p:pic>
      <p:sp>
        <p:nvSpPr>
          <p:cNvPr id="25" name="TextBox 24"/>
          <p:cNvSpPr txBox="1"/>
          <p:nvPr/>
        </p:nvSpPr>
        <p:spPr>
          <a:xfrm>
            <a:off x="666750" y="2257425"/>
            <a:ext cx="3324225" cy="323850"/>
          </a:xfrm>
          <a:prstGeom prst="rect">
            <a:avLst/>
          </a:prstGeom>
          <a:noFill/>
          <a:effectLst/>
        </p:spPr>
        <p:txBody>
          <a:bodyPr wrap="square" lIns="0" rIns="0" tIns="0" bIns="0" anchor="t">
            <a:spAutoFit/>
          </a:bodyPr>
          <a:lstStyle/>
          <a:p>
            <a:pPr algn="r" rtl="0">
              <a:lnSpc>
                <a:spcPts val="1932"/>
              </a:lnSpc>
              <a:spcBef>
                <a:spcPts val="0"/>
              </a:spcBef>
              <a:spcAft>
                <a:spcPts val="0"/>
              </a:spcAft>
            </a:pPr>
            <a:r>
              <a:rPr sz="1725" b="1" lang="ar-EG">
                <a:solidFill>
                  <a:srgbClr val="262626"/>
                </a:solidFill>
                <a:latin typeface="Manrope"/>
                <a:cs typeface="IBM Plex Sans Arabic Medium"/>
              </a:rPr>
              <a:t>+20 ••• 410</a:t>
            </a:r>
          </a:p>
        </p:txBody>
      </p:sp>
      <p:cxnSp>
        <p:nvCxnSpPr>
          <p:cNvPr id="26" name="Connector 25"/>
          <p:cNvCxnSpPr/>
          <p:nvPr/>
        </p:nvCxnSpPr>
        <p:spPr>
          <a:xfrm flipH="1">
            <a:off x="457200" y="2724150"/>
            <a:ext cx="53911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27" name="Picture 26" descr="zoho.png"/>
          <p:cNvPicPr>
            <a:picLocks noChangeAspect="1"/>
          </p:cNvPicPr>
          <p:nvPr/>
        </p:nvPicPr>
        <p:blipFill>
          <a:blip r:embed="rId5"/>
          <a:stretch>
            <a:fillRect/>
          </a:stretch>
        </p:blipFill>
        <p:spPr>
          <a:xfrm>
            <a:off x="5129905" y="2905125"/>
            <a:ext cx="532015" cy="228600"/>
          </a:xfrm>
          <a:prstGeom prst="rect">
            <a:avLst/>
          </a:prstGeom>
          <a:effectLst/>
        </p:spPr>
      </p:pic>
      <p:sp>
        <p:nvSpPr>
          <p:cNvPr id="28" name="TextBox 27"/>
          <p:cNvSpPr txBox="1"/>
          <p:nvPr/>
        </p:nvSpPr>
        <p:spPr>
          <a:xfrm>
            <a:off x="676275" y="2895600"/>
            <a:ext cx="4257675" cy="3238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T101 · متابعة استبدال</a:t>
            </a:r>
          </a:p>
        </p:txBody>
      </p:sp>
      <p:sp>
        <p:nvSpPr>
          <p:cNvPr id="29" name="Rounded Rectangle 28"/>
          <p:cNvSpPr/>
          <p:nvPr/>
        </p:nvSpPr>
        <p:spPr>
          <a:xfrm>
            <a:off x="628650" y="3390900"/>
            <a:ext cx="5048250" cy="666750"/>
          </a:xfrm>
          <a:prstGeom prst="roundRect">
            <a:avLst>
              <a:gd name="adj" fmla="val 7142"/>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file.png"/>
          <p:cNvPicPr>
            <a:picLocks noChangeAspect="1"/>
          </p:cNvPicPr>
          <p:nvPr/>
        </p:nvPicPr>
        <p:blipFill>
          <a:blip r:embed="rId8"/>
          <a:stretch>
            <a:fillRect/>
          </a:stretch>
        </p:blipFill>
        <p:spPr>
          <a:xfrm>
            <a:off x="5334000" y="3571875"/>
            <a:ext cx="219075" cy="219075"/>
          </a:xfrm>
          <a:prstGeom prst="rect">
            <a:avLst/>
          </a:prstGeom>
          <a:effectLst/>
        </p:spPr>
      </p:pic>
      <p:sp>
        <p:nvSpPr>
          <p:cNvPr id="31" name="TextBox 30"/>
          <p:cNvSpPr txBox="1"/>
          <p:nvPr/>
        </p:nvSpPr>
        <p:spPr>
          <a:xfrm>
            <a:off x="885825" y="3533775"/>
            <a:ext cx="4286250" cy="4191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مراجعة الفرع لسه مطلوبة.</a:t>
            </a:r>
          </a:p>
        </p:txBody>
      </p:sp>
      <p:sp>
        <p:nvSpPr>
          <p:cNvPr id="32" name="Rounded Rectangle 31"/>
          <p:cNvSpPr/>
          <p:nvPr/>
        </p:nvSpPr>
        <p:spPr>
          <a:xfrm>
            <a:off x="457200" y="4362450"/>
            <a:ext cx="11277600" cy="1762125"/>
          </a:xfrm>
          <a:prstGeom prst="roundRect">
            <a:avLst>
              <a:gd name="adj" fmla="val 4324"/>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3800475" y="4476750"/>
            <a:ext cx="7705725" cy="31432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62626"/>
                </a:solidFill>
                <a:latin typeface="Manrope"/>
                <a:cs typeface="IBM Plex Sans Arabic Medium"/>
              </a:rPr>
              <a:t>ورقة ملاحظات التجربة</a:t>
            </a:r>
          </a:p>
        </p:txBody>
      </p:sp>
      <p:sp>
        <p:nvSpPr>
          <p:cNvPr id="34" name="TextBox 33"/>
          <p:cNvSpPr txBox="1"/>
          <p:nvPr/>
        </p:nvSpPr>
        <p:spPr>
          <a:xfrm>
            <a:off x="695325" y="4505325"/>
            <a:ext cx="2857500" cy="295275"/>
          </a:xfrm>
          <a:prstGeom prst="rect">
            <a:avLst/>
          </a:prstGeom>
          <a:noFill/>
          <a:effectLst/>
        </p:spPr>
        <p:txBody>
          <a:bodyPr wrap="square" lIns="0" rIns="0" tIns="0" bIns="0" anchor="t">
            <a:spAutoFit/>
          </a:bodyPr>
          <a:lstStyle/>
          <a:p>
            <a:pPr algn="l" rtl="1">
              <a:lnSpc>
                <a:spcPts val="1512"/>
              </a:lnSpc>
              <a:spcBef>
                <a:spcPts val="0"/>
              </a:spcBef>
              <a:spcAft>
                <a:spcPts val="0"/>
              </a:spcAft>
            </a:pPr>
            <a:r>
              <a:rPr sz="1350" b="0" lang="ar-EG">
                <a:solidFill>
                  <a:srgbClr val="965318"/>
                </a:solidFill>
                <a:latin typeface="Manrope"/>
                <a:cs typeface="IBM Plex Sans Arabic Medium"/>
              </a:rPr>
              <a:t>تُقاس خلال التجربة</a:t>
            </a:r>
          </a:p>
        </p:txBody>
      </p:sp>
      <p:cxnSp>
        <p:nvCxnSpPr>
          <p:cNvPr id="35" name="Connector 34"/>
          <p:cNvCxnSpPr/>
          <p:nvPr/>
        </p:nvCxnSpPr>
        <p:spPr>
          <a:xfrm flipH="1">
            <a:off x="695325" y="4895850"/>
            <a:ext cx="10810875"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6" name="Picture 35" descr="icon-clock.png"/>
          <p:cNvPicPr>
            <a:picLocks noChangeAspect="1"/>
          </p:cNvPicPr>
          <p:nvPr/>
        </p:nvPicPr>
        <p:blipFill>
          <a:blip r:embed="rId9"/>
          <a:stretch>
            <a:fillRect/>
          </a:stretch>
        </p:blipFill>
        <p:spPr>
          <a:xfrm>
            <a:off x="11268075" y="5057775"/>
            <a:ext cx="219075" cy="219075"/>
          </a:xfrm>
          <a:prstGeom prst="rect">
            <a:avLst/>
          </a:prstGeom>
          <a:effectLst/>
        </p:spPr>
      </p:pic>
      <p:sp>
        <p:nvSpPr>
          <p:cNvPr id="37" name="TextBox 36"/>
          <p:cNvSpPr txBox="1"/>
          <p:nvPr/>
        </p:nvSpPr>
        <p:spPr>
          <a:xfrm>
            <a:off x="3238500" y="5048250"/>
            <a:ext cx="7848600" cy="3429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62626"/>
                </a:solidFill>
                <a:latin typeface="Manrope"/>
                <a:cs typeface="IBM Plex Sans Arabic Medium"/>
              </a:rPr>
              <a:t>الخطوات اليدوية · الوقت للمعلومات الصحيحة</a:t>
            </a:r>
          </a:p>
        </p:txBody>
      </p:sp>
      <p:sp>
        <p:nvSpPr>
          <p:cNvPr id="38" name="TextBox 37"/>
          <p:cNvSpPr txBox="1"/>
          <p:nvPr/>
        </p:nvSpPr>
        <p:spPr>
          <a:xfrm>
            <a:off x="723900" y="5048250"/>
            <a:ext cx="1962150" cy="323850"/>
          </a:xfrm>
          <a:prstGeom prst="rect">
            <a:avLst/>
          </a:prstGeom>
          <a:noFill/>
          <a:effectLst/>
        </p:spPr>
        <p:txBody>
          <a:bodyPr wrap="square" lIns="0" rIns="0" tIns="0" bIns="0" anchor="t">
            <a:spAutoFit/>
          </a:bodyPr>
          <a:lstStyle/>
          <a:p>
            <a:pPr algn="l" rtl="1">
              <a:lnSpc>
                <a:spcPts val="1680"/>
              </a:lnSpc>
              <a:spcBef>
                <a:spcPts val="0"/>
              </a:spcBef>
              <a:spcAft>
                <a:spcPts val="0"/>
              </a:spcAft>
            </a:pPr>
            <a:r>
              <a:rPr sz="1500" b="0" lang="ar-EG">
                <a:solidFill>
                  <a:srgbClr val="68645E"/>
                </a:solidFill>
                <a:latin typeface="Manrope"/>
                <a:cs typeface="IBM Plex Sans Arabic Medium"/>
              </a:rPr>
              <a:t>يُقاس</a:t>
            </a:r>
          </a:p>
        </p:txBody>
      </p:sp>
      <p:pic>
        <p:nvPicPr>
          <p:cNvPr id="39" name="Picture 38" descr="icon-quality.png"/>
          <p:cNvPicPr>
            <a:picLocks noChangeAspect="1"/>
          </p:cNvPicPr>
          <p:nvPr/>
        </p:nvPicPr>
        <p:blipFill>
          <a:blip r:embed="rId10"/>
          <a:stretch>
            <a:fillRect/>
          </a:stretch>
        </p:blipFill>
        <p:spPr>
          <a:xfrm>
            <a:off x="11268075" y="5419725"/>
            <a:ext cx="219075" cy="219075"/>
          </a:xfrm>
          <a:prstGeom prst="rect">
            <a:avLst/>
          </a:prstGeom>
          <a:effectLst/>
        </p:spPr>
      </p:pic>
      <p:sp>
        <p:nvSpPr>
          <p:cNvPr id="40" name="TextBox 39"/>
          <p:cNvSpPr txBox="1"/>
          <p:nvPr/>
        </p:nvSpPr>
        <p:spPr>
          <a:xfrm>
            <a:off x="3238500" y="5410200"/>
            <a:ext cx="7848600" cy="3429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62626"/>
                </a:solidFill>
                <a:latin typeface="Manrope"/>
                <a:cs typeface="IBM Plex Sans Arabic Medium"/>
              </a:rPr>
              <a:t>دقة المطابقة</a:t>
            </a:r>
          </a:p>
        </p:txBody>
      </p:sp>
      <p:sp>
        <p:nvSpPr>
          <p:cNvPr id="41" name="TextBox 40"/>
          <p:cNvSpPr txBox="1"/>
          <p:nvPr/>
        </p:nvSpPr>
        <p:spPr>
          <a:xfrm>
            <a:off x="723900" y="5410200"/>
            <a:ext cx="1962150" cy="323850"/>
          </a:xfrm>
          <a:prstGeom prst="rect">
            <a:avLst/>
          </a:prstGeom>
          <a:noFill/>
          <a:effectLst/>
        </p:spPr>
        <p:txBody>
          <a:bodyPr wrap="square" lIns="0" rIns="0" tIns="0" bIns="0" anchor="t">
            <a:spAutoFit/>
          </a:bodyPr>
          <a:lstStyle/>
          <a:p>
            <a:pPr algn="l" rtl="1">
              <a:lnSpc>
                <a:spcPts val="1680"/>
              </a:lnSpc>
              <a:spcBef>
                <a:spcPts val="0"/>
              </a:spcBef>
              <a:spcAft>
                <a:spcPts val="0"/>
              </a:spcAft>
            </a:pPr>
            <a:r>
              <a:rPr sz="1500" b="0" lang="ar-EG">
                <a:solidFill>
                  <a:srgbClr val="68645E"/>
                </a:solidFill>
                <a:latin typeface="Manrope"/>
                <a:cs typeface="IBM Plex Sans Arabic Medium"/>
              </a:rPr>
              <a:t>يُقاس</a:t>
            </a:r>
          </a:p>
        </p:txBody>
      </p:sp>
      <p:pic>
        <p:nvPicPr>
          <p:cNvPr id="42" name="Picture 41" descr="icon-quality.png"/>
          <p:cNvPicPr>
            <a:picLocks noChangeAspect="1"/>
          </p:cNvPicPr>
          <p:nvPr/>
        </p:nvPicPr>
        <p:blipFill>
          <a:blip r:embed="rId10"/>
          <a:stretch>
            <a:fillRect/>
          </a:stretch>
        </p:blipFill>
        <p:spPr>
          <a:xfrm>
            <a:off x="11268075" y="5781675"/>
            <a:ext cx="219075" cy="219075"/>
          </a:xfrm>
          <a:prstGeom prst="rect">
            <a:avLst/>
          </a:prstGeom>
          <a:effectLst/>
        </p:spPr>
      </p:pic>
      <p:sp>
        <p:nvSpPr>
          <p:cNvPr id="43" name="TextBox 42"/>
          <p:cNvSpPr txBox="1"/>
          <p:nvPr/>
        </p:nvSpPr>
        <p:spPr>
          <a:xfrm>
            <a:off x="3238500" y="5772150"/>
            <a:ext cx="7848600" cy="3429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62626"/>
                </a:solidFill>
                <a:latin typeface="Manrope"/>
                <a:cs typeface="IBM Plex Sans Arabic Medium"/>
              </a:rPr>
              <a:t>الأرقام المشتركة وغير المعروفة · الصلاحيات · الأخطاء</a:t>
            </a:r>
          </a:p>
        </p:txBody>
      </p:sp>
      <p:sp>
        <p:nvSpPr>
          <p:cNvPr id="44" name="TextBox 43"/>
          <p:cNvSpPr txBox="1"/>
          <p:nvPr/>
        </p:nvSpPr>
        <p:spPr>
          <a:xfrm>
            <a:off x="723900" y="5772150"/>
            <a:ext cx="1962150" cy="323850"/>
          </a:xfrm>
          <a:prstGeom prst="rect">
            <a:avLst/>
          </a:prstGeom>
          <a:noFill/>
          <a:effectLst/>
        </p:spPr>
        <p:txBody>
          <a:bodyPr wrap="square" lIns="0" rIns="0" tIns="0" bIns="0" anchor="t">
            <a:spAutoFit/>
          </a:bodyPr>
          <a:lstStyle/>
          <a:p>
            <a:pPr algn="l" rtl="1">
              <a:lnSpc>
                <a:spcPts val="1680"/>
              </a:lnSpc>
              <a:spcBef>
                <a:spcPts val="0"/>
              </a:spcBef>
              <a:spcAft>
                <a:spcPts val="0"/>
              </a:spcAft>
            </a:pPr>
            <a:r>
              <a:rPr sz="1500" b="0" lang="ar-EG">
                <a:solidFill>
                  <a:srgbClr val="68645E"/>
                </a:solidFill>
                <a:latin typeface="Manrope"/>
                <a:cs typeface="IBM Plex Sans Arabic Medium"/>
              </a:rPr>
              <a:t>يُقاس</a:t>
            </a:r>
          </a:p>
        </p:txBody>
      </p:sp>
      <p:sp>
        <p:nvSpPr>
          <p:cNvPr id="45" name="Rounded Rectangle 44"/>
          <p:cNvSpPr/>
          <p:nvPr/>
        </p:nvSpPr>
        <p:spPr>
          <a:xfrm>
            <a:off x="428625" y="2076450"/>
            <a:ext cx="5448300" cy="2190750"/>
          </a:xfrm>
          <a:prstGeom prst="roundRect">
            <a:avLst>
              <a:gd name="adj" fmla="val 10000"/>
            </a:avLst>
          </a:prstGeom>
          <a:noFill/>
          <a:ln w="19050">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عدم وجود تطابق ليس فشل البحث</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بحث مكتمل دون سجل عميل مطابق.</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ملحق</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Lookup result · Proposed</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895350" y="2524125"/>
            <a:ext cx="7696200" cy="371475"/>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نتيجة البحث عن المتصل</a:t>
            </a:r>
          </a:p>
        </p:txBody>
      </p:sp>
      <p:cxnSp>
        <p:nvCxnSpPr>
          <p:cNvPr id="35" name="Connector 34"/>
          <p:cNvCxnSpPr/>
          <p:nvPr/>
        </p:nvCxnSpPr>
        <p:spPr>
          <a:xfrm flipH="1">
            <a:off x="704850" y="3105150"/>
            <a:ext cx="79057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pic>
        <p:nvPicPr>
          <p:cNvPr id="36" name="Picture 35" descr="icon-search.png"/>
          <p:cNvPicPr>
            <a:picLocks noChangeAspect="1"/>
          </p:cNvPicPr>
          <p:nvPr/>
        </p:nvPicPr>
        <p:blipFill>
          <a:blip r:embed="rId9"/>
          <a:stretch>
            <a:fillRect/>
          </a:stretch>
        </p:blipFill>
        <p:spPr>
          <a:xfrm>
            <a:off x="8029575" y="3486150"/>
            <a:ext cx="409575" cy="409575"/>
          </a:xfrm>
          <a:prstGeom prst="rect">
            <a:avLst/>
          </a:prstGeom>
          <a:effectLst/>
        </p:spPr>
      </p:pic>
      <p:sp>
        <p:nvSpPr>
          <p:cNvPr id="37" name="TextBox 36"/>
          <p:cNvSpPr txBox="1"/>
          <p:nvPr/>
        </p:nvSpPr>
        <p:spPr>
          <a:xfrm>
            <a:off x="1038225" y="3429000"/>
            <a:ext cx="6772275" cy="3333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البحث اكتمل</a:t>
            </a:r>
          </a:p>
        </p:txBody>
      </p:sp>
      <p:sp>
        <p:nvSpPr>
          <p:cNvPr id="38" name="TextBox 37"/>
          <p:cNvSpPr txBox="1"/>
          <p:nvPr/>
        </p:nvSpPr>
        <p:spPr>
          <a:xfrm>
            <a:off x="857250" y="4067175"/>
            <a:ext cx="7581900" cy="438150"/>
          </a:xfrm>
          <a:prstGeom prst="rect">
            <a:avLst/>
          </a:prstGeom>
          <a:noFill/>
          <a:effectLst/>
        </p:spPr>
        <p:txBody>
          <a:bodyPr wrap="square" lIns="0" rIns="0" tIns="0" bIns="0" anchor="t">
            <a:spAutoFit/>
          </a:bodyPr>
          <a:lstStyle/>
          <a:p>
            <a:pPr algn="r" rtl="1">
              <a:lnSpc>
                <a:spcPts val="2688"/>
              </a:lnSpc>
              <a:spcBef>
                <a:spcPts val="0"/>
              </a:spcBef>
              <a:spcAft>
                <a:spcPts val="0"/>
              </a:spcAft>
            </a:pPr>
            <a:r>
              <a:rPr sz="2400" b="1" lang="ar-EG">
                <a:solidFill>
                  <a:srgbClr val="262626"/>
                </a:solidFill>
                <a:latin typeface="Manrope"/>
                <a:cs typeface="IBM Plex Sans Arabic Medium"/>
              </a:rPr>
              <a:t>لا يوجد سجل عميل مطابق</a:t>
            </a:r>
          </a:p>
        </p:txBody>
      </p:sp>
      <p:sp>
        <p:nvSpPr>
          <p:cNvPr id="39" name="TextBox 38"/>
          <p:cNvSpPr txBox="1"/>
          <p:nvPr/>
        </p:nvSpPr>
        <p:spPr>
          <a:xfrm>
            <a:off x="857250" y="4638675"/>
            <a:ext cx="75819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645E"/>
                </a:solidFill>
                <a:latin typeface="Manrope"/>
                <a:cs typeface="IBM Plex Sans Arabic Medium"/>
              </a:rPr>
              <a:t>نستخدم إجراء البحث اليدوي الحالي.</a:t>
            </a:r>
          </a:p>
        </p:txBody>
      </p:sp>
      <p:sp>
        <p:nvSpPr>
          <p:cNvPr id="40" name="Rounded Rectangle 39"/>
          <p:cNvSpPr/>
          <p:nvPr/>
        </p:nvSpPr>
        <p:spPr>
          <a:xfrm>
            <a:off x="5791200" y="5238750"/>
            <a:ext cx="2647950" cy="523875"/>
          </a:xfrm>
          <a:prstGeom prst="roundRect">
            <a:avLst>
              <a:gd name="adj" fmla="val 9090"/>
            </a:avLst>
          </a:prstGeom>
          <a:solidFill>
            <a:srgbClr val="F4F2EE"/>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1" name="Picture 40" descr="icon-search.png"/>
          <p:cNvPicPr>
            <a:picLocks noChangeAspect="1"/>
          </p:cNvPicPr>
          <p:nvPr/>
        </p:nvPicPr>
        <p:blipFill>
          <a:blip r:embed="rId9"/>
          <a:stretch>
            <a:fillRect/>
          </a:stretch>
        </p:blipFill>
        <p:spPr>
          <a:xfrm>
            <a:off x="8058150" y="5381625"/>
            <a:ext cx="219075" cy="219075"/>
          </a:xfrm>
          <a:prstGeom prst="rect">
            <a:avLst/>
          </a:prstGeom>
          <a:effectLst/>
        </p:spPr>
      </p:pic>
      <p:sp>
        <p:nvSpPr>
          <p:cNvPr id="42" name="TextBox 41"/>
          <p:cNvSpPr txBox="1"/>
          <p:nvPr/>
        </p:nvSpPr>
        <p:spPr>
          <a:xfrm>
            <a:off x="5915025" y="5353050"/>
            <a:ext cx="1971675"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بحث يدوي</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7F4"/>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325225" y="258762"/>
            <a:ext cx="409575" cy="273050"/>
          </a:xfrm>
          <a:prstGeom prst="rect">
            <a:avLst/>
          </a:prstGeom>
          <a:effectLst/>
        </p:spPr>
      </p:pic>
      <p:sp>
        <p:nvSpPr>
          <p:cNvPr id="3" name="TextBox 2"/>
          <p:cNvSpPr txBox="1"/>
          <p:nvPr/>
        </p:nvSpPr>
        <p:spPr>
          <a:xfrm>
            <a:off x="8772525" y="276225"/>
            <a:ext cx="2428875"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1" lang="ar-EG">
                <a:solidFill>
                  <a:srgbClr val="262626"/>
                </a:solidFill>
                <a:latin typeface="Manrope"/>
                <a:cs typeface="IBM Plex Sans Arabic Medium"/>
              </a:rPr>
              <a:t>GRINDCTRL × Concrete</a:t>
            </a:r>
          </a:p>
        </p:txBody>
      </p:sp>
      <p:sp>
        <p:nvSpPr>
          <p:cNvPr id="4" name="TextBox 3"/>
          <p:cNvSpPr txBox="1"/>
          <p:nvPr/>
        </p:nvSpPr>
        <p:spPr>
          <a:xfrm>
            <a:off x="457200" y="276225"/>
            <a:ext cx="5448300" cy="28575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645E"/>
                </a:solidFill>
                <a:latin typeface="Manrope"/>
                <a:cs typeface="IBM Plex Sans Arabic Medium"/>
              </a:rPr>
              <a:t>الجزء ٠٢ · المطابقة غير المؤكدة ودور الموظف</a:t>
            </a:r>
          </a:p>
        </p:txBody>
      </p:sp>
      <p:sp>
        <p:nvSpPr>
          <p:cNvPr id="5" name="TextBox 4"/>
          <p:cNvSpPr txBox="1"/>
          <p:nvPr/>
        </p:nvSpPr>
        <p:spPr>
          <a:xfrm>
            <a:off x="457200" y="895350"/>
            <a:ext cx="11277600" cy="495300"/>
          </a:xfrm>
          <a:prstGeom prst="rect">
            <a:avLst/>
          </a:prstGeom>
          <a:noFill/>
          <a:effectLst/>
        </p:spPr>
        <p:txBody>
          <a:bodyPr wrap="square" lIns="0" rIns="0" tIns="0" bIns="0" anchor="t">
            <a:spAutoFit/>
          </a:bodyPr>
          <a:lstStyle/>
          <a:p>
            <a:pPr algn="r" rtl="1">
              <a:lnSpc>
                <a:spcPts val="3192"/>
              </a:lnSpc>
              <a:spcBef>
                <a:spcPts val="0"/>
              </a:spcBef>
              <a:spcAft>
                <a:spcPts val="0"/>
              </a:spcAft>
            </a:pPr>
            <a:r>
              <a:rPr sz="2850" b="1" lang="ar-EG">
                <a:solidFill>
                  <a:srgbClr val="262626"/>
                </a:solidFill>
                <a:latin typeface="Manrope"/>
                <a:cs typeface="IBM Plex Sans Arabic Medium"/>
              </a:rPr>
              <a:t>بعد التحقق واختيار الموظف.</a:t>
            </a:r>
          </a:p>
        </p:txBody>
      </p:sp>
      <p:cxnSp>
        <p:nvCxnSpPr>
          <p:cNvPr id="6" name="Connector 5"/>
          <p:cNvCxnSpPr/>
          <p:nvPr/>
        </p:nvCxnSpPr>
        <p:spPr>
          <a:xfrm flipH="1">
            <a:off x="457200" y="6381750"/>
            <a:ext cx="1127760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1447800" y="6505575"/>
            <a:ext cx="10287000" cy="228600"/>
          </a:xfrm>
          <a:prstGeom prst="rect">
            <a:avLst/>
          </a:prstGeom>
          <a:noFill/>
          <a:effectLst/>
        </p:spPr>
        <p:txBody>
          <a:bodyPr wrap="square" lIns="0" rIns="0" tIns="0" bIns="0" anchor="t">
            <a:spAutoFit/>
          </a:bodyPr>
          <a:lstStyle/>
          <a:p>
            <a:pPr algn="r" rtl="1">
              <a:lnSpc>
                <a:spcPts val="1176"/>
              </a:lnSpc>
              <a:spcBef>
                <a:spcPts val="0"/>
              </a:spcBef>
              <a:spcAft>
                <a:spcPts val="0"/>
              </a:spcAft>
            </a:pPr>
            <a:r>
              <a:rPr sz="1050" b="0" lang="ar-EG">
                <a:solidFill>
                  <a:srgbClr val="68645E"/>
                </a:solidFill>
                <a:latin typeface="Manrope"/>
                <a:cs typeface="IBM Plex Sans Arabic Medium"/>
              </a:rPr>
              <a:t>تجربة مقترحة توضيحية · سجلات خيالية · شكل العرض يحتاج تحققًا</a:t>
            </a:r>
          </a:p>
        </p:txBody>
      </p:sp>
      <p:sp>
        <p:nvSpPr>
          <p:cNvPr id="8" name="TextBox 7"/>
          <p:cNvSpPr txBox="1"/>
          <p:nvPr/>
        </p:nvSpPr>
        <p:spPr>
          <a:xfrm>
            <a:off x="457200" y="6505575"/>
            <a:ext cx="81915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645E"/>
                </a:solidFill>
                <a:latin typeface="Manrope"/>
                <a:cs typeface="IBM Plex Sans Arabic Medium"/>
              </a:rPr>
              <a:t>ملحق</a:t>
            </a:r>
          </a:p>
        </p:txBody>
      </p:sp>
      <p:sp>
        <p:nvSpPr>
          <p:cNvPr id="9" name="Rounded Rectangle 8"/>
          <p:cNvSpPr/>
          <p:nvPr/>
        </p:nvSpPr>
        <p:spPr>
          <a:xfrm>
            <a:off x="9086850" y="1638300"/>
            <a:ext cx="2647950" cy="4552950"/>
          </a:xfrm>
          <a:prstGeom prst="roundRect">
            <a:avLst>
              <a:gd name="adj" fmla="val 3597"/>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9086850" y="1600200"/>
            <a:ext cx="2647950" cy="4552950"/>
          </a:xfrm>
          <a:prstGeom prst="roundRect">
            <a:avLst>
              <a:gd name="adj" fmla="val 3597"/>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genesys.png"/>
          <p:cNvPicPr>
            <a:picLocks noChangeAspect="1"/>
          </p:cNvPicPr>
          <p:nvPr/>
        </p:nvPicPr>
        <p:blipFill>
          <a:blip r:embed="rId3"/>
          <a:stretch>
            <a:fillRect/>
          </a:stretch>
        </p:blipFill>
        <p:spPr>
          <a:xfrm>
            <a:off x="10420350" y="1785999"/>
            <a:ext cx="1123950" cy="218951"/>
          </a:xfrm>
          <a:prstGeom prst="rect">
            <a:avLst/>
          </a:prstGeom>
          <a:effectLst/>
        </p:spPr>
      </p:pic>
      <p:sp>
        <p:nvSpPr>
          <p:cNvPr id="12" name="TextBox 11"/>
          <p:cNvSpPr txBox="1"/>
          <p:nvPr/>
        </p:nvSpPr>
        <p:spPr>
          <a:xfrm>
            <a:off x="9324975" y="1781175"/>
            <a:ext cx="838200"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Voice</a:t>
            </a:r>
          </a:p>
        </p:txBody>
      </p:sp>
      <p:cxnSp>
        <p:nvCxnSpPr>
          <p:cNvPr id="13" name="Connector 12"/>
          <p:cNvCxnSpPr/>
          <p:nvPr/>
        </p:nvCxnSpPr>
        <p:spPr>
          <a:xfrm flipH="1">
            <a:off x="9086850" y="2190750"/>
            <a:ext cx="2647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858500" y="2476500"/>
            <a:ext cx="666750" cy="666750"/>
          </a:xfrm>
          <a:prstGeom prst="ellipse">
            <a:avLst/>
          </a:prstGeom>
          <a:solidFill>
            <a:srgbClr val="EFF4EE"/>
          </a:solidFill>
          <a:ln w="9525">
            <a:solidFill>
              <a:srgbClr val="EFF4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call.png"/>
          <p:cNvPicPr>
            <a:picLocks noChangeAspect="1"/>
          </p:cNvPicPr>
          <p:nvPr/>
        </p:nvPicPr>
        <p:blipFill>
          <a:blip r:embed="rId4"/>
          <a:stretch>
            <a:fillRect/>
          </a:stretch>
        </p:blipFill>
        <p:spPr>
          <a:xfrm>
            <a:off x="11039475" y="2657475"/>
            <a:ext cx="304800" cy="304800"/>
          </a:xfrm>
          <a:prstGeom prst="rect">
            <a:avLst/>
          </a:prstGeom>
          <a:effectLst/>
        </p:spPr>
      </p:pic>
      <p:sp>
        <p:nvSpPr>
          <p:cNvPr id="16" name="TextBox 15"/>
          <p:cNvSpPr txBox="1"/>
          <p:nvPr/>
        </p:nvSpPr>
        <p:spPr>
          <a:xfrm>
            <a:off x="9296400" y="3390900"/>
            <a:ext cx="2228850" cy="3429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متصل وارد</a:t>
            </a:r>
          </a:p>
        </p:txBody>
      </p:sp>
      <p:sp>
        <p:nvSpPr>
          <p:cNvPr id="17" name="TextBox 16"/>
          <p:cNvSpPr txBox="1"/>
          <p:nvPr/>
        </p:nvSpPr>
        <p:spPr>
          <a:xfrm>
            <a:off x="9296400" y="3829050"/>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رقم المتصل</a:t>
            </a:r>
          </a:p>
        </p:txBody>
      </p:sp>
      <p:sp>
        <p:nvSpPr>
          <p:cNvPr id="18" name="TextBox 17"/>
          <p:cNvSpPr txBox="1"/>
          <p:nvPr/>
        </p:nvSpPr>
        <p:spPr>
          <a:xfrm>
            <a:off x="9296400" y="4200525"/>
            <a:ext cx="2228850" cy="371475"/>
          </a:xfrm>
          <a:prstGeom prst="rect">
            <a:avLst/>
          </a:prstGeom>
          <a:noFill/>
          <a:effectLst/>
        </p:spPr>
        <p:txBody>
          <a:bodyPr wrap="square" lIns="0" rIns="0" tIns="0" bIns="0" anchor="t">
            <a:spAutoFit/>
          </a:bodyPr>
          <a:lstStyle/>
          <a:p>
            <a:pPr algn="r" rtl="0">
              <a:lnSpc>
                <a:spcPts val="2268"/>
              </a:lnSpc>
              <a:spcBef>
                <a:spcPts val="0"/>
              </a:spcBef>
              <a:spcAft>
                <a:spcPts val="0"/>
              </a:spcAft>
            </a:pPr>
            <a:r>
              <a:rPr sz="2025" b="1" lang="ar-EG">
                <a:solidFill>
                  <a:srgbClr val="262626"/>
                </a:solidFill>
                <a:latin typeface="Manrope"/>
                <a:cs typeface="IBM Plex Sans Arabic Medium"/>
              </a:rPr>
              <a:t>+20 ••• 410</a:t>
            </a:r>
          </a:p>
        </p:txBody>
      </p:sp>
      <p:sp>
        <p:nvSpPr>
          <p:cNvPr id="19" name="Oval 18"/>
          <p:cNvSpPr/>
          <p:nvPr/>
        </p:nvSpPr>
        <p:spPr>
          <a:xfrm>
            <a:off x="11430000" y="4800600"/>
            <a:ext cx="85725" cy="85725"/>
          </a:xfrm>
          <a:prstGeom prst="ellipse">
            <a:avLst/>
          </a:prstGeom>
          <a:solidFill>
            <a:srgbClr val="49654E"/>
          </a:solidFill>
          <a:ln w="9525">
            <a:solidFill>
              <a:srgbClr val="49654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296400" y="4714875"/>
            <a:ext cx="2028825" cy="32385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49654E"/>
                </a:solidFill>
                <a:latin typeface="Manrope"/>
                <a:cs typeface="IBM Plex Sans Arabic Medium"/>
              </a:rPr>
              <a:t>مكالمة جارية</a:t>
            </a:r>
          </a:p>
        </p:txBody>
      </p:sp>
      <p:sp>
        <p:nvSpPr>
          <p:cNvPr id="21" name="TextBox 20"/>
          <p:cNvSpPr txBox="1"/>
          <p:nvPr/>
        </p:nvSpPr>
        <p:spPr>
          <a:xfrm>
            <a:off x="9296400" y="5114925"/>
            <a:ext cx="22288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موزعة على الموظف</a:t>
            </a:r>
          </a:p>
        </p:txBody>
      </p:sp>
      <p:sp>
        <p:nvSpPr>
          <p:cNvPr id="22" name="Oval 21"/>
          <p:cNvSpPr/>
          <p:nvPr/>
        </p:nvSpPr>
        <p:spPr>
          <a:xfrm>
            <a:off x="1112520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mic.png"/>
          <p:cNvPicPr>
            <a:picLocks noChangeAspect="1"/>
          </p:cNvPicPr>
          <p:nvPr/>
        </p:nvPicPr>
        <p:blipFill>
          <a:blip r:embed="rId5"/>
          <a:stretch>
            <a:fillRect/>
          </a:stretch>
        </p:blipFill>
        <p:spPr>
          <a:xfrm>
            <a:off x="11229975" y="5695950"/>
            <a:ext cx="190500" cy="190500"/>
          </a:xfrm>
          <a:prstGeom prst="rect">
            <a:avLst/>
          </a:prstGeom>
          <a:effectLst/>
        </p:spPr>
      </p:pic>
      <p:sp>
        <p:nvSpPr>
          <p:cNvPr id="24" name="Oval 23"/>
          <p:cNvSpPr/>
          <p:nvPr/>
        </p:nvSpPr>
        <p:spPr>
          <a:xfrm>
            <a:off x="10544175"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pause.png"/>
          <p:cNvPicPr>
            <a:picLocks noChangeAspect="1"/>
          </p:cNvPicPr>
          <p:nvPr/>
        </p:nvPicPr>
        <p:blipFill>
          <a:blip r:embed="rId6"/>
          <a:stretch>
            <a:fillRect/>
          </a:stretch>
        </p:blipFill>
        <p:spPr>
          <a:xfrm>
            <a:off x="10648950" y="5695950"/>
            <a:ext cx="190500" cy="190500"/>
          </a:xfrm>
          <a:prstGeom prst="rect">
            <a:avLst/>
          </a:prstGeom>
          <a:effectLst/>
        </p:spPr>
      </p:pic>
      <p:sp>
        <p:nvSpPr>
          <p:cNvPr id="26" name="Oval 25"/>
          <p:cNvSpPr/>
          <p:nvPr/>
        </p:nvSpPr>
        <p:spPr>
          <a:xfrm>
            <a:off x="9963150" y="5591175"/>
            <a:ext cx="400050" cy="400050"/>
          </a:xfrm>
          <a:prstGeom prst="ellipse">
            <a:avLst/>
          </a:prstGeom>
          <a:solidFill>
            <a:srgbClr val="F4F2EE"/>
          </a:solidFill>
          <a:ln w="9525">
            <a:solidFill>
              <a:srgbClr val="F4F2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end.png"/>
          <p:cNvPicPr>
            <a:picLocks noChangeAspect="1"/>
          </p:cNvPicPr>
          <p:nvPr/>
        </p:nvPicPr>
        <p:blipFill>
          <a:blip r:embed="rId7"/>
          <a:stretch>
            <a:fillRect/>
          </a:stretch>
        </p:blipFill>
        <p:spPr>
          <a:xfrm>
            <a:off x="10067925" y="5695950"/>
            <a:ext cx="190500" cy="190500"/>
          </a:xfrm>
          <a:prstGeom prst="rect">
            <a:avLst/>
          </a:prstGeom>
          <a:effectLst/>
        </p:spPr>
      </p:pic>
      <p:sp>
        <p:nvSpPr>
          <p:cNvPr id="28" name="Rounded Rectangle 27"/>
          <p:cNvSpPr/>
          <p:nvPr/>
        </p:nvSpPr>
        <p:spPr>
          <a:xfrm>
            <a:off x="457200" y="1638300"/>
            <a:ext cx="8401050" cy="4552950"/>
          </a:xfrm>
          <a:prstGeom prst="roundRect">
            <a:avLst>
              <a:gd name="adj" fmla="val 2092"/>
            </a:avLst>
          </a:prstGeom>
          <a:solidFill>
            <a:srgbClr val="EDEAE4"/>
          </a:solidFill>
          <a:ln w="9525">
            <a:solidFill>
              <a:srgbClr val="EDEAE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457200" y="1600200"/>
            <a:ext cx="8401050" cy="4552950"/>
          </a:xfrm>
          <a:prstGeom prst="roundRect">
            <a:avLst>
              <a:gd name="adj" fmla="val 209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zoho.png"/>
          <p:cNvPicPr>
            <a:picLocks noChangeAspect="1"/>
          </p:cNvPicPr>
          <p:nvPr/>
        </p:nvPicPr>
        <p:blipFill>
          <a:blip r:embed="rId8"/>
          <a:stretch>
            <a:fillRect/>
          </a:stretch>
        </p:blipFill>
        <p:spPr>
          <a:xfrm>
            <a:off x="8048625" y="1762460"/>
            <a:ext cx="619125" cy="266030"/>
          </a:xfrm>
          <a:prstGeom prst="rect">
            <a:avLst/>
          </a:prstGeom>
          <a:effectLst/>
        </p:spPr>
      </p:pic>
      <p:sp>
        <p:nvSpPr>
          <p:cNvPr id="31" name="TextBox 30"/>
          <p:cNvSpPr txBox="1"/>
          <p:nvPr/>
        </p:nvSpPr>
        <p:spPr>
          <a:xfrm>
            <a:off x="6057900" y="1762125"/>
            <a:ext cx="1809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Zoho Desk</a:t>
            </a:r>
          </a:p>
        </p:txBody>
      </p:sp>
      <p:sp>
        <p:nvSpPr>
          <p:cNvPr id="32" name="TextBox 31"/>
          <p:cNvSpPr txBox="1"/>
          <p:nvPr/>
        </p:nvSpPr>
        <p:spPr>
          <a:xfrm>
            <a:off x="695325" y="1781175"/>
            <a:ext cx="5286375" cy="285750"/>
          </a:xfrm>
          <a:prstGeom prst="rect">
            <a:avLst/>
          </a:prstGeom>
          <a:noFill/>
          <a:effectLst/>
        </p:spPr>
        <p:txBody>
          <a:bodyPr wrap="square" lIns="0" rIns="0" tIns="0" bIns="0" anchor="t">
            <a:spAutoFit/>
          </a:bodyPr>
          <a:lstStyle/>
          <a:p>
            <a:pPr algn="l" rtl="1">
              <a:lnSpc>
                <a:spcPts val="1428"/>
              </a:lnSpc>
              <a:spcBef>
                <a:spcPts val="0"/>
              </a:spcBef>
              <a:spcAft>
                <a:spcPts val="0"/>
              </a:spcAft>
            </a:pPr>
            <a:r>
              <a:rPr sz="1275" b="0" lang="ar-EG">
                <a:solidFill>
                  <a:srgbClr val="68645E"/>
                </a:solidFill>
                <a:latin typeface="Manrope"/>
                <a:cs typeface="IBM Plex Sans Arabic Medium"/>
              </a:rPr>
              <a:t>Record choice · Proposed</a:t>
            </a:r>
          </a:p>
        </p:txBody>
      </p:sp>
      <p:cxnSp>
        <p:nvCxnSpPr>
          <p:cNvPr id="33" name="Connector 32"/>
          <p:cNvCxnSpPr/>
          <p:nvPr/>
        </p:nvCxnSpPr>
        <p:spPr>
          <a:xfrm flipH="1">
            <a:off x="457200" y="2190750"/>
            <a:ext cx="84010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8239125" y="2390775"/>
            <a:ext cx="409575" cy="409575"/>
          </a:xfrm>
          <a:prstGeom prst="ellipse">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actor.png"/>
          <p:cNvPicPr>
            <a:picLocks noChangeAspect="1"/>
          </p:cNvPicPr>
          <p:nvPr/>
        </p:nvPicPr>
        <p:blipFill>
          <a:blip r:embed="rId9"/>
          <a:stretch>
            <a:fillRect/>
          </a:stretch>
        </p:blipFill>
        <p:spPr>
          <a:xfrm>
            <a:off x="8337423" y="2489073"/>
            <a:ext cx="212979" cy="212979"/>
          </a:xfrm>
          <a:prstGeom prst="rect">
            <a:avLst/>
          </a:prstGeom>
          <a:effectLst/>
        </p:spPr>
      </p:pic>
      <p:sp>
        <p:nvSpPr>
          <p:cNvPr id="36" name="TextBox 35"/>
          <p:cNvSpPr txBox="1"/>
          <p:nvPr/>
        </p:nvSpPr>
        <p:spPr>
          <a:xfrm>
            <a:off x="923925" y="2371725"/>
            <a:ext cx="7143750" cy="342900"/>
          </a:xfrm>
          <a:prstGeom prst="rect">
            <a:avLst/>
          </a:prstGeom>
          <a:noFill/>
          <a:effectLst/>
        </p:spPr>
        <p:txBody>
          <a:bodyPr wrap="square" lIns="0" rIns="0" tIns="0" bIns="0" anchor="t">
            <a:spAutoFit/>
          </a:bodyPr>
          <a:lstStyle/>
          <a:p>
            <a:pPr algn="r" rtl="1">
              <a:lnSpc>
                <a:spcPts val="2268"/>
              </a:lnSpc>
              <a:spcBef>
                <a:spcPts val="0"/>
              </a:spcBef>
              <a:spcAft>
                <a:spcPts val="0"/>
              </a:spcAft>
            </a:pPr>
            <a:r>
              <a:rPr sz="2025" b="1" lang="ar-EG">
                <a:solidFill>
                  <a:srgbClr val="262626"/>
                </a:solidFill>
                <a:latin typeface="Manrope"/>
                <a:cs typeface="IBM Plex Sans Arabic Medium"/>
              </a:rPr>
              <a:t>العميل A</a:t>
            </a:r>
          </a:p>
        </p:txBody>
      </p:sp>
      <p:sp>
        <p:nvSpPr>
          <p:cNvPr id="37" name="TextBox 36"/>
          <p:cNvSpPr txBox="1"/>
          <p:nvPr/>
        </p:nvSpPr>
        <p:spPr>
          <a:xfrm>
            <a:off x="5305425" y="2781300"/>
            <a:ext cx="2762250"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سجل عميل مرتبط</a:t>
            </a:r>
          </a:p>
        </p:txBody>
      </p:sp>
      <p:sp>
        <p:nvSpPr>
          <p:cNvPr id="38" name="TextBox 37"/>
          <p:cNvSpPr txBox="1"/>
          <p:nvPr/>
        </p:nvSpPr>
        <p:spPr>
          <a:xfrm>
            <a:off x="1495425" y="2771775"/>
            <a:ext cx="3333750" cy="285750"/>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ar-EG">
                <a:solidFill>
                  <a:srgbClr val="68645E"/>
                </a:solidFill>
                <a:latin typeface="Manrope"/>
                <a:cs typeface="IBM Plex Sans Arabic Medium"/>
              </a:rPr>
              <a:t>+20 ••• 410</a:t>
            </a:r>
          </a:p>
        </p:txBody>
      </p:sp>
      <p:cxnSp>
        <p:nvCxnSpPr>
          <p:cNvPr id="39" name="Connector 38"/>
          <p:cNvCxnSpPr/>
          <p:nvPr/>
        </p:nvCxnSpPr>
        <p:spPr>
          <a:xfrm flipH="1">
            <a:off x="666750" y="3228975"/>
            <a:ext cx="7981950" cy="0"/>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5695950" y="3381375"/>
            <a:ext cx="2952750" cy="30480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62626"/>
                </a:solidFill>
                <a:latin typeface="Manrope"/>
                <a:cs typeface="IBM Plex Sans Arabic Medium"/>
              </a:rPr>
              <a:t>التذاكر السابقة</a:t>
            </a:r>
          </a:p>
        </p:txBody>
      </p:sp>
      <p:sp>
        <p:nvSpPr>
          <p:cNvPr id="41" name="Rounded Rectangle 40"/>
          <p:cNvSpPr/>
          <p:nvPr/>
        </p:nvSpPr>
        <p:spPr>
          <a:xfrm>
            <a:off x="5743575" y="3781425"/>
            <a:ext cx="2962275" cy="895350"/>
          </a:xfrm>
          <a:prstGeom prst="roundRect">
            <a:avLst>
              <a:gd name="adj" fmla="val 6382"/>
            </a:avLst>
          </a:prstGeom>
          <a:solidFill>
            <a:srgbClr val="F4F2EE"/>
          </a:solidFill>
          <a:ln w="9525">
            <a:solidFill>
              <a:srgbClr val="FFBA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con-case.png"/>
          <p:cNvPicPr>
            <a:picLocks noChangeAspect="1"/>
          </p:cNvPicPr>
          <p:nvPr/>
        </p:nvPicPr>
        <p:blipFill>
          <a:blip r:embed="rId10"/>
          <a:stretch>
            <a:fillRect/>
          </a:stretch>
        </p:blipFill>
        <p:spPr>
          <a:xfrm>
            <a:off x="8343900" y="3924300"/>
            <a:ext cx="228600" cy="228600"/>
          </a:xfrm>
          <a:prstGeom prst="rect">
            <a:avLst/>
          </a:prstGeom>
          <a:effectLst/>
        </p:spPr>
      </p:pic>
      <p:sp>
        <p:nvSpPr>
          <p:cNvPr id="43" name="TextBox 42"/>
          <p:cNvSpPr txBox="1"/>
          <p:nvPr/>
        </p:nvSpPr>
        <p:spPr>
          <a:xfrm>
            <a:off x="5924550" y="3895725"/>
            <a:ext cx="2286000" cy="31432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1" lang="ar-EG">
                <a:solidFill>
                  <a:srgbClr val="262626"/>
                </a:solidFill>
                <a:latin typeface="Manrope"/>
                <a:cs typeface="IBM Plex Sans Arabic Medium"/>
              </a:rPr>
              <a:t>T101 · متابعة استبدال</a:t>
            </a:r>
          </a:p>
        </p:txBody>
      </p:sp>
      <p:sp>
        <p:nvSpPr>
          <p:cNvPr id="44" name="TextBox 43"/>
          <p:cNvSpPr txBox="1"/>
          <p:nvPr/>
        </p:nvSpPr>
        <p:spPr>
          <a:xfrm>
            <a:off x="7486650" y="4314825"/>
            <a:ext cx="1085850" cy="2667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49654E"/>
                </a:solidFill>
                <a:latin typeface="Manrope"/>
                <a:cs typeface="IBM Plex Sans Arabic Medium"/>
              </a:rPr>
              <a:t>مفتوحة</a:t>
            </a:r>
          </a:p>
        </p:txBody>
      </p:sp>
      <p:sp>
        <p:nvSpPr>
          <p:cNvPr id="45" name="TextBox 44"/>
          <p:cNvSpPr txBox="1"/>
          <p:nvPr/>
        </p:nvSpPr>
        <p:spPr>
          <a:xfrm>
            <a:off x="5972175" y="4314825"/>
            <a:ext cx="1200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B</a:t>
            </a:r>
          </a:p>
        </p:txBody>
      </p:sp>
      <p:sp>
        <p:nvSpPr>
          <p:cNvPr id="46" name="Rounded Rectangle 45"/>
          <p:cNvSpPr/>
          <p:nvPr/>
        </p:nvSpPr>
        <p:spPr>
          <a:xfrm>
            <a:off x="5743575" y="4781550"/>
            <a:ext cx="2962275" cy="895350"/>
          </a:xfrm>
          <a:prstGeom prst="roundRect">
            <a:avLst>
              <a:gd name="adj" fmla="val 6382"/>
            </a:avLst>
          </a:prstGeom>
          <a:solidFill>
            <a:srgbClr val="FFFFFF"/>
          </a:solidFill>
          <a:ln w="9525">
            <a:solidFill>
              <a:srgbClr val="E6E3D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7" name="Picture 46" descr="icon-case.png"/>
          <p:cNvPicPr>
            <a:picLocks noChangeAspect="1"/>
          </p:cNvPicPr>
          <p:nvPr/>
        </p:nvPicPr>
        <p:blipFill>
          <a:blip r:embed="rId10"/>
          <a:stretch>
            <a:fillRect/>
          </a:stretch>
        </p:blipFill>
        <p:spPr>
          <a:xfrm>
            <a:off x="8343900" y="4924425"/>
            <a:ext cx="228600" cy="228600"/>
          </a:xfrm>
          <a:prstGeom prst="rect">
            <a:avLst/>
          </a:prstGeom>
          <a:effectLst/>
        </p:spPr>
      </p:pic>
      <p:sp>
        <p:nvSpPr>
          <p:cNvPr id="48" name="TextBox 47"/>
          <p:cNvSpPr txBox="1"/>
          <p:nvPr/>
        </p:nvSpPr>
        <p:spPr>
          <a:xfrm>
            <a:off x="5924550" y="4895850"/>
            <a:ext cx="2286000" cy="31432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262626"/>
                </a:solidFill>
                <a:latin typeface="Manrope"/>
                <a:cs typeface="IBM Plex Sans Arabic Medium"/>
              </a:rPr>
              <a:t>T098 · سؤال مقاس</a:t>
            </a:r>
          </a:p>
        </p:txBody>
      </p:sp>
      <p:sp>
        <p:nvSpPr>
          <p:cNvPr id="49" name="TextBox 48"/>
          <p:cNvSpPr txBox="1"/>
          <p:nvPr/>
        </p:nvSpPr>
        <p:spPr>
          <a:xfrm>
            <a:off x="7486650" y="5314950"/>
            <a:ext cx="1085850" cy="2667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645E"/>
                </a:solidFill>
                <a:latin typeface="Manrope"/>
                <a:cs typeface="IBM Plex Sans Arabic Medium"/>
              </a:rPr>
              <a:t>مغلقة</a:t>
            </a:r>
          </a:p>
        </p:txBody>
      </p:sp>
      <p:sp>
        <p:nvSpPr>
          <p:cNvPr id="50" name="TextBox 49"/>
          <p:cNvSpPr txBox="1"/>
          <p:nvPr/>
        </p:nvSpPr>
        <p:spPr>
          <a:xfrm>
            <a:off x="5972175" y="5314950"/>
            <a:ext cx="1200150" cy="2667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645E"/>
                </a:solidFill>
                <a:latin typeface="Manrope"/>
                <a:cs typeface="IBM Plex Sans Arabic Medium"/>
              </a:rPr>
              <a:t>الموظف C</a:t>
            </a:r>
          </a:p>
        </p:txBody>
      </p:sp>
      <p:cxnSp>
        <p:nvCxnSpPr>
          <p:cNvPr id="51" name="Connector 50"/>
          <p:cNvCxnSpPr/>
          <p:nvPr/>
        </p:nvCxnSpPr>
        <p:spPr>
          <a:xfrm>
            <a:off x="5553075" y="3381375"/>
            <a:ext cx="0" cy="2524125"/>
          </a:xfrm>
          <a:prstGeom prst="line">
            <a:avLst/>
          </a:prstGeom>
          <a:ln w="9525">
            <a:solidFill>
              <a:srgbClr val="E6E3DE"/>
            </a:solidFill>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762000" y="3390900"/>
            <a:ext cx="454342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62626"/>
                </a:solidFill>
                <a:latin typeface="Manrope"/>
                <a:cs typeface="IBM Plex Sans Arabic Medium"/>
              </a:rPr>
              <a:t>T101 · متابعة استبدال</a:t>
            </a:r>
          </a:p>
        </p:txBody>
      </p:sp>
      <p:sp>
        <p:nvSpPr>
          <p:cNvPr id="53" name="TextBox 52"/>
          <p:cNvSpPr txBox="1"/>
          <p:nvPr/>
        </p:nvSpPr>
        <p:spPr>
          <a:xfrm>
            <a:off x="4352925" y="3829050"/>
            <a:ext cx="952500" cy="2571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الحالة</a:t>
            </a:r>
          </a:p>
        </p:txBody>
      </p:sp>
      <p:sp>
        <p:nvSpPr>
          <p:cNvPr id="54" name="TextBox 53"/>
          <p:cNvSpPr txBox="1"/>
          <p:nvPr/>
        </p:nvSpPr>
        <p:spPr>
          <a:xfrm>
            <a:off x="3781425" y="4124325"/>
            <a:ext cx="15240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49654E"/>
                </a:solidFill>
                <a:latin typeface="Manrope"/>
                <a:cs typeface="IBM Plex Sans Arabic Medium"/>
              </a:rPr>
              <a:t>مفتوحة</a:t>
            </a:r>
          </a:p>
        </p:txBody>
      </p:sp>
      <p:sp>
        <p:nvSpPr>
          <p:cNvPr id="55" name="TextBox 54"/>
          <p:cNvSpPr txBox="1"/>
          <p:nvPr/>
        </p:nvSpPr>
        <p:spPr>
          <a:xfrm>
            <a:off x="981075" y="3829050"/>
            <a:ext cx="2362200" cy="2571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645E"/>
                </a:solidFill>
                <a:latin typeface="Manrope"/>
                <a:cs typeface="IBM Plex Sans Arabic Medium"/>
              </a:rPr>
              <a:t>الموظف المسؤول</a:t>
            </a:r>
          </a:p>
        </p:txBody>
      </p:sp>
      <p:sp>
        <p:nvSpPr>
          <p:cNvPr id="56" name="TextBox 55"/>
          <p:cNvSpPr txBox="1"/>
          <p:nvPr/>
        </p:nvSpPr>
        <p:spPr>
          <a:xfrm>
            <a:off x="981075" y="4124325"/>
            <a:ext cx="23622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262626"/>
                </a:solidFill>
                <a:latin typeface="Manrope"/>
                <a:cs typeface="IBM Plex Sans Arabic Medium"/>
              </a:rPr>
              <a:t>الموظف B</a:t>
            </a:r>
          </a:p>
        </p:txBody>
      </p:sp>
      <p:sp>
        <p:nvSpPr>
          <p:cNvPr id="57" name="Rounded Rectangle 56"/>
          <p:cNvSpPr/>
          <p:nvPr/>
        </p:nvSpPr>
        <p:spPr>
          <a:xfrm>
            <a:off x="781050" y="4648200"/>
            <a:ext cx="4543425" cy="1266825"/>
          </a:xfrm>
          <a:prstGeom prst="roundRect">
            <a:avLst>
              <a:gd name="adj" fmla="val 5263"/>
            </a:avLst>
          </a:prstGeom>
          <a:solidFill>
            <a:srgbClr val="FFF2DD"/>
          </a:solidFill>
          <a:ln w="9525">
            <a:solidFill>
              <a:srgbClr val="FFF2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8" name="Picture 57" descr="icon-file.png"/>
          <p:cNvPicPr>
            <a:picLocks noChangeAspect="1"/>
          </p:cNvPicPr>
          <p:nvPr/>
        </p:nvPicPr>
        <p:blipFill>
          <a:blip r:embed="rId11"/>
          <a:stretch>
            <a:fillRect/>
          </a:stretch>
        </p:blipFill>
        <p:spPr>
          <a:xfrm>
            <a:off x="4924425" y="4819650"/>
            <a:ext cx="228600" cy="228600"/>
          </a:xfrm>
          <a:prstGeom prst="rect">
            <a:avLst/>
          </a:prstGeom>
          <a:effectLst/>
        </p:spPr>
      </p:pic>
      <p:sp>
        <p:nvSpPr>
          <p:cNvPr id="59" name="TextBox 58"/>
          <p:cNvSpPr txBox="1"/>
          <p:nvPr/>
        </p:nvSpPr>
        <p:spPr>
          <a:xfrm>
            <a:off x="1057275" y="4800600"/>
            <a:ext cx="3733800" cy="29527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965318"/>
                </a:solidFill>
                <a:latin typeface="Manrope"/>
                <a:cs typeface="IBM Plex Sans Arabic Medium"/>
              </a:rPr>
              <a:t>آخر ملاحظة مسجلة</a:t>
            </a:r>
          </a:p>
        </p:txBody>
      </p:sp>
      <p:sp>
        <p:nvSpPr>
          <p:cNvPr id="60" name="TextBox 59"/>
          <p:cNvSpPr txBox="1"/>
          <p:nvPr/>
        </p:nvSpPr>
        <p:spPr>
          <a:xfrm>
            <a:off x="1019175" y="5210175"/>
            <a:ext cx="4133850" cy="64770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62626"/>
                </a:solidFill>
                <a:latin typeface="Manrope"/>
                <a:cs typeface="IBM Plex Sans Arabic Medium"/>
              </a:rPr>
              <a:t>مراجعة الفرع لسه مطلوبة.</a:t>
            </a:r>
          </a:p>
        </p:txBody>
      </p:sp>
    </p:spTree>
  </p:cSld>
  <p:clrMapOvr>
    <a:masterClrMapping/>
  </p:clrMapOvr>
  <p:transition spd="med" advClick="1"/>
  <p:timing>
    <p:tnLst>
      <p:par>
        <p:cTn id="1" dur="indefinite" restart="never" nodeType="tmRoot">
          <p:childTnLst>
            <p:seq concurrent="1" nextAc="seek">
              <p:cTn id="2" dur="indefinite" nodeType="mainSeq">
                <p:childTnLst>
                  <p:par>
                    <p:cTn id="3" fill="hold">
                      <p:stCondLst>
                        <p:cond delay="0"/>
                      </p:stCondLst>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كونكريت — الجزء ٠٢: داخل طريقة العمل</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