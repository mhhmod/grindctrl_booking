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first collaboration. No existing GRINDCTRL relationship with Concrete or Centro, and no completed implementation. Independent illustrative UI, not screenshots of installed vendor systems. All example records, masked numbers and dialogue are fictional.</a:t>
            </a:r>
          </a:p>
          <a:p/>
          <a:p>
            <a:r>
              <a:t>The user reports that Genesys calls do not automatically expose previous Zoho Desk tickets, but manual phone-number search finds them. This has not been independently tested. A number association is not identity verification; employee permissions and Concrete’s caller-verification procedures apply.</a:t>
            </a:r>
          </a:p>
          <a:p/>
          <a:p>
            <a:r>
              <a:t>This is a read-context proposal. No live connector, backend, AI model, refund decision, ticket mutation or measured performance result. Animation is explanatory pacing, not measured response time. Authorized lookup and suitable matching must be technically validated.</a:t>
            </a:r>
          </a:p>
          <a:p/>
          <a:p>
            <a:r>
              <a:t>The hero shows the outcome first. Genesys and Zoho Desk remain existing systems; this is one possible employee-facing presentation of existing ticket context, subject to the actual desktop and supported mechanisms.</a:t>
            </a:r>
          </a:p>
          <a:p/>
          <a:p>
            <a:r>
              <a:t>SOURCES (PDF pages):</a:t>
            </a:r>
          </a:p>
          <a:p/>
          <a:p>
            <a:r>
              <a:t>User report in this session —  — Zoho used for ticketing; caller history does not pop up; manual phone search finds tickets. Not independently tested.</a:t>
            </a:r>
          </a:p>
          <a:p/>
          <a:p>
            <a:r>
              <a:t>Concrete contract (29-11-2023).pdf — 4 — Exact scope line: “CRM URL pop up integration.” Not proof of current operation or two-way synchronization.</a:t>
            </a:r>
          </a:p>
          <a:p/>
          <a:p>
            <a:r>
              <a:t>Concrete contract (06-09-2022).pdf — 7 — Zoho ticketing/integration scope. Not proof of an active Zoho CRM app or current field mapping.</a:t>
            </a:r>
          </a:p>
          <a:p/>
          <a:p>
            <a:r>
              <a:t>No existing Concrete/Centro relationship. All sample records are fictional. No live connector. Reported workflow has not been independently tested.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first collaboration. No existing GRINDCTRL relationship with Concrete or Centro, and no completed implementation. Independent illustrative UI, not screenshots of installed vendor systems. All example records, masked numbers and dialogue are fictional.</a:t>
            </a:r>
          </a:p>
          <a:p/>
          <a:p>
            <a:r>
              <a:t>The user reports that Genesys calls do not automatically expose previous Zoho Desk tickets, but manual phone-number search finds them. This has not been independently tested. A number association is not identity verification; employee permissions and Concrete’s caller-verification procedures apply.</a:t>
            </a:r>
          </a:p>
          <a:p/>
          <a:p>
            <a:r>
              <a:t>This is a read-context proposal. No live connector, backend, AI model, refund decision, ticket mutation or measured performance result. Animation is explanatory pacing, not measured response time. Authorized lookup and suitable matching must be technically validated.</a:t>
            </a:r>
          </a:p>
          <a:p/>
          <a:p>
            <a:r>
              <a:t>SOURCES (PDF pages):</a:t>
            </a:r>
          </a:p>
          <a:p/>
          <a:p>
            <a:r>
              <a:t>User report in this session —  — Zoho used for ticketing; caller history does not pop up; manual phone search finds tickets. Not independently tested.</a:t>
            </a:r>
          </a:p>
          <a:p/>
          <a:p>
            <a:r>
              <a:t>Concrete contract (29-11-2023).pdf — 4 — Exact scope line: “CRM URL pop up integration.” Not proof of current operation or two-way synchronization.</a:t>
            </a:r>
          </a:p>
          <a:p/>
          <a:p>
            <a:r>
              <a:t>Concrete contract (06-09-2022).pdf — 7 — Zoho ticketing/integration scope. Not proof of an active Zoho CRM app or current field mapping.</a:t>
            </a:r>
          </a:p>
          <a:p/>
          <a:p>
            <a:r>
              <a:t>No existing Concrete/Centro relationship. All sample records are fictional. No live connector. Reported workflow has not been independently tested.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first collaboration. No existing GRINDCTRL relationship with Concrete or Centro, and no completed implementation. Independent illustrative UI, not screenshots of installed vendor systems. All example records, masked numbers and dialogue are fictional.</a:t>
            </a:r>
          </a:p>
          <a:p/>
          <a:p>
            <a:r>
              <a:t>The user reports that Genesys calls do not automatically expose previous Zoho Desk tickets, but manual phone-number search finds them. This has not been independently tested. A number association is not identity verification; employee permissions and Concrete’s caller-verification procedures apply.</a:t>
            </a:r>
          </a:p>
          <a:p/>
          <a:p>
            <a:r>
              <a:t>This is a read-context proposal. No live connector, backend, AI model, refund decision, ticket mutation or measured performance result. Animation is explanatory pacing, not measured response time. Authorized lookup and suitable matching must be technically validated.</a:t>
            </a:r>
          </a:p>
          <a:p/>
          <a:p>
            <a:r>
              <a:t>The displayed successful association is illustrative. Shared numbers, multiple matches, no number/no match, permissions and unavailable lookup require explicit employee choice or manual fallback while the call continues. Do not promise automatic best-ticket selection without validating selection rules.</a:t>
            </a:r>
          </a:p>
          <a:p/>
          <a:p>
            <a:r>
              <a:t>SOURCES (PDF pages):</a:t>
            </a:r>
          </a:p>
          <a:p/>
          <a:p>
            <a:r>
              <a:t>User report in this session —  — Zoho used for ticketing; caller history does not pop up; manual phone search finds tickets. Not independently tested.</a:t>
            </a:r>
          </a:p>
          <a:p/>
          <a:p>
            <a:r>
              <a:t>Concrete contract (29-11-2023).pdf — 4 — Exact scope line: “CRM URL pop up integration.” Not proof of current operation or two-way synchronization.</a:t>
            </a:r>
          </a:p>
          <a:p/>
          <a:p>
            <a:r>
              <a:t>Concrete contract (06-09-2022).pdf — 7 — Zoho ticketing/integration scope. Not proof of an active Zoho CRM app or current field mapping.</a:t>
            </a:r>
          </a:p>
          <a:p/>
          <a:p>
            <a:r>
              <a:t>No existing Concrete/Centro relationship. All sample records are fictional. No live connector. Reported workflow has not been independently tested.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first collaboration. No existing GRINDCTRL relationship with Concrete or Centro, and no completed implementation. Independent illustrative UI, not screenshots of installed vendor systems. All example records, masked numbers and dialogue are fictional.</a:t>
            </a:r>
          </a:p>
          <a:p/>
          <a:p>
            <a:r>
              <a:t>The user reports that Genesys calls do not automatically expose previous Zoho Desk tickets, but manual phone-number search finds them. This has not been independently tested. A number association is not identity verification; employee permissions and Concrete’s caller-verification procedures apply.</a:t>
            </a:r>
          </a:p>
          <a:p/>
          <a:p>
            <a:r>
              <a:t>This is a read-context proposal. No live connector, backend, AI model, refund decision, ticket mutation or measured performance result. Animation is explanatory pacing, not measured response time. Authorized lookup and suitable matching must be technically validated.</a:t>
            </a:r>
          </a:p>
          <a:p/>
          <a:p>
            <a:r>
              <a:t>SOURCES (PDF pages):</a:t>
            </a:r>
          </a:p>
          <a:p/>
          <a:p>
            <a:r>
              <a:t>User report in this session —  — Zoho used for ticketing; caller history does not pop up; manual phone search finds tickets. Not independently tested.</a:t>
            </a:r>
          </a:p>
          <a:p/>
          <a:p>
            <a:r>
              <a:t>Concrete contract (29-11-2023).pdf — 4 — Exact scope line: “CRM URL pop up integration.” Not proof of current operation or two-way synchronization.</a:t>
            </a:r>
          </a:p>
          <a:p/>
          <a:p>
            <a:r>
              <a:t>Concrete contract (06-09-2022).pdf — 7 — Zoho ticketing/integration scope. Not proof of an active Zoho CRM app or current field mapping.</a:t>
            </a:r>
          </a:p>
          <a:p/>
          <a:p>
            <a:r>
              <a:t>No existing Concrete/Centro relationship. All sample records are fictional. No live connector. Reported workflow has not been independently tested.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first collaboration. No existing GRINDCTRL relationship with Concrete or Centro, and no completed implementation. Independent illustrative UI, not screenshots of installed vendor systems. All example records, masked numbers and dialogue are fictional.</a:t>
            </a:r>
          </a:p>
          <a:p/>
          <a:p>
            <a:r>
              <a:t>The user reports that Genesys calls do not automatically expose previous Zoho Desk tickets, but manual phone-number search finds them. This has not been independently tested. A number association is not identity verification; employee permissions and Concrete’s caller-verification procedures apply.</a:t>
            </a:r>
          </a:p>
          <a:p/>
          <a:p>
            <a:r>
              <a:t>This is a read-context proposal. No live connector, backend, AI model, refund decision, ticket mutation or measured performance result. Animation is explanatory pacing, not measured response time. Authorized lookup and suitable matching must be technically validated.</a:t>
            </a:r>
          </a:p>
          <a:p/>
          <a:p>
            <a:r>
              <a:t>SOURCES (PDF pages):</a:t>
            </a:r>
          </a:p>
          <a:p/>
          <a:p>
            <a:r>
              <a:t>User report in this session —  — Zoho used for ticketing; caller history does not pop up; manual phone search finds tickets. Not independently tested.</a:t>
            </a:r>
          </a:p>
          <a:p/>
          <a:p>
            <a:r>
              <a:t>Concrete contract (29-11-2023).pdf — 4 — Exact scope line: “CRM URL pop up integration.” Not proof of current operation or two-way synchronization.</a:t>
            </a:r>
          </a:p>
          <a:p/>
          <a:p>
            <a:r>
              <a:t>Concrete contract (06-09-2022).pdf — 7 — Zoho ticketing/integration scope. Not proof of an active Zoho CRM app or current field mapping.</a:t>
            </a:r>
          </a:p>
          <a:p/>
          <a:p>
            <a:r>
              <a:t>No existing Concrete/Centro relationship. All sample records are fictional. No live connector. Reported workflow has not been independently tested.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first collaboration. No existing GRINDCTRL relationship with Concrete or Centro, and no completed implementation. Independent illustrative UI, not screenshots of installed vendor systems. All example records, masked numbers and dialogue are fictional.</a:t>
            </a:r>
          </a:p>
          <a:p/>
          <a:p>
            <a:r>
              <a:t>The user reports that Genesys calls do not automatically expose previous Zoho Desk tickets, but manual phone-number search finds them. This has not been independently tested. A number association is not identity verification; employee permissions and Concrete’s caller-verification procedures apply.</a:t>
            </a:r>
          </a:p>
          <a:p/>
          <a:p>
            <a:r>
              <a:t>This is a read-context proposal. No live connector, backend, AI model, refund decision, ticket mutation or measured performance result. Animation is explanatory pacing, not measured response time. Authorized lookup and suitable matching must be technically validated.</a:t>
            </a:r>
          </a:p>
          <a:p/>
          <a:p>
            <a:r>
              <a:t>SOURCES (PDF pages):</a:t>
            </a:r>
          </a:p>
          <a:p/>
          <a:p>
            <a:r>
              <a:t>User report in this session —  — Zoho used for ticketing; caller history does not pop up; manual phone search finds tickets. Not independently tested.</a:t>
            </a:r>
          </a:p>
          <a:p/>
          <a:p>
            <a:r>
              <a:t>Concrete contract (29-11-2023).pdf — 4 — Exact scope line: “CRM URL pop up integration.” Not proof of current operation or two-way synchronization.</a:t>
            </a:r>
          </a:p>
          <a:p/>
          <a:p>
            <a:r>
              <a:t>Concrete contract (06-09-2022).pdf — 7 — Zoho ticketing/integration scope. Not proof of an active Zoho CRM app or current field mapping.</a:t>
            </a:r>
          </a:p>
          <a:p/>
          <a:p>
            <a:r>
              <a:t>No existing Concrete/Centro relationship. All sample records are fictional. No live connector. Reported workflow has not been independently tested.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first collaboration. No existing GRINDCTRL relationship with Concrete or Centro, and no completed implementation. Independent illustrative UI, not screenshots of installed vendor systems. All example records, masked numbers and dialogue are fictional.</a:t>
            </a:r>
          </a:p>
          <a:p/>
          <a:p>
            <a:r>
              <a:t>The user reports that Genesys calls do not automatically expose previous Zoho Desk tickets, but manual phone-number search finds them. This has not been independently tested. A number association is not identity verification; employee permissions and Concrete’s caller-verification procedures apply.</a:t>
            </a:r>
          </a:p>
          <a:p/>
          <a:p>
            <a:r>
              <a:t>This is a read-context proposal. No live connector, backend, AI model, refund decision, ticket mutation or measured performance result. Animation is explanatory pacing, not measured response time. Authorized lookup and suitable matching must be technically validated.</a:t>
            </a:r>
          </a:p>
          <a:p/>
          <a:p>
            <a:r>
              <a:t>The 29 November 2023 contract, PDF page 4, says “CRM URL pop up integration.” Contract scope is not evidence of current installation or reliable behavior. First inspect the actual Genesys edition/desktop, URL configuration, Desk access, number format and supported lookup routes. Validate a suitable minimal change and authorized test calls, including unavailable lookup and multiple matches. No assumption that Zoho CRM is active. The core proposal needs no generative AI.</a:t>
            </a:r>
          </a:p>
          <a:p/>
          <a:p>
            <a:r>
              <a:t>SOURCES (PDF pages):</a:t>
            </a:r>
          </a:p>
          <a:p/>
          <a:p>
            <a:r>
              <a:t>User report in this session —  — Zoho used for ticketing; caller history does not pop up; manual phone search finds tickets. Not independently tested.</a:t>
            </a:r>
          </a:p>
          <a:p/>
          <a:p>
            <a:r>
              <a:t>Concrete contract (29-11-2023).pdf — 4 — Exact scope line: “CRM URL pop up integration.” Not proof of current operation or two-way synchronization.</a:t>
            </a:r>
          </a:p>
          <a:p/>
          <a:p>
            <a:r>
              <a:t>Concrete contract (06-09-2022).pdf — 7 — Zoho ticketing/integration scope. Not proof of an active Zoho CRM app or current field mapping.</a:t>
            </a:r>
          </a:p>
          <a:p/>
          <a:p>
            <a:r>
              <a:t>No existing Concrete/Centro relationship. All sample records are fictional. No live connector. Reported workflow has not been independently tested.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8.pn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image" Target="../media/image14.png"/><Relationship Id="rId12" Type="http://schemas.openxmlformats.org/officeDocument/2006/relationships/image" Target="../media/image9.png"/><Relationship Id="rId13" Type="http://schemas.openxmlformats.org/officeDocument/2006/relationships/image" Target="../media/image10.png"/><Relationship Id="rId1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image" Target="../media/image15.png"/><Relationship Id="rId1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7.png"/><Relationship Id="rId9" Type="http://schemas.openxmlformats.org/officeDocument/2006/relationships/image" Target="../media/image16.png"/><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1.png"/><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image" Target="../media/image17.png"/><Relationship Id="rId5" Type="http://schemas.openxmlformats.org/officeDocument/2006/relationships/image" Target="../media/image3.png"/><Relationship Id="rId6" Type="http://schemas.openxmlformats.org/officeDocument/2006/relationships/image" Target="../media/image8.png"/><Relationship Id="rId7"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7F4"/>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457200" y="258762"/>
            <a:ext cx="409575" cy="273050"/>
          </a:xfrm>
          <a:prstGeom prst="rect">
            <a:avLst/>
          </a:prstGeom>
          <a:effectLst/>
        </p:spPr>
      </p:pic>
      <p:sp>
        <p:nvSpPr>
          <p:cNvPr id="3" name="TextBox 2"/>
          <p:cNvSpPr txBox="1"/>
          <p:nvPr/>
        </p:nvSpPr>
        <p:spPr>
          <a:xfrm>
            <a:off x="981075" y="276225"/>
            <a:ext cx="1714500" cy="285750"/>
          </a:xfrm>
          <a:prstGeom prst="rect">
            <a:avLst/>
          </a:prstGeom>
          <a:noFill/>
          <a:effectLst/>
        </p:spPr>
        <p:txBody>
          <a:bodyPr wrap="square" lIns="0" rIns="0" tIns="0" bIns="0" anchor="t">
            <a:spAutoFit/>
          </a:bodyPr>
          <a:lstStyle/>
          <a:p>
            <a:pPr algn="l" rtl="0">
              <a:lnSpc>
                <a:spcPts val="1512"/>
              </a:lnSpc>
              <a:spcBef>
                <a:spcPts val="0"/>
              </a:spcBef>
              <a:spcAft>
                <a:spcPts val="0"/>
              </a:spcAft>
            </a:pPr>
            <a:r>
              <a:rPr sz="1350" b="1" lang="en-US">
                <a:solidFill>
                  <a:srgbClr val="262626"/>
                </a:solidFill>
                <a:latin typeface="Manrope"/>
              </a:rPr>
              <a:t>GRINDCTRL</a:t>
            </a:r>
          </a:p>
        </p:txBody>
      </p:sp>
      <p:sp>
        <p:nvSpPr>
          <p:cNvPr id="4" name="TextBox 3"/>
          <p:cNvSpPr txBox="1"/>
          <p:nvPr/>
        </p:nvSpPr>
        <p:spPr>
          <a:xfrm>
            <a:off x="6953250" y="285750"/>
            <a:ext cx="4781550" cy="266700"/>
          </a:xfrm>
          <a:prstGeom prst="rect">
            <a:avLst/>
          </a:prstGeom>
          <a:noFill/>
          <a:effectLst/>
        </p:spPr>
        <p:txBody>
          <a:bodyPr wrap="square" lIns="0" rIns="0" tIns="0" bIns="0" anchor="t">
            <a:spAutoFit/>
          </a:bodyPr>
          <a:lstStyle/>
          <a:p>
            <a:pPr algn="r" rtl="0">
              <a:lnSpc>
                <a:spcPts val="1344"/>
              </a:lnSpc>
              <a:spcBef>
                <a:spcPts val="0"/>
              </a:spcBef>
              <a:spcAft>
                <a:spcPts val="0"/>
              </a:spcAft>
            </a:pPr>
            <a:r>
              <a:rPr sz="1200" b="0" lang="en-US">
                <a:solidFill>
                  <a:srgbClr val="68645E"/>
                </a:solidFill>
                <a:latin typeface="Manrope"/>
              </a:rPr>
              <a:t>The proposed experience</a:t>
            </a:r>
          </a:p>
        </p:txBody>
      </p:sp>
      <p:sp>
        <p:nvSpPr>
          <p:cNvPr id="5" name="TextBox 4"/>
          <p:cNvSpPr txBox="1"/>
          <p:nvPr/>
        </p:nvSpPr>
        <p:spPr>
          <a:xfrm>
            <a:off x="457200" y="885825"/>
            <a:ext cx="11277600" cy="581025"/>
          </a:xfrm>
          <a:prstGeom prst="rect">
            <a:avLst/>
          </a:prstGeom>
          <a:noFill/>
          <a:effectLst/>
        </p:spPr>
        <p:txBody>
          <a:bodyPr wrap="square" lIns="0" rIns="0" tIns="0" bIns="0" anchor="t">
            <a:spAutoFit/>
          </a:bodyPr>
          <a:lstStyle/>
          <a:p>
            <a:pPr algn="l" rtl="0">
              <a:lnSpc>
                <a:spcPts val="3528"/>
              </a:lnSpc>
              <a:spcBef>
                <a:spcPts val="0"/>
              </a:spcBef>
              <a:spcAft>
                <a:spcPts val="0"/>
              </a:spcAft>
            </a:pPr>
            <a:r>
              <a:rPr sz="3150" b="1" lang="en-US">
                <a:solidFill>
                  <a:srgbClr val="262626"/>
                </a:solidFill>
                <a:latin typeface="Manrope"/>
              </a:rPr>
              <a:t>The call arrives. The history comes with it.</a:t>
            </a:r>
          </a:p>
        </p:txBody>
      </p:sp>
      <p:cxnSp>
        <p:nvCxnSpPr>
          <p:cNvPr id="6" name="Connector 5"/>
          <p:cNvCxnSpPr/>
          <p:nvPr/>
        </p:nvCxnSpPr>
        <p:spPr>
          <a:xfrm>
            <a:off x="457200" y="6334125"/>
            <a:ext cx="112776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457200" y="6467475"/>
            <a:ext cx="10287000" cy="247650"/>
          </a:xfrm>
          <a:prstGeom prst="rect">
            <a:avLst/>
          </a:prstGeom>
          <a:noFill/>
          <a:effectLst/>
        </p:spPr>
        <p:txBody>
          <a:bodyPr wrap="square" lIns="0" rIns="0" tIns="0" bIns="0" anchor="t">
            <a:spAutoFit/>
          </a:bodyPr>
          <a:lstStyle/>
          <a:p>
            <a:pPr algn="l" rtl="0">
              <a:lnSpc>
                <a:spcPts val="1344"/>
              </a:lnSpc>
              <a:spcBef>
                <a:spcPts val="0"/>
              </a:spcBef>
              <a:spcAft>
                <a:spcPts val="0"/>
              </a:spcAft>
            </a:pPr>
            <a:r>
              <a:rPr sz="1200" b="0" lang="en-US">
                <a:solidFill>
                  <a:srgbClr val="68645E"/>
                </a:solidFill>
                <a:latin typeface="Manrope"/>
              </a:rPr>
              <a:t>Concrete · Proposed collaboration · Fictional records</a:t>
            </a:r>
          </a:p>
        </p:txBody>
      </p:sp>
      <p:sp>
        <p:nvSpPr>
          <p:cNvPr id="8" name="TextBox 7"/>
          <p:cNvSpPr txBox="1"/>
          <p:nvPr/>
        </p:nvSpPr>
        <p:spPr>
          <a:xfrm>
            <a:off x="11049000" y="6467475"/>
            <a:ext cx="685800" cy="247650"/>
          </a:xfrm>
          <a:prstGeom prst="rect">
            <a:avLst/>
          </a:prstGeom>
          <a:noFill/>
          <a:effectLst/>
        </p:spPr>
        <p:txBody>
          <a:bodyPr wrap="square" lIns="0" rIns="0" tIns="0" bIns="0" anchor="t">
            <a:spAutoFit/>
          </a:bodyPr>
          <a:lstStyle/>
          <a:p>
            <a:pPr algn="r" rtl="0">
              <a:lnSpc>
                <a:spcPts val="1344"/>
              </a:lnSpc>
              <a:spcBef>
                <a:spcPts val="0"/>
              </a:spcBef>
              <a:spcAft>
                <a:spcPts val="0"/>
              </a:spcAft>
            </a:pPr>
            <a:r>
              <a:rPr sz="1200" b="0" lang="en-US">
                <a:solidFill>
                  <a:srgbClr val="68645E"/>
                </a:solidFill>
                <a:latin typeface="Manrope"/>
              </a:rPr>
              <a:t>01 / 07</a:t>
            </a:r>
          </a:p>
        </p:txBody>
      </p:sp>
      <p:sp>
        <p:nvSpPr>
          <p:cNvPr id="9" name="Rounded Rectangle 8"/>
          <p:cNvSpPr/>
          <p:nvPr/>
        </p:nvSpPr>
        <p:spPr>
          <a:xfrm>
            <a:off x="457200" y="1724025"/>
            <a:ext cx="11277600" cy="4419600"/>
          </a:xfrm>
          <a:prstGeom prst="roundRect">
            <a:avLst>
              <a:gd name="adj" fmla="val 2586"/>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457200" y="1676400"/>
            <a:ext cx="11277600" cy="4419600"/>
          </a:xfrm>
          <a:prstGeom prst="roundRect">
            <a:avLst>
              <a:gd name="adj" fmla="val 2586"/>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85800" y="1819275"/>
            <a:ext cx="5715000" cy="323850"/>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1" lang="en-US">
                <a:solidFill>
                  <a:srgbClr val="262626"/>
                </a:solidFill>
                <a:latin typeface="Manrope"/>
              </a:rPr>
              <a:t>Employee workspace</a:t>
            </a:r>
          </a:p>
        </p:txBody>
      </p:sp>
      <p:sp>
        <p:nvSpPr>
          <p:cNvPr id="12" name="TextBox 11"/>
          <p:cNvSpPr txBox="1"/>
          <p:nvPr/>
        </p:nvSpPr>
        <p:spPr>
          <a:xfrm>
            <a:off x="8153400" y="1838325"/>
            <a:ext cx="3352800" cy="295275"/>
          </a:xfrm>
          <a:prstGeom prst="rect">
            <a:avLst/>
          </a:prstGeom>
          <a:noFill/>
          <a:effectLst/>
        </p:spPr>
        <p:txBody>
          <a:bodyPr wrap="square" lIns="0" rIns="0" tIns="0" bIns="0" anchor="t">
            <a:spAutoFit/>
          </a:bodyPr>
          <a:lstStyle/>
          <a:p>
            <a:pPr algn="r" rtl="0">
              <a:lnSpc>
                <a:spcPts val="1512"/>
              </a:lnSpc>
              <a:spcBef>
                <a:spcPts val="0"/>
              </a:spcBef>
              <a:spcAft>
                <a:spcPts val="0"/>
              </a:spcAft>
            </a:pPr>
            <a:r>
              <a:rPr sz="1350" b="0" lang="en-US">
                <a:solidFill>
                  <a:srgbClr val="68645E"/>
                </a:solidFill>
                <a:latin typeface="Manrope"/>
              </a:rPr>
              <a:t>Illustrative concept</a:t>
            </a:r>
          </a:p>
        </p:txBody>
      </p:sp>
      <p:cxnSp>
        <p:nvCxnSpPr>
          <p:cNvPr id="13" name="Connector 12"/>
          <p:cNvCxnSpPr/>
          <p:nvPr/>
        </p:nvCxnSpPr>
        <p:spPr>
          <a:xfrm>
            <a:off x="457200" y="2209800"/>
            <a:ext cx="112776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cxnSp>
        <p:nvCxnSpPr>
          <p:cNvPr id="14" name="Connector 13"/>
          <p:cNvCxnSpPr/>
          <p:nvPr/>
        </p:nvCxnSpPr>
        <p:spPr>
          <a:xfrm>
            <a:off x="3524250" y="2209800"/>
            <a:ext cx="0" cy="388620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pic>
        <p:nvPicPr>
          <p:cNvPr id="15" name="Picture 14" descr="genesys.png"/>
          <p:cNvPicPr>
            <a:picLocks noChangeAspect="1"/>
          </p:cNvPicPr>
          <p:nvPr/>
        </p:nvPicPr>
        <p:blipFill>
          <a:blip r:embed="rId3"/>
          <a:stretch>
            <a:fillRect/>
          </a:stretch>
        </p:blipFill>
        <p:spPr>
          <a:xfrm>
            <a:off x="685800" y="2394239"/>
            <a:ext cx="1333500" cy="259773"/>
          </a:xfrm>
          <a:prstGeom prst="rect">
            <a:avLst/>
          </a:prstGeom>
          <a:effectLst/>
        </p:spPr>
      </p:pic>
      <p:sp>
        <p:nvSpPr>
          <p:cNvPr id="16" name="Oval 15"/>
          <p:cNvSpPr/>
          <p:nvPr/>
        </p:nvSpPr>
        <p:spPr>
          <a:xfrm>
            <a:off x="723900" y="2952750"/>
            <a:ext cx="76200" cy="76200"/>
          </a:xfrm>
          <a:prstGeom prst="ellipse">
            <a:avLst/>
          </a:prstGeom>
          <a:solidFill>
            <a:srgbClr val="49654E"/>
          </a:solidFill>
          <a:ln w="9525">
            <a:solidFill>
              <a:srgbClr val="49654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971550" y="2876550"/>
            <a:ext cx="2400300" cy="304800"/>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0" lang="en-US">
                <a:solidFill>
                  <a:srgbClr val="49654E"/>
                </a:solidFill>
                <a:latin typeface="Manrope"/>
              </a:rPr>
              <a:t>Call in progress</a:t>
            </a:r>
          </a:p>
        </p:txBody>
      </p:sp>
      <p:sp>
        <p:nvSpPr>
          <p:cNvPr id="18" name="Oval 17"/>
          <p:cNvSpPr/>
          <p:nvPr/>
        </p:nvSpPr>
        <p:spPr>
          <a:xfrm>
            <a:off x="685800" y="3314700"/>
            <a:ext cx="762000" cy="762000"/>
          </a:xfrm>
          <a:prstGeom prst="ellipse">
            <a:avLst/>
          </a:prstGeom>
          <a:solidFill>
            <a:srgbClr val="EFF4EE"/>
          </a:solidFill>
          <a:ln w="9525">
            <a:solidFill>
              <a:srgbClr val="EFF4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9" name="Picture 18" descr="icon-call.png"/>
          <p:cNvPicPr>
            <a:picLocks noChangeAspect="1"/>
          </p:cNvPicPr>
          <p:nvPr/>
        </p:nvPicPr>
        <p:blipFill>
          <a:blip r:embed="rId4"/>
          <a:stretch>
            <a:fillRect/>
          </a:stretch>
        </p:blipFill>
        <p:spPr>
          <a:xfrm>
            <a:off x="876300" y="3505200"/>
            <a:ext cx="381000" cy="381000"/>
          </a:xfrm>
          <a:prstGeom prst="rect">
            <a:avLst/>
          </a:prstGeom>
          <a:effectLst/>
        </p:spPr>
      </p:pic>
      <p:cxnSp>
        <p:nvCxnSpPr>
          <p:cNvPr id="20" name="Connector 19"/>
          <p:cNvCxnSpPr/>
          <p:nvPr/>
        </p:nvCxnSpPr>
        <p:spPr>
          <a:xfrm>
            <a:off x="1704975" y="3648075"/>
            <a:ext cx="0" cy="95250"/>
          </a:xfrm>
          <a:prstGeom prst="line">
            <a:avLst/>
          </a:prstGeom>
          <a:ln w="38100">
            <a:solidFill>
              <a:srgbClr val="49654E"/>
            </a:solidFill>
          </a:ln>
          <a:effectLst/>
        </p:spPr>
        <p:style>
          <a:lnRef idx="2">
            <a:schemeClr val="accent1"/>
          </a:lnRef>
          <a:fillRef idx="0">
            <a:schemeClr val="accent1"/>
          </a:fillRef>
          <a:effectRef idx="0">
            <a:schemeClr val="accent1"/>
          </a:effectRef>
          <a:fontRef idx="minor">
            <a:schemeClr val="tx1"/>
          </a:fontRef>
        </p:style>
      </p:cxnSp>
      <p:cxnSp>
        <p:nvCxnSpPr>
          <p:cNvPr id="21" name="Connector 20"/>
          <p:cNvCxnSpPr/>
          <p:nvPr/>
        </p:nvCxnSpPr>
        <p:spPr>
          <a:xfrm>
            <a:off x="1819275" y="3586162"/>
            <a:ext cx="0" cy="219076"/>
          </a:xfrm>
          <a:prstGeom prst="line">
            <a:avLst/>
          </a:prstGeom>
          <a:ln w="38100">
            <a:solidFill>
              <a:srgbClr val="49654E"/>
            </a:solidFill>
          </a:ln>
          <a:effectLst/>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a:off x="1933575" y="3524250"/>
            <a:ext cx="0" cy="342900"/>
          </a:xfrm>
          <a:prstGeom prst="line">
            <a:avLst/>
          </a:prstGeom>
          <a:ln w="38100">
            <a:solidFill>
              <a:srgbClr val="49654E"/>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a:off x="2047875" y="3600450"/>
            <a:ext cx="0" cy="190500"/>
          </a:xfrm>
          <a:prstGeom prst="line">
            <a:avLst/>
          </a:prstGeom>
          <a:ln w="38100">
            <a:solidFill>
              <a:srgbClr val="49654E"/>
            </a:solidFill>
          </a:ln>
          <a:effectLst/>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a:off x="2162175" y="3552825"/>
            <a:ext cx="0" cy="285750"/>
          </a:xfrm>
          <a:prstGeom prst="line">
            <a:avLst/>
          </a:prstGeom>
          <a:ln w="38100">
            <a:solidFill>
              <a:srgbClr val="49654E"/>
            </a:solidFill>
          </a:ln>
          <a:effectLst/>
        </p:spPr>
        <p:style>
          <a:lnRef idx="2">
            <a:schemeClr val="accent1"/>
          </a:lnRef>
          <a:fillRef idx="0">
            <a:schemeClr val="accent1"/>
          </a:fillRef>
          <a:effectRef idx="0">
            <a:schemeClr val="accent1"/>
          </a:effectRef>
          <a:fontRef idx="minor">
            <a:schemeClr val="tx1"/>
          </a:fontRef>
        </p:style>
      </p:cxnSp>
      <p:cxnSp>
        <p:nvCxnSpPr>
          <p:cNvPr id="25" name="Connector 24"/>
          <p:cNvCxnSpPr/>
          <p:nvPr/>
        </p:nvCxnSpPr>
        <p:spPr>
          <a:xfrm>
            <a:off x="2276475" y="3629025"/>
            <a:ext cx="0" cy="133350"/>
          </a:xfrm>
          <a:prstGeom prst="line">
            <a:avLst/>
          </a:prstGeom>
          <a:ln w="38100">
            <a:solidFill>
              <a:srgbClr val="49654E"/>
            </a:solidFill>
          </a:ln>
          <a:effectLst/>
        </p:spPr>
        <p:style>
          <a:lnRef idx="2">
            <a:schemeClr val="accent1"/>
          </a:lnRef>
          <a:fillRef idx="0">
            <a:schemeClr val="accent1"/>
          </a:fillRef>
          <a:effectRef idx="0">
            <a:schemeClr val="accent1"/>
          </a:effectRef>
          <a:fontRef idx="minor">
            <a:schemeClr val="tx1"/>
          </a:fontRef>
        </p:style>
      </p:cxnSp>
      <p:cxnSp>
        <p:nvCxnSpPr>
          <p:cNvPr id="26" name="Connector 25"/>
          <p:cNvCxnSpPr/>
          <p:nvPr/>
        </p:nvCxnSpPr>
        <p:spPr>
          <a:xfrm>
            <a:off x="2390775" y="3581400"/>
            <a:ext cx="0" cy="228600"/>
          </a:xfrm>
          <a:prstGeom prst="line">
            <a:avLst/>
          </a:prstGeom>
          <a:ln w="38100">
            <a:solidFill>
              <a:srgbClr val="49654E"/>
            </a:solidFill>
          </a:ln>
          <a:effectLst/>
        </p:spPr>
        <p:style>
          <a:lnRef idx="2">
            <a:schemeClr val="accent1"/>
          </a:lnRef>
          <a:fillRef idx="0">
            <a:schemeClr val="accent1"/>
          </a:fillRef>
          <a:effectRef idx="0">
            <a:schemeClr val="accent1"/>
          </a:effectRef>
          <a:fontRef idx="minor">
            <a:schemeClr val="tx1"/>
          </a:fontRef>
        </p:style>
      </p:cxnSp>
      <p:sp>
        <p:nvSpPr>
          <p:cNvPr id="27" name="TextBox 26"/>
          <p:cNvSpPr txBox="1"/>
          <p:nvPr/>
        </p:nvSpPr>
        <p:spPr>
          <a:xfrm>
            <a:off x="685800" y="4295775"/>
            <a:ext cx="2686050" cy="409575"/>
          </a:xfrm>
          <a:prstGeom prst="rect">
            <a:avLst/>
          </a:prstGeom>
          <a:noFill/>
          <a:effectLst/>
        </p:spPr>
        <p:txBody>
          <a:bodyPr wrap="square" lIns="0" rIns="0" tIns="0" bIns="0" anchor="t">
            <a:spAutoFit/>
          </a:bodyPr>
          <a:lstStyle/>
          <a:p>
            <a:pPr algn="l" rtl="0">
              <a:lnSpc>
                <a:spcPts val="2352"/>
              </a:lnSpc>
              <a:spcBef>
                <a:spcPts val="0"/>
              </a:spcBef>
              <a:spcAft>
                <a:spcPts val="0"/>
              </a:spcAft>
            </a:pPr>
            <a:r>
              <a:rPr sz="2100" b="1" lang="en-US">
                <a:solidFill>
                  <a:srgbClr val="262626"/>
                </a:solidFill>
                <a:latin typeface="Manrope"/>
              </a:rPr>
              <a:t>+20 ••• 410</a:t>
            </a:r>
          </a:p>
        </p:txBody>
      </p:sp>
      <p:sp>
        <p:nvSpPr>
          <p:cNvPr id="28" name="TextBox 27"/>
          <p:cNvSpPr txBox="1"/>
          <p:nvPr/>
        </p:nvSpPr>
        <p:spPr>
          <a:xfrm>
            <a:off x="685800" y="4762500"/>
            <a:ext cx="2686050" cy="304800"/>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0" lang="en-US">
                <a:solidFill>
                  <a:srgbClr val="68645E"/>
                </a:solidFill>
                <a:latin typeface="Manrope"/>
              </a:rPr>
              <a:t>Caller number</a:t>
            </a:r>
          </a:p>
        </p:txBody>
      </p:sp>
      <p:sp>
        <p:nvSpPr>
          <p:cNvPr id="29" name="Oval 28"/>
          <p:cNvSpPr/>
          <p:nvPr/>
        </p:nvSpPr>
        <p:spPr>
          <a:xfrm>
            <a:off x="685800" y="5162550"/>
            <a:ext cx="419100" cy="41910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0" name="Picture 29" descr="icon-mic.png"/>
          <p:cNvPicPr>
            <a:picLocks noChangeAspect="1"/>
          </p:cNvPicPr>
          <p:nvPr/>
        </p:nvPicPr>
        <p:blipFill>
          <a:blip r:embed="rId5"/>
          <a:stretch>
            <a:fillRect/>
          </a:stretch>
        </p:blipFill>
        <p:spPr>
          <a:xfrm>
            <a:off x="790575" y="5267325"/>
            <a:ext cx="209550" cy="209550"/>
          </a:xfrm>
          <a:prstGeom prst="rect">
            <a:avLst/>
          </a:prstGeom>
          <a:effectLst/>
        </p:spPr>
      </p:pic>
      <p:sp>
        <p:nvSpPr>
          <p:cNvPr id="31" name="Oval 30"/>
          <p:cNvSpPr/>
          <p:nvPr/>
        </p:nvSpPr>
        <p:spPr>
          <a:xfrm>
            <a:off x="1304925" y="5162550"/>
            <a:ext cx="419100" cy="41910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2" name="Picture 31" descr="icon-pause.png"/>
          <p:cNvPicPr>
            <a:picLocks noChangeAspect="1"/>
          </p:cNvPicPr>
          <p:nvPr/>
        </p:nvPicPr>
        <p:blipFill>
          <a:blip r:embed="rId6"/>
          <a:stretch>
            <a:fillRect/>
          </a:stretch>
        </p:blipFill>
        <p:spPr>
          <a:xfrm>
            <a:off x="1409700" y="5267325"/>
            <a:ext cx="209550" cy="209550"/>
          </a:xfrm>
          <a:prstGeom prst="rect">
            <a:avLst/>
          </a:prstGeom>
          <a:effectLst/>
        </p:spPr>
      </p:pic>
      <p:sp>
        <p:nvSpPr>
          <p:cNvPr id="33" name="Oval 32"/>
          <p:cNvSpPr/>
          <p:nvPr/>
        </p:nvSpPr>
        <p:spPr>
          <a:xfrm>
            <a:off x="1924050" y="5162550"/>
            <a:ext cx="419100" cy="41910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4" name="Picture 33" descr="icon-end.png"/>
          <p:cNvPicPr>
            <a:picLocks noChangeAspect="1"/>
          </p:cNvPicPr>
          <p:nvPr/>
        </p:nvPicPr>
        <p:blipFill>
          <a:blip r:embed="rId7"/>
          <a:stretch>
            <a:fillRect/>
          </a:stretch>
        </p:blipFill>
        <p:spPr>
          <a:xfrm>
            <a:off x="2028825" y="5267325"/>
            <a:ext cx="209550" cy="209550"/>
          </a:xfrm>
          <a:prstGeom prst="rect">
            <a:avLst/>
          </a:prstGeom>
          <a:effectLst/>
        </p:spPr>
      </p:pic>
      <p:sp>
        <p:nvSpPr>
          <p:cNvPr id="35" name="Oval 34"/>
          <p:cNvSpPr/>
          <p:nvPr/>
        </p:nvSpPr>
        <p:spPr>
          <a:xfrm>
            <a:off x="3752850" y="2419350"/>
            <a:ext cx="457200" cy="457200"/>
          </a:xfrm>
          <a:prstGeom prst="ellipse">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6" name="Picture 35" descr="icon-actor.png"/>
          <p:cNvPicPr>
            <a:picLocks noChangeAspect="1"/>
          </p:cNvPicPr>
          <p:nvPr/>
        </p:nvPicPr>
        <p:blipFill>
          <a:blip r:embed="rId8"/>
          <a:stretch>
            <a:fillRect/>
          </a:stretch>
        </p:blipFill>
        <p:spPr>
          <a:xfrm>
            <a:off x="3853434" y="2519934"/>
            <a:ext cx="256032" cy="256032"/>
          </a:xfrm>
          <a:prstGeom prst="rect">
            <a:avLst/>
          </a:prstGeom>
          <a:effectLst/>
        </p:spPr>
      </p:pic>
      <p:sp>
        <p:nvSpPr>
          <p:cNvPr id="37" name="TextBox 36"/>
          <p:cNvSpPr txBox="1"/>
          <p:nvPr/>
        </p:nvSpPr>
        <p:spPr>
          <a:xfrm>
            <a:off x="4362450" y="2419350"/>
            <a:ext cx="2857500" cy="361950"/>
          </a:xfrm>
          <a:prstGeom prst="rect">
            <a:avLst/>
          </a:prstGeom>
          <a:noFill/>
          <a:effectLst/>
        </p:spPr>
        <p:txBody>
          <a:bodyPr wrap="square" lIns="0" rIns="0" tIns="0" bIns="0" anchor="t">
            <a:spAutoFit/>
          </a:bodyPr>
          <a:lstStyle/>
          <a:p>
            <a:pPr algn="l" rtl="0">
              <a:lnSpc>
                <a:spcPts val="2352"/>
              </a:lnSpc>
              <a:spcBef>
                <a:spcPts val="0"/>
              </a:spcBef>
              <a:spcAft>
                <a:spcPts val="0"/>
              </a:spcAft>
            </a:pPr>
            <a:r>
              <a:rPr sz="2100" b="1" lang="en-US">
                <a:solidFill>
                  <a:srgbClr val="262626"/>
                </a:solidFill>
                <a:latin typeface="Manrope"/>
              </a:rPr>
              <a:t>Contact A</a:t>
            </a:r>
          </a:p>
        </p:txBody>
      </p:sp>
      <p:sp>
        <p:nvSpPr>
          <p:cNvPr id="38" name="TextBox 37"/>
          <p:cNvSpPr txBox="1"/>
          <p:nvPr/>
        </p:nvSpPr>
        <p:spPr>
          <a:xfrm>
            <a:off x="4362450" y="2838450"/>
            <a:ext cx="2133600" cy="304800"/>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0" lang="en-US">
                <a:solidFill>
                  <a:srgbClr val="68645E"/>
                </a:solidFill>
                <a:latin typeface="Manrope"/>
              </a:rPr>
              <a:t>Associated record</a:t>
            </a:r>
          </a:p>
        </p:txBody>
      </p:sp>
      <p:sp>
        <p:nvSpPr>
          <p:cNvPr id="39" name="TextBox 38"/>
          <p:cNvSpPr txBox="1"/>
          <p:nvPr/>
        </p:nvSpPr>
        <p:spPr>
          <a:xfrm>
            <a:off x="6553200" y="2838450"/>
            <a:ext cx="2352675" cy="304800"/>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0" lang="en-US">
                <a:solidFill>
                  <a:srgbClr val="68645E"/>
                </a:solidFill>
                <a:latin typeface="Manrope"/>
              </a:rPr>
              <a:t>+20 ••• 410</a:t>
            </a:r>
          </a:p>
        </p:txBody>
      </p:sp>
      <p:pic>
        <p:nvPicPr>
          <p:cNvPr id="40" name="Picture 39" descr="zoho.png"/>
          <p:cNvPicPr>
            <a:picLocks noChangeAspect="1"/>
          </p:cNvPicPr>
          <p:nvPr/>
        </p:nvPicPr>
        <p:blipFill>
          <a:blip r:embed="rId9"/>
          <a:stretch>
            <a:fillRect/>
          </a:stretch>
        </p:blipFill>
        <p:spPr>
          <a:xfrm>
            <a:off x="10048096" y="2514600"/>
            <a:ext cx="620684" cy="266700"/>
          </a:xfrm>
          <a:prstGeom prst="rect">
            <a:avLst/>
          </a:prstGeom>
          <a:effectLst/>
        </p:spPr>
      </p:pic>
      <p:sp>
        <p:nvSpPr>
          <p:cNvPr id="41" name="TextBox 40"/>
          <p:cNvSpPr txBox="1"/>
          <p:nvPr/>
        </p:nvSpPr>
        <p:spPr>
          <a:xfrm>
            <a:off x="10877550" y="2524125"/>
            <a:ext cx="647700" cy="285750"/>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0" lang="en-US">
                <a:solidFill>
                  <a:srgbClr val="262626"/>
                </a:solidFill>
                <a:latin typeface="Manrope"/>
              </a:rPr>
              <a:t>Desk</a:t>
            </a:r>
          </a:p>
        </p:txBody>
      </p:sp>
      <p:cxnSp>
        <p:nvCxnSpPr>
          <p:cNvPr id="42" name="Connector 41"/>
          <p:cNvCxnSpPr/>
          <p:nvPr/>
        </p:nvCxnSpPr>
        <p:spPr>
          <a:xfrm>
            <a:off x="3752850" y="3286125"/>
            <a:ext cx="775335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3752850" y="3476625"/>
            <a:ext cx="2571750" cy="323850"/>
          </a:xfrm>
          <a:prstGeom prst="rect">
            <a:avLst/>
          </a:prstGeom>
          <a:noFill/>
          <a:effectLst/>
        </p:spPr>
        <p:txBody>
          <a:bodyPr wrap="square" lIns="0" rIns="0" tIns="0" bIns="0" anchor="t">
            <a:spAutoFit/>
          </a:bodyPr>
          <a:lstStyle/>
          <a:p>
            <a:pPr algn="l" rtl="0">
              <a:lnSpc>
                <a:spcPts val="1848"/>
              </a:lnSpc>
              <a:spcBef>
                <a:spcPts val="0"/>
              </a:spcBef>
              <a:spcAft>
                <a:spcPts val="0"/>
              </a:spcAft>
            </a:pPr>
            <a:r>
              <a:rPr sz="1650" b="1" lang="en-US">
                <a:solidFill>
                  <a:srgbClr val="262626"/>
                </a:solidFill>
                <a:latin typeface="Manrope"/>
              </a:rPr>
              <a:t>Previous tickets</a:t>
            </a:r>
          </a:p>
        </p:txBody>
      </p:sp>
      <p:sp>
        <p:nvSpPr>
          <p:cNvPr id="44" name="Rounded Rectangle 43"/>
          <p:cNvSpPr/>
          <p:nvPr/>
        </p:nvSpPr>
        <p:spPr>
          <a:xfrm>
            <a:off x="3676650" y="3895725"/>
            <a:ext cx="2667000" cy="1066800"/>
          </a:xfrm>
          <a:prstGeom prst="roundRect">
            <a:avLst>
              <a:gd name="adj" fmla="val 7142"/>
            </a:avLst>
          </a:prstGeom>
          <a:solidFill>
            <a:srgbClr val="F4F2EE"/>
          </a:solidFill>
          <a:ln w="9525">
            <a:solidFill>
              <a:srgbClr val="FFBA6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5" name="Picture 44" descr="icon-case.png"/>
          <p:cNvPicPr>
            <a:picLocks noChangeAspect="1"/>
          </p:cNvPicPr>
          <p:nvPr/>
        </p:nvPicPr>
        <p:blipFill>
          <a:blip r:embed="rId10"/>
          <a:stretch>
            <a:fillRect/>
          </a:stretch>
        </p:blipFill>
        <p:spPr>
          <a:xfrm>
            <a:off x="3810000" y="4067175"/>
            <a:ext cx="228600" cy="228600"/>
          </a:xfrm>
          <a:prstGeom prst="rect">
            <a:avLst/>
          </a:prstGeom>
          <a:effectLst/>
        </p:spPr>
      </p:pic>
      <p:sp>
        <p:nvSpPr>
          <p:cNvPr id="46" name="TextBox 45"/>
          <p:cNvSpPr txBox="1"/>
          <p:nvPr/>
        </p:nvSpPr>
        <p:spPr>
          <a:xfrm>
            <a:off x="4162425" y="4010025"/>
            <a:ext cx="2028825" cy="323850"/>
          </a:xfrm>
          <a:prstGeom prst="rect">
            <a:avLst/>
          </a:prstGeom>
          <a:noFill/>
          <a:effectLst/>
        </p:spPr>
        <p:txBody>
          <a:bodyPr wrap="square" lIns="0" rIns="0" tIns="0" bIns="0" anchor="t">
            <a:spAutoFit/>
          </a:bodyPr>
          <a:lstStyle/>
          <a:p>
            <a:pPr algn="l" rtl="0">
              <a:lnSpc>
                <a:spcPts val="1848"/>
              </a:lnSpc>
              <a:spcBef>
                <a:spcPts val="0"/>
              </a:spcBef>
              <a:spcAft>
                <a:spcPts val="0"/>
              </a:spcAft>
            </a:pPr>
            <a:r>
              <a:rPr sz="1650" b="1" lang="en-US">
                <a:solidFill>
                  <a:srgbClr val="262626"/>
                </a:solidFill>
                <a:latin typeface="Manrope"/>
              </a:rPr>
              <a:t>T101 · Exchange</a:t>
            </a:r>
          </a:p>
        </p:txBody>
      </p:sp>
      <p:sp>
        <p:nvSpPr>
          <p:cNvPr id="47" name="TextBox 46"/>
          <p:cNvSpPr txBox="1"/>
          <p:nvPr/>
        </p:nvSpPr>
        <p:spPr>
          <a:xfrm>
            <a:off x="3810000" y="4448175"/>
            <a:ext cx="2362200" cy="371475"/>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0" lang="en-US">
                <a:solidFill>
                  <a:srgbClr val="965318"/>
                </a:solidFill>
                <a:latin typeface="Manrope"/>
              </a:rPr>
              <a:t>Branch review pending</a:t>
            </a:r>
          </a:p>
        </p:txBody>
      </p:sp>
      <p:pic>
        <p:nvPicPr>
          <p:cNvPr id="48" name="Picture 47" descr="icon-case.png"/>
          <p:cNvPicPr>
            <a:picLocks noChangeAspect="1"/>
          </p:cNvPicPr>
          <p:nvPr/>
        </p:nvPicPr>
        <p:blipFill>
          <a:blip r:embed="rId10"/>
          <a:stretch>
            <a:fillRect/>
          </a:stretch>
        </p:blipFill>
        <p:spPr>
          <a:xfrm>
            <a:off x="3810000" y="5238750"/>
            <a:ext cx="228600" cy="228600"/>
          </a:xfrm>
          <a:prstGeom prst="rect">
            <a:avLst/>
          </a:prstGeom>
          <a:effectLst/>
        </p:spPr>
      </p:pic>
      <p:sp>
        <p:nvSpPr>
          <p:cNvPr id="49" name="TextBox 48"/>
          <p:cNvSpPr txBox="1"/>
          <p:nvPr/>
        </p:nvSpPr>
        <p:spPr>
          <a:xfrm>
            <a:off x="4162425" y="5172075"/>
            <a:ext cx="2028825" cy="304800"/>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0" lang="en-US">
                <a:solidFill>
                  <a:srgbClr val="262626"/>
                </a:solidFill>
                <a:latin typeface="Manrope"/>
              </a:rPr>
              <a:t>T098 · Size query</a:t>
            </a:r>
          </a:p>
        </p:txBody>
      </p:sp>
      <p:sp>
        <p:nvSpPr>
          <p:cNvPr id="50" name="TextBox 49"/>
          <p:cNvSpPr txBox="1"/>
          <p:nvPr/>
        </p:nvSpPr>
        <p:spPr>
          <a:xfrm>
            <a:off x="4162425" y="5562600"/>
            <a:ext cx="2047875" cy="276225"/>
          </a:xfrm>
          <a:prstGeom prst="rect">
            <a:avLst/>
          </a:prstGeom>
          <a:noFill/>
          <a:effectLst/>
        </p:spPr>
        <p:txBody>
          <a:bodyPr wrap="square" lIns="0" rIns="0" tIns="0" bIns="0" anchor="t">
            <a:spAutoFit/>
          </a:bodyPr>
          <a:lstStyle/>
          <a:p>
            <a:pPr algn="l" rtl="0">
              <a:lnSpc>
                <a:spcPts val="1512"/>
              </a:lnSpc>
              <a:spcBef>
                <a:spcPts val="0"/>
              </a:spcBef>
              <a:spcAft>
                <a:spcPts val="0"/>
              </a:spcAft>
            </a:pPr>
            <a:r>
              <a:rPr sz="1350" b="0" lang="en-US">
                <a:solidFill>
                  <a:srgbClr val="68645E"/>
                </a:solidFill>
                <a:latin typeface="Manrope"/>
              </a:rPr>
              <a:t>Closed</a:t>
            </a:r>
          </a:p>
        </p:txBody>
      </p:sp>
      <p:cxnSp>
        <p:nvCxnSpPr>
          <p:cNvPr id="51" name="Connector 50"/>
          <p:cNvCxnSpPr/>
          <p:nvPr/>
        </p:nvCxnSpPr>
        <p:spPr>
          <a:xfrm>
            <a:off x="6534150" y="3476625"/>
            <a:ext cx="0" cy="790575"/>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cxnSp>
        <p:nvCxnSpPr>
          <p:cNvPr id="52" name="Connector 51"/>
          <p:cNvCxnSpPr/>
          <p:nvPr/>
        </p:nvCxnSpPr>
        <p:spPr>
          <a:xfrm>
            <a:off x="6534150" y="4705350"/>
            <a:ext cx="0" cy="127635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cxnSp>
        <p:nvCxnSpPr>
          <p:cNvPr id="53" name="Connector 52"/>
          <p:cNvCxnSpPr/>
          <p:nvPr/>
        </p:nvCxnSpPr>
        <p:spPr>
          <a:xfrm>
            <a:off x="6400800" y="4486275"/>
            <a:ext cx="266700" cy="0"/>
          </a:xfrm>
          <a:prstGeom prst="line">
            <a:avLst/>
          </a:prstGeom>
          <a:ln w="16192">
            <a:solidFill>
              <a:srgbClr val="965318"/>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4" name="TextBox 53"/>
          <p:cNvSpPr txBox="1"/>
          <p:nvPr/>
        </p:nvSpPr>
        <p:spPr>
          <a:xfrm>
            <a:off x="6762750" y="3476625"/>
            <a:ext cx="4733925" cy="342900"/>
          </a:xfrm>
          <a:prstGeom prst="rect">
            <a:avLst/>
          </a:prstGeom>
          <a:noFill/>
          <a:effectLst/>
        </p:spPr>
        <p:txBody>
          <a:bodyPr wrap="square" lIns="0" rIns="0" tIns="0" bIns="0" anchor="t">
            <a:spAutoFit/>
          </a:bodyPr>
          <a:lstStyle/>
          <a:p>
            <a:pPr algn="l" rtl="0">
              <a:lnSpc>
                <a:spcPts val="2016"/>
              </a:lnSpc>
              <a:spcBef>
                <a:spcPts val="0"/>
              </a:spcBef>
              <a:spcAft>
                <a:spcPts val="0"/>
              </a:spcAft>
            </a:pPr>
            <a:r>
              <a:rPr sz="1800" b="1" lang="en-US">
                <a:solidFill>
                  <a:srgbClr val="262626"/>
                </a:solidFill>
                <a:latin typeface="Manrope"/>
              </a:rPr>
              <a:t>T101 · Exchange follow-up</a:t>
            </a:r>
          </a:p>
        </p:txBody>
      </p:sp>
      <p:pic>
        <p:nvPicPr>
          <p:cNvPr id="55" name="Picture 54" descr="icon-clock.png"/>
          <p:cNvPicPr>
            <a:picLocks noChangeAspect="1"/>
          </p:cNvPicPr>
          <p:nvPr/>
        </p:nvPicPr>
        <p:blipFill>
          <a:blip r:embed="rId11"/>
          <a:stretch>
            <a:fillRect/>
          </a:stretch>
        </p:blipFill>
        <p:spPr>
          <a:xfrm>
            <a:off x="6762750" y="3952875"/>
            <a:ext cx="200025" cy="200025"/>
          </a:xfrm>
          <a:prstGeom prst="rect">
            <a:avLst/>
          </a:prstGeom>
          <a:effectLst/>
        </p:spPr>
      </p:pic>
      <p:sp>
        <p:nvSpPr>
          <p:cNvPr id="56" name="TextBox 55"/>
          <p:cNvSpPr txBox="1"/>
          <p:nvPr/>
        </p:nvSpPr>
        <p:spPr>
          <a:xfrm>
            <a:off x="7048500" y="3933825"/>
            <a:ext cx="4448175" cy="304800"/>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0" lang="en-US">
                <a:solidFill>
                  <a:srgbClr val="965318"/>
                </a:solidFill>
                <a:latin typeface="Manrope"/>
              </a:rPr>
              <a:t>Waiting on the branch</a:t>
            </a:r>
          </a:p>
        </p:txBody>
      </p:sp>
      <p:sp>
        <p:nvSpPr>
          <p:cNvPr id="57" name="Rounded Rectangle 56"/>
          <p:cNvSpPr/>
          <p:nvPr/>
        </p:nvSpPr>
        <p:spPr>
          <a:xfrm>
            <a:off x="6724650" y="4410075"/>
            <a:ext cx="4781550" cy="1352550"/>
          </a:xfrm>
          <a:prstGeom prst="roundRect">
            <a:avLst>
              <a:gd name="adj" fmla="val 5633"/>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58" name="Picture 57" descr="icon-file.png"/>
          <p:cNvPicPr>
            <a:picLocks noChangeAspect="1"/>
          </p:cNvPicPr>
          <p:nvPr/>
        </p:nvPicPr>
        <p:blipFill>
          <a:blip r:embed="rId12"/>
          <a:stretch>
            <a:fillRect/>
          </a:stretch>
        </p:blipFill>
        <p:spPr>
          <a:xfrm>
            <a:off x="6877050" y="4562475"/>
            <a:ext cx="209550" cy="209550"/>
          </a:xfrm>
          <a:prstGeom prst="rect">
            <a:avLst/>
          </a:prstGeom>
          <a:effectLst/>
        </p:spPr>
      </p:pic>
      <p:sp>
        <p:nvSpPr>
          <p:cNvPr id="59" name="TextBox 58"/>
          <p:cNvSpPr txBox="1"/>
          <p:nvPr/>
        </p:nvSpPr>
        <p:spPr>
          <a:xfrm>
            <a:off x="7200900" y="4543425"/>
            <a:ext cx="4229100" cy="285750"/>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0" lang="en-US">
                <a:solidFill>
                  <a:srgbClr val="965318"/>
                </a:solidFill>
                <a:latin typeface="Manrope"/>
              </a:rPr>
              <a:t>Latest recorded note</a:t>
            </a:r>
          </a:p>
        </p:txBody>
      </p:sp>
      <p:sp>
        <p:nvSpPr>
          <p:cNvPr id="60" name="TextBox 59"/>
          <p:cNvSpPr txBox="1"/>
          <p:nvPr/>
        </p:nvSpPr>
        <p:spPr>
          <a:xfrm>
            <a:off x="6877050" y="4962525"/>
            <a:ext cx="4457700" cy="704850"/>
          </a:xfrm>
          <a:prstGeom prst="rect">
            <a:avLst/>
          </a:prstGeom>
          <a:noFill/>
          <a:effectLst/>
        </p:spPr>
        <p:txBody>
          <a:bodyPr wrap="square" lIns="0" rIns="0" tIns="0" bIns="0" anchor="t">
            <a:spAutoFit/>
          </a:bodyPr>
          <a:lstStyle/>
          <a:p>
            <a:pPr algn="l" rtl="0">
              <a:lnSpc>
                <a:spcPts val="2352"/>
              </a:lnSpc>
              <a:spcBef>
                <a:spcPts val="0"/>
              </a:spcBef>
              <a:spcAft>
                <a:spcPts val="0"/>
              </a:spcAft>
            </a:pPr>
            <a:r>
              <a:rPr sz="2100" b="1" lang="en-US">
                <a:solidFill>
                  <a:srgbClr val="262626"/>
                </a:solidFill>
                <a:latin typeface="Manrope"/>
              </a:rPr>
              <a:t>Branch review</a:t>
            </a:r>
          </a:p>
          <a:p>
            <a:pPr algn="l" rtl="0">
              <a:lnSpc>
                <a:spcPts val="2352"/>
              </a:lnSpc>
              <a:spcBef>
                <a:spcPts val="0"/>
              </a:spcBef>
              <a:spcAft>
                <a:spcPts val="0"/>
              </a:spcAft>
            </a:pPr>
            <a:r>
              <a:rPr sz="2100" b="1" lang="en-US">
                <a:solidFill>
                  <a:srgbClr val="262626"/>
                </a:solidFill>
                <a:latin typeface="Manrope"/>
              </a:rPr>
              <a:t>is still pending.</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set>
                                <p:cBhvr>
                                  <p:cTn id="5" dur="1" fill="hold"/>
                                  <p:tgtEl>
                                    <p:spTgt spid="15"/>
                                  </p:tgtEl>
                                  <p:attrNameLst>
                                    <p:attrName>style.visibility</p:attrName>
                                  </p:attrNameLst>
                                </p:cBhvr>
                                <p:to>
                                  <p:strVal val="visible"/>
                                </p:to>
                              </p:set>
                              <p:animEffect transition="in" filter="fade">
                                <p:cBhvr>
                                  <p:cTn id="6" dur="520"/>
                                  <p:tgtEl>
                                    <p:spTgt spid="15"/>
                                  </p:tgtEl>
                                </p:cBhvr>
                              </p:animEffect>
                            </p:childTnLst>
                          </p:cTn>
                        </p:par>
                        <p:par>
                          <p:cTn id="7" presetID="10" presetClass="entr" presetSubtype="0" fill="hold" nodeType="withEffect">
                            <p:stCondLst>
                              <p:cond delay="0"/>
                            </p:stCondLst>
                            <p:childTnLst>
                              <p:set>
                                <p:cBhvr>
                                  <p:cTn id="8" dur="1" fill="hold"/>
                                  <p:tgtEl>
                                    <p:spTgt spid="16"/>
                                  </p:tgtEl>
                                  <p:attrNameLst>
                                    <p:attrName>style.visibility</p:attrName>
                                  </p:attrNameLst>
                                </p:cBhvr>
                                <p:to>
                                  <p:strVal val="visible"/>
                                </p:to>
                              </p:set>
                              <p:animEffect transition="in" filter="fade">
                                <p:cBhvr>
                                  <p:cTn id="9" dur="520"/>
                                  <p:tgtEl>
                                    <p:spTgt spid="16"/>
                                  </p:tgtEl>
                                </p:cBhvr>
                              </p:animEffect>
                            </p:childTnLst>
                          </p:cTn>
                        </p:par>
                        <p:par>
                          <p:cTn id="10" presetID="10" presetClass="entr" presetSubtype="0" fill="hold" nodeType="withEffect">
                            <p:stCondLst>
                              <p:cond delay="0"/>
                            </p:stCondLst>
                            <p:childTnLst>
                              <p:set>
                                <p:cBhvr>
                                  <p:cTn id="11" dur="1" fill="hold"/>
                                  <p:tgtEl>
                                    <p:spTgt spid="17"/>
                                  </p:tgtEl>
                                  <p:attrNameLst>
                                    <p:attrName>style.visibility</p:attrName>
                                  </p:attrNameLst>
                                </p:cBhvr>
                                <p:to>
                                  <p:strVal val="visible"/>
                                </p:to>
                              </p:set>
                              <p:animEffect transition="in" filter="fade">
                                <p:cBhvr>
                                  <p:cTn id="12" dur="520"/>
                                  <p:tgtEl>
                                    <p:spTgt spid="17"/>
                                  </p:tgtEl>
                                </p:cBhvr>
                              </p:animEffect>
                            </p:childTnLst>
                          </p:cTn>
                        </p:par>
                        <p:par>
                          <p:cTn id="13" presetID="10" presetClass="entr" presetSubtype="0" fill="hold" nodeType="withEffect">
                            <p:stCondLst>
                              <p:cond delay="0"/>
                            </p:stCondLst>
                            <p:childTnLst>
                              <p:set>
                                <p:cBhvr>
                                  <p:cTn id="14" dur="1" fill="hold"/>
                                  <p:tgtEl>
                                    <p:spTgt spid="18"/>
                                  </p:tgtEl>
                                  <p:attrNameLst>
                                    <p:attrName>style.visibility</p:attrName>
                                  </p:attrNameLst>
                                </p:cBhvr>
                                <p:to>
                                  <p:strVal val="visible"/>
                                </p:to>
                              </p:set>
                              <p:animEffect transition="in" filter="fade">
                                <p:cBhvr>
                                  <p:cTn id="15" dur="520"/>
                                  <p:tgtEl>
                                    <p:spTgt spid="18"/>
                                  </p:tgtEl>
                                </p:cBhvr>
                              </p:animEffect>
                            </p:childTnLst>
                          </p:cTn>
                        </p:par>
                        <p:par>
                          <p:cTn id="16" presetID="10" presetClass="entr" presetSubtype="0" fill="hold" nodeType="withEffect">
                            <p:stCondLst>
                              <p:cond delay="0"/>
                            </p:stCondLst>
                            <p:childTnLst>
                              <p:set>
                                <p:cBhvr>
                                  <p:cTn id="17" dur="1" fill="hold"/>
                                  <p:tgtEl>
                                    <p:spTgt spid="19"/>
                                  </p:tgtEl>
                                  <p:attrNameLst>
                                    <p:attrName>style.visibility</p:attrName>
                                  </p:attrNameLst>
                                </p:cBhvr>
                                <p:to>
                                  <p:strVal val="visible"/>
                                </p:to>
                              </p:set>
                              <p:animEffect transition="in" filter="fade">
                                <p:cBhvr>
                                  <p:cTn id="18" dur="520"/>
                                  <p:tgtEl>
                                    <p:spTgt spid="19"/>
                                  </p:tgtEl>
                                </p:cBhvr>
                              </p:animEffect>
                            </p:childTnLst>
                          </p:cTn>
                        </p:par>
                        <p:par>
                          <p:cTn id="19" presetID="10" presetClass="entr" presetSubtype="0" fill="hold" nodeType="withEffect">
                            <p:stCondLst>
                              <p:cond delay="0"/>
                            </p:stCondLst>
                            <p:childTnLst>
                              <p:set>
                                <p:cBhvr>
                                  <p:cTn id="20" dur="1" fill="hold"/>
                                  <p:tgtEl>
                                    <p:spTgt spid="20"/>
                                  </p:tgtEl>
                                  <p:attrNameLst>
                                    <p:attrName>style.visibility</p:attrName>
                                  </p:attrNameLst>
                                </p:cBhvr>
                                <p:to>
                                  <p:strVal val="visible"/>
                                </p:to>
                              </p:set>
                              <p:animEffect transition="in" filter="fade">
                                <p:cBhvr>
                                  <p:cTn id="21" dur="520"/>
                                  <p:tgtEl>
                                    <p:spTgt spid="20"/>
                                  </p:tgtEl>
                                </p:cBhvr>
                              </p:animEffect>
                            </p:childTnLst>
                          </p:cTn>
                        </p:par>
                        <p:par>
                          <p:cTn id="22" presetID="10" presetClass="entr" presetSubtype="0" fill="hold" nodeType="withEffect">
                            <p:stCondLst>
                              <p:cond delay="0"/>
                            </p:stCondLst>
                            <p:childTnLst>
                              <p:set>
                                <p:cBhvr>
                                  <p:cTn id="23" dur="1" fill="hold"/>
                                  <p:tgtEl>
                                    <p:spTgt spid="21"/>
                                  </p:tgtEl>
                                  <p:attrNameLst>
                                    <p:attrName>style.visibility</p:attrName>
                                  </p:attrNameLst>
                                </p:cBhvr>
                                <p:to>
                                  <p:strVal val="visible"/>
                                </p:to>
                              </p:set>
                              <p:animEffect transition="in" filter="fade">
                                <p:cBhvr>
                                  <p:cTn id="24" dur="520"/>
                                  <p:tgtEl>
                                    <p:spTgt spid="21"/>
                                  </p:tgtEl>
                                </p:cBhvr>
                              </p:animEffect>
                            </p:childTnLst>
                          </p:cTn>
                        </p:par>
                        <p:par>
                          <p:cTn id="25" presetID="10" presetClass="entr" presetSubtype="0" fill="hold" nodeType="withEffect">
                            <p:stCondLst>
                              <p:cond delay="0"/>
                            </p:stCondLst>
                            <p:childTnLst>
                              <p:set>
                                <p:cBhvr>
                                  <p:cTn id="26" dur="1" fill="hold"/>
                                  <p:tgtEl>
                                    <p:spTgt spid="22"/>
                                  </p:tgtEl>
                                  <p:attrNameLst>
                                    <p:attrName>style.visibility</p:attrName>
                                  </p:attrNameLst>
                                </p:cBhvr>
                                <p:to>
                                  <p:strVal val="visible"/>
                                </p:to>
                              </p:set>
                              <p:animEffect transition="in" filter="fade">
                                <p:cBhvr>
                                  <p:cTn id="27" dur="520"/>
                                  <p:tgtEl>
                                    <p:spTgt spid="22"/>
                                  </p:tgtEl>
                                </p:cBhvr>
                              </p:animEffect>
                            </p:childTnLst>
                          </p:cTn>
                        </p:par>
                        <p:par>
                          <p:cTn id="28" presetID="10" presetClass="entr" presetSubtype="0" fill="hold" nodeType="withEffect">
                            <p:stCondLst>
                              <p:cond delay="0"/>
                            </p:stCondLst>
                            <p:childTnLst>
                              <p:set>
                                <p:cBhvr>
                                  <p:cTn id="29" dur="1" fill="hold"/>
                                  <p:tgtEl>
                                    <p:spTgt spid="23"/>
                                  </p:tgtEl>
                                  <p:attrNameLst>
                                    <p:attrName>style.visibility</p:attrName>
                                  </p:attrNameLst>
                                </p:cBhvr>
                                <p:to>
                                  <p:strVal val="visible"/>
                                </p:to>
                              </p:set>
                              <p:animEffect transition="in" filter="fade">
                                <p:cBhvr>
                                  <p:cTn id="30" dur="520"/>
                                  <p:tgtEl>
                                    <p:spTgt spid="23"/>
                                  </p:tgtEl>
                                </p:cBhvr>
                              </p:animEffect>
                            </p:childTnLst>
                          </p:cTn>
                        </p:par>
                        <p:par>
                          <p:cTn id="31" presetID="10" presetClass="entr" presetSubtype="0" fill="hold" nodeType="withEffect">
                            <p:stCondLst>
                              <p:cond delay="0"/>
                            </p:stCondLst>
                            <p:childTnLst>
                              <p:set>
                                <p:cBhvr>
                                  <p:cTn id="32" dur="1" fill="hold"/>
                                  <p:tgtEl>
                                    <p:spTgt spid="24"/>
                                  </p:tgtEl>
                                  <p:attrNameLst>
                                    <p:attrName>style.visibility</p:attrName>
                                  </p:attrNameLst>
                                </p:cBhvr>
                                <p:to>
                                  <p:strVal val="visible"/>
                                </p:to>
                              </p:set>
                              <p:animEffect transition="in" filter="fade">
                                <p:cBhvr>
                                  <p:cTn id="33" dur="520"/>
                                  <p:tgtEl>
                                    <p:spTgt spid="24"/>
                                  </p:tgtEl>
                                </p:cBhvr>
                              </p:animEffect>
                            </p:childTnLst>
                          </p:cTn>
                        </p:par>
                        <p:par>
                          <p:cTn id="34" presetID="10" presetClass="entr" presetSubtype="0" fill="hold" nodeType="withEffect">
                            <p:stCondLst>
                              <p:cond delay="0"/>
                            </p:stCondLst>
                            <p:childTnLst>
                              <p:set>
                                <p:cBhvr>
                                  <p:cTn id="35" dur="1" fill="hold"/>
                                  <p:tgtEl>
                                    <p:spTgt spid="25"/>
                                  </p:tgtEl>
                                  <p:attrNameLst>
                                    <p:attrName>style.visibility</p:attrName>
                                  </p:attrNameLst>
                                </p:cBhvr>
                                <p:to>
                                  <p:strVal val="visible"/>
                                </p:to>
                              </p:set>
                              <p:animEffect transition="in" filter="fade">
                                <p:cBhvr>
                                  <p:cTn id="36" dur="520"/>
                                  <p:tgtEl>
                                    <p:spTgt spid="25"/>
                                  </p:tgtEl>
                                </p:cBhvr>
                              </p:animEffect>
                            </p:childTnLst>
                          </p:cTn>
                        </p:par>
                        <p:par>
                          <p:cTn id="37" presetID="10" presetClass="entr" presetSubtype="0" fill="hold" nodeType="withEffect">
                            <p:stCondLst>
                              <p:cond delay="0"/>
                            </p:stCondLst>
                            <p:childTnLst>
                              <p:set>
                                <p:cBhvr>
                                  <p:cTn id="38" dur="1" fill="hold"/>
                                  <p:tgtEl>
                                    <p:spTgt spid="26"/>
                                  </p:tgtEl>
                                  <p:attrNameLst>
                                    <p:attrName>style.visibility</p:attrName>
                                  </p:attrNameLst>
                                </p:cBhvr>
                                <p:to>
                                  <p:strVal val="visible"/>
                                </p:to>
                              </p:set>
                              <p:animEffect transition="in" filter="fade">
                                <p:cBhvr>
                                  <p:cTn id="39" dur="520"/>
                                  <p:tgtEl>
                                    <p:spTgt spid="26"/>
                                  </p:tgtEl>
                                </p:cBhvr>
                              </p:animEffect>
                            </p:childTnLst>
                          </p:cTn>
                        </p:par>
                        <p:par>
                          <p:cTn id="40" presetID="10" presetClass="entr" presetSubtype="0" fill="hold" nodeType="withEffect">
                            <p:stCondLst>
                              <p:cond delay="0"/>
                            </p:stCondLst>
                            <p:childTnLst>
                              <p:set>
                                <p:cBhvr>
                                  <p:cTn id="41" dur="1" fill="hold"/>
                                  <p:tgtEl>
                                    <p:spTgt spid="27"/>
                                  </p:tgtEl>
                                  <p:attrNameLst>
                                    <p:attrName>style.visibility</p:attrName>
                                  </p:attrNameLst>
                                </p:cBhvr>
                                <p:to>
                                  <p:strVal val="visible"/>
                                </p:to>
                              </p:set>
                              <p:animEffect transition="in" filter="fade">
                                <p:cBhvr>
                                  <p:cTn id="42" dur="520"/>
                                  <p:tgtEl>
                                    <p:spTgt spid="27"/>
                                  </p:tgtEl>
                                </p:cBhvr>
                              </p:animEffect>
                            </p:childTnLst>
                          </p:cTn>
                        </p:par>
                        <p:par>
                          <p:cTn id="43" presetID="10" presetClass="entr" presetSubtype="0" fill="hold" nodeType="withEffect">
                            <p:stCondLst>
                              <p:cond delay="0"/>
                            </p:stCondLst>
                            <p:childTnLst>
                              <p:set>
                                <p:cBhvr>
                                  <p:cTn id="44" dur="1" fill="hold"/>
                                  <p:tgtEl>
                                    <p:spTgt spid="28"/>
                                  </p:tgtEl>
                                  <p:attrNameLst>
                                    <p:attrName>style.visibility</p:attrName>
                                  </p:attrNameLst>
                                </p:cBhvr>
                                <p:to>
                                  <p:strVal val="visible"/>
                                </p:to>
                              </p:set>
                              <p:animEffect transition="in" filter="fade">
                                <p:cBhvr>
                                  <p:cTn id="45" dur="520"/>
                                  <p:tgtEl>
                                    <p:spTgt spid="28"/>
                                  </p:tgtEl>
                                </p:cBhvr>
                              </p:animEffect>
                            </p:childTnLst>
                          </p:cTn>
                        </p:par>
                        <p:par>
                          <p:cTn id="46" presetID="10" presetClass="entr" presetSubtype="0" fill="hold" nodeType="withEffect">
                            <p:stCondLst>
                              <p:cond delay="0"/>
                            </p:stCondLst>
                            <p:childTnLst>
                              <p:set>
                                <p:cBhvr>
                                  <p:cTn id="47" dur="1" fill="hold"/>
                                  <p:tgtEl>
                                    <p:spTgt spid="29"/>
                                  </p:tgtEl>
                                  <p:attrNameLst>
                                    <p:attrName>style.visibility</p:attrName>
                                  </p:attrNameLst>
                                </p:cBhvr>
                                <p:to>
                                  <p:strVal val="visible"/>
                                </p:to>
                              </p:set>
                              <p:animEffect transition="in" filter="fade">
                                <p:cBhvr>
                                  <p:cTn id="48" dur="520"/>
                                  <p:tgtEl>
                                    <p:spTgt spid="29"/>
                                  </p:tgtEl>
                                </p:cBhvr>
                              </p:animEffect>
                            </p:childTnLst>
                          </p:cTn>
                        </p:par>
                        <p:par>
                          <p:cTn id="49" presetID="10" presetClass="entr" presetSubtype="0" fill="hold" nodeType="withEffect">
                            <p:stCondLst>
                              <p:cond delay="0"/>
                            </p:stCondLst>
                            <p:childTnLst>
                              <p:set>
                                <p:cBhvr>
                                  <p:cTn id="50" dur="1" fill="hold"/>
                                  <p:tgtEl>
                                    <p:spTgt spid="30"/>
                                  </p:tgtEl>
                                  <p:attrNameLst>
                                    <p:attrName>style.visibility</p:attrName>
                                  </p:attrNameLst>
                                </p:cBhvr>
                                <p:to>
                                  <p:strVal val="visible"/>
                                </p:to>
                              </p:set>
                              <p:animEffect transition="in" filter="fade">
                                <p:cBhvr>
                                  <p:cTn id="51" dur="520"/>
                                  <p:tgtEl>
                                    <p:spTgt spid="30"/>
                                  </p:tgtEl>
                                </p:cBhvr>
                              </p:animEffect>
                            </p:childTnLst>
                          </p:cTn>
                        </p:par>
                        <p:par>
                          <p:cTn id="52" presetID="10" presetClass="entr" presetSubtype="0" fill="hold" nodeType="withEffect">
                            <p:stCondLst>
                              <p:cond delay="0"/>
                            </p:stCondLst>
                            <p:childTnLst>
                              <p:set>
                                <p:cBhvr>
                                  <p:cTn id="53" dur="1" fill="hold"/>
                                  <p:tgtEl>
                                    <p:spTgt spid="31"/>
                                  </p:tgtEl>
                                  <p:attrNameLst>
                                    <p:attrName>style.visibility</p:attrName>
                                  </p:attrNameLst>
                                </p:cBhvr>
                                <p:to>
                                  <p:strVal val="visible"/>
                                </p:to>
                              </p:set>
                              <p:animEffect transition="in" filter="fade">
                                <p:cBhvr>
                                  <p:cTn id="54" dur="520"/>
                                  <p:tgtEl>
                                    <p:spTgt spid="31"/>
                                  </p:tgtEl>
                                </p:cBhvr>
                              </p:animEffect>
                            </p:childTnLst>
                          </p:cTn>
                        </p:par>
                        <p:par>
                          <p:cTn id="55" presetID="10" presetClass="entr" presetSubtype="0" fill="hold" nodeType="withEffect">
                            <p:stCondLst>
                              <p:cond delay="0"/>
                            </p:stCondLst>
                            <p:childTnLst>
                              <p:set>
                                <p:cBhvr>
                                  <p:cTn id="56" dur="1" fill="hold"/>
                                  <p:tgtEl>
                                    <p:spTgt spid="32"/>
                                  </p:tgtEl>
                                  <p:attrNameLst>
                                    <p:attrName>style.visibility</p:attrName>
                                  </p:attrNameLst>
                                </p:cBhvr>
                                <p:to>
                                  <p:strVal val="visible"/>
                                </p:to>
                              </p:set>
                              <p:animEffect transition="in" filter="fade">
                                <p:cBhvr>
                                  <p:cTn id="57" dur="520"/>
                                  <p:tgtEl>
                                    <p:spTgt spid="32"/>
                                  </p:tgtEl>
                                </p:cBhvr>
                              </p:animEffect>
                            </p:childTnLst>
                          </p:cTn>
                        </p:par>
                        <p:par>
                          <p:cTn id="58" presetID="10" presetClass="entr" presetSubtype="0" fill="hold" nodeType="withEffect">
                            <p:stCondLst>
                              <p:cond delay="0"/>
                            </p:stCondLst>
                            <p:childTnLst>
                              <p:set>
                                <p:cBhvr>
                                  <p:cTn id="59" dur="1" fill="hold"/>
                                  <p:tgtEl>
                                    <p:spTgt spid="33"/>
                                  </p:tgtEl>
                                  <p:attrNameLst>
                                    <p:attrName>style.visibility</p:attrName>
                                  </p:attrNameLst>
                                </p:cBhvr>
                                <p:to>
                                  <p:strVal val="visible"/>
                                </p:to>
                              </p:set>
                              <p:animEffect transition="in" filter="fade">
                                <p:cBhvr>
                                  <p:cTn id="60" dur="520"/>
                                  <p:tgtEl>
                                    <p:spTgt spid="33"/>
                                  </p:tgtEl>
                                </p:cBhvr>
                              </p:animEffect>
                            </p:childTnLst>
                          </p:cTn>
                        </p:par>
                        <p:par>
                          <p:cTn id="61" presetID="10" presetClass="entr" presetSubtype="0" fill="hold" nodeType="withEffect">
                            <p:stCondLst>
                              <p:cond delay="0"/>
                            </p:stCondLst>
                            <p:childTnLst>
                              <p:set>
                                <p:cBhvr>
                                  <p:cTn id="62" dur="1" fill="hold"/>
                                  <p:tgtEl>
                                    <p:spTgt spid="34"/>
                                  </p:tgtEl>
                                  <p:attrNameLst>
                                    <p:attrName>style.visibility</p:attrName>
                                  </p:attrNameLst>
                                </p:cBhvr>
                                <p:to>
                                  <p:strVal val="visible"/>
                                </p:to>
                              </p:set>
                              <p:animEffect transition="in" filter="fade">
                                <p:cBhvr>
                                  <p:cTn id="63" dur="520"/>
                                  <p:tgtEl>
                                    <p:spTgt spid="34"/>
                                  </p:tgtEl>
                                </p:cBhvr>
                              </p:animEffect>
                            </p:childTnLst>
                          </p:cTn>
                        </p:par>
                        <p:par>
                          <p:cTn id="64" presetID="10" presetClass="entr" presetSubtype="0" fill="hold" nodeType="withEffect">
                            <p:stCondLst>
                              <p:cond delay="1400"/>
                            </p:stCondLst>
                            <p:childTnLst>
                              <p:set>
                                <p:cBhvr>
                                  <p:cTn id="65" dur="1" fill="hold"/>
                                  <p:tgtEl>
                                    <p:spTgt spid="35"/>
                                  </p:tgtEl>
                                  <p:attrNameLst>
                                    <p:attrName>style.visibility</p:attrName>
                                  </p:attrNameLst>
                                </p:cBhvr>
                                <p:to>
                                  <p:strVal val="visible"/>
                                </p:to>
                              </p:set>
                              <p:animEffect transition="in" filter="fade">
                                <p:cBhvr>
                                  <p:cTn id="66" dur="520"/>
                                  <p:tgtEl>
                                    <p:spTgt spid="35"/>
                                  </p:tgtEl>
                                </p:cBhvr>
                              </p:animEffect>
                            </p:childTnLst>
                          </p:cTn>
                        </p:par>
                        <p:par>
                          <p:cTn id="67" presetID="10" presetClass="entr" presetSubtype="0" fill="hold" nodeType="withEffect">
                            <p:stCondLst>
                              <p:cond delay="1400"/>
                            </p:stCondLst>
                            <p:childTnLst>
                              <p:set>
                                <p:cBhvr>
                                  <p:cTn id="68" dur="1" fill="hold"/>
                                  <p:tgtEl>
                                    <p:spTgt spid="36"/>
                                  </p:tgtEl>
                                  <p:attrNameLst>
                                    <p:attrName>style.visibility</p:attrName>
                                  </p:attrNameLst>
                                </p:cBhvr>
                                <p:to>
                                  <p:strVal val="visible"/>
                                </p:to>
                              </p:set>
                              <p:animEffect transition="in" filter="fade">
                                <p:cBhvr>
                                  <p:cTn id="69" dur="520"/>
                                  <p:tgtEl>
                                    <p:spTgt spid="36"/>
                                  </p:tgtEl>
                                </p:cBhvr>
                              </p:animEffect>
                            </p:childTnLst>
                          </p:cTn>
                        </p:par>
                        <p:par>
                          <p:cTn id="70" presetID="10" presetClass="entr" presetSubtype="0" fill="hold" nodeType="withEffect">
                            <p:stCondLst>
                              <p:cond delay="1400"/>
                            </p:stCondLst>
                            <p:childTnLst>
                              <p:set>
                                <p:cBhvr>
                                  <p:cTn id="71" dur="1" fill="hold"/>
                                  <p:tgtEl>
                                    <p:spTgt spid="37"/>
                                  </p:tgtEl>
                                  <p:attrNameLst>
                                    <p:attrName>style.visibility</p:attrName>
                                  </p:attrNameLst>
                                </p:cBhvr>
                                <p:to>
                                  <p:strVal val="visible"/>
                                </p:to>
                              </p:set>
                              <p:animEffect transition="in" filter="fade">
                                <p:cBhvr>
                                  <p:cTn id="72" dur="520"/>
                                  <p:tgtEl>
                                    <p:spTgt spid="37"/>
                                  </p:tgtEl>
                                </p:cBhvr>
                              </p:animEffect>
                            </p:childTnLst>
                          </p:cTn>
                        </p:par>
                        <p:par>
                          <p:cTn id="73" presetID="10" presetClass="entr" presetSubtype="0" fill="hold" nodeType="withEffect">
                            <p:stCondLst>
                              <p:cond delay="1400"/>
                            </p:stCondLst>
                            <p:childTnLst>
                              <p:set>
                                <p:cBhvr>
                                  <p:cTn id="74" dur="1" fill="hold"/>
                                  <p:tgtEl>
                                    <p:spTgt spid="38"/>
                                  </p:tgtEl>
                                  <p:attrNameLst>
                                    <p:attrName>style.visibility</p:attrName>
                                  </p:attrNameLst>
                                </p:cBhvr>
                                <p:to>
                                  <p:strVal val="visible"/>
                                </p:to>
                              </p:set>
                              <p:animEffect transition="in" filter="fade">
                                <p:cBhvr>
                                  <p:cTn id="75" dur="520"/>
                                  <p:tgtEl>
                                    <p:spTgt spid="38"/>
                                  </p:tgtEl>
                                </p:cBhvr>
                              </p:animEffect>
                            </p:childTnLst>
                          </p:cTn>
                        </p:par>
                        <p:par>
                          <p:cTn id="76" presetID="10" presetClass="entr" presetSubtype="0" fill="hold" nodeType="withEffect">
                            <p:stCondLst>
                              <p:cond delay="1400"/>
                            </p:stCondLst>
                            <p:childTnLst>
                              <p:set>
                                <p:cBhvr>
                                  <p:cTn id="77" dur="1" fill="hold"/>
                                  <p:tgtEl>
                                    <p:spTgt spid="39"/>
                                  </p:tgtEl>
                                  <p:attrNameLst>
                                    <p:attrName>style.visibility</p:attrName>
                                  </p:attrNameLst>
                                </p:cBhvr>
                                <p:to>
                                  <p:strVal val="visible"/>
                                </p:to>
                              </p:set>
                              <p:animEffect transition="in" filter="fade">
                                <p:cBhvr>
                                  <p:cTn id="78" dur="520"/>
                                  <p:tgtEl>
                                    <p:spTgt spid="39"/>
                                  </p:tgtEl>
                                </p:cBhvr>
                              </p:animEffect>
                            </p:childTnLst>
                          </p:cTn>
                        </p:par>
                        <p:par>
                          <p:cTn id="79" presetID="10" presetClass="entr" presetSubtype="0" fill="hold" nodeType="withEffect">
                            <p:stCondLst>
                              <p:cond delay="1400"/>
                            </p:stCondLst>
                            <p:childTnLst>
                              <p:set>
                                <p:cBhvr>
                                  <p:cTn id="80" dur="1" fill="hold"/>
                                  <p:tgtEl>
                                    <p:spTgt spid="42"/>
                                  </p:tgtEl>
                                  <p:attrNameLst>
                                    <p:attrName>style.visibility</p:attrName>
                                  </p:attrNameLst>
                                </p:cBhvr>
                                <p:to>
                                  <p:strVal val="visible"/>
                                </p:to>
                              </p:set>
                              <p:animEffect transition="in" filter="fade">
                                <p:cBhvr>
                                  <p:cTn id="81" dur="520"/>
                                  <p:tgtEl>
                                    <p:spTgt spid="42"/>
                                  </p:tgtEl>
                                </p:cBhvr>
                              </p:animEffect>
                            </p:childTnLst>
                          </p:cTn>
                        </p:par>
                        <p:par>
                          <p:cTn id="82" presetID="10" presetClass="entr" presetSubtype="0" fill="hold" nodeType="withEffect">
                            <p:stCondLst>
                              <p:cond delay="1400"/>
                            </p:stCondLst>
                            <p:childTnLst>
                              <p:set>
                                <p:cBhvr>
                                  <p:cTn id="83" dur="1" fill="hold"/>
                                  <p:tgtEl>
                                    <p:spTgt spid="43"/>
                                  </p:tgtEl>
                                  <p:attrNameLst>
                                    <p:attrName>style.visibility</p:attrName>
                                  </p:attrNameLst>
                                </p:cBhvr>
                                <p:to>
                                  <p:strVal val="visible"/>
                                </p:to>
                              </p:set>
                              <p:animEffect transition="in" filter="fade">
                                <p:cBhvr>
                                  <p:cTn id="84" dur="520"/>
                                  <p:tgtEl>
                                    <p:spTgt spid="43"/>
                                  </p:tgtEl>
                                </p:cBhvr>
                              </p:animEffect>
                            </p:childTnLst>
                          </p:cTn>
                        </p:par>
                        <p:par>
                          <p:cTn id="85" presetID="10" presetClass="entr" presetSubtype="0" fill="hold" nodeType="withEffect">
                            <p:stCondLst>
                              <p:cond delay="1400"/>
                            </p:stCondLst>
                            <p:childTnLst>
                              <p:set>
                                <p:cBhvr>
                                  <p:cTn id="86" dur="1" fill="hold"/>
                                  <p:tgtEl>
                                    <p:spTgt spid="44"/>
                                  </p:tgtEl>
                                  <p:attrNameLst>
                                    <p:attrName>style.visibility</p:attrName>
                                  </p:attrNameLst>
                                </p:cBhvr>
                                <p:to>
                                  <p:strVal val="visible"/>
                                </p:to>
                              </p:set>
                              <p:animEffect transition="in" filter="fade">
                                <p:cBhvr>
                                  <p:cTn id="87" dur="520"/>
                                  <p:tgtEl>
                                    <p:spTgt spid="44"/>
                                  </p:tgtEl>
                                </p:cBhvr>
                              </p:animEffect>
                            </p:childTnLst>
                          </p:cTn>
                        </p:par>
                        <p:par>
                          <p:cTn id="88" presetID="10" presetClass="entr" presetSubtype="0" fill="hold" nodeType="withEffect">
                            <p:stCondLst>
                              <p:cond delay="1400"/>
                            </p:stCondLst>
                            <p:childTnLst>
                              <p:set>
                                <p:cBhvr>
                                  <p:cTn id="89" dur="1" fill="hold"/>
                                  <p:tgtEl>
                                    <p:spTgt spid="45"/>
                                  </p:tgtEl>
                                  <p:attrNameLst>
                                    <p:attrName>style.visibility</p:attrName>
                                  </p:attrNameLst>
                                </p:cBhvr>
                                <p:to>
                                  <p:strVal val="visible"/>
                                </p:to>
                              </p:set>
                              <p:animEffect transition="in" filter="fade">
                                <p:cBhvr>
                                  <p:cTn id="90" dur="520"/>
                                  <p:tgtEl>
                                    <p:spTgt spid="45"/>
                                  </p:tgtEl>
                                </p:cBhvr>
                              </p:animEffect>
                            </p:childTnLst>
                          </p:cTn>
                        </p:par>
                        <p:par>
                          <p:cTn id="91" presetID="10" presetClass="entr" presetSubtype="0" fill="hold" nodeType="withEffect">
                            <p:stCondLst>
                              <p:cond delay="1400"/>
                            </p:stCondLst>
                            <p:childTnLst>
                              <p:set>
                                <p:cBhvr>
                                  <p:cTn id="92" dur="1" fill="hold"/>
                                  <p:tgtEl>
                                    <p:spTgt spid="46"/>
                                  </p:tgtEl>
                                  <p:attrNameLst>
                                    <p:attrName>style.visibility</p:attrName>
                                  </p:attrNameLst>
                                </p:cBhvr>
                                <p:to>
                                  <p:strVal val="visible"/>
                                </p:to>
                              </p:set>
                              <p:animEffect transition="in" filter="fade">
                                <p:cBhvr>
                                  <p:cTn id="93" dur="520"/>
                                  <p:tgtEl>
                                    <p:spTgt spid="46"/>
                                  </p:tgtEl>
                                </p:cBhvr>
                              </p:animEffect>
                            </p:childTnLst>
                          </p:cTn>
                        </p:par>
                        <p:par>
                          <p:cTn id="94" presetID="10" presetClass="entr" presetSubtype="0" fill="hold" nodeType="withEffect">
                            <p:stCondLst>
                              <p:cond delay="1400"/>
                            </p:stCondLst>
                            <p:childTnLst>
                              <p:set>
                                <p:cBhvr>
                                  <p:cTn id="95" dur="1" fill="hold"/>
                                  <p:tgtEl>
                                    <p:spTgt spid="47"/>
                                  </p:tgtEl>
                                  <p:attrNameLst>
                                    <p:attrName>style.visibility</p:attrName>
                                  </p:attrNameLst>
                                </p:cBhvr>
                                <p:to>
                                  <p:strVal val="visible"/>
                                </p:to>
                              </p:set>
                              <p:animEffect transition="in" filter="fade">
                                <p:cBhvr>
                                  <p:cTn id="96" dur="520"/>
                                  <p:tgtEl>
                                    <p:spTgt spid="47"/>
                                  </p:tgtEl>
                                </p:cBhvr>
                              </p:animEffect>
                            </p:childTnLst>
                          </p:cTn>
                        </p:par>
                        <p:par>
                          <p:cTn id="97" presetID="10" presetClass="entr" presetSubtype="0" fill="hold" nodeType="withEffect">
                            <p:stCondLst>
                              <p:cond delay="1400"/>
                            </p:stCondLst>
                            <p:childTnLst>
                              <p:set>
                                <p:cBhvr>
                                  <p:cTn id="98" dur="1" fill="hold"/>
                                  <p:tgtEl>
                                    <p:spTgt spid="48"/>
                                  </p:tgtEl>
                                  <p:attrNameLst>
                                    <p:attrName>style.visibility</p:attrName>
                                  </p:attrNameLst>
                                </p:cBhvr>
                                <p:to>
                                  <p:strVal val="visible"/>
                                </p:to>
                              </p:set>
                              <p:animEffect transition="in" filter="fade">
                                <p:cBhvr>
                                  <p:cTn id="99" dur="520"/>
                                  <p:tgtEl>
                                    <p:spTgt spid="48"/>
                                  </p:tgtEl>
                                </p:cBhvr>
                              </p:animEffect>
                            </p:childTnLst>
                          </p:cTn>
                        </p:par>
                        <p:par>
                          <p:cTn id="100" presetID="10" presetClass="entr" presetSubtype="0" fill="hold" nodeType="withEffect">
                            <p:stCondLst>
                              <p:cond delay="1400"/>
                            </p:stCondLst>
                            <p:childTnLst>
                              <p:set>
                                <p:cBhvr>
                                  <p:cTn id="101" dur="1" fill="hold"/>
                                  <p:tgtEl>
                                    <p:spTgt spid="49"/>
                                  </p:tgtEl>
                                  <p:attrNameLst>
                                    <p:attrName>style.visibility</p:attrName>
                                  </p:attrNameLst>
                                </p:cBhvr>
                                <p:to>
                                  <p:strVal val="visible"/>
                                </p:to>
                              </p:set>
                              <p:animEffect transition="in" filter="fade">
                                <p:cBhvr>
                                  <p:cTn id="102" dur="520"/>
                                  <p:tgtEl>
                                    <p:spTgt spid="49"/>
                                  </p:tgtEl>
                                </p:cBhvr>
                              </p:animEffect>
                            </p:childTnLst>
                          </p:cTn>
                        </p:par>
                        <p:par>
                          <p:cTn id="103" presetID="10" presetClass="entr" presetSubtype="0" fill="hold" nodeType="withEffect">
                            <p:stCondLst>
                              <p:cond delay="1400"/>
                            </p:stCondLst>
                            <p:childTnLst>
                              <p:set>
                                <p:cBhvr>
                                  <p:cTn id="104" dur="1" fill="hold"/>
                                  <p:tgtEl>
                                    <p:spTgt spid="50"/>
                                  </p:tgtEl>
                                  <p:attrNameLst>
                                    <p:attrName>style.visibility</p:attrName>
                                  </p:attrNameLst>
                                </p:cBhvr>
                                <p:to>
                                  <p:strVal val="visible"/>
                                </p:to>
                              </p:set>
                              <p:animEffect transition="in" filter="fade">
                                <p:cBhvr>
                                  <p:cTn id="105" dur="520"/>
                                  <p:tgtEl>
                                    <p:spTgt spid="50"/>
                                  </p:tgtEl>
                                </p:cBhvr>
                              </p:animEffect>
                            </p:childTnLst>
                          </p:cTn>
                        </p:par>
                        <p:par>
                          <p:cTn id="106" presetID="10" presetClass="entr" presetSubtype="0" fill="hold" nodeType="withEffect">
                            <p:stCondLst>
                              <p:cond delay="1400"/>
                            </p:stCondLst>
                            <p:childTnLst>
                              <p:set>
                                <p:cBhvr>
                                  <p:cTn id="107" dur="1" fill="hold"/>
                                  <p:tgtEl>
                                    <p:spTgt spid="51"/>
                                  </p:tgtEl>
                                  <p:attrNameLst>
                                    <p:attrName>style.visibility</p:attrName>
                                  </p:attrNameLst>
                                </p:cBhvr>
                                <p:to>
                                  <p:strVal val="visible"/>
                                </p:to>
                              </p:set>
                              <p:animEffect transition="in" filter="fade">
                                <p:cBhvr>
                                  <p:cTn id="108" dur="520"/>
                                  <p:tgtEl>
                                    <p:spTgt spid="51"/>
                                  </p:tgtEl>
                                </p:cBhvr>
                              </p:animEffect>
                            </p:childTnLst>
                          </p:cTn>
                        </p:par>
                        <p:par>
                          <p:cTn id="109" presetID="10" presetClass="entr" presetSubtype="0" fill="hold" nodeType="withEffect">
                            <p:stCondLst>
                              <p:cond delay="1400"/>
                            </p:stCondLst>
                            <p:childTnLst>
                              <p:set>
                                <p:cBhvr>
                                  <p:cTn id="110" dur="1" fill="hold"/>
                                  <p:tgtEl>
                                    <p:spTgt spid="52"/>
                                  </p:tgtEl>
                                  <p:attrNameLst>
                                    <p:attrName>style.visibility</p:attrName>
                                  </p:attrNameLst>
                                </p:cBhvr>
                                <p:to>
                                  <p:strVal val="visible"/>
                                </p:to>
                              </p:set>
                              <p:animEffect transition="in" filter="fade">
                                <p:cBhvr>
                                  <p:cTn id="111" dur="520"/>
                                  <p:tgtEl>
                                    <p:spTgt spid="52"/>
                                  </p:tgtEl>
                                </p:cBhvr>
                              </p:animEffect>
                            </p:childTnLst>
                          </p:cTn>
                        </p:par>
                        <p:par>
                          <p:cTn id="112" presetID="10" presetClass="entr" presetSubtype="0" fill="hold" nodeType="withEffect">
                            <p:stCondLst>
                              <p:cond delay="1400"/>
                            </p:stCondLst>
                            <p:childTnLst>
                              <p:set>
                                <p:cBhvr>
                                  <p:cTn id="113" dur="1" fill="hold"/>
                                  <p:tgtEl>
                                    <p:spTgt spid="53"/>
                                  </p:tgtEl>
                                  <p:attrNameLst>
                                    <p:attrName>style.visibility</p:attrName>
                                  </p:attrNameLst>
                                </p:cBhvr>
                                <p:to>
                                  <p:strVal val="visible"/>
                                </p:to>
                              </p:set>
                              <p:animEffect transition="in" filter="fade">
                                <p:cBhvr>
                                  <p:cTn id="114" dur="520"/>
                                  <p:tgtEl>
                                    <p:spTgt spid="53"/>
                                  </p:tgtEl>
                                </p:cBhvr>
                              </p:animEffect>
                            </p:childTnLst>
                          </p:cTn>
                        </p:par>
                        <p:par>
                          <p:cTn id="115" presetID="10" presetClass="entr" presetSubtype="0" fill="hold" nodeType="withEffect">
                            <p:stCondLst>
                              <p:cond delay="1400"/>
                            </p:stCondLst>
                            <p:childTnLst>
                              <p:set>
                                <p:cBhvr>
                                  <p:cTn id="116" dur="1" fill="hold"/>
                                  <p:tgtEl>
                                    <p:spTgt spid="54"/>
                                  </p:tgtEl>
                                  <p:attrNameLst>
                                    <p:attrName>style.visibility</p:attrName>
                                  </p:attrNameLst>
                                </p:cBhvr>
                                <p:to>
                                  <p:strVal val="visible"/>
                                </p:to>
                              </p:set>
                              <p:animEffect transition="in" filter="fade">
                                <p:cBhvr>
                                  <p:cTn id="117" dur="520"/>
                                  <p:tgtEl>
                                    <p:spTgt spid="54"/>
                                  </p:tgtEl>
                                </p:cBhvr>
                              </p:animEffect>
                            </p:childTnLst>
                          </p:cTn>
                        </p:par>
                        <p:par>
                          <p:cTn id="118" presetID="10" presetClass="entr" presetSubtype="0" fill="hold" nodeType="withEffect">
                            <p:stCondLst>
                              <p:cond delay="1400"/>
                            </p:stCondLst>
                            <p:childTnLst>
                              <p:set>
                                <p:cBhvr>
                                  <p:cTn id="119" dur="1" fill="hold"/>
                                  <p:tgtEl>
                                    <p:spTgt spid="55"/>
                                  </p:tgtEl>
                                  <p:attrNameLst>
                                    <p:attrName>style.visibility</p:attrName>
                                  </p:attrNameLst>
                                </p:cBhvr>
                                <p:to>
                                  <p:strVal val="visible"/>
                                </p:to>
                              </p:set>
                              <p:animEffect transition="in" filter="fade">
                                <p:cBhvr>
                                  <p:cTn id="120" dur="520"/>
                                  <p:tgtEl>
                                    <p:spTgt spid="55"/>
                                  </p:tgtEl>
                                </p:cBhvr>
                              </p:animEffect>
                            </p:childTnLst>
                          </p:cTn>
                        </p:par>
                        <p:par>
                          <p:cTn id="121" presetID="10" presetClass="entr" presetSubtype="0" fill="hold" nodeType="withEffect">
                            <p:stCondLst>
                              <p:cond delay="1400"/>
                            </p:stCondLst>
                            <p:childTnLst>
                              <p:set>
                                <p:cBhvr>
                                  <p:cTn id="122" dur="1" fill="hold"/>
                                  <p:tgtEl>
                                    <p:spTgt spid="56"/>
                                  </p:tgtEl>
                                  <p:attrNameLst>
                                    <p:attrName>style.visibility</p:attrName>
                                  </p:attrNameLst>
                                </p:cBhvr>
                                <p:to>
                                  <p:strVal val="visible"/>
                                </p:to>
                              </p:set>
                              <p:animEffect transition="in" filter="fade">
                                <p:cBhvr>
                                  <p:cTn id="123" dur="520"/>
                                  <p:tgtEl>
                                    <p:spTgt spid="56"/>
                                  </p:tgtEl>
                                </p:cBhvr>
                              </p:animEffect>
                            </p:childTnLst>
                          </p:cTn>
                        </p:par>
                        <p:par>
                          <p:cTn id="124" presetID="10" presetClass="entr" presetSubtype="0" fill="hold" nodeType="withEffect">
                            <p:stCondLst>
                              <p:cond delay="2800"/>
                            </p:stCondLst>
                            <p:childTnLst>
                              <p:set>
                                <p:cBhvr>
                                  <p:cTn id="125" dur="1" fill="hold"/>
                                  <p:tgtEl>
                                    <p:spTgt spid="57"/>
                                  </p:tgtEl>
                                  <p:attrNameLst>
                                    <p:attrName>style.visibility</p:attrName>
                                  </p:attrNameLst>
                                </p:cBhvr>
                                <p:to>
                                  <p:strVal val="visible"/>
                                </p:to>
                              </p:set>
                              <p:animEffect transition="in" filter="fade">
                                <p:cBhvr>
                                  <p:cTn id="126" dur="520"/>
                                  <p:tgtEl>
                                    <p:spTgt spid="57"/>
                                  </p:tgtEl>
                                </p:cBhvr>
                              </p:animEffect>
                            </p:childTnLst>
                          </p:cTn>
                        </p:par>
                        <p:par>
                          <p:cTn id="127" presetID="10" presetClass="entr" presetSubtype="0" fill="hold" nodeType="withEffect">
                            <p:stCondLst>
                              <p:cond delay="2800"/>
                            </p:stCondLst>
                            <p:childTnLst>
                              <p:set>
                                <p:cBhvr>
                                  <p:cTn id="128" dur="1" fill="hold"/>
                                  <p:tgtEl>
                                    <p:spTgt spid="58"/>
                                  </p:tgtEl>
                                  <p:attrNameLst>
                                    <p:attrName>style.visibility</p:attrName>
                                  </p:attrNameLst>
                                </p:cBhvr>
                                <p:to>
                                  <p:strVal val="visible"/>
                                </p:to>
                              </p:set>
                              <p:animEffect transition="in" filter="fade">
                                <p:cBhvr>
                                  <p:cTn id="129" dur="520"/>
                                  <p:tgtEl>
                                    <p:spTgt spid="58"/>
                                  </p:tgtEl>
                                </p:cBhvr>
                              </p:animEffect>
                            </p:childTnLst>
                          </p:cTn>
                        </p:par>
                        <p:par>
                          <p:cTn id="130" presetID="10" presetClass="entr" presetSubtype="0" fill="hold" nodeType="withEffect">
                            <p:stCondLst>
                              <p:cond delay="2800"/>
                            </p:stCondLst>
                            <p:childTnLst>
                              <p:set>
                                <p:cBhvr>
                                  <p:cTn id="131" dur="1" fill="hold"/>
                                  <p:tgtEl>
                                    <p:spTgt spid="59"/>
                                  </p:tgtEl>
                                  <p:attrNameLst>
                                    <p:attrName>style.visibility</p:attrName>
                                  </p:attrNameLst>
                                </p:cBhvr>
                                <p:to>
                                  <p:strVal val="visible"/>
                                </p:to>
                              </p:set>
                              <p:animEffect transition="in" filter="fade">
                                <p:cBhvr>
                                  <p:cTn id="132" dur="520"/>
                                  <p:tgtEl>
                                    <p:spTgt spid="59"/>
                                  </p:tgtEl>
                                </p:cBhvr>
                              </p:animEffect>
                            </p:childTnLst>
                          </p:cTn>
                        </p:par>
                        <p:par>
                          <p:cTn id="133" presetID="10" presetClass="entr" presetSubtype="0" fill="hold" nodeType="withEffect">
                            <p:stCondLst>
                              <p:cond delay="2800"/>
                            </p:stCondLst>
                            <p:childTnLst>
                              <p:set>
                                <p:cBhvr>
                                  <p:cTn id="134" dur="1" fill="hold"/>
                                  <p:tgtEl>
                                    <p:spTgt spid="60"/>
                                  </p:tgtEl>
                                  <p:attrNameLst>
                                    <p:attrName>style.visibility</p:attrName>
                                  </p:attrNameLst>
                                </p:cBhvr>
                                <p:to>
                                  <p:strVal val="visible"/>
                                </p:to>
                              </p:set>
                              <p:animEffect transition="in" filter="fade">
                                <p:cBhvr>
                                  <p:cTn id="135" dur="520"/>
                                  <p:tgtEl>
                                    <p:spTgt spid="60"/>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7F4"/>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457200" y="258762"/>
            <a:ext cx="409575" cy="273050"/>
          </a:xfrm>
          <a:prstGeom prst="rect">
            <a:avLst/>
          </a:prstGeom>
          <a:effectLst/>
        </p:spPr>
      </p:pic>
      <p:sp>
        <p:nvSpPr>
          <p:cNvPr id="3" name="TextBox 2"/>
          <p:cNvSpPr txBox="1"/>
          <p:nvPr/>
        </p:nvSpPr>
        <p:spPr>
          <a:xfrm>
            <a:off x="981075" y="276225"/>
            <a:ext cx="1714500" cy="285750"/>
          </a:xfrm>
          <a:prstGeom prst="rect">
            <a:avLst/>
          </a:prstGeom>
          <a:noFill/>
          <a:effectLst/>
        </p:spPr>
        <p:txBody>
          <a:bodyPr wrap="square" lIns="0" rIns="0" tIns="0" bIns="0" anchor="t">
            <a:spAutoFit/>
          </a:bodyPr>
          <a:lstStyle/>
          <a:p>
            <a:pPr algn="l" rtl="0">
              <a:lnSpc>
                <a:spcPts val="1512"/>
              </a:lnSpc>
              <a:spcBef>
                <a:spcPts val="0"/>
              </a:spcBef>
              <a:spcAft>
                <a:spcPts val="0"/>
              </a:spcAft>
            </a:pPr>
            <a:r>
              <a:rPr sz="1350" b="1" lang="en-US">
                <a:solidFill>
                  <a:srgbClr val="262626"/>
                </a:solidFill>
                <a:latin typeface="Manrope"/>
              </a:rPr>
              <a:t>GRINDCTRL</a:t>
            </a:r>
          </a:p>
        </p:txBody>
      </p:sp>
      <p:sp>
        <p:nvSpPr>
          <p:cNvPr id="4" name="TextBox 3"/>
          <p:cNvSpPr txBox="1"/>
          <p:nvPr/>
        </p:nvSpPr>
        <p:spPr>
          <a:xfrm>
            <a:off x="6953250" y="285750"/>
            <a:ext cx="4781550" cy="266700"/>
          </a:xfrm>
          <a:prstGeom prst="rect">
            <a:avLst/>
          </a:prstGeom>
          <a:noFill/>
          <a:effectLst/>
        </p:spPr>
        <p:txBody>
          <a:bodyPr wrap="square" lIns="0" rIns="0" tIns="0" bIns="0" anchor="t">
            <a:spAutoFit/>
          </a:bodyPr>
          <a:lstStyle/>
          <a:p>
            <a:pPr algn="r" rtl="0">
              <a:lnSpc>
                <a:spcPts val="1344"/>
              </a:lnSpc>
              <a:spcBef>
                <a:spcPts val="0"/>
              </a:spcBef>
              <a:spcAft>
                <a:spcPts val="0"/>
              </a:spcAft>
            </a:pPr>
            <a:r>
              <a:rPr sz="1200" b="0" lang="en-US">
                <a:solidFill>
                  <a:srgbClr val="68645E"/>
                </a:solidFill>
                <a:latin typeface="Manrope"/>
              </a:rPr>
              <a:t>Current workflow · Reported</a:t>
            </a:r>
          </a:p>
        </p:txBody>
      </p:sp>
      <p:sp>
        <p:nvSpPr>
          <p:cNvPr id="5" name="TextBox 4"/>
          <p:cNvSpPr txBox="1"/>
          <p:nvPr/>
        </p:nvSpPr>
        <p:spPr>
          <a:xfrm>
            <a:off x="457200" y="885825"/>
            <a:ext cx="11277600" cy="581025"/>
          </a:xfrm>
          <a:prstGeom prst="rect">
            <a:avLst/>
          </a:prstGeom>
          <a:noFill/>
          <a:effectLst/>
        </p:spPr>
        <p:txBody>
          <a:bodyPr wrap="square" lIns="0" rIns="0" tIns="0" bIns="0" anchor="t">
            <a:spAutoFit/>
          </a:bodyPr>
          <a:lstStyle/>
          <a:p>
            <a:pPr algn="l" rtl="0">
              <a:lnSpc>
                <a:spcPts val="3528"/>
              </a:lnSpc>
              <a:spcBef>
                <a:spcPts val="0"/>
              </a:spcBef>
              <a:spcAft>
                <a:spcPts val="0"/>
              </a:spcAft>
            </a:pPr>
            <a:r>
              <a:rPr sz="3150" b="1" lang="en-US">
                <a:solidFill>
                  <a:srgbClr val="262626"/>
                </a:solidFill>
                <a:latin typeface="Manrope"/>
              </a:rPr>
              <a:t>The information exists. Finding it takes extra work.</a:t>
            </a:r>
          </a:p>
        </p:txBody>
      </p:sp>
      <p:cxnSp>
        <p:nvCxnSpPr>
          <p:cNvPr id="6" name="Connector 5"/>
          <p:cNvCxnSpPr/>
          <p:nvPr/>
        </p:nvCxnSpPr>
        <p:spPr>
          <a:xfrm>
            <a:off x="457200" y="6334125"/>
            <a:ext cx="112776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457200" y="6467475"/>
            <a:ext cx="10287000" cy="247650"/>
          </a:xfrm>
          <a:prstGeom prst="rect">
            <a:avLst/>
          </a:prstGeom>
          <a:noFill/>
          <a:effectLst/>
        </p:spPr>
        <p:txBody>
          <a:bodyPr wrap="square" lIns="0" rIns="0" tIns="0" bIns="0" anchor="t">
            <a:spAutoFit/>
          </a:bodyPr>
          <a:lstStyle/>
          <a:p>
            <a:pPr algn="l" rtl="0">
              <a:lnSpc>
                <a:spcPts val="1344"/>
              </a:lnSpc>
              <a:spcBef>
                <a:spcPts val="0"/>
              </a:spcBef>
              <a:spcAft>
                <a:spcPts val="0"/>
              </a:spcAft>
            </a:pPr>
            <a:r>
              <a:rPr sz="1200" b="0" lang="en-US">
                <a:solidFill>
                  <a:srgbClr val="68645E"/>
                </a:solidFill>
                <a:latin typeface="Manrope"/>
              </a:rPr>
              <a:t>Concrete · Proposed collaboration · Fictional records</a:t>
            </a:r>
          </a:p>
        </p:txBody>
      </p:sp>
      <p:sp>
        <p:nvSpPr>
          <p:cNvPr id="8" name="TextBox 7"/>
          <p:cNvSpPr txBox="1"/>
          <p:nvPr/>
        </p:nvSpPr>
        <p:spPr>
          <a:xfrm>
            <a:off x="11049000" y="6467475"/>
            <a:ext cx="685800" cy="247650"/>
          </a:xfrm>
          <a:prstGeom prst="rect">
            <a:avLst/>
          </a:prstGeom>
          <a:noFill/>
          <a:effectLst/>
        </p:spPr>
        <p:txBody>
          <a:bodyPr wrap="square" lIns="0" rIns="0" tIns="0" bIns="0" anchor="t">
            <a:spAutoFit/>
          </a:bodyPr>
          <a:lstStyle/>
          <a:p>
            <a:pPr algn="r" rtl="0">
              <a:lnSpc>
                <a:spcPts val="1344"/>
              </a:lnSpc>
              <a:spcBef>
                <a:spcPts val="0"/>
              </a:spcBef>
              <a:spcAft>
                <a:spcPts val="0"/>
              </a:spcAft>
            </a:pPr>
            <a:r>
              <a:rPr sz="1200" b="0" lang="en-US">
                <a:solidFill>
                  <a:srgbClr val="68645E"/>
                </a:solidFill>
                <a:latin typeface="Manrope"/>
              </a:rPr>
              <a:t>02 / 07</a:t>
            </a:r>
          </a:p>
        </p:txBody>
      </p:sp>
      <p:sp>
        <p:nvSpPr>
          <p:cNvPr id="9" name="Rounded Rectangle 8"/>
          <p:cNvSpPr/>
          <p:nvPr/>
        </p:nvSpPr>
        <p:spPr>
          <a:xfrm>
            <a:off x="457200" y="1724025"/>
            <a:ext cx="3067050" cy="4419600"/>
          </a:xfrm>
          <a:prstGeom prst="roundRect">
            <a:avLst>
              <a:gd name="adj" fmla="val 3726"/>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457200" y="1676400"/>
            <a:ext cx="3067050" cy="4419600"/>
          </a:xfrm>
          <a:prstGeom prst="roundRect">
            <a:avLst>
              <a:gd name="adj" fmla="val 3726"/>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85800" y="1819275"/>
            <a:ext cx="2571750" cy="323850"/>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1" lang="en-US">
                <a:solidFill>
                  <a:srgbClr val="262626"/>
                </a:solidFill>
                <a:latin typeface="Manrope"/>
              </a:rPr>
              <a:t>Call workspace</a:t>
            </a:r>
          </a:p>
        </p:txBody>
      </p:sp>
      <p:cxnSp>
        <p:nvCxnSpPr>
          <p:cNvPr id="12" name="Connector 11"/>
          <p:cNvCxnSpPr/>
          <p:nvPr/>
        </p:nvCxnSpPr>
        <p:spPr>
          <a:xfrm>
            <a:off x="457200" y="2209800"/>
            <a:ext cx="306705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pic>
        <p:nvPicPr>
          <p:cNvPr id="13" name="Picture 12" descr="genesys.png"/>
          <p:cNvPicPr>
            <a:picLocks noChangeAspect="1"/>
          </p:cNvPicPr>
          <p:nvPr/>
        </p:nvPicPr>
        <p:blipFill>
          <a:blip r:embed="rId3"/>
          <a:stretch>
            <a:fillRect/>
          </a:stretch>
        </p:blipFill>
        <p:spPr>
          <a:xfrm>
            <a:off x="685800" y="2394239"/>
            <a:ext cx="1333500" cy="259773"/>
          </a:xfrm>
          <a:prstGeom prst="rect">
            <a:avLst/>
          </a:prstGeom>
          <a:effectLst/>
        </p:spPr>
      </p:pic>
      <p:sp>
        <p:nvSpPr>
          <p:cNvPr id="14" name="Oval 13"/>
          <p:cNvSpPr/>
          <p:nvPr/>
        </p:nvSpPr>
        <p:spPr>
          <a:xfrm>
            <a:off x="723900" y="2952750"/>
            <a:ext cx="76200" cy="76200"/>
          </a:xfrm>
          <a:prstGeom prst="ellipse">
            <a:avLst/>
          </a:prstGeom>
          <a:solidFill>
            <a:srgbClr val="49654E"/>
          </a:solidFill>
          <a:ln w="9525">
            <a:solidFill>
              <a:srgbClr val="49654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971550" y="2876550"/>
            <a:ext cx="2400300" cy="304800"/>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0" lang="en-US">
                <a:solidFill>
                  <a:srgbClr val="49654E"/>
                </a:solidFill>
                <a:latin typeface="Manrope"/>
              </a:rPr>
              <a:t>Call in progress</a:t>
            </a:r>
          </a:p>
        </p:txBody>
      </p:sp>
      <p:sp>
        <p:nvSpPr>
          <p:cNvPr id="16" name="Oval 15"/>
          <p:cNvSpPr/>
          <p:nvPr/>
        </p:nvSpPr>
        <p:spPr>
          <a:xfrm>
            <a:off x="685800" y="3314700"/>
            <a:ext cx="762000" cy="762000"/>
          </a:xfrm>
          <a:prstGeom prst="ellipse">
            <a:avLst/>
          </a:prstGeom>
          <a:solidFill>
            <a:srgbClr val="EFF4EE"/>
          </a:solidFill>
          <a:ln w="9525">
            <a:solidFill>
              <a:srgbClr val="EFF4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7" name="Picture 16" descr="icon-call.png"/>
          <p:cNvPicPr>
            <a:picLocks noChangeAspect="1"/>
          </p:cNvPicPr>
          <p:nvPr/>
        </p:nvPicPr>
        <p:blipFill>
          <a:blip r:embed="rId4"/>
          <a:stretch>
            <a:fillRect/>
          </a:stretch>
        </p:blipFill>
        <p:spPr>
          <a:xfrm>
            <a:off x="876300" y="3505200"/>
            <a:ext cx="381000" cy="381000"/>
          </a:xfrm>
          <a:prstGeom prst="rect">
            <a:avLst/>
          </a:prstGeom>
          <a:effectLst/>
        </p:spPr>
      </p:pic>
      <p:cxnSp>
        <p:nvCxnSpPr>
          <p:cNvPr id="18" name="Connector 17"/>
          <p:cNvCxnSpPr/>
          <p:nvPr/>
        </p:nvCxnSpPr>
        <p:spPr>
          <a:xfrm>
            <a:off x="1704975" y="3648075"/>
            <a:ext cx="0" cy="95250"/>
          </a:xfrm>
          <a:prstGeom prst="line">
            <a:avLst/>
          </a:prstGeom>
          <a:ln w="38100">
            <a:solidFill>
              <a:srgbClr val="49654E"/>
            </a:solidFill>
          </a:ln>
          <a:effectLst/>
        </p:spPr>
        <p:style>
          <a:lnRef idx="2">
            <a:schemeClr val="accent1"/>
          </a:lnRef>
          <a:fillRef idx="0">
            <a:schemeClr val="accent1"/>
          </a:fillRef>
          <a:effectRef idx="0">
            <a:schemeClr val="accent1"/>
          </a:effectRef>
          <a:fontRef idx="minor">
            <a:schemeClr val="tx1"/>
          </a:fontRef>
        </p:style>
      </p:cxnSp>
      <p:cxnSp>
        <p:nvCxnSpPr>
          <p:cNvPr id="19" name="Connector 18"/>
          <p:cNvCxnSpPr/>
          <p:nvPr/>
        </p:nvCxnSpPr>
        <p:spPr>
          <a:xfrm>
            <a:off x="1819275" y="3586162"/>
            <a:ext cx="0" cy="219076"/>
          </a:xfrm>
          <a:prstGeom prst="line">
            <a:avLst/>
          </a:prstGeom>
          <a:ln w="38100">
            <a:solidFill>
              <a:srgbClr val="49654E"/>
            </a:solidFill>
          </a:ln>
          <a:effectLst/>
        </p:spPr>
        <p:style>
          <a:lnRef idx="2">
            <a:schemeClr val="accent1"/>
          </a:lnRef>
          <a:fillRef idx="0">
            <a:schemeClr val="accent1"/>
          </a:fillRef>
          <a:effectRef idx="0">
            <a:schemeClr val="accent1"/>
          </a:effectRef>
          <a:fontRef idx="minor">
            <a:schemeClr val="tx1"/>
          </a:fontRef>
        </p:style>
      </p:cxnSp>
      <p:cxnSp>
        <p:nvCxnSpPr>
          <p:cNvPr id="20" name="Connector 19"/>
          <p:cNvCxnSpPr/>
          <p:nvPr/>
        </p:nvCxnSpPr>
        <p:spPr>
          <a:xfrm>
            <a:off x="1933575" y="3524250"/>
            <a:ext cx="0" cy="342900"/>
          </a:xfrm>
          <a:prstGeom prst="line">
            <a:avLst/>
          </a:prstGeom>
          <a:ln w="38100">
            <a:solidFill>
              <a:srgbClr val="49654E"/>
            </a:solidFill>
          </a:ln>
          <a:effectLst/>
        </p:spPr>
        <p:style>
          <a:lnRef idx="2">
            <a:schemeClr val="accent1"/>
          </a:lnRef>
          <a:fillRef idx="0">
            <a:schemeClr val="accent1"/>
          </a:fillRef>
          <a:effectRef idx="0">
            <a:schemeClr val="accent1"/>
          </a:effectRef>
          <a:fontRef idx="minor">
            <a:schemeClr val="tx1"/>
          </a:fontRef>
        </p:style>
      </p:cxnSp>
      <p:cxnSp>
        <p:nvCxnSpPr>
          <p:cNvPr id="21" name="Connector 20"/>
          <p:cNvCxnSpPr/>
          <p:nvPr/>
        </p:nvCxnSpPr>
        <p:spPr>
          <a:xfrm>
            <a:off x="2047875" y="3600450"/>
            <a:ext cx="0" cy="190500"/>
          </a:xfrm>
          <a:prstGeom prst="line">
            <a:avLst/>
          </a:prstGeom>
          <a:ln w="38100">
            <a:solidFill>
              <a:srgbClr val="49654E"/>
            </a:solidFill>
          </a:ln>
          <a:effectLst/>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a:off x="2162175" y="3552825"/>
            <a:ext cx="0" cy="285750"/>
          </a:xfrm>
          <a:prstGeom prst="line">
            <a:avLst/>
          </a:prstGeom>
          <a:ln w="38100">
            <a:solidFill>
              <a:srgbClr val="49654E"/>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a:off x="2276475" y="3629025"/>
            <a:ext cx="0" cy="133350"/>
          </a:xfrm>
          <a:prstGeom prst="line">
            <a:avLst/>
          </a:prstGeom>
          <a:ln w="38100">
            <a:solidFill>
              <a:srgbClr val="49654E"/>
            </a:solidFill>
          </a:ln>
          <a:effectLst/>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a:off x="2390775" y="3581400"/>
            <a:ext cx="0" cy="228600"/>
          </a:xfrm>
          <a:prstGeom prst="line">
            <a:avLst/>
          </a:prstGeom>
          <a:ln w="38100">
            <a:solidFill>
              <a:srgbClr val="49654E"/>
            </a:solidFill>
          </a:ln>
          <a:effectLst/>
        </p:spPr>
        <p:style>
          <a:lnRef idx="2">
            <a:schemeClr val="accent1"/>
          </a:lnRef>
          <a:fillRef idx="0">
            <a:schemeClr val="accent1"/>
          </a:fillRef>
          <a:effectRef idx="0">
            <a:schemeClr val="accent1"/>
          </a:effectRef>
          <a:fontRef idx="minor">
            <a:schemeClr val="tx1"/>
          </a:fontRef>
        </p:style>
      </p:cxnSp>
      <p:sp>
        <p:nvSpPr>
          <p:cNvPr id="25" name="TextBox 24"/>
          <p:cNvSpPr txBox="1"/>
          <p:nvPr/>
        </p:nvSpPr>
        <p:spPr>
          <a:xfrm>
            <a:off x="685800" y="4295775"/>
            <a:ext cx="2686050" cy="409575"/>
          </a:xfrm>
          <a:prstGeom prst="rect">
            <a:avLst/>
          </a:prstGeom>
          <a:noFill/>
          <a:effectLst/>
        </p:spPr>
        <p:txBody>
          <a:bodyPr wrap="square" lIns="0" rIns="0" tIns="0" bIns="0" anchor="t">
            <a:spAutoFit/>
          </a:bodyPr>
          <a:lstStyle/>
          <a:p>
            <a:pPr algn="l" rtl="0">
              <a:lnSpc>
                <a:spcPts val="2352"/>
              </a:lnSpc>
              <a:spcBef>
                <a:spcPts val="0"/>
              </a:spcBef>
              <a:spcAft>
                <a:spcPts val="0"/>
              </a:spcAft>
            </a:pPr>
            <a:r>
              <a:rPr sz="2100" b="1" lang="en-US">
                <a:solidFill>
                  <a:srgbClr val="262626"/>
                </a:solidFill>
                <a:latin typeface="Manrope"/>
              </a:rPr>
              <a:t>+20 ••• 410</a:t>
            </a:r>
          </a:p>
        </p:txBody>
      </p:sp>
      <p:sp>
        <p:nvSpPr>
          <p:cNvPr id="26" name="TextBox 25"/>
          <p:cNvSpPr txBox="1"/>
          <p:nvPr/>
        </p:nvSpPr>
        <p:spPr>
          <a:xfrm>
            <a:off x="685800" y="4762500"/>
            <a:ext cx="2686050" cy="304800"/>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0" lang="en-US">
                <a:solidFill>
                  <a:srgbClr val="68645E"/>
                </a:solidFill>
                <a:latin typeface="Manrope"/>
              </a:rPr>
              <a:t>Caller number</a:t>
            </a:r>
          </a:p>
        </p:txBody>
      </p:sp>
      <p:sp>
        <p:nvSpPr>
          <p:cNvPr id="27" name="Oval 26"/>
          <p:cNvSpPr/>
          <p:nvPr/>
        </p:nvSpPr>
        <p:spPr>
          <a:xfrm>
            <a:off x="685800" y="5162550"/>
            <a:ext cx="419100" cy="41910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8" name="Picture 27" descr="icon-mic.png"/>
          <p:cNvPicPr>
            <a:picLocks noChangeAspect="1"/>
          </p:cNvPicPr>
          <p:nvPr/>
        </p:nvPicPr>
        <p:blipFill>
          <a:blip r:embed="rId5"/>
          <a:stretch>
            <a:fillRect/>
          </a:stretch>
        </p:blipFill>
        <p:spPr>
          <a:xfrm>
            <a:off x="790575" y="5267325"/>
            <a:ext cx="209550" cy="209550"/>
          </a:xfrm>
          <a:prstGeom prst="rect">
            <a:avLst/>
          </a:prstGeom>
          <a:effectLst/>
        </p:spPr>
      </p:pic>
      <p:sp>
        <p:nvSpPr>
          <p:cNvPr id="29" name="Oval 28"/>
          <p:cNvSpPr/>
          <p:nvPr/>
        </p:nvSpPr>
        <p:spPr>
          <a:xfrm>
            <a:off x="1304925" y="5162550"/>
            <a:ext cx="419100" cy="41910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0" name="Picture 29" descr="icon-pause.png"/>
          <p:cNvPicPr>
            <a:picLocks noChangeAspect="1"/>
          </p:cNvPicPr>
          <p:nvPr/>
        </p:nvPicPr>
        <p:blipFill>
          <a:blip r:embed="rId6"/>
          <a:stretch>
            <a:fillRect/>
          </a:stretch>
        </p:blipFill>
        <p:spPr>
          <a:xfrm>
            <a:off x="1409700" y="5267325"/>
            <a:ext cx="209550" cy="209550"/>
          </a:xfrm>
          <a:prstGeom prst="rect">
            <a:avLst/>
          </a:prstGeom>
          <a:effectLst/>
        </p:spPr>
      </p:pic>
      <p:sp>
        <p:nvSpPr>
          <p:cNvPr id="31" name="Oval 30"/>
          <p:cNvSpPr/>
          <p:nvPr/>
        </p:nvSpPr>
        <p:spPr>
          <a:xfrm>
            <a:off x="1924050" y="5162550"/>
            <a:ext cx="419100" cy="41910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2" name="Picture 31" descr="icon-end.png"/>
          <p:cNvPicPr>
            <a:picLocks noChangeAspect="1"/>
          </p:cNvPicPr>
          <p:nvPr/>
        </p:nvPicPr>
        <p:blipFill>
          <a:blip r:embed="rId7"/>
          <a:stretch>
            <a:fillRect/>
          </a:stretch>
        </p:blipFill>
        <p:spPr>
          <a:xfrm>
            <a:off x="2028825" y="5267325"/>
            <a:ext cx="209550" cy="209550"/>
          </a:xfrm>
          <a:prstGeom prst="rect">
            <a:avLst/>
          </a:prstGeom>
          <a:effectLst/>
        </p:spPr>
      </p:pic>
      <p:sp>
        <p:nvSpPr>
          <p:cNvPr id="33" name="Rounded Rectangle 32"/>
          <p:cNvSpPr/>
          <p:nvPr/>
        </p:nvSpPr>
        <p:spPr>
          <a:xfrm>
            <a:off x="3962400" y="2028825"/>
            <a:ext cx="7772400" cy="3810000"/>
          </a:xfrm>
          <a:prstGeom prst="roundRect">
            <a:avLst>
              <a:gd name="adj" fmla="val 3000"/>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Rounded Rectangle 33"/>
          <p:cNvSpPr/>
          <p:nvPr/>
        </p:nvSpPr>
        <p:spPr>
          <a:xfrm>
            <a:off x="3962400" y="1981200"/>
            <a:ext cx="7772400" cy="3810000"/>
          </a:xfrm>
          <a:prstGeom prst="roundRect">
            <a:avLst>
              <a:gd name="adj" fmla="val 3000"/>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5" name="Picture 34" descr="zoho.png"/>
          <p:cNvPicPr>
            <a:picLocks noChangeAspect="1"/>
          </p:cNvPicPr>
          <p:nvPr/>
        </p:nvPicPr>
        <p:blipFill>
          <a:blip r:embed="rId8"/>
          <a:stretch>
            <a:fillRect/>
          </a:stretch>
        </p:blipFill>
        <p:spPr>
          <a:xfrm>
            <a:off x="4241050" y="2143125"/>
            <a:ext cx="642851" cy="276225"/>
          </a:xfrm>
          <a:prstGeom prst="rect">
            <a:avLst/>
          </a:prstGeom>
          <a:effectLst/>
        </p:spPr>
      </p:pic>
      <p:sp>
        <p:nvSpPr>
          <p:cNvPr id="36" name="TextBox 35"/>
          <p:cNvSpPr txBox="1"/>
          <p:nvPr/>
        </p:nvSpPr>
        <p:spPr>
          <a:xfrm>
            <a:off x="5095875" y="2143125"/>
            <a:ext cx="2476500" cy="304800"/>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1" lang="en-US">
                <a:solidFill>
                  <a:srgbClr val="262626"/>
                </a:solidFill>
                <a:latin typeface="Manrope"/>
              </a:rPr>
              <a:t>Desk · ticket search</a:t>
            </a:r>
          </a:p>
        </p:txBody>
      </p:sp>
      <p:sp>
        <p:nvSpPr>
          <p:cNvPr id="37" name="Rounded Rectangle 36"/>
          <p:cNvSpPr/>
          <p:nvPr/>
        </p:nvSpPr>
        <p:spPr>
          <a:xfrm>
            <a:off x="4191000" y="2714625"/>
            <a:ext cx="7315200" cy="685800"/>
          </a:xfrm>
          <a:prstGeom prst="roundRect">
            <a:avLst>
              <a:gd name="adj" fmla="val 11111"/>
            </a:avLst>
          </a:prstGeom>
          <a:solidFill>
            <a:srgbClr val="FFFFFF"/>
          </a:solidFill>
          <a:ln w="9525">
            <a:solidFill>
              <a:srgbClr val="FFBA6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8" name="Picture 37" descr="icon-search.png"/>
          <p:cNvPicPr>
            <a:picLocks noChangeAspect="1"/>
          </p:cNvPicPr>
          <p:nvPr/>
        </p:nvPicPr>
        <p:blipFill>
          <a:blip r:embed="rId9"/>
          <a:stretch>
            <a:fillRect/>
          </a:stretch>
        </p:blipFill>
        <p:spPr>
          <a:xfrm>
            <a:off x="4362450" y="2914650"/>
            <a:ext cx="266700" cy="266700"/>
          </a:xfrm>
          <a:prstGeom prst="rect">
            <a:avLst/>
          </a:prstGeom>
          <a:effectLst/>
        </p:spPr>
      </p:pic>
      <p:sp>
        <p:nvSpPr>
          <p:cNvPr id="39" name="TextBox 38"/>
          <p:cNvSpPr txBox="1"/>
          <p:nvPr/>
        </p:nvSpPr>
        <p:spPr>
          <a:xfrm>
            <a:off x="4791075" y="2895600"/>
            <a:ext cx="4000500" cy="409575"/>
          </a:xfrm>
          <a:prstGeom prst="rect">
            <a:avLst/>
          </a:prstGeom>
          <a:noFill/>
          <a:effectLst/>
        </p:spPr>
        <p:txBody>
          <a:bodyPr wrap="square" lIns="0" rIns="0" tIns="0" bIns="0" anchor="t">
            <a:spAutoFit/>
          </a:bodyPr>
          <a:lstStyle/>
          <a:p>
            <a:pPr algn="l" rtl="0">
              <a:lnSpc>
                <a:spcPts val="2352"/>
              </a:lnSpc>
              <a:spcBef>
                <a:spcPts val="0"/>
              </a:spcBef>
              <a:spcAft>
                <a:spcPts val="0"/>
              </a:spcAft>
            </a:pPr>
            <a:r>
              <a:rPr sz="2100" b="0" lang="en-US">
                <a:solidFill>
                  <a:srgbClr val="262626"/>
                </a:solidFill>
                <a:latin typeface="Manrope"/>
              </a:rPr>
              <a:t>+20 ••• 410</a:t>
            </a:r>
          </a:p>
        </p:txBody>
      </p:sp>
      <p:sp>
        <p:nvSpPr>
          <p:cNvPr id="40" name="Rounded Rectangle 39"/>
          <p:cNvSpPr/>
          <p:nvPr/>
        </p:nvSpPr>
        <p:spPr>
          <a:xfrm>
            <a:off x="9772650" y="2828925"/>
            <a:ext cx="1600200" cy="457200"/>
          </a:xfrm>
          <a:prstGeom prst="roundRect">
            <a:avLst>
              <a:gd name="adj" fmla="val 12000"/>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9934575" y="2895600"/>
            <a:ext cx="1266825" cy="342900"/>
          </a:xfrm>
          <a:prstGeom prst="rect">
            <a:avLst/>
          </a:prstGeom>
          <a:noFill/>
          <a:effectLst/>
        </p:spPr>
        <p:txBody>
          <a:bodyPr wrap="square" lIns="0" rIns="0" tIns="0" bIns="0" anchor="t">
            <a:spAutoFit/>
          </a:bodyPr>
          <a:lstStyle/>
          <a:p>
            <a:pPr algn="ctr" rtl="0">
              <a:lnSpc>
                <a:spcPts val="2016"/>
              </a:lnSpc>
              <a:spcBef>
                <a:spcPts val="0"/>
              </a:spcBef>
              <a:spcAft>
                <a:spcPts val="0"/>
              </a:spcAft>
            </a:pPr>
            <a:r>
              <a:rPr sz="1800" b="1" lang="en-US">
                <a:solidFill>
                  <a:srgbClr val="262626"/>
                </a:solidFill>
                <a:latin typeface="Manrope"/>
              </a:rPr>
              <a:t>Search</a:t>
            </a:r>
          </a:p>
        </p:txBody>
      </p:sp>
      <p:pic>
        <p:nvPicPr>
          <p:cNvPr id="42" name="Picture 41" descr="icon-pointer.png"/>
          <p:cNvPicPr>
            <a:picLocks noChangeAspect="1"/>
          </p:cNvPicPr>
          <p:nvPr/>
        </p:nvPicPr>
        <p:blipFill>
          <a:blip r:embed="rId10"/>
          <a:stretch>
            <a:fillRect/>
          </a:stretch>
        </p:blipFill>
        <p:spPr>
          <a:xfrm>
            <a:off x="10991850" y="3152775"/>
            <a:ext cx="428625" cy="428625"/>
          </a:xfrm>
          <a:prstGeom prst="rect">
            <a:avLst/>
          </a:prstGeom>
          <a:effectLst/>
        </p:spPr>
      </p:pic>
      <p:cxnSp>
        <p:nvCxnSpPr>
          <p:cNvPr id="43" name="Connector 42"/>
          <p:cNvCxnSpPr/>
          <p:nvPr/>
        </p:nvCxnSpPr>
        <p:spPr>
          <a:xfrm>
            <a:off x="3200400" y="4514850"/>
            <a:ext cx="561975" cy="0"/>
          </a:xfrm>
          <a:prstGeom prst="line">
            <a:avLst/>
          </a:prstGeom>
          <a:ln w="19050">
            <a:solidFill>
              <a:srgbClr val="965318"/>
            </a:solidFill>
          </a:ln>
          <a:effectLst/>
        </p:spPr>
        <p:style>
          <a:lnRef idx="2">
            <a:schemeClr val="accent1"/>
          </a:lnRef>
          <a:fillRef idx="0">
            <a:schemeClr val="accent1"/>
          </a:fillRef>
          <a:effectRef idx="0">
            <a:schemeClr val="accent1"/>
          </a:effectRef>
          <a:fontRef idx="minor">
            <a:schemeClr val="tx1"/>
          </a:fontRef>
        </p:style>
      </p:cxnSp>
      <p:cxnSp>
        <p:nvCxnSpPr>
          <p:cNvPr id="44" name="Connector 43"/>
          <p:cNvCxnSpPr/>
          <p:nvPr/>
        </p:nvCxnSpPr>
        <p:spPr>
          <a:xfrm flipV="1">
            <a:off x="3762375" y="3057525"/>
            <a:ext cx="0" cy="1457325"/>
          </a:xfrm>
          <a:prstGeom prst="line">
            <a:avLst/>
          </a:prstGeom>
          <a:ln w="19050">
            <a:solidFill>
              <a:srgbClr val="965318"/>
            </a:solidFill>
          </a:ln>
          <a:effectLst/>
        </p:spPr>
        <p:style>
          <a:lnRef idx="2">
            <a:schemeClr val="accent1"/>
          </a:lnRef>
          <a:fillRef idx="0">
            <a:schemeClr val="accent1"/>
          </a:fillRef>
          <a:effectRef idx="0">
            <a:schemeClr val="accent1"/>
          </a:effectRef>
          <a:fontRef idx="minor">
            <a:schemeClr val="tx1"/>
          </a:fontRef>
        </p:style>
      </p:cxnSp>
      <p:cxnSp>
        <p:nvCxnSpPr>
          <p:cNvPr id="45" name="Connector 44"/>
          <p:cNvCxnSpPr/>
          <p:nvPr/>
        </p:nvCxnSpPr>
        <p:spPr>
          <a:xfrm>
            <a:off x="3762375" y="3057525"/>
            <a:ext cx="333375" cy="0"/>
          </a:xfrm>
          <a:prstGeom prst="line">
            <a:avLst/>
          </a:prstGeom>
          <a:ln w="19050">
            <a:solidFill>
              <a:srgbClr val="965318"/>
            </a:solidFill>
            <a:tailEnd type="triangle" w="sm" len="sm"/>
          </a:ln>
          <a:effectLst/>
        </p:spPr>
        <p:style>
          <a:lnRef idx="2">
            <a:schemeClr val="accent1"/>
          </a:lnRef>
          <a:fillRef idx="0">
            <a:schemeClr val="accent1"/>
          </a:fillRef>
          <a:effectRef idx="0">
            <a:schemeClr val="accent1"/>
          </a:effectRef>
          <a:fontRef idx="minor">
            <a:schemeClr val="tx1"/>
          </a:fontRef>
        </p:style>
      </p:cxnSp>
      <p:pic>
        <p:nvPicPr>
          <p:cNvPr id="46" name="Picture 45" descr="icon-copy.png"/>
          <p:cNvPicPr>
            <a:picLocks noChangeAspect="1"/>
          </p:cNvPicPr>
          <p:nvPr/>
        </p:nvPicPr>
        <p:blipFill>
          <a:blip r:embed="rId11"/>
          <a:stretch>
            <a:fillRect/>
          </a:stretch>
        </p:blipFill>
        <p:spPr>
          <a:xfrm>
            <a:off x="2962275" y="4343400"/>
            <a:ext cx="209550" cy="209550"/>
          </a:xfrm>
          <a:prstGeom prst="rect">
            <a:avLst/>
          </a:prstGeom>
          <a:effectLst/>
        </p:spPr>
      </p:pic>
      <p:sp>
        <p:nvSpPr>
          <p:cNvPr id="47" name="TextBox 46"/>
          <p:cNvSpPr txBox="1"/>
          <p:nvPr/>
        </p:nvSpPr>
        <p:spPr>
          <a:xfrm>
            <a:off x="4191000" y="3600450"/>
            <a:ext cx="6972300" cy="323850"/>
          </a:xfrm>
          <a:prstGeom prst="rect">
            <a:avLst/>
          </a:prstGeom>
          <a:noFill/>
          <a:effectLst/>
        </p:spPr>
        <p:txBody>
          <a:bodyPr wrap="square" lIns="0" rIns="0" tIns="0" bIns="0" anchor="t">
            <a:spAutoFit/>
          </a:bodyPr>
          <a:lstStyle/>
          <a:p>
            <a:pPr algn="l" rtl="0">
              <a:lnSpc>
                <a:spcPts val="1848"/>
              </a:lnSpc>
              <a:spcBef>
                <a:spcPts val="0"/>
              </a:spcBef>
              <a:spcAft>
                <a:spcPts val="0"/>
              </a:spcAft>
            </a:pPr>
            <a:r>
              <a:rPr sz="1650" b="1" lang="en-US">
                <a:solidFill>
                  <a:srgbClr val="262626"/>
                </a:solidFill>
                <a:latin typeface="Manrope"/>
              </a:rPr>
              <a:t>Contact A · Previous tickets</a:t>
            </a:r>
          </a:p>
        </p:txBody>
      </p:sp>
      <p:sp>
        <p:nvSpPr>
          <p:cNvPr id="48" name="Rounded Rectangle 47"/>
          <p:cNvSpPr/>
          <p:nvPr/>
        </p:nvSpPr>
        <p:spPr>
          <a:xfrm>
            <a:off x="4191000" y="4086225"/>
            <a:ext cx="7315200" cy="1390650"/>
          </a:xfrm>
          <a:prstGeom prst="roundRect">
            <a:avLst>
              <a:gd name="adj" fmla="val 5479"/>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9" name="Picture 48" descr="icon-case.png"/>
          <p:cNvPicPr>
            <a:picLocks noChangeAspect="1"/>
          </p:cNvPicPr>
          <p:nvPr/>
        </p:nvPicPr>
        <p:blipFill>
          <a:blip r:embed="rId12"/>
          <a:stretch>
            <a:fillRect/>
          </a:stretch>
        </p:blipFill>
        <p:spPr>
          <a:xfrm>
            <a:off x="4381500" y="4248150"/>
            <a:ext cx="266700" cy="266700"/>
          </a:xfrm>
          <a:prstGeom prst="rect">
            <a:avLst/>
          </a:prstGeom>
          <a:effectLst/>
        </p:spPr>
      </p:pic>
      <p:sp>
        <p:nvSpPr>
          <p:cNvPr id="50" name="TextBox 49"/>
          <p:cNvSpPr txBox="1"/>
          <p:nvPr/>
        </p:nvSpPr>
        <p:spPr>
          <a:xfrm>
            <a:off x="4791075" y="4200525"/>
            <a:ext cx="6362700" cy="361950"/>
          </a:xfrm>
          <a:prstGeom prst="rect">
            <a:avLst/>
          </a:prstGeom>
          <a:noFill/>
          <a:effectLst/>
        </p:spPr>
        <p:txBody>
          <a:bodyPr wrap="square" lIns="0" rIns="0" tIns="0" bIns="0" anchor="t">
            <a:spAutoFit/>
          </a:bodyPr>
          <a:lstStyle/>
          <a:p>
            <a:pPr algn="l" rtl="0">
              <a:lnSpc>
                <a:spcPts val="2184"/>
              </a:lnSpc>
              <a:spcBef>
                <a:spcPts val="0"/>
              </a:spcBef>
              <a:spcAft>
                <a:spcPts val="0"/>
              </a:spcAft>
            </a:pPr>
            <a:r>
              <a:rPr sz="1950" b="1" lang="en-US">
                <a:solidFill>
                  <a:srgbClr val="262626"/>
                </a:solidFill>
                <a:latin typeface="Manrope"/>
              </a:rPr>
              <a:t>T101 · Exchange follow-up</a:t>
            </a:r>
          </a:p>
        </p:txBody>
      </p:sp>
      <p:pic>
        <p:nvPicPr>
          <p:cNvPr id="51" name="Picture 50" descr="icon-clock.png"/>
          <p:cNvPicPr>
            <a:picLocks noChangeAspect="1"/>
          </p:cNvPicPr>
          <p:nvPr/>
        </p:nvPicPr>
        <p:blipFill>
          <a:blip r:embed="rId13"/>
          <a:stretch>
            <a:fillRect/>
          </a:stretch>
        </p:blipFill>
        <p:spPr>
          <a:xfrm>
            <a:off x="4381500" y="4705350"/>
            <a:ext cx="200025" cy="200025"/>
          </a:xfrm>
          <a:prstGeom prst="rect">
            <a:avLst/>
          </a:prstGeom>
          <a:effectLst/>
        </p:spPr>
      </p:pic>
      <p:sp>
        <p:nvSpPr>
          <p:cNvPr id="52" name="TextBox 51"/>
          <p:cNvSpPr txBox="1"/>
          <p:nvPr/>
        </p:nvSpPr>
        <p:spPr>
          <a:xfrm>
            <a:off x="4667250" y="4686300"/>
            <a:ext cx="6000750" cy="304800"/>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0" lang="en-US">
                <a:solidFill>
                  <a:srgbClr val="965318"/>
                </a:solidFill>
                <a:latin typeface="Manrope"/>
              </a:rPr>
              <a:t>Waiting on the branch</a:t>
            </a:r>
          </a:p>
        </p:txBody>
      </p:sp>
      <p:sp>
        <p:nvSpPr>
          <p:cNvPr id="53" name="TextBox 52"/>
          <p:cNvSpPr txBox="1"/>
          <p:nvPr/>
        </p:nvSpPr>
        <p:spPr>
          <a:xfrm>
            <a:off x="4381500" y="5105400"/>
            <a:ext cx="6819900" cy="304800"/>
          </a:xfrm>
          <a:prstGeom prst="rect">
            <a:avLst/>
          </a:prstGeom>
          <a:noFill/>
          <a:effectLst/>
        </p:spPr>
        <p:txBody>
          <a:bodyPr wrap="square" lIns="0" rIns="0" tIns="0" bIns="0" anchor="t">
            <a:spAutoFit/>
          </a:bodyPr>
          <a:lstStyle/>
          <a:p>
            <a:pPr algn="l" rtl="0">
              <a:lnSpc>
                <a:spcPts val="1848"/>
              </a:lnSpc>
              <a:spcBef>
                <a:spcPts val="0"/>
              </a:spcBef>
              <a:spcAft>
                <a:spcPts val="0"/>
              </a:spcAft>
            </a:pPr>
            <a:r>
              <a:rPr sz="1650" b="0" lang="en-US">
                <a:solidFill>
                  <a:srgbClr val="262626"/>
                </a:solidFill>
                <a:latin typeface="Manrope"/>
              </a:rPr>
              <a:t>Latest note: Branch review is still pending.</a:t>
            </a:r>
          </a:p>
        </p:txBody>
      </p:sp>
      <p:sp>
        <p:nvSpPr>
          <p:cNvPr id="54" name="TextBox 53"/>
          <p:cNvSpPr txBox="1"/>
          <p:nvPr/>
        </p:nvSpPr>
        <p:spPr>
          <a:xfrm>
            <a:off x="4191000" y="5895975"/>
            <a:ext cx="7162800" cy="295275"/>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0" lang="en-US">
                <a:solidFill>
                  <a:srgbClr val="965318"/>
                </a:solidFill>
                <a:latin typeface="Manrope"/>
              </a:rPr>
              <a:t>Manual number search → existing ticket found</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set>
                                <p:cBhvr>
                                  <p:cTn id="5" dur="1" fill="hold"/>
                                  <p:tgtEl>
                                    <p:spTgt spid="13"/>
                                  </p:tgtEl>
                                  <p:attrNameLst>
                                    <p:attrName>style.visibility</p:attrName>
                                  </p:attrNameLst>
                                </p:cBhvr>
                                <p:to>
                                  <p:strVal val="visible"/>
                                </p:to>
                              </p:set>
                              <p:animEffect transition="in" filter="fade">
                                <p:cBhvr>
                                  <p:cTn id="6" dur="520"/>
                                  <p:tgtEl>
                                    <p:spTgt spid="13"/>
                                  </p:tgtEl>
                                </p:cBhvr>
                              </p:animEffect>
                            </p:childTnLst>
                          </p:cTn>
                        </p:par>
                        <p:par>
                          <p:cTn id="7" presetID="10" presetClass="entr" presetSubtype="0" fill="hold" nodeType="withEffect">
                            <p:stCondLst>
                              <p:cond delay="0"/>
                            </p:stCondLst>
                            <p:childTnLst>
                              <p:set>
                                <p:cBhvr>
                                  <p:cTn id="8" dur="1" fill="hold"/>
                                  <p:tgtEl>
                                    <p:spTgt spid="14"/>
                                  </p:tgtEl>
                                  <p:attrNameLst>
                                    <p:attrName>style.visibility</p:attrName>
                                  </p:attrNameLst>
                                </p:cBhvr>
                                <p:to>
                                  <p:strVal val="visible"/>
                                </p:to>
                              </p:set>
                              <p:animEffect transition="in" filter="fade">
                                <p:cBhvr>
                                  <p:cTn id="9" dur="520"/>
                                  <p:tgtEl>
                                    <p:spTgt spid="14"/>
                                  </p:tgtEl>
                                </p:cBhvr>
                              </p:animEffect>
                            </p:childTnLst>
                          </p:cTn>
                        </p:par>
                        <p:par>
                          <p:cTn id="10" presetID="10" presetClass="entr" presetSubtype="0" fill="hold" nodeType="withEffect">
                            <p:stCondLst>
                              <p:cond delay="0"/>
                            </p:stCondLst>
                            <p:childTnLst>
                              <p:set>
                                <p:cBhvr>
                                  <p:cTn id="11" dur="1" fill="hold"/>
                                  <p:tgtEl>
                                    <p:spTgt spid="15"/>
                                  </p:tgtEl>
                                  <p:attrNameLst>
                                    <p:attrName>style.visibility</p:attrName>
                                  </p:attrNameLst>
                                </p:cBhvr>
                                <p:to>
                                  <p:strVal val="visible"/>
                                </p:to>
                              </p:set>
                              <p:animEffect transition="in" filter="fade">
                                <p:cBhvr>
                                  <p:cTn id="12" dur="520"/>
                                  <p:tgtEl>
                                    <p:spTgt spid="15"/>
                                  </p:tgtEl>
                                </p:cBhvr>
                              </p:animEffect>
                            </p:childTnLst>
                          </p:cTn>
                        </p:par>
                        <p:par>
                          <p:cTn id="13" presetID="10" presetClass="entr" presetSubtype="0" fill="hold" nodeType="withEffect">
                            <p:stCondLst>
                              <p:cond delay="0"/>
                            </p:stCondLst>
                            <p:childTnLst>
                              <p:set>
                                <p:cBhvr>
                                  <p:cTn id="14" dur="1" fill="hold"/>
                                  <p:tgtEl>
                                    <p:spTgt spid="16"/>
                                  </p:tgtEl>
                                  <p:attrNameLst>
                                    <p:attrName>style.visibility</p:attrName>
                                  </p:attrNameLst>
                                </p:cBhvr>
                                <p:to>
                                  <p:strVal val="visible"/>
                                </p:to>
                              </p:set>
                              <p:animEffect transition="in" filter="fade">
                                <p:cBhvr>
                                  <p:cTn id="15" dur="520"/>
                                  <p:tgtEl>
                                    <p:spTgt spid="16"/>
                                  </p:tgtEl>
                                </p:cBhvr>
                              </p:animEffect>
                            </p:childTnLst>
                          </p:cTn>
                        </p:par>
                        <p:par>
                          <p:cTn id="16" presetID="10" presetClass="entr" presetSubtype="0" fill="hold" nodeType="withEffect">
                            <p:stCondLst>
                              <p:cond delay="0"/>
                            </p:stCondLst>
                            <p:childTnLst>
                              <p:set>
                                <p:cBhvr>
                                  <p:cTn id="17" dur="1" fill="hold"/>
                                  <p:tgtEl>
                                    <p:spTgt spid="17"/>
                                  </p:tgtEl>
                                  <p:attrNameLst>
                                    <p:attrName>style.visibility</p:attrName>
                                  </p:attrNameLst>
                                </p:cBhvr>
                                <p:to>
                                  <p:strVal val="visible"/>
                                </p:to>
                              </p:set>
                              <p:animEffect transition="in" filter="fade">
                                <p:cBhvr>
                                  <p:cTn id="18" dur="520"/>
                                  <p:tgtEl>
                                    <p:spTgt spid="17"/>
                                  </p:tgtEl>
                                </p:cBhvr>
                              </p:animEffect>
                            </p:childTnLst>
                          </p:cTn>
                        </p:par>
                        <p:par>
                          <p:cTn id="19" presetID="10" presetClass="entr" presetSubtype="0" fill="hold" nodeType="withEffect">
                            <p:stCondLst>
                              <p:cond delay="0"/>
                            </p:stCondLst>
                            <p:childTnLst>
                              <p:set>
                                <p:cBhvr>
                                  <p:cTn id="20" dur="1" fill="hold"/>
                                  <p:tgtEl>
                                    <p:spTgt spid="18"/>
                                  </p:tgtEl>
                                  <p:attrNameLst>
                                    <p:attrName>style.visibility</p:attrName>
                                  </p:attrNameLst>
                                </p:cBhvr>
                                <p:to>
                                  <p:strVal val="visible"/>
                                </p:to>
                              </p:set>
                              <p:animEffect transition="in" filter="fade">
                                <p:cBhvr>
                                  <p:cTn id="21" dur="520"/>
                                  <p:tgtEl>
                                    <p:spTgt spid="18"/>
                                  </p:tgtEl>
                                </p:cBhvr>
                              </p:animEffect>
                            </p:childTnLst>
                          </p:cTn>
                        </p:par>
                        <p:par>
                          <p:cTn id="22" presetID="10" presetClass="entr" presetSubtype="0" fill="hold" nodeType="withEffect">
                            <p:stCondLst>
                              <p:cond delay="0"/>
                            </p:stCondLst>
                            <p:childTnLst>
                              <p:set>
                                <p:cBhvr>
                                  <p:cTn id="23" dur="1" fill="hold"/>
                                  <p:tgtEl>
                                    <p:spTgt spid="19"/>
                                  </p:tgtEl>
                                  <p:attrNameLst>
                                    <p:attrName>style.visibility</p:attrName>
                                  </p:attrNameLst>
                                </p:cBhvr>
                                <p:to>
                                  <p:strVal val="visible"/>
                                </p:to>
                              </p:set>
                              <p:animEffect transition="in" filter="fade">
                                <p:cBhvr>
                                  <p:cTn id="24" dur="520"/>
                                  <p:tgtEl>
                                    <p:spTgt spid="19"/>
                                  </p:tgtEl>
                                </p:cBhvr>
                              </p:animEffect>
                            </p:childTnLst>
                          </p:cTn>
                        </p:par>
                        <p:par>
                          <p:cTn id="25" presetID="10" presetClass="entr" presetSubtype="0" fill="hold" nodeType="withEffect">
                            <p:stCondLst>
                              <p:cond delay="0"/>
                            </p:stCondLst>
                            <p:childTnLst>
                              <p:set>
                                <p:cBhvr>
                                  <p:cTn id="26" dur="1" fill="hold"/>
                                  <p:tgtEl>
                                    <p:spTgt spid="20"/>
                                  </p:tgtEl>
                                  <p:attrNameLst>
                                    <p:attrName>style.visibility</p:attrName>
                                  </p:attrNameLst>
                                </p:cBhvr>
                                <p:to>
                                  <p:strVal val="visible"/>
                                </p:to>
                              </p:set>
                              <p:animEffect transition="in" filter="fade">
                                <p:cBhvr>
                                  <p:cTn id="27" dur="520"/>
                                  <p:tgtEl>
                                    <p:spTgt spid="20"/>
                                  </p:tgtEl>
                                </p:cBhvr>
                              </p:animEffect>
                            </p:childTnLst>
                          </p:cTn>
                        </p:par>
                        <p:par>
                          <p:cTn id="28" presetID="10" presetClass="entr" presetSubtype="0" fill="hold" nodeType="withEffect">
                            <p:stCondLst>
                              <p:cond delay="0"/>
                            </p:stCondLst>
                            <p:childTnLst>
                              <p:set>
                                <p:cBhvr>
                                  <p:cTn id="29" dur="1" fill="hold"/>
                                  <p:tgtEl>
                                    <p:spTgt spid="21"/>
                                  </p:tgtEl>
                                  <p:attrNameLst>
                                    <p:attrName>style.visibility</p:attrName>
                                  </p:attrNameLst>
                                </p:cBhvr>
                                <p:to>
                                  <p:strVal val="visible"/>
                                </p:to>
                              </p:set>
                              <p:animEffect transition="in" filter="fade">
                                <p:cBhvr>
                                  <p:cTn id="30" dur="520"/>
                                  <p:tgtEl>
                                    <p:spTgt spid="21"/>
                                  </p:tgtEl>
                                </p:cBhvr>
                              </p:animEffect>
                            </p:childTnLst>
                          </p:cTn>
                        </p:par>
                        <p:par>
                          <p:cTn id="31" presetID="10" presetClass="entr" presetSubtype="0" fill="hold" nodeType="withEffect">
                            <p:stCondLst>
                              <p:cond delay="0"/>
                            </p:stCondLst>
                            <p:childTnLst>
                              <p:set>
                                <p:cBhvr>
                                  <p:cTn id="32" dur="1" fill="hold"/>
                                  <p:tgtEl>
                                    <p:spTgt spid="22"/>
                                  </p:tgtEl>
                                  <p:attrNameLst>
                                    <p:attrName>style.visibility</p:attrName>
                                  </p:attrNameLst>
                                </p:cBhvr>
                                <p:to>
                                  <p:strVal val="visible"/>
                                </p:to>
                              </p:set>
                              <p:animEffect transition="in" filter="fade">
                                <p:cBhvr>
                                  <p:cTn id="33" dur="520"/>
                                  <p:tgtEl>
                                    <p:spTgt spid="22"/>
                                  </p:tgtEl>
                                </p:cBhvr>
                              </p:animEffect>
                            </p:childTnLst>
                          </p:cTn>
                        </p:par>
                        <p:par>
                          <p:cTn id="34" presetID="10" presetClass="entr" presetSubtype="0" fill="hold" nodeType="withEffect">
                            <p:stCondLst>
                              <p:cond delay="0"/>
                            </p:stCondLst>
                            <p:childTnLst>
                              <p:set>
                                <p:cBhvr>
                                  <p:cTn id="35" dur="1" fill="hold"/>
                                  <p:tgtEl>
                                    <p:spTgt spid="23"/>
                                  </p:tgtEl>
                                  <p:attrNameLst>
                                    <p:attrName>style.visibility</p:attrName>
                                  </p:attrNameLst>
                                </p:cBhvr>
                                <p:to>
                                  <p:strVal val="visible"/>
                                </p:to>
                              </p:set>
                              <p:animEffect transition="in" filter="fade">
                                <p:cBhvr>
                                  <p:cTn id="36" dur="520"/>
                                  <p:tgtEl>
                                    <p:spTgt spid="23"/>
                                  </p:tgtEl>
                                </p:cBhvr>
                              </p:animEffect>
                            </p:childTnLst>
                          </p:cTn>
                        </p:par>
                        <p:par>
                          <p:cTn id="37" presetID="10" presetClass="entr" presetSubtype="0" fill="hold" nodeType="withEffect">
                            <p:stCondLst>
                              <p:cond delay="0"/>
                            </p:stCondLst>
                            <p:childTnLst>
                              <p:set>
                                <p:cBhvr>
                                  <p:cTn id="38" dur="1" fill="hold"/>
                                  <p:tgtEl>
                                    <p:spTgt spid="24"/>
                                  </p:tgtEl>
                                  <p:attrNameLst>
                                    <p:attrName>style.visibility</p:attrName>
                                  </p:attrNameLst>
                                </p:cBhvr>
                                <p:to>
                                  <p:strVal val="visible"/>
                                </p:to>
                              </p:set>
                              <p:animEffect transition="in" filter="fade">
                                <p:cBhvr>
                                  <p:cTn id="39" dur="520"/>
                                  <p:tgtEl>
                                    <p:spTgt spid="24"/>
                                  </p:tgtEl>
                                </p:cBhvr>
                              </p:animEffect>
                            </p:childTnLst>
                          </p:cTn>
                        </p:par>
                        <p:par>
                          <p:cTn id="40" presetID="10" presetClass="entr" presetSubtype="0" fill="hold" nodeType="withEffect">
                            <p:stCondLst>
                              <p:cond delay="0"/>
                            </p:stCondLst>
                            <p:childTnLst>
                              <p:set>
                                <p:cBhvr>
                                  <p:cTn id="41" dur="1" fill="hold"/>
                                  <p:tgtEl>
                                    <p:spTgt spid="25"/>
                                  </p:tgtEl>
                                  <p:attrNameLst>
                                    <p:attrName>style.visibility</p:attrName>
                                  </p:attrNameLst>
                                </p:cBhvr>
                                <p:to>
                                  <p:strVal val="visible"/>
                                </p:to>
                              </p:set>
                              <p:animEffect transition="in" filter="fade">
                                <p:cBhvr>
                                  <p:cTn id="42" dur="520"/>
                                  <p:tgtEl>
                                    <p:spTgt spid="25"/>
                                  </p:tgtEl>
                                </p:cBhvr>
                              </p:animEffect>
                            </p:childTnLst>
                          </p:cTn>
                        </p:par>
                        <p:par>
                          <p:cTn id="43" presetID="10" presetClass="entr" presetSubtype="0" fill="hold" nodeType="withEffect">
                            <p:stCondLst>
                              <p:cond delay="0"/>
                            </p:stCondLst>
                            <p:childTnLst>
                              <p:set>
                                <p:cBhvr>
                                  <p:cTn id="44" dur="1" fill="hold"/>
                                  <p:tgtEl>
                                    <p:spTgt spid="26"/>
                                  </p:tgtEl>
                                  <p:attrNameLst>
                                    <p:attrName>style.visibility</p:attrName>
                                  </p:attrNameLst>
                                </p:cBhvr>
                                <p:to>
                                  <p:strVal val="visible"/>
                                </p:to>
                              </p:set>
                              <p:animEffect transition="in" filter="fade">
                                <p:cBhvr>
                                  <p:cTn id="45" dur="520"/>
                                  <p:tgtEl>
                                    <p:spTgt spid="26"/>
                                  </p:tgtEl>
                                </p:cBhvr>
                              </p:animEffect>
                            </p:childTnLst>
                          </p:cTn>
                        </p:par>
                        <p:par>
                          <p:cTn id="46" presetID="10" presetClass="entr" presetSubtype="0" fill="hold" nodeType="withEffect">
                            <p:stCondLst>
                              <p:cond delay="0"/>
                            </p:stCondLst>
                            <p:childTnLst>
                              <p:set>
                                <p:cBhvr>
                                  <p:cTn id="47" dur="1" fill="hold"/>
                                  <p:tgtEl>
                                    <p:spTgt spid="27"/>
                                  </p:tgtEl>
                                  <p:attrNameLst>
                                    <p:attrName>style.visibility</p:attrName>
                                  </p:attrNameLst>
                                </p:cBhvr>
                                <p:to>
                                  <p:strVal val="visible"/>
                                </p:to>
                              </p:set>
                              <p:animEffect transition="in" filter="fade">
                                <p:cBhvr>
                                  <p:cTn id="48" dur="520"/>
                                  <p:tgtEl>
                                    <p:spTgt spid="27"/>
                                  </p:tgtEl>
                                </p:cBhvr>
                              </p:animEffect>
                            </p:childTnLst>
                          </p:cTn>
                        </p:par>
                        <p:par>
                          <p:cTn id="49" presetID="10" presetClass="entr" presetSubtype="0" fill="hold" nodeType="withEffect">
                            <p:stCondLst>
                              <p:cond delay="0"/>
                            </p:stCondLst>
                            <p:childTnLst>
                              <p:set>
                                <p:cBhvr>
                                  <p:cTn id="50" dur="1" fill="hold"/>
                                  <p:tgtEl>
                                    <p:spTgt spid="28"/>
                                  </p:tgtEl>
                                  <p:attrNameLst>
                                    <p:attrName>style.visibility</p:attrName>
                                  </p:attrNameLst>
                                </p:cBhvr>
                                <p:to>
                                  <p:strVal val="visible"/>
                                </p:to>
                              </p:set>
                              <p:animEffect transition="in" filter="fade">
                                <p:cBhvr>
                                  <p:cTn id="51" dur="520"/>
                                  <p:tgtEl>
                                    <p:spTgt spid="28"/>
                                  </p:tgtEl>
                                </p:cBhvr>
                              </p:animEffect>
                            </p:childTnLst>
                          </p:cTn>
                        </p:par>
                        <p:par>
                          <p:cTn id="52" presetID="10" presetClass="entr" presetSubtype="0" fill="hold" nodeType="withEffect">
                            <p:stCondLst>
                              <p:cond delay="0"/>
                            </p:stCondLst>
                            <p:childTnLst>
                              <p:set>
                                <p:cBhvr>
                                  <p:cTn id="53" dur="1" fill="hold"/>
                                  <p:tgtEl>
                                    <p:spTgt spid="29"/>
                                  </p:tgtEl>
                                  <p:attrNameLst>
                                    <p:attrName>style.visibility</p:attrName>
                                  </p:attrNameLst>
                                </p:cBhvr>
                                <p:to>
                                  <p:strVal val="visible"/>
                                </p:to>
                              </p:set>
                              <p:animEffect transition="in" filter="fade">
                                <p:cBhvr>
                                  <p:cTn id="54" dur="520"/>
                                  <p:tgtEl>
                                    <p:spTgt spid="29"/>
                                  </p:tgtEl>
                                </p:cBhvr>
                              </p:animEffect>
                            </p:childTnLst>
                          </p:cTn>
                        </p:par>
                        <p:par>
                          <p:cTn id="55" presetID="10" presetClass="entr" presetSubtype="0" fill="hold" nodeType="withEffect">
                            <p:stCondLst>
                              <p:cond delay="0"/>
                            </p:stCondLst>
                            <p:childTnLst>
                              <p:set>
                                <p:cBhvr>
                                  <p:cTn id="56" dur="1" fill="hold"/>
                                  <p:tgtEl>
                                    <p:spTgt spid="30"/>
                                  </p:tgtEl>
                                  <p:attrNameLst>
                                    <p:attrName>style.visibility</p:attrName>
                                  </p:attrNameLst>
                                </p:cBhvr>
                                <p:to>
                                  <p:strVal val="visible"/>
                                </p:to>
                              </p:set>
                              <p:animEffect transition="in" filter="fade">
                                <p:cBhvr>
                                  <p:cTn id="57" dur="520"/>
                                  <p:tgtEl>
                                    <p:spTgt spid="30"/>
                                  </p:tgtEl>
                                </p:cBhvr>
                              </p:animEffect>
                            </p:childTnLst>
                          </p:cTn>
                        </p:par>
                        <p:par>
                          <p:cTn id="58" presetID="10" presetClass="entr" presetSubtype="0" fill="hold" nodeType="withEffect">
                            <p:stCondLst>
                              <p:cond delay="0"/>
                            </p:stCondLst>
                            <p:childTnLst>
                              <p:set>
                                <p:cBhvr>
                                  <p:cTn id="59" dur="1" fill="hold"/>
                                  <p:tgtEl>
                                    <p:spTgt spid="31"/>
                                  </p:tgtEl>
                                  <p:attrNameLst>
                                    <p:attrName>style.visibility</p:attrName>
                                  </p:attrNameLst>
                                </p:cBhvr>
                                <p:to>
                                  <p:strVal val="visible"/>
                                </p:to>
                              </p:set>
                              <p:animEffect transition="in" filter="fade">
                                <p:cBhvr>
                                  <p:cTn id="60" dur="520"/>
                                  <p:tgtEl>
                                    <p:spTgt spid="31"/>
                                  </p:tgtEl>
                                </p:cBhvr>
                              </p:animEffect>
                            </p:childTnLst>
                          </p:cTn>
                        </p:par>
                        <p:par>
                          <p:cTn id="61" presetID="10" presetClass="entr" presetSubtype="0" fill="hold" nodeType="withEffect">
                            <p:stCondLst>
                              <p:cond delay="0"/>
                            </p:stCondLst>
                            <p:childTnLst>
                              <p:set>
                                <p:cBhvr>
                                  <p:cTn id="62" dur="1" fill="hold"/>
                                  <p:tgtEl>
                                    <p:spTgt spid="32"/>
                                  </p:tgtEl>
                                  <p:attrNameLst>
                                    <p:attrName>style.visibility</p:attrName>
                                  </p:attrNameLst>
                                </p:cBhvr>
                                <p:to>
                                  <p:strVal val="visible"/>
                                </p:to>
                              </p:set>
                              <p:animEffect transition="in" filter="fade">
                                <p:cBhvr>
                                  <p:cTn id="63" dur="520"/>
                                  <p:tgtEl>
                                    <p:spTgt spid="32"/>
                                  </p:tgtEl>
                                </p:cBhvr>
                              </p:animEffect>
                            </p:childTnLst>
                          </p:cTn>
                        </p:par>
                        <p:par>
                          <p:cTn id="64" presetID="10" presetClass="entr" presetSubtype="0" fill="hold" nodeType="withEffect">
                            <p:stCondLst>
                              <p:cond delay="2800"/>
                            </p:stCondLst>
                            <p:childTnLst>
                              <p:set>
                                <p:cBhvr>
                                  <p:cTn id="65" dur="1" fill="hold"/>
                                  <p:tgtEl>
                                    <p:spTgt spid="37"/>
                                  </p:tgtEl>
                                  <p:attrNameLst>
                                    <p:attrName>style.visibility</p:attrName>
                                  </p:attrNameLst>
                                </p:cBhvr>
                                <p:to>
                                  <p:strVal val="visible"/>
                                </p:to>
                              </p:set>
                              <p:animEffect transition="in" filter="fade">
                                <p:cBhvr>
                                  <p:cTn id="66" dur="520"/>
                                  <p:tgtEl>
                                    <p:spTgt spid="37"/>
                                  </p:tgtEl>
                                </p:cBhvr>
                              </p:animEffect>
                            </p:childTnLst>
                          </p:cTn>
                        </p:par>
                        <p:par>
                          <p:cTn id="67" presetID="10" presetClass="entr" presetSubtype="0" fill="hold" nodeType="withEffect">
                            <p:stCondLst>
                              <p:cond delay="2800"/>
                            </p:stCondLst>
                            <p:childTnLst>
                              <p:set>
                                <p:cBhvr>
                                  <p:cTn id="68" dur="1" fill="hold"/>
                                  <p:tgtEl>
                                    <p:spTgt spid="38"/>
                                  </p:tgtEl>
                                  <p:attrNameLst>
                                    <p:attrName>style.visibility</p:attrName>
                                  </p:attrNameLst>
                                </p:cBhvr>
                                <p:to>
                                  <p:strVal val="visible"/>
                                </p:to>
                              </p:set>
                              <p:animEffect transition="in" filter="fade">
                                <p:cBhvr>
                                  <p:cTn id="69" dur="520"/>
                                  <p:tgtEl>
                                    <p:spTgt spid="38"/>
                                  </p:tgtEl>
                                </p:cBhvr>
                              </p:animEffect>
                            </p:childTnLst>
                          </p:cTn>
                        </p:par>
                        <p:par>
                          <p:cTn id="70" presetID="10" presetClass="entr" presetSubtype="0" fill="hold" nodeType="withEffect">
                            <p:stCondLst>
                              <p:cond delay="2800"/>
                            </p:stCondLst>
                            <p:childTnLst>
                              <p:set>
                                <p:cBhvr>
                                  <p:cTn id="71" dur="1" fill="hold"/>
                                  <p:tgtEl>
                                    <p:spTgt spid="39"/>
                                  </p:tgtEl>
                                  <p:attrNameLst>
                                    <p:attrName>style.visibility</p:attrName>
                                  </p:attrNameLst>
                                </p:cBhvr>
                                <p:to>
                                  <p:strVal val="visible"/>
                                </p:to>
                              </p:set>
                              <p:animEffect transition="in" filter="fade">
                                <p:cBhvr>
                                  <p:cTn id="72" dur="520"/>
                                  <p:tgtEl>
                                    <p:spTgt spid="39"/>
                                  </p:tgtEl>
                                </p:cBhvr>
                              </p:animEffect>
                            </p:childTnLst>
                          </p:cTn>
                        </p:par>
                        <p:par>
                          <p:cTn id="73" presetID="10" presetClass="entr" presetSubtype="0" fill="hold" nodeType="withEffect">
                            <p:stCondLst>
                              <p:cond delay="2800"/>
                            </p:stCondLst>
                            <p:childTnLst>
                              <p:set>
                                <p:cBhvr>
                                  <p:cTn id="74" dur="1" fill="hold"/>
                                  <p:tgtEl>
                                    <p:spTgt spid="40"/>
                                  </p:tgtEl>
                                  <p:attrNameLst>
                                    <p:attrName>style.visibility</p:attrName>
                                  </p:attrNameLst>
                                </p:cBhvr>
                                <p:to>
                                  <p:strVal val="visible"/>
                                </p:to>
                              </p:set>
                              <p:animEffect transition="in" filter="fade">
                                <p:cBhvr>
                                  <p:cTn id="75" dur="520"/>
                                  <p:tgtEl>
                                    <p:spTgt spid="40"/>
                                  </p:tgtEl>
                                </p:cBhvr>
                              </p:animEffect>
                            </p:childTnLst>
                          </p:cTn>
                        </p:par>
                        <p:par>
                          <p:cTn id="76" presetID="10" presetClass="entr" presetSubtype="0" fill="hold" nodeType="withEffect">
                            <p:stCondLst>
                              <p:cond delay="2800"/>
                            </p:stCondLst>
                            <p:childTnLst>
                              <p:set>
                                <p:cBhvr>
                                  <p:cTn id="77" dur="1" fill="hold"/>
                                  <p:tgtEl>
                                    <p:spTgt spid="41"/>
                                  </p:tgtEl>
                                  <p:attrNameLst>
                                    <p:attrName>style.visibility</p:attrName>
                                  </p:attrNameLst>
                                </p:cBhvr>
                                <p:to>
                                  <p:strVal val="visible"/>
                                </p:to>
                              </p:set>
                              <p:animEffect transition="in" filter="fade">
                                <p:cBhvr>
                                  <p:cTn id="78" dur="520"/>
                                  <p:tgtEl>
                                    <p:spTgt spid="41"/>
                                  </p:tgtEl>
                                </p:cBhvr>
                              </p:animEffect>
                            </p:childTnLst>
                          </p:cTn>
                        </p:par>
                        <p:par>
                          <p:cTn id="79" presetID="10" presetClass="entr" presetSubtype="0" fill="hold" nodeType="withEffect">
                            <p:stCondLst>
                              <p:cond delay="2800"/>
                            </p:stCondLst>
                            <p:childTnLst>
                              <p:set>
                                <p:cBhvr>
                                  <p:cTn id="80" dur="1" fill="hold"/>
                                  <p:tgtEl>
                                    <p:spTgt spid="42"/>
                                  </p:tgtEl>
                                  <p:attrNameLst>
                                    <p:attrName>style.visibility</p:attrName>
                                  </p:attrNameLst>
                                </p:cBhvr>
                                <p:to>
                                  <p:strVal val="visible"/>
                                </p:to>
                              </p:set>
                              <p:animEffect transition="in" filter="fade">
                                <p:cBhvr>
                                  <p:cTn id="81" dur="520"/>
                                  <p:tgtEl>
                                    <p:spTgt spid="42"/>
                                  </p:tgtEl>
                                </p:cBhvr>
                              </p:animEffect>
                            </p:childTnLst>
                          </p:cTn>
                        </p:par>
                        <p:par>
                          <p:cTn id="82" presetID="10" presetClass="entr" presetSubtype="0" fill="hold" nodeType="withEffect">
                            <p:stCondLst>
                              <p:cond delay="1400"/>
                            </p:stCondLst>
                            <p:childTnLst>
                              <p:set>
                                <p:cBhvr>
                                  <p:cTn id="83" dur="1" fill="hold"/>
                                  <p:tgtEl>
                                    <p:spTgt spid="43"/>
                                  </p:tgtEl>
                                  <p:attrNameLst>
                                    <p:attrName>style.visibility</p:attrName>
                                  </p:attrNameLst>
                                </p:cBhvr>
                                <p:to>
                                  <p:strVal val="visible"/>
                                </p:to>
                              </p:set>
                              <p:animEffect transition="in" filter="fade">
                                <p:cBhvr>
                                  <p:cTn id="84" dur="520"/>
                                  <p:tgtEl>
                                    <p:spTgt spid="43"/>
                                  </p:tgtEl>
                                </p:cBhvr>
                              </p:animEffect>
                            </p:childTnLst>
                          </p:cTn>
                        </p:par>
                        <p:par>
                          <p:cTn id="85" presetID="10" presetClass="entr" presetSubtype="0" fill="hold" nodeType="withEffect">
                            <p:stCondLst>
                              <p:cond delay="1400"/>
                            </p:stCondLst>
                            <p:childTnLst>
                              <p:set>
                                <p:cBhvr>
                                  <p:cTn id="86" dur="1" fill="hold"/>
                                  <p:tgtEl>
                                    <p:spTgt spid="44"/>
                                  </p:tgtEl>
                                  <p:attrNameLst>
                                    <p:attrName>style.visibility</p:attrName>
                                  </p:attrNameLst>
                                </p:cBhvr>
                                <p:to>
                                  <p:strVal val="visible"/>
                                </p:to>
                              </p:set>
                              <p:animEffect transition="in" filter="fade">
                                <p:cBhvr>
                                  <p:cTn id="87" dur="520"/>
                                  <p:tgtEl>
                                    <p:spTgt spid="44"/>
                                  </p:tgtEl>
                                </p:cBhvr>
                              </p:animEffect>
                            </p:childTnLst>
                          </p:cTn>
                        </p:par>
                        <p:par>
                          <p:cTn id="88" presetID="10" presetClass="entr" presetSubtype="0" fill="hold" nodeType="withEffect">
                            <p:stCondLst>
                              <p:cond delay="1400"/>
                            </p:stCondLst>
                            <p:childTnLst>
                              <p:set>
                                <p:cBhvr>
                                  <p:cTn id="89" dur="1" fill="hold"/>
                                  <p:tgtEl>
                                    <p:spTgt spid="45"/>
                                  </p:tgtEl>
                                  <p:attrNameLst>
                                    <p:attrName>style.visibility</p:attrName>
                                  </p:attrNameLst>
                                </p:cBhvr>
                                <p:to>
                                  <p:strVal val="visible"/>
                                </p:to>
                              </p:set>
                              <p:animEffect transition="in" filter="fade">
                                <p:cBhvr>
                                  <p:cTn id="90" dur="520"/>
                                  <p:tgtEl>
                                    <p:spTgt spid="45"/>
                                  </p:tgtEl>
                                </p:cBhvr>
                              </p:animEffect>
                            </p:childTnLst>
                          </p:cTn>
                        </p:par>
                        <p:par>
                          <p:cTn id="91" presetID="10" presetClass="entr" presetSubtype="0" fill="hold" nodeType="withEffect">
                            <p:stCondLst>
                              <p:cond delay="1400"/>
                            </p:stCondLst>
                            <p:childTnLst>
                              <p:set>
                                <p:cBhvr>
                                  <p:cTn id="92" dur="1" fill="hold"/>
                                  <p:tgtEl>
                                    <p:spTgt spid="46"/>
                                  </p:tgtEl>
                                  <p:attrNameLst>
                                    <p:attrName>style.visibility</p:attrName>
                                  </p:attrNameLst>
                                </p:cBhvr>
                                <p:to>
                                  <p:strVal val="visible"/>
                                </p:to>
                              </p:set>
                              <p:animEffect transition="in" filter="fade">
                                <p:cBhvr>
                                  <p:cTn id="93" dur="520"/>
                                  <p:tgtEl>
                                    <p:spTgt spid="46"/>
                                  </p:tgtEl>
                                </p:cBhvr>
                              </p:animEffect>
                            </p:childTnLst>
                          </p:cTn>
                        </p:par>
                        <p:par>
                          <p:cTn id="94" presetID="10" presetClass="entr" presetSubtype="0" fill="hold" nodeType="withEffect">
                            <p:stCondLst>
                              <p:cond delay="4200"/>
                            </p:stCondLst>
                            <p:childTnLst>
                              <p:set>
                                <p:cBhvr>
                                  <p:cTn id="95" dur="1" fill="hold"/>
                                  <p:tgtEl>
                                    <p:spTgt spid="47"/>
                                  </p:tgtEl>
                                  <p:attrNameLst>
                                    <p:attrName>style.visibility</p:attrName>
                                  </p:attrNameLst>
                                </p:cBhvr>
                                <p:to>
                                  <p:strVal val="visible"/>
                                </p:to>
                              </p:set>
                              <p:animEffect transition="in" filter="fade">
                                <p:cBhvr>
                                  <p:cTn id="96" dur="520"/>
                                  <p:tgtEl>
                                    <p:spTgt spid="47"/>
                                  </p:tgtEl>
                                </p:cBhvr>
                              </p:animEffect>
                            </p:childTnLst>
                          </p:cTn>
                        </p:par>
                        <p:par>
                          <p:cTn id="97" presetID="10" presetClass="entr" presetSubtype="0" fill="hold" nodeType="withEffect">
                            <p:stCondLst>
                              <p:cond delay="4200"/>
                            </p:stCondLst>
                            <p:childTnLst>
                              <p:set>
                                <p:cBhvr>
                                  <p:cTn id="98" dur="1" fill="hold"/>
                                  <p:tgtEl>
                                    <p:spTgt spid="48"/>
                                  </p:tgtEl>
                                  <p:attrNameLst>
                                    <p:attrName>style.visibility</p:attrName>
                                  </p:attrNameLst>
                                </p:cBhvr>
                                <p:to>
                                  <p:strVal val="visible"/>
                                </p:to>
                              </p:set>
                              <p:animEffect transition="in" filter="fade">
                                <p:cBhvr>
                                  <p:cTn id="99" dur="520"/>
                                  <p:tgtEl>
                                    <p:spTgt spid="48"/>
                                  </p:tgtEl>
                                </p:cBhvr>
                              </p:animEffect>
                            </p:childTnLst>
                          </p:cTn>
                        </p:par>
                        <p:par>
                          <p:cTn id="100" presetID="10" presetClass="entr" presetSubtype="0" fill="hold" nodeType="withEffect">
                            <p:stCondLst>
                              <p:cond delay="4200"/>
                            </p:stCondLst>
                            <p:childTnLst>
                              <p:set>
                                <p:cBhvr>
                                  <p:cTn id="101" dur="1" fill="hold"/>
                                  <p:tgtEl>
                                    <p:spTgt spid="49"/>
                                  </p:tgtEl>
                                  <p:attrNameLst>
                                    <p:attrName>style.visibility</p:attrName>
                                  </p:attrNameLst>
                                </p:cBhvr>
                                <p:to>
                                  <p:strVal val="visible"/>
                                </p:to>
                              </p:set>
                              <p:animEffect transition="in" filter="fade">
                                <p:cBhvr>
                                  <p:cTn id="102" dur="520"/>
                                  <p:tgtEl>
                                    <p:spTgt spid="49"/>
                                  </p:tgtEl>
                                </p:cBhvr>
                              </p:animEffect>
                            </p:childTnLst>
                          </p:cTn>
                        </p:par>
                        <p:par>
                          <p:cTn id="103" presetID="10" presetClass="entr" presetSubtype="0" fill="hold" nodeType="withEffect">
                            <p:stCondLst>
                              <p:cond delay="4200"/>
                            </p:stCondLst>
                            <p:childTnLst>
                              <p:set>
                                <p:cBhvr>
                                  <p:cTn id="104" dur="1" fill="hold"/>
                                  <p:tgtEl>
                                    <p:spTgt spid="50"/>
                                  </p:tgtEl>
                                  <p:attrNameLst>
                                    <p:attrName>style.visibility</p:attrName>
                                  </p:attrNameLst>
                                </p:cBhvr>
                                <p:to>
                                  <p:strVal val="visible"/>
                                </p:to>
                              </p:set>
                              <p:animEffect transition="in" filter="fade">
                                <p:cBhvr>
                                  <p:cTn id="105" dur="520"/>
                                  <p:tgtEl>
                                    <p:spTgt spid="50"/>
                                  </p:tgtEl>
                                </p:cBhvr>
                              </p:animEffect>
                            </p:childTnLst>
                          </p:cTn>
                        </p:par>
                        <p:par>
                          <p:cTn id="106" presetID="10" presetClass="entr" presetSubtype="0" fill="hold" nodeType="withEffect">
                            <p:stCondLst>
                              <p:cond delay="4200"/>
                            </p:stCondLst>
                            <p:childTnLst>
                              <p:set>
                                <p:cBhvr>
                                  <p:cTn id="107" dur="1" fill="hold"/>
                                  <p:tgtEl>
                                    <p:spTgt spid="51"/>
                                  </p:tgtEl>
                                  <p:attrNameLst>
                                    <p:attrName>style.visibility</p:attrName>
                                  </p:attrNameLst>
                                </p:cBhvr>
                                <p:to>
                                  <p:strVal val="visible"/>
                                </p:to>
                              </p:set>
                              <p:animEffect transition="in" filter="fade">
                                <p:cBhvr>
                                  <p:cTn id="108" dur="520"/>
                                  <p:tgtEl>
                                    <p:spTgt spid="51"/>
                                  </p:tgtEl>
                                </p:cBhvr>
                              </p:animEffect>
                            </p:childTnLst>
                          </p:cTn>
                        </p:par>
                        <p:par>
                          <p:cTn id="109" presetID="10" presetClass="entr" presetSubtype="0" fill="hold" nodeType="withEffect">
                            <p:stCondLst>
                              <p:cond delay="4200"/>
                            </p:stCondLst>
                            <p:childTnLst>
                              <p:set>
                                <p:cBhvr>
                                  <p:cTn id="110" dur="1" fill="hold"/>
                                  <p:tgtEl>
                                    <p:spTgt spid="52"/>
                                  </p:tgtEl>
                                  <p:attrNameLst>
                                    <p:attrName>style.visibility</p:attrName>
                                  </p:attrNameLst>
                                </p:cBhvr>
                                <p:to>
                                  <p:strVal val="visible"/>
                                </p:to>
                              </p:set>
                              <p:animEffect transition="in" filter="fade">
                                <p:cBhvr>
                                  <p:cTn id="111" dur="520"/>
                                  <p:tgtEl>
                                    <p:spTgt spid="52"/>
                                  </p:tgtEl>
                                </p:cBhvr>
                              </p:animEffect>
                            </p:childTnLst>
                          </p:cTn>
                        </p:par>
                        <p:par>
                          <p:cTn id="112" presetID="10" presetClass="entr" presetSubtype="0" fill="hold" nodeType="withEffect">
                            <p:stCondLst>
                              <p:cond delay="4200"/>
                            </p:stCondLst>
                            <p:childTnLst>
                              <p:set>
                                <p:cBhvr>
                                  <p:cTn id="113" dur="1" fill="hold"/>
                                  <p:tgtEl>
                                    <p:spTgt spid="53"/>
                                  </p:tgtEl>
                                  <p:attrNameLst>
                                    <p:attrName>style.visibility</p:attrName>
                                  </p:attrNameLst>
                                </p:cBhvr>
                                <p:to>
                                  <p:strVal val="visible"/>
                                </p:to>
                              </p:set>
                              <p:animEffect transition="in" filter="fade">
                                <p:cBhvr>
                                  <p:cTn id="114" dur="520"/>
                                  <p:tgtEl>
                                    <p:spTgt spid="5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7F4"/>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457200" y="258762"/>
            <a:ext cx="409575" cy="273050"/>
          </a:xfrm>
          <a:prstGeom prst="rect">
            <a:avLst/>
          </a:prstGeom>
          <a:effectLst/>
        </p:spPr>
      </p:pic>
      <p:sp>
        <p:nvSpPr>
          <p:cNvPr id="3" name="TextBox 2"/>
          <p:cNvSpPr txBox="1"/>
          <p:nvPr/>
        </p:nvSpPr>
        <p:spPr>
          <a:xfrm>
            <a:off x="981075" y="276225"/>
            <a:ext cx="1714500" cy="285750"/>
          </a:xfrm>
          <a:prstGeom prst="rect">
            <a:avLst/>
          </a:prstGeom>
          <a:noFill/>
          <a:effectLst/>
        </p:spPr>
        <p:txBody>
          <a:bodyPr wrap="square" lIns="0" rIns="0" tIns="0" bIns="0" anchor="t">
            <a:spAutoFit/>
          </a:bodyPr>
          <a:lstStyle/>
          <a:p>
            <a:pPr algn="l" rtl="0">
              <a:lnSpc>
                <a:spcPts val="1512"/>
              </a:lnSpc>
              <a:spcBef>
                <a:spcPts val="0"/>
              </a:spcBef>
              <a:spcAft>
                <a:spcPts val="0"/>
              </a:spcAft>
            </a:pPr>
            <a:r>
              <a:rPr sz="1350" b="1" lang="en-US">
                <a:solidFill>
                  <a:srgbClr val="262626"/>
                </a:solidFill>
                <a:latin typeface="Manrope"/>
              </a:rPr>
              <a:t>GRINDCTRL</a:t>
            </a:r>
          </a:p>
        </p:txBody>
      </p:sp>
      <p:sp>
        <p:nvSpPr>
          <p:cNvPr id="4" name="TextBox 3"/>
          <p:cNvSpPr txBox="1"/>
          <p:nvPr/>
        </p:nvSpPr>
        <p:spPr>
          <a:xfrm>
            <a:off x="6953250" y="285750"/>
            <a:ext cx="4781550" cy="266700"/>
          </a:xfrm>
          <a:prstGeom prst="rect">
            <a:avLst/>
          </a:prstGeom>
          <a:noFill/>
          <a:effectLst/>
        </p:spPr>
        <p:txBody>
          <a:bodyPr wrap="square" lIns="0" rIns="0" tIns="0" bIns="0" anchor="t">
            <a:spAutoFit/>
          </a:bodyPr>
          <a:lstStyle/>
          <a:p>
            <a:pPr algn="r" rtl="0">
              <a:lnSpc>
                <a:spcPts val="1344"/>
              </a:lnSpc>
              <a:spcBef>
                <a:spcPts val="0"/>
              </a:spcBef>
              <a:spcAft>
                <a:spcPts val="0"/>
              </a:spcAft>
            </a:pPr>
            <a:r>
              <a:rPr sz="1200" b="0" lang="en-US">
                <a:solidFill>
                  <a:srgbClr val="68645E"/>
                </a:solidFill>
                <a:latin typeface="Manrope"/>
              </a:rPr>
              <a:t>Proposed workflow</a:t>
            </a:r>
          </a:p>
        </p:txBody>
      </p:sp>
      <p:sp>
        <p:nvSpPr>
          <p:cNvPr id="5" name="TextBox 4"/>
          <p:cNvSpPr txBox="1"/>
          <p:nvPr/>
        </p:nvSpPr>
        <p:spPr>
          <a:xfrm>
            <a:off x="457200" y="885825"/>
            <a:ext cx="11277600" cy="581025"/>
          </a:xfrm>
          <a:prstGeom prst="rect">
            <a:avLst/>
          </a:prstGeom>
          <a:noFill/>
          <a:effectLst/>
        </p:spPr>
        <p:txBody>
          <a:bodyPr wrap="square" lIns="0" rIns="0" tIns="0" bIns="0" anchor="t">
            <a:spAutoFit/>
          </a:bodyPr>
          <a:lstStyle/>
          <a:p>
            <a:pPr algn="l" rtl="0">
              <a:lnSpc>
                <a:spcPts val="3528"/>
              </a:lnSpc>
              <a:spcBef>
                <a:spcPts val="0"/>
              </a:spcBef>
              <a:spcAft>
                <a:spcPts val="0"/>
              </a:spcAft>
            </a:pPr>
            <a:r>
              <a:rPr sz="3150" b="1" lang="en-US">
                <a:solidFill>
                  <a:srgbClr val="262626"/>
                </a:solidFill>
                <a:latin typeface="Manrope"/>
              </a:rPr>
              <a:t>Same call. Customer context, already in view.</a:t>
            </a:r>
          </a:p>
        </p:txBody>
      </p:sp>
      <p:cxnSp>
        <p:nvCxnSpPr>
          <p:cNvPr id="6" name="Connector 5"/>
          <p:cNvCxnSpPr/>
          <p:nvPr/>
        </p:nvCxnSpPr>
        <p:spPr>
          <a:xfrm>
            <a:off x="457200" y="6334125"/>
            <a:ext cx="112776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457200" y="6467475"/>
            <a:ext cx="10287000" cy="247650"/>
          </a:xfrm>
          <a:prstGeom prst="rect">
            <a:avLst/>
          </a:prstGeom>
          <a:noFill/>
          <a:effectLst/>
        </p:spPr>
        <p:txBody>
          <a:bodyPr wrap="square" lIns="0" rIns="0" tIns="0" bIns="0" anchor="t">
            <a:spAutoFit/>
          </a:bodyPr>
          <a:lstStyle/>
          <a:p>
            <a:pPr algn="l" rtl="0">
              <a:lnSpc>
                <a:spcPts val="1344"/>
              </a:lnSpc>
              <a:spcBef>
                <a:spcPts val="0"/>
              </a:spcBef>
              <a:spcAft>
                <a:spcPts val="0"/>
              </a:spcAft>
            </a:pPr>
            <a:r>
              <a:rPr sz="1200" b="0" lang="en-US">
                <a:solidFill>
                  <a:srgbClr val="68645E"/>
                </a:solidFill>
                <a:latin typeface="Manrope"/>
              </a:rPr>
              <a:t>Concrete · Proposed collaboration · Fictional records</a:t>
            </a:r>
          </a:p>
        </p:txBody>
      </p:sp>
      <p:sp>
        <p:nvSpPr>
          <p:cNvPr id="8" name="TextBox 7"/>
          <p:cNvSpPr txBox="1"/>
          <p:nvPr/>
        </p:nvSpPr>
        <p:spPr>
          <a:xfrm>
            <a:off x="11049000" y="6467475"/>
            <a:ext cx="685800" cy="247650"/>
          </a:xfrm>
          <a:prstGeom prst="rect">
            <a:avLst/>
          </a:prstGeom>
          <a:noFill/>
          <a:effectLst/>
        </p:spPr>
        <p:txBody>
          <a:bodyPr wrap="square" lIns="0" rIns="0" tIns="0" bIns="0" anchor="t">
            <a:spAutoFit/>
          </a:bodyPr>
          <a:lstStyle/>
          <a:p>
            <a:pPr algn="r" rtl="0">
              <a:lnSpc>
                <a:spcPts val="1344"/>
              </a:lnSpc>
              <a:spcBef>
                <a:spcPts val="0"/>
              </a:spcBef>
              <a:spcAft>
                <a:spcPts val="0"/>
              </a:spcAft>
            </a:pPr>
            <a:r>
              <a:rPr sz="1200" b="0" lang="en-US">
                <a:solidFill>
                  <a:srgbClr val="68645E"/>
                </a:solidFill>
                <a:latin typeface="Manrope"/>
              </a:rPr>
              <a:t>03 / 07</a:t>
            </a:r>
          </a:p>
        </p:txBody>
      </p:sp>
      <p:sp>
        <p:nvSpPr>
          <p:cNvPr id="9" name="Rounded Rectangle 8"/>
          <p:cNvSpPr/>
          <p:nvPr/>
        </p:nvSpPr>
        <p:spPr>
          <a:xfrm>
            <a:off x="457200" y="1724025"/>
            <a:ext cx="11277600" cy="4419600"/>
          </a:xfrm>
          <a:prstGeom prst="roundRect">
            <a:avLst>
              <a:gd name="adj" fmla="val 2586"/>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457200" y="1676400"/>
            <a:ext cx="11277600" cy="4419600"/>
          </a:xfrm>
          <a:prstGeom prst="roundRect">
            <a:avLst>
              <a:gd name="adj" fmla="val 2586"/>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85800" y="1819275"/>
            <a:ext cx="5715000" cy="323850"/>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1" lang="en-US">
                <a:solidFill>
                  <a:srgbClr val="262626"/>
                </a:solidFill>
                <a:latin typeface="Manrope"/>
              </a:rPr>
              <a:t>Employee workspace</a:t>
            </a:r>
          </a:p>
        </p:txBody>
      </p:sp>
      <p:sp>
        <p:nvSpPr>
          <p:cNvPr id="12" name="TextBox 11"/>
          <p:cNvSpPr txBox="1"/>
          <p:nvPr/>
        </p:nvSpPr>
        <p:spPr>
          <a:xfrm>
            <a:off x="8153400" y="1838325"/>
            <a:ext cx="3352800" cy="295275"/>
          </a:xfrm>
          <a:prstGeom prst="rect">
            <a:avLst/>
          </a:prstGeom>
          <a:noFill/>
          <a:effectLst/>
        </p:spPr>
        <p:txBody>
          <a:bodyPr wrap="square" lIns="0" rIns="0" tIns="0" bIns="0" anchor="t">
            <a:spAutoFit/>
          </a:bodyPr>
          <a:lstStyle/>
          <a:p>
            <a:pPr algn="r" rtl="0">
              <a:lnSpc>
                <a:spcPts val="1512"/>
              </a:lnSpc>
              <a:spcBef>
                <a:spcPts val="0"/>
              </a:spcBef>
              <a:spcAft>
                <a:spcPts val="0"/>
              </a:spcAft>
            </a:pPr>
            <a:r>
              <a:rPr sz="1350" b="0" lang="en-US">
                <a:solidFill>
                  <a:srgbClr val="68645E"/>
                </a:solidFill>
                <a:latin typeface="Manrope"/>
              </a:rPr>
              <a:t>Illustrative concept</a:t>
            </a:r>
          </a:p>
        </p:txBody>
      </p:sp>
      <p:cxnSp>
        <p:nvCxnSpPr>
          <p:cNvPr id="13" name="Connector 12"/>
          <p:cNvCxnSpPr/>
          <p:nvPr/>
        </p:nvCxnSpPr>
        <p:spPr>
          <a:xfrm>
            <a:off x="457200" y="2209800"/>
            <a:ext cx="112776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cxnSp>
        <p:nvCxnSpPr>
          <p:cNvPr id="14" name="Connector 13"/>
          <p:cNvCxnSpPr/>
          <p:nvPr/>
        </p:nvCxnSpPr>
        <p:spPr>
          <a:xfrm>
            <a:off x="3524250" y="2209800"/>
            <a:ext cx="0" cy="388620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pic>
        <p:nvPicPr>
          <p:cNvPr id="15" name="Picture 14" descr="genesys.png"/>
          <p:cNvPicPr>
            <a:picLocks noChangeAspect="1"/>
          </p:cNvPicPr>
          <p:nvPr/>
        </p:nvPicPr>
        <p:blipFill>
          <a:blip r:embed="rId3"/>
          <a:stretch>
            <a:fillRect/>
          </a:stretch>
        </p:blipFill>
        <p:spPr>
          <a:xfrm>
            <a:off x="685800" y="2394239"/>
            <a:ext cx="1333500" cy="259773"/>
          </a:xfrm>
          <a:prstGeom prst="rect">
            <a:avLst/>
          </a:prstGeom>
          <a:effectLst/>
        </p:spPr>
      </p:pic>
      <p:sp>
        <p:nvSpPr>
          <p:cNvPr id="16" name="Oval 15"/>
          <p:cNvSpPr/>
          <p:nvPr/>
        </p:nvSpPr>
        <p:spPr>
          <a:xfrm>
            <a:off x="723900" y="2952750"/>
            <a:ext cx="76200" cy="76200"/>
          </a:xfrm>
          <a:prstGeom prst="ellipse">
            <a:avLst/>
          </a:prstGeom>
          <a:solidFill>
            <a:srgbClr val="49654E"/>
          </a:solidFill>
          <a:ln w="9525">
            <a:solidFill>
              <a:srgbClr val="49654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971550" y="2876550"/>
            <a:ext cx="2400300" cy="304800"/>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0" lang="en-US">
                <a:solidFill>
                  <a:srgbClr val="49654E"/>
                </a:solidFill>
                <a:latin typeface="Manrope"/>
              </a:rPr>
              <a:t>Call in progress</a:t>
            </a:r>
          </a:p>
        </p:txBody>
      </p:sp>
      <p:sp>
        <p:nvSpPr>
          <p:cNvPr id="18" name="Oval 17"/>
          <p:cNvSpPr/>
          <p:nvPr/>
        </p:nvSpPr>
        <p:spPr>
          <a:xfrm>
            <a:off x="685800" y="3314700"/>
            <a:ext cx="762000" cy="762000"/>
          </a:xfrm>
          <a:prstGeom prst="ellipse">
            <a:avLst/>
          </a:prstGeom>
          <a:solidFill>
            <a:srgbClr val="EFF4EE"/>
          </a:solidFill>
          <a:ln w="9525">
            <a:solidFill>
              <a:srgbClr val="EFF4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9" name="Picture 18" descr="icon-call.png"/>
          <p:cNvPicPr>
            <a:picLocks noChangeAspect="1"/>
          </p:cNvPicPr>
          <p:nvPr/>
        </p:nvPicPr>
        <p:blipFill>
          <a:blip r:embed="rId4"/>
          <a:stretch>
            <a:fillRect/>
          </a:stretch>
        </p:blipFill>
        <p:spPr>
          <a:xfrm>
            <a:off x="876300" y="3505200"/>
            <a:ext cx="381000" cy="381000"/>
          </a:xfrm>
          <a:prstGeom prst="rect">
            <a:avLst/>
          </a:prstGeom>
          <a:effectLst/>
        </p:spPr>
      </p:pic>
      <p:cxnSp>
        <p:nvCxnSpPr>
          <p:cNvPr id="20" name="Connector 19"/>
          <p:cNvCxnSpPr/>
          <p:nvPr/>
        </p:nvCxnSpPr>
        <p:spPr>
          <a:xfrm>
            <a:off x="1704975" y="3648075"/>
            <a:ext cx="0" cy="95250"/>
          </a:xfrm>
          <a:prstGeom prst="line">
            <a:avLst/>
          </a:prstGeom>
          <a:ln w="38100">
            <a:solidFill>
              <a:srgbClr val="49654E"/>
            </a:solidFill>
          </a:ln>
          <a:effectLst/>
        </p:spPr>
        <p:style>
          <a:lnRef idx="2">
            <a:schemeClr val="accent1"/>
          </a:lnRef>
          <a:fillRef idx="0">
            <a:schemeClr val="accent1"/>
          </a:fillRef>
          <a:effectRef idx="0">
            <a:schemeClr val="accent1"/>
          </a:effectRef>
          <a:fontRef idx="minor">
            <a:schemeClr val="tx1"/>
          </a:fontRef>
        </p:style>
      </p:cxnSp>
      <p:cxnSp>
        <p:nvCxnSpPr>
          <p:cNvPr id="21" name="Connector 20"/>
          <p:cNvCxnSpPr/>
          <p:nvPr/>
        </p:nvCxnSpPr>
        <p:spPr>
          <a:xfrm>
            <a:off x="1819275" y="3586162"/>
            <a:ext cx="0" cy="219076"/>
          </a:xfrm>
          <a:prstGeom prst="line">
            <a:avLst/>
          </a:prstGeom>
          <a:ln w="38100">
            <a:solidFill>
              <a:srgbClr val="49654E"/>
            </a:solidFill>
          </a:ln>
          <a:effectLst/>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a:off x="1933575" y="3524250"/>
            <a:ext cx="0" cy="342900"/>
          </a:xfrm>
          <a:prstGeom prst="line">
            <a:avLst/>
          </a:prstGeom>
          <a:ln w="38100">
            <a:solidFill>
              <a:srgbClr val="49654E"/>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a:off x="2047875" y="3600450"/>
            <a:ext cx="0" cy="190500"/>
          </a:xfrm>
          <a:prstGeom prst="line">
            <a:avLst/>
          </a:prstGeom>
          <a:ln w="38100">
            <a:solidFill>
              <a:srgbClr val="49654E"/>
            </a:solidFill>
          </a:ln>
          <a:effectLst/>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a:off x="2162175" y="3552825"/>
            <a:ext cx="0" cy="285750"/>
          </a:xfrm>
          <a:prstGeom prst="line">
            <a:avLst/>
          </a:prstGeom>
          <a:ln w="38100">
            <a:solidFill>
              <a:srgbClr val="49654E"/>
            </a:solidFill>
          </a:ln>
          <a:effectLst/>
        </p:spPr>
        <p:style>
          <a:lnRef idx="2">
            <a:schemeClr val="accent1"/>
          </a:lnRef>
          <a:fillRef idx="0">
            <a:schemeClr val="accent1"/>
          </a:fillRef>
          <a:effectRef idx="0">
            <a:schemeClr val="accent1"/>
          </a:effectRef>
          <a:fontRef idx="minor">
            <a:schemeClr val="tx1"/>
          </a:fontRef>
        </p:style>
      </p:cxnSp>
      <p:cxnSp>
        <p:nvCxnSpPr>
          <p:cNvPr id="25" name="Connector 24"/>
          <p:cNvCxnSpPr/>
          <p:nvPr/>
        </p:nvCxnSpPr>
        <p:spPr>
          <a:xfrm>
            <a:off x="2276475" y="3629025"/>
            <a:ext cx="0" cy="133350"/>
          </a:xfrm>
          <a:prstGeom prst="line">
            <a:avLst/>
          </a:prstGeom>
          <a:ln w="38100">
            <a:solidFill>
              <a:srgbClr val="49654E"/>
            </a:solidFill>
          </a:ln>
          <a:effectLst/>
        </p:spPr>
        <p:style>
          <a:lnRef idx="2">
            <a:schemeClr val="accent1"/>
          </a:lnRef>
          <a:fillRef idx="0">
            <a:schemeClr val="accent1"/>
          </a:fillRef>
          <a:effectRef idx="0">
            <a:schemeClr val="accent1"/>
          </a:effectRef>
          <a:fontRef idx="minor">
            <a:schemeClr val="tx1"/>
          </a:fontRef>
        </p:style>
      </p:cxnSp>
      <p:cxnSp>
        <p:nvCxnSpPr>
          <p:cNvPr id="26" name="Connector 25"/>
          <p:cNvCxnSpPr/>
          <p:nvPr/>
        </p:nvCxnSpPr>
        <p:spPr>
          <a:xfrm>
            <a:off x="2390775" y="3581400"/>
            <a:ext cx="0" cy="228600"/>
          </a:xfrm>
          <a:prstGeom prst="line">
            <a:avLst/>
          </a:prstGeom>
          <a:ln w="38100">
            <a:solidFill>
              <a:srgbClr val="49654E"/>
            </a:solidFill>
          </a:ln>
          <a:effectLst/>
        </p:spPr>
        <p:style>
          <a:lnRef idx="2">
            <a:schemeClr val="accent1"/>
          </a:lnRef>
          <a:fillRef idx="0">
            <a:schemeClr val="accent1"/>
          </a:fillRef>
          <a:effectRef idx="0">
            <a:schemeClr val="accent1"/>
          </a:effectRef>
          <a:fontRef idx="minor">
            <a:schemeClr val="tx1"/>
          </a:fontRef>
        </p:style>
      </p:cxnSp>
      <p:sp>
        <p:nvSpPr>
          <p:cNvPr id="27" name="TextBox 26"/>
          <p:cNvSpPr txBox="1"/>
          <p:nvPr/>
        </p:nvSpPr>
        <p:spPr>
          <a:xfrm>
            <a:off x="685800" y="4295775"/>
            <a:ext cx="2686050" cy="409575"/>
          </a:xfrm>
          <a:prstGeom prst="rect">
            <a:avLst/>
          </a:prstGeom>
          <a:noFill/>
          <a:effectLst/>
        </p:spPr>
        <p:txBody>
          <a:bodyPr wrap="square" lIns="0" rIns="0" tIns="0" bIns="0" anchor="t">
            <a:spAutoFit/>
          </a:bodyPr>
          <a:lstStyle/>
          <a:p>
            <a:pPr algn="l" rtl="0">
              <a:lnSpc>
                <a:spcPts val="2352"/>
              </a:lnSpc>
              <a:spcBef>
                <a:spcPts val="0"/>
              </a:spcBef>
              <a:spcAft>
                <a:spcPts val="0"/>
              </a:spcAft>
            </a:pPr>
            <a:r>
              <a:rPr sz="2100" b="1" lang="en-US">
                <a:solidFill>
                  <a:srgbClr val="262626"/>
                </a:solidFill>
                <a:latin typeface="Manrope"/>
              </a:rPr>
              <a:t>+20 ••• 410</a:t>
            </a:r>
          </a:p>
        </p:txBody>
      </p:sp>
      <p:sp>
        <p:nvSpPr>
          <p:cNvPr id="28" name="TextBox 27"/>
          <p:cNvSpPr txBox="1"/>
          <p:nvPr/>
        </p:nvSpPr>
        <p:spPr>
          <a:xfrm>
            <a:off x="685800" y="4762500"/>
            <a:ext cx="2686050" cy="304800"/>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0" lang="en-US">
                <a:solidFill>
                  <a:srgbClr val="68645E"/>
                </a:solidFill>
                <a:latin typeface="Manrope"/>
              </a:rPr>
              <a:t>Caller number</a:t>
            </a:r>
          </a:p>
        </p:txBody>
      </p:sp>
      <p:sp>
        <p:nvSpPr>
          <p:cNvPr id="29" name="Oval 28"/>
          <p:cNvSpPr/>
          <p:nvPr/>
        </p:nvSpPr>
        <p:spPr>
          <a:xfrm>
            <a:off x="685800" y="5162550"/>
            <a:ext cx="419100" cy="41910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0" name="Picture 29" descr="icon-mic.png"/>
          <p:cNvPicPr>
            <a:picLocks noChangeAspect="1"/>
          </p:cNvPicPr>
          <p:nvPr/>
        </p:nvPicPr>
        <p:blipFill>
          <a:blip r:embed="rId5"/>
          <a:stretch>
            <a:fillRect/>
          </a:stretch>
        </p:blipFill>
        <p:spPr>
          <a:xfrm>
            <a:off x="790575" y="5267325"/>
            <a:ext cx="209550" cy="209550"/>
          </a:xfrm>
          <a:prstGeom prst="rect">
            <a:avLst/>
          </a:prstGeom>
          <a:effectLst/>
        </p:spPr>
      </p:pic>
      <p:sp>
        <p:nvSpPr>
          <p:cNvPr id="31" name="Oval 30"/>
          <p:cNvSpPr/>
          <p:nvPr/>
        </p:nvSpPr>
        <p:spPr>
          <a:xfrm>
            <a:off x="1304925" y="5162550"/>
            <a:ext cx="419100" cy="41910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2" name="Picture 31" descr="icon-pause.png"/>
          <p:cNvPicPr>
            <a:picLocks noChangeAspect="1"/>
          </p:cNvPicPr>
          <p:nvPr/>
        </p:nvPicPr>
        <p:blipFill>
          <a:blip r:embed="rId6"/>
          <a:stretch>
            <a:fillRect/>
          </a:stretch>
        </p:blipFill>
        <p:spPr>
          <a:xfrm>
            <a:off x="1409700" y="5267325"/>
            <a:ext cx="209550" cy="209550"/>
          </a:xfrm>
          <a:prstGeom prst="rect">
            <a:avLst/>
          </a:prstGeom>
          <a:effectLst/>
        </p:spPr>
      </p:pic>
      <p:sp>
        <p:nvSpPr>
          <p:cNvPr id="33" name="Oval 32"/>
          <p:cNvSpPr/>
          <p:nvPr/>
        </p:nvSpPr>
        <p:spPr>
          <a:xfrm>
            <a:off x="1924050" y="5162550"/>
            <a:ext cx="419100" cy="41910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4" name="Picture 33" descr="icon-end.png"/>
          <p:cNvPicPr>
            <a:picLocks noChangeAspect="1"/>
          </p:cNvPicPr>
          <p:nvPr/>
        </p:nvPicPr>
        <p:blipFill>
          <a:blip r:embed="rId7"/>
          <a:stretch>
            <a:fillRect/>
          </a:stretch>
        </p:blipFill>
        <p:spPr>
          <a:xfrm>
            <a:off x="2028825" y="5267325"/>
            <a:ext cx="209550" cy="209550"/>
          </a:xfrm>
          <a:prstGeom prst="rect">
            <a:avLst/>
          </a:prstGeom>
          <a:effectLst/>
        </p:spPr>
      </p:pic>
      <p:sp>
        <p:nvSpPr>
          <p:cNvPr id="35" name="Oval 34"/>
          <p:cNvSpPr/>
          <p:nvPr/>
        </p:nvSpPr>
        <p:spPr>
          <a:xfrm>
            <a:off x="3752850" y="2419350"/>
            <a:ext cx="457200" cy="457200"/>
          </a:xfrm>
          <a:prstGeom prst="ellipse">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6" name="Picture 35" descr="icon-actor.png"/>
          <p:cNvPicPr>
            <a:picLocks noChangeAspect="1"/>
          </p:cNvPicPr>
          <p:nvPr/>
        </p:nvPicPr>
        <p:blipFill>
          <a:blip r:embed="rId8"/>
          <a:stretch>
            <a:fillRect/>
          </a:stretch>
        </p:blipFill>
        <p:spPr>
          <a:xfrm>
            <a:off x="3853434" y="2519934"/>
            <a:ext cx="256032" cy="256032"/>
          </a:xfrm>
          <a:prstGeom prst="rect">
            <a:avLst/>
          </a:prstGeom>
          <a:effectLst/>
        </p:spPr>
      </p:pic>
      <p:sp>
        <p:nvSpPr>
          <p:cNvPr id="37" name="TextBox 36"/>
          <p:cNvSpPr txBox="1"/>
          <p:nvPr/>
        </p:nvSpPr>
        <p:spPr>
          <a:xfrm>
            <a:off x="4362450" y="2419350"/>
            <a:ext cx="2857500" cy="361950"/>
          </a:xfrm>
          <a:prstGeom prst="rect">
            <a:avLst/>
          </a:prstGeom>
          <a:noFill/>
          <a:effectLst/>
        </p:spPr>
        <p:txBody>
          <a:bodyPr wrap="square" lIns="0" rIns="0" tIns="0" bIns="0" anchor="t">
            <a:spAutoFit/>
          </a:bodyPr>
          <a:lstStyle/>
          <a:p>
            <a:pPr algn="l" rtl="0">
              <a:lnSpc>
                <a:spcPts val="2352"/>
              </a:lnSpc>
              <a:spcBef>
                <a:spcPts val="0"/>
              </a:spcBef>
              <a:spcAft>
                <a:spcPts val="0"/>
              </a:spcAft>
            </a:pPr>
            <a:r>
              <a:rPr sz="2100" b="1" lang="en-US">
                <a:solidFill>
                  <a:srgbClr val="262626"/>
                </a:solidFill>
                <a:latin typeface="Manrope"/>
              </a:rPr>
              <a:t>Contact A</a:t>
            </a:r>
          </a:p>
        </p:txBody>
      </p:sp>
      <p:sp>
        <p:nvSpPr>
          <p:cNvPr id="38" name="TextBox 37"/>
          <p:cNvSpPr txBox="1"/>
          <p:nvPr/>
        </p:nvSpPr>
        <p:spPr>
          <a:xfrm>
            <a:off x="4362450" y="2838450"/>
            <a:ext cx="2133600" cy="304800"/>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0" lang="en-US">
                <a:solidFill>
                  <a:srgbClr val="68645E"/>
                </a:solidFill>
                <a:latin typeface="Manrope"/>
              </a:rPr>
              <a:t>Associated record</a:t>
            </a:r>
          </a:p>
        </p:txBody>
      </p:sp>
      <p:sp>
        <p:nvSpPr>
          <p:cNvPr id="39" name="TextBox 38"/>
          <p:cNvSpPr txBox="1"/>
          <p:nvPr/>
        </p:nvSpPr>
        <p:spPr>
          <a:xfrm>
            <a:off x="6553200" y="2838450"/>
            <a:ext cx="2352675" cy="304800"/>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0" lang="en-US">
                <a:solidFill>
                  <a:srgbClr val="68645E"/>
                </a:solidFill>
                <a:latin typeface="Manrope"/>
              </a:rPr>
              <a:t>+20 ••• 410</a:t>
            </a:r>
          </a:p>
        </p:txBody>
      </p:sp>
      <p:pic>
        <p:nvPicPr>
          <p:cNvPr id="40" name="Picture 39" descr="zoho.png"/>
          <p:cNvPicPr>
            <a:picLocks noChangeAspect="1"/>
          </p:cNvPicPr>
          <p:nvPr/>
        </p:nvPicPr>
        <p:blipFill>
          <a:blip r:embed="rId9"/>
          <a:stretch>
            <a:fillRect/>
          </a:stretch>
        </p:blipFill>
        <p:spPr>
          <a:xfrm>
            <a:off x="10048096" y="2514600"/>
            <a:ext cx="620684" cy="266700"/>
          </a:xfrm>
          <a:prstGeom prst="rect">
            <a:avLst/>
          </a:prstGeom>
          <a:effectLst/>
        </p:spPr>
      </p:pic>
      <p:sp>
        <p:nvSpPr>
          <p:cNvPr id="41" name="TextBox 40"/>
          <p:cNvSpPr txBox="1"/>
          <p:nvPr/>
        </p:nvSpPr>
        <p:spPr>
          <a:xfrm>
            <a:off x="10877550" y="2524125"/>
            <a:ext cx="647700" cy="285750"/>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0" lang="en-US">
                <a:solidFill>
                  <a:srgbClr val="262626"/>
                </a:solidFill>
                <a:latin typeface="Manrope"/>
              </a:rPr>
              <a:t>Desk</a:t>
            </a:r>
          </a:p>
        </p:txBody>
      </p:sp>
      <p:cxnSp>
        <p:nvCxnSpPr>
          <p:cNvPr id="42" name="Connector 41"/>
          <p:cNvCxnSpPr/>
          <p:nvPr/>
        </p:nvCxnSpPr>
        <p:spPr>
          <a:xfrm>
            <a:off x="3752850" y="3286125"/>
            <a:ext cx="775335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3752850" y="3476625"/>
            <a:ext cx="2571750" cy="323850"/>
          </a:xfrm>
          <a:prstGeom prst="rect">
            <a:avLst/>
          </a:prstGeom>
          <a:noFill/>
          <a:effectLst/>
        </p:spPr>
        <p:txBody>
          <a:bodyPr wrap="square" lIns="0" rIns="0" tIns="0" bIns="0" anchor="t">
            <a:spAutoFit/>
          </a:bodyPr>
          <a:lstStyle/>
          <a:p>
            <a:pPr algn="l" rtl="0">
              <a:lnSpc>
                <a:spcPts val="1848"/>
              </a:lnSpc>
              <a:spcBef>
                <a:spcPts val="0"/>
              </a:spcBef>
              <a:spcAft>
                <a:spcPts val="0"/>
              </a:spcAft>
            </a:pPr>
            <a:r>
              <a:rPr sz="1650" b="1" lang="en-US">
                <a:solidFill>
                  <a:srgbClr val="262626"/>
                </a:solidFill>
                <a:latin typeface="Manrope"/>
              </a:rPr>
              <a:t>Previous tickets</a:t>
            </a:r>
          </a:p>
        </p:txBody>
      </p:sp>
      <p:sp>
        <p:nvSpPr>
          <p:cNvPr id="44" name="Rounded Rectangle 43"/>
          <p:cNvSpPr/>
          <p:nvPr/>
        </p:nvSpPr>
        <p:spPr>
          <a:xfrm>
            <a:off x="3676650" y="3895725"/>
            <a:ext cx="2667000" cy="1066800"/>
          </a:xfrm>
          <a:prstGeom prst="roundRect">
            <a:avLst>
              <a:gd name="adj" fmla="val 7142"/>
            </a:avLst>
          </a:prstGeom>
          <a:solidFill>
            <a:srgbClr val="F4F2EE"/>
          </a:solidFill>
          <a:ln w="9525">
            <a:solidFill>
              <a:srgbClr val="FFBA6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5" name="Picture 44" descr="icon-case.png"/>
          <p:cNvPicPr>
            <a:picLocks noChangeAspect="1"/>
          </p:cNvPicPr>
          <p:nvPr/>
        </p:nvPicPr>
        <p:blipFill>
          <a:blip r:embed="rId10"/>
          <a:stretch>
            <a:fillRect/>
          </a:stretch>
        </p:blipFill>
        <p:spPr>
          <a:xfrm>
            <a:off x="3810000" y="4067175"/>
            <a:ext cx="228600" cy="228600"/>
          </a:xfrm>
          <a:prstGeom prst="rect">
            <a:avLst/>
          </a:prstGeom>
          <a:effectLst/>
        </p:spPr>
      </p:pic>
      <p:sp>
        <p:nvSpPr>
          <p:cNvPr id="46" name="TextBox 45"/>
          <p:cNvSpPr txBox="1"/>
          <p:nvPr/>
        </p:nvSpPr>
        <p:spPr>
          <a:xfrm>
            <a:off x="4162425" y="4010025"/>
            <a:ext cx="2028825" cy="323850"/>
          </a:xfrm>
          <a:prstGeom prst="rect">
            <a:avLst/>
          </a:prstGeom>
          <a:noFill/>
          <a:effectLst/>
        </p:spPr>
        <p:txBody>
          <a:bodyPr wrap="square" lIns="0" rIns="0" tIns="0" bIns="0" anchor="t">
            <a:spAutoFit/>
          </a:bodyPr>
          <a:lstStyle/>
          <a:p>
            <a:pPr algn="l" rtl="0">
              <a:lnSpc>
                <a:spcPts val="1848"/>
              </a:lnSpc>
              <a:spcBef>
                <a:spcPts val="0"/>
              </a:spcBef>
              <a:spcAft>
                <a:spcPts val="0"/>
              </a:spcAft>
            </a:pPr>
            <a:r>
              <a:rPr sz="1650" b="1" lang="en-US">
                <a:solidFill>
                  <a:srgbClr val="262626"/>
                </a:solidFill>
                <a:latin typeface="Manrope"/>
              </a:rPr>
              <a:t>T101 · Exchange</a:t>
            </a:r>
          </a:p>
        </p:txBody>
      </p:sp>
      <p:sp>
        <p:nvSpPr>
          <p:cNvPr id="47" name="TextBox 46"/>
          <p:cNvSpPr txBox="1"/>
          <p:nvPr/>
        </p:nvSpPr>
        <p:spPr>
          <a:xfrm>
            <a:off x="3810000" y="4448175"/>
            <a:ext cx="2362200" cy="371475"/>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0" lang="en-US">
                <a:solidFill>
                  <a:srgbClr val="965318"/>
                </a:solidFill>
                <a:latin typeface="Manrope"/>
              </a:rPr>
              <a:t>Branch review pending</a:t>
            </a:r>
          </a:p>
        </p:txBody>
      </p:sp>
      <p:pic>
        <p:nvPicPr>
          <p:cNvPr id="48" name="Picture 47" descr="icon-case.png"/>
          <p:cNvPicPr>
            <a:picLocks noChangeAspect="1"/>
          </p:cNvPicPr>
          <p:nvPr/>
        </p:nvPicPr>
        <p:blipFill>
          <a:blip r:embed="rId10"/>
          <a:stretch>
            <a:fillRect/>
          </a:stretch>
        </p:blipFill>
        <p:spPr>
          <a:xfrm>
            <a:off x="3810000" y="5238750"/>
            <a:ext cx="228600" cy="228600"/>
          </a:xfrm>
          <a:prstGeom prst="rect">
            <a:avLst/>
          </a:prstGeom>
          <a:effectLst/>
        </p:spPr>
      </p:pic>
      <p:sp>
        <p:nvSpPr>
          <p:cNvPr id="49" name="TextBox 48"/>
          <p:cNvSpPr txBox="1"/>
          <p:nvPr/>
        </p:nvSpPr>
        <p:spPr>
          <a:xfrm>
            <a:off x="4162425" y="5172075"/>
            <a:ext cx="2028825" cy="304800"/>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0" lang="en-US">
                <a:solidFill>
                  <a:srgbClr val="262626"/>
                </a:solidFill>
                <a:latin typeface="Manrope"/>
              </a:rPr>
              <a:t>T098 · Size query</a:t>
            </a:r>
          </a:p>
        </p:txBody>
      </p:sp>
      <p:sp>
        <p:nvSpPr>
          <p:cNvPr id="50" name="TextBox 49"/>
          <p:cNvSpPr txBox="1"/>
          <p:nvPr/>
        </p:nvSpPr>
        <p:spPr>
          <a:xfrm>
            <a:off x="4162425" y="5562600"/>
            <a:ext cx="2047875" cy="276225"/>
          </a:xfrm>
          <a:prstGeom prst="rect">
            <a:avLst/>
          </a:prstGeom>
          <a:noFill/>
          <a:effectLst/>
        </p:spPr>
        <p:txBody>
          <a:bodyPr wrap="square" lIns="0" rIns="0" tIns="0" bIns="0" anchor="t">
            <a:spAutoFit/>
          </a:bodyPr>
          <a:lstStyle/>
          <a:p>
            <a:pPr algn="l" rtl="0">
              <a:lnSpc>
                <a:spcPts val="1512"/>
              </a:lnSpc>
              <a:spcBef>
                <a:spcPts val="0"/>
              </a:spcBef>
              <a:spcAft>
                <a:spcPts val="0"/>
              </a:spcAft>
            </a:pPr>
            <a:r>
              <a:rPr sz="1350" b="0" lang="en-US">
                <a:solidFill>
                  <a:srgbClr val="68645E"/>
                </a:solidFill>
                <a:latin typeface="Manrope"/>
              </a:rPr>
              <a:t>Closed</a:t>
            </a:r>
          </a:p>
        </p:txBody>
      </p:sp>
      <p:cxnSp>
        <p:nvCxnSpPr>
          <p:cNvPr id="51" name="Connector 50"/>
          <p:cNvCxnSpPr/>
          <p:nvPr/>
        </p:nvCxnSpPr>
        <p:spPr>
          <a:xfrm>
            <a:off x="6534150" y="3476625"/>
            <a:ext cx="0" cy="790575"/>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cxnSp>
        <p:nvCxnSpPr>
          <p:cNvPr id="52" name="Connector 51"/>
          <p:cNvCxnSpPr/>
          <p:nvPr/>
        </p:nvCxnSpPr>
        <p:spPr>
          <a:xfrm>
            <a:off x="6534150" y="4705350"/>
            <a:ext cx="0" cy="127635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cxnSp>
        <p:nvCxnSpPr>
          <p:cNvPr id="53" name="Connector 52"/>
          <p:cNvCxnSpPr/>
          <p:nvPr/>
        </p:nvCxnSpPr>
        <p:spPr>
          <a:xfrm>
            <a:off x="6400800" y="4486275"/>
            <a:ext cx="266700" cy="0"/>
          </a:xfrm>
          <a:prstGeom prst="line">
            <a:avLst/>
          </a:prstGeom>
          <a:ln w="16192">
            <a:solidFill>
              <a:srgbClr val="965318"/>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4" name="TextBox 53"/>
          <p:cNvSpPr txBox="1"/>
          <p:nvPr/>
        </p:nvSpPr>
        <p:spPr>
          <a:xfrm>
            <a:off x="6762750" y="3476625"/>
            <a:ext cx="4733925" cy="342900"/>
          </a:xfrm>
          <a:prstGeom prst="rect">
            <a:avLst/>
          </a:prstGeom>
          <a:noFill/>
          <a:effectLst/>
        </p:spPr>
        <p:txBody>
          <a:bodyPr wrap="square" lIns="0" rIns="0" tIns="0" bIns="0" anchor="t">
            <a:spAutoFit/>
          </a:bodyPr>
          <a:lstStyle/>
          <a:p>
            <a:pPr algn="l" rtl="0">
              <a:lnSpc>
                <a:spcPts val="2016"/>
              </a:lnSpc>
              <a:spcBef>
                <a:spcPts val="0"/>
              </a:spcBef>
              <a:spcAft>
                <a:spcPts val="0"/>
              </a:spcAft>
            </a:pPr>
            <a:r>
              <a:rPr sz="1800" b="1" lang="en-US">
                <a:solidFill>
                  <a:srgbClr val="262626"/>
                </a:solidFill>
                <a:latin typeface="Manrope"/>
              </a:rPr>
              <a:t>T101 · Exchange follow-up</a:t>
            </a:r>
          </a:p>
        </p:txBody>
      </p:sp>
      <p:pic>
        <p:nvPicPr>
          <p:cNvPr id="55" name="Picture 54" descr="icon-clock.png"/>
          <p:cNvPicPr>
            <a:picLocks noChangeAspect="1"/>
          </p:cNvPicPr>
          <p:nvPr/>
        </p:nvPicPr>
        <p:blipFill>
          <a:blip r:embed="rId11"/>
          <a:stretch>
            <a:fillRect/>
          </a:stretch>
        </p:blipFill>
        <p:spPr>
          <a:xfrm>
            <a:off x="6762750" y="3952875"/>
            <a:ext cx="200025" cy="200025"/>
          </a:xfrm>
          <a:prstGeom prst="rect">
            <a:avLst/>
          </a:prstGeom>
          <a:effectLst/>
        </p:spPr>
      </p:pic>
      <p:sp>
        <p:nvSpPr>
          <p:cNvPr id="56" name="TextBox 55"/>
          <p:cNvSpPr txBox="1"/>
          <p:nvPr/>
        </p:nvSpPr>
        <p:spPr>
          <a:xfrm>
            <a:off x="7048500" y="3933825"/>
            <a:ext cx="4448175" cy="304800"/>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0" lang="en-US">
                <a:solidFill>
                  <a:srgbClr val="965318"/>
                </a:solidFill>
                <a:latin typeface="Manrope"/>
              </a:rPr>
              <a:t>Waiting on the branch</a:t>
            </a:r>
          </a:p>
        </p:txBody>
      </p:sp>
      <p:sp>
        <p:nvSpPr>
          <p:cNvPr id="57" name="Rounded Rectangle 56"/>
          <p:cNvSpPr/>
          <p:nvPr/>
        </p:nvSpPr>
        <p:spPr>
          <a:xfrm>
            <a:off x="6724650" y="4410075"/>
            <a:ext cx="4781550" cy="1352550"/>
          </a:xfrm>
          <a:prstGeom prst="roundRect">
            <a:avLst>
              <a:gd name="adj" fmla="val 5633"/>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58" name="Picture 57" descr="icon-file.png"/>
          <p:cNvPicPr>
            <a:picLocks noChangeAspect="1"/>
          </p:cNvPicPr>
          <p:nvPr/>
        </p:nvPicPr>
        <p:blipFill>
          <a:blip r:embed="rId12"/>
          <a:stretch>
            <a:fillRect/>
          </a:stretch>
        </p:blipFill>
        <p:spPr>
          <a:xfrm>
            <a:off x="6877050" y="4562475"/>
            <a:ext cx="209550" cy="209550"/>
          </a:xfrm>
          <a:prstGeom prst="rect">
            <a:avLst/>
          </a:prstGeom>
          <a:effectLst/>
        </p:spPr>
      </p:pic>
      <p:sp>
        <p:nvSpPr>
          <p:cNvPr id="59" name="TextBox 58"/>
          <p:cNvSpPr txBox="1"/>
          <p:nvPr/>
        </p:nvSpPr>
        <p:spPr>
          <a:xfrm>
            <a:off x="7200900" y="4543425"/>
            <a:ext cx="4229100" cy="285750"/>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0" lang="en-US">
                <a:solidFill>
                  <a:srgbClr val="965318"/>
                </a:solidFill>
                <a:latin typeface="Manrope"/>
              </a:rPr>
              <a:t>Latest recorded note</a:t>
            </a:r>
          </a:p>
        </p:txBody>
      </p:sp>
      <p:sp>
        <p:nvSpPr>
          <p:cNvPr id="60" name="TextBox 59"/>
          <p:cNvSpPr txBox="1"/>
          <p:nvPr/>
        </p:nvSpPr>
        <p:spPr>
          <a:xfrm>
            <a:off x="6877050" y="4962525"/>
            <a:ext cx="4457700" cy="704850"/>
          </a:xfrm>
          <a:prstGeom prst="rect">
            <a:avLst/>
          </a:prstGeom>
          <a:noFill/>
          <a:effectLst/>
        </p:spPr>
        <p:txBody>
          <a:bodyPr wrap="square" lIns="0" rIns="0" tIns="0" bIns="0" anchor="t">
            <a:spAutoFit/>
          </a:bodyPr>
          <a:lstStyle/>
          <a:p>
            <a:pPr algn="l" rtl="0">
              <a:lnSpc>
                <a:spcPts val="2352"/>
              </a:lnSpc>
              <a:spcBef>
                <a:spcPts val="0"/>
              </a:spcBef>
              <a:spcAft>
                <a:spcPts val="0"/>
              </a:spcAft>
            </a:pPr>
            <a:r>
              <a:rPr sz="2100" b="1" lang="en-US">
                <a:solidFill>
                  <a:srgbClr val="262626"/>
                </a:solidFill>
                <a:latin typeface="Manrope"/>
              </a:rPr>
              <a:t>Branch review</a:t>
            </a:r>
          </a:p>
          <a:p>
            <a:pPr algn="l" rtl="0">
              <a:lnSpc>
                <a:spcPts val="2352"/>
              </a:lnSpc>
              <a:spcBef>
                <a:spcPts val="0"/>
              </a:spcBef>
              <a:spcAft>
                <a:spcPts val="0"/>
              </a:spcAft>
            </a:pPr>
            <a:r>
              <a:rPr sz="2100" b="1" lang="en-US">
                <a:solidFill>
                  <a:srgbClr val="262626"/>
                </a:solidFill>
                <a:latin typeface="Manrope"/>
              </a:rPr>
              <a:t>is still pending.</a:t>
            </a:r>
          </a:p>
        </p:txBody>
      </p:sp>
      <p:sp>
        <p:nvSpPr>
          <p:cNvPr id="61" name="Rounded Rectangle 60"/>
          <p:cNvSpPr/>
          <p:nvPr/>
        </p:nvSpPr>
        <p:spPr>
          <a:xfrm>
            <a:off x="628650" y="4219575"/>
            <a:ext cx="2705100" cy="561975"/>
          </a:xfrm>
          <a:prstGeom prst="roundRect">
            <a:avLst>
              <a:gd name="adj" fmla="val 10000"/>
            </a:avLst>
          </a:prstGeom>
          <a:noFill/>
          <a:ln w="19050">
            <a:solidFill>
              <a:srgbClr val="FFBA6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62" name="Connector 61"/>
          <p:cNvCxnSpPr/>
          <p:nvPr/>
        </p:nvCxnSpPr>
        <p:spPr>
          <a:xfrm>
            <a:off x="3333750" y="4505325"/>
            <a:ext cx="285750" cy="0"/>
          </a:xfrm>
          <a:prstGeom prst="line">
            <a:avLst/>
          </a:prstGeom>
          <a:ln w="19050">
            <a:solidFill>
              <a:srgbClr val="965318"/>
            </a:solidFill>
            <a:tailEnd type="triangle" w="sm" len="sm"/>
          </a:ln>
          <a:effectLst/>
        </p:spPr>
        <p:style>
          <a:lnRef idx="2">
            <a:schemeClr val="accent1"/>
          </a:lnRef>
          <a:fillRef idx="0">
            <a:schemeClr val="accent1"/>
          </a:fillRef>
          <a:effectRef idx="0">
            <a:schemeClr val="accent1"/>
          </a:effectRef>
          <a:fontRef idx="minor">
            <a:schemeClr val="tx1"/>
          </a:fontRef>
        </p:style>
      </p:cxnSp>
      <p:pic>
        <p:nvPicPr>
          <p:cNvPr id="63" name="Picture 62" descr="icon-link.png"/>
          <p:cNvPicPr>
            <a:picLocks noChangeAspect="1"/>
          </p:cNvPicPr>
          <p:nvPr/>
        </p:nvPicPr>
        <p:blipFill>
          <a:blip r:embed="rId13"/>
          <a:stretch>
            <a:fillRect/>
          </a:stretch>
        </p:blipFill>
        <p:spPr>
          <a:xfrm>
            <a:off x="3371850" y="3848100"/>
            <a:ext cx="238125" cy="238125"/>
          </a:xfrm>
          <a:prstGeom prst="rect">
            <a:avLst/>
          </a:prstGeom>
          <a:effectLst/>
        </p:spPr>
      </p:pic>
      <p:sp>
        <p:nvSpPr>
          <p:cNvPr id="64" name="TextBox 63"/>
          <p:cNvSpPr txBox="1"/>
          <p:nvPr/>
        </p:nvSpPr>
        <p:spPr>
          <a:xfrm>
            <a:off x="704850" y="5791200"/>
            <a:ext cx="2571750" cy="238125"/>
          </a:xfrm>
          <a:prstGeom prst="rect">
            <a:avLst/>
          </a:prstGeom>
          <a:noFill/>
          <a:effectLst/>
        </p:spPr>
        <p:txBody>
          <a:bodyPr wrap="square" lIns="0" rIns="0" tIns="0" bIns="0" anchor="t">
            <a:spAutoFit/>
          </a:bodyPr>
          <a:lstStyle/>
          <a:p>
            <a:pPr algn="l" rtl="0">
              <a:lnSpc>
                <a:spcPts val="1344"/>
              </a:lnSpc>
              <a:spcBef>
                <a:spcPts val="0"/>
              </a:spcBef>
              <a:spcAft>
                <a:spcPts val="0"/>
              </a:spcAft>
            </a:pPr>
            <a:r>
              <a:rPr sz="1200" b="0" lang="en-US">
                <a:solidFill>
                  <a:srgbClr val="68645E"/>
                </a:solidFill>
                <a:latin typeface="Manrope"/>
              </a:rPr>
              <a:t>Authorized lookup</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set>
                                <p:cBhvr>
                                  <p:cTn id="5" dur="1" fill="hold"/>
                                  <p:tgtEl>
                                    <p:spTgt spid="15"/>
                                  </p:tgtEl>
                                  <p:attrNameLst>
                                    <p:attrName>style.visibility</p:attrName>
                                  </p:attrNameLst>
                                </p:cBhvr>
                                <p:to>
                                  <p:strVal val="visible"/>
                                </p:to>
                              </p:set>
                              <p:animEffect transition="in" filter="fade">
                                <p:cBhvr>
                                  <p:cTn id="6" dur="520"/>
                                  <p:tgtEl>
                                    <p:spTgt spid="15"/>
                                  </p:tgtEl>
                                </p:cBhvr>
                              </p:animEffect>
                            </p:childTnLst>
                          </p:cTn>
                        </p:par>
                        <p:par>
                          <p:cTn id="7" presetID="10" presetClass="entr" presetSubtype="0" fill="hold" nodeType="withEffect">
                            <p:stCondLst>
                              <p:cond delay="0"/>
                            </p:stCondLst>
                            <p:childTnLst>
                              <p:set>
                                <p:cBhvr>
                                  <p:cTn id="8" dur="1" fill="hold"/>
                                  <p:tgtEl>
                                    <p:spTgt spid="16"/>
                                  </p:tgtEl>
                                  <p:attrNameLst>
                                    <p:attrName>style.visibility</p:attrName>
                                  </p:attrNameLst>
                                </p:cBhvr>
                                <p:to>
                                  <p:strVal val="visible"/>
                                </p:to>
                              </p:set>
                              <p:animEffect transition="in" filter="fade">
                                <p:cBhvr>
                                  <p:cTn id="9" dur="520"/>
                                  <p:tgtEl>
                                    <p:spTgt spid="16"/>
                                  </p:tgtEl>
                                </p:cBhvr>
                              </p:animEffect>
                            </p:childTnLst>
                          </p:cTn>
                        </p:par>
                        <p:par>
                          <p:cTn id="10" presetID="10" presetClass="entr" presetSubtype="0" fill="hold" nodeType="withEffect">
                            <p:stCondLst>
                              <p:cond delay="0"/>
                            </p:stCondLst>
                            <p:childTnLst>
                              <p:set>
                                <p:cBhvr>
                                  <p:cTn id="11" dur="1" fill="hold"/>
                                  <p:tgtEl>
                                    <p:spTgt spid="17"/>
                                  </p:tgtEl>
                                  <p:attrNameLst>
                                    <p:attrName>style.visibility</p:attrName>
                                  </p:attrNameLst>
                                </p:cBhvr>
                                <p:to>
                                  <p:strVal val="visible"/>
                                </p:to>
                              </p:set>
                              <p:animEffect transition="in" filter="fade">
                                <p:cBhvr>
                                  <p:cTn id="12" dur="520"/>
                                  <p:tgtEl>
                                    <p:spTgt spid="17"/>
                                  </p:tgtEl>
                                </p:cBhvr>
                              </p:animEffect>
                            </p:childTnLst>
                          </p:cTn>
                        </p:par>
                        <p:par>
                          <p:cTn id="13" presetID="10" presetClass="entr" presetSubtype="0" fill="hold" nodeType="withEffect">
                            <p:stCondLst>
                              <p:cond delay="0"/>
                            </p:stCondLst>
                            <p:childTnLst>
                              <p:set>
                                <p:cBhvr>
                                  <p:cTn id="14" dur="1" fill="hold"/>
                                  <p:tgtEl>
                                    <p:spTgt spid="18"/>
                                  </p:tgtEl>
                                  <p:attrNameLst>
                                    <p:attrName>style.visibility</p:attrName>
                                  </p:attrNameLst>
                                </p:cBhvr>
                                <p:to>
                                  <p:strVal val="visible"/>
                                </p:to>
                              </p:set>
                              <p:animEffect transition="in" filter="fade">
                                <p:cBhvr>
                                  <p:cTn id="15" dur="520"/>
                                  <p:tgtEl>
                                    <p:spTgt spid="18"/>
                                  </p:tgtEl>
                                </p:cBhvr>
                              </p:animEffect>
                            </p:childTnLst>
                          </p:cTn>
                        </p:par>
                        <p:par>
                          <p:cTn id="16" presetID="10" presetClass="entr" presetSubtype="0" fill="hold" nodeType="withEffect">
                            <p:stCondLst>
                              <p:cond delay="0"/>
                            </p:stCondLst>
                            <p:childTnLst>
                              <p:set>
                                <p:cBhvr>
                                  <p:cTn id="17" dur="1" fill="hold"/>
                                  <p:tgtEl>
                                    <p:spTgt spid="19"/>
                                  </p:tgtEl>
                                  <p:attrNameLst>
                                    <p:attrName>style.visibility</p:attrName>
                                  </p:attrNameLst>
                                </p:cBhvr>
                                <p:to>
                                  <p:strVal val="visible"/>
                                </p:to>
                              </p:set>
                              <p:animEffect transition="in" filter="fade">
                                <p:cBhvr>
                                  <p:cTn id="18" dur="520"/>
                                  <p:tgtEl>
                                    <p:spTgt spid="19"/>
                                  </p:tgtEl>
                                </p:cBhvr>
                              </p:animEffect>
                            </p:childTnLst>
                          </p:cTn>
                        </p:par>
                        <p:par>
                          <p:cTn id="19" presetID="10" presetClass="entr" presetSubtype="0" fill="hold" nodeType="withEffect">
                            <p:stCondLst>
                              <p:cond delay="0"/>
                            </p:stCondLst>
                            <p:childTnLst>
                              <p:set>
                                <p:cBhvr>
                                  <p:cTn id="20" dur="1" fill="hold"/>
                                  <p:tgtEl>
                                    <p:spTgt spid="20"/>
                                  </p:tgtEl>
                                  <p:attrNameLst>
                                    <p:attrName>style.visibility</p:attrName>
                                  </p:attrNameLst>
                                </p:cBhvr>
                                <p:to>
                                  <p:strVal val="visible"/>
                                </p:to>
                              </p:set>
                              <p:animEffect transition="in" filter="fade">
                                <p:cBhvr>
                                  <p:cTn id="21" dur="520"/>
                                  <p:tgtEl>
                                    <p:spTgt spid="20"/>
                                  </p:tgtEl>
                                </p:cBhvr>
                              </p:animEffect>
                            </p:childTnLst>
                          </p:cTn>
                        </p:par>
                        <p:par>
                          <p:cTn id="22" presetID="10" presetClass="entr" presetSubtype="0" fill="hold" nodeType="withEffect">
                            <p:stCondLst>
                              <p:cond delay="0"/>
                            </p:stCondLst>
                            <p:childTnLst>
                              <p:set>
                                <p:cBhvr>
                                  <p:cTn id="23" dur="1" fill="hold"/>
                                  <p:tgtEl>
                                    <p:spTgt spid="21"/>
                                  </p:tgtEl>
                                  <p:attrNameLst>
                                    <p:attrName>style.visibility</p:attrName>
                                  </p:attrNameLst>
                                </p:cBhvr>
                                <p:to>
                                  <p:strVal val="visible"/>
                                </p:to>
                              </p:set>
                              <p:animEffect transition="in" filter="fade">
                                <p:cBhvr>
                                  <p:cTn id="24" dur="520"/>
                                  <p:tgtEl>
                                    <p:spTgt spid="21"/>
                                  </p:tgtEl>
                                </p:cBhvr>
                              </p:animEffect>
                            </p:childTnLst>
                          </p:cTn>
                        </p:par>
                        <p:par>
                          <p:cTn id="25" presetID="10" presetClass="entr" presetSubtype="0" fill="hold" nodeType="withEffect">
                            <p:stCondLst>
                              <p:cond delay="0"/>
                            </p:stCondLst>
                            <p:childTnLst>
                              <p:set>
                                <p:cBhvr>
                                  <p:cTn id="26" dur="1" fill="hold"/>
                                  <p:tgtEl>
                                    <p:spTgt spid="22"/>
                                  </p:tgtEl>
                                  <p:attrNameLst>
                                    <p:attrName>style.visibility</p:attrName>
                                  </p:attrNameLst>
                                </p:cBhvr>
                                <p:to>
                                  <p:strVal val="visible"/>
                                </p:to>
                              </p:set>
                              <p:animEffect transition="in" filter="fade">
                                <p:cBhvr>
                                  <p:cTn id="27" dur="520"/>
                                  <p:tgtEl>
                                    <p:spTgt spid="22"/>
                                  </p:tgtEl>
                                </p:cBhvr>
                              </p:animEffect>
                            </p:childTnLst>
                          </p:cTn>
                        </p:par>
                        <p:par>
                          <p:cTn id="28" presetID="10" presetClass="entr" presetSubtype="0" fill="hold" nodeType="withEffect">
                            <p:stCondLst>
                              <p:cond delay="0"/>
                            </p:stCondLst>
                            <p:childTnLst>
                              <p:set>
                                <p:cBhvr>
                                  <p:cTn id="29" dur="1" fill="hold"/>
                                  <p:tgtEl>
                                    <p:spTgt spid="23"/>
                                  </p:tgtEl>
                                  <p:attrNameLst>
                                    <p:attrName>style.visibility</p:attrName>
                                  </p:attrNameLst>
                                </p:cBhvr>
                                <p:to>
                                  <p:strVal val="visible"/>
                                </p:to>
                              </p:set>
                              <p:animEffect transition="in" filter="fade">
                                <p:cBhvr>
                                  <p:cTn id="30" dur="520"/>
                                  <p:tgtEl>
                                    <p:spTgt spid="23"/>
                                  </p:tgtEl>
                                </p:cBhvr>
                              </p:animEffect>
                            </p:childTnLst>
                          </p:cTn>
                        </p:par>
                        <p:par>
                          <p:cTn id="31" presetID="10" presetClass="entr" presetSubtype="0" fill="hold" nodeType="withEffect">
                            <p:stCondLst>
                              <p:cond delay="0"/>
                            </p:stCondLst>
                            <p:childTnLst>
                              <p:set>
                                <p:cBhvr>
                                  <p:cTn id="32" dur="1" fill="hold"/>
                                  <p:tgtEl>
                                    <p:spTgt spid="24"/>
                                  </p:tgtEl>
                                  <p:attrNameLst>
                                    <p:attrName>style.visibility</p:attrName>
                                  </p:attrNameLst>
                                </p:cBhvr>
                                <p:to>
                                  <p:strVal val="visible"/>
                                </p:to>
                              </p:set>
                              <p:animEffect transition="in" filter="fade">
                                <p:cBhvr>
                                  <p:cTn id="33" dur="520"/>
                                  <p:tgtEl>
                                    <p:spTgt spid="24"/>
                                  </p:tgtEl>
                                </p:cBhvr>
                              </p:animEffect>
                            </p:childTnLst>
                          </p:cTn>
                        </p:par>
                        <p:par>
                          <p:cTn id="34" presetID="10" presetClass="entr" presetSubtype="0" fill="hold" nodeType="withEffect">
                            <p:stCondLst>
                              <p:cond delay="0"/>
                            </p:stCondLst>
                            <p:childTnLst>
                              <p:set>
                                <p:cBhvr>
                                  <p:cTn id="35" dur="1" fill="hold"/>
                                  <p:tgtEl>
                                    <p:spTgt spid="25"/>
                                  </p:tgtEl>
                                  <p:attrNameLst>
                                    <p:attrName>style.visibility</p:attrName>
                                  </p:attrNameLst>
                                </p:cBhvr>
                                <p:to>
                                  <p:strVal val="visible"/>
                                </p:to>
                              </p:set>
                              <p:animEffect transition="in" filter="fade">
                                <p:cBhvr>
                                  <p:cTn id="36" dur="520"/>
                                  <p:tgtEl>
                                    <p:spTgt spid="25"/>
                                  </p:tgtEl>
                                </p:cBhvr>
                              </p:animEffect>
                            </p:childTnLst>
                          </p:cTn>
                        </p:par>
                        <p:par>
                          <p:cTn id="37" presetID="10" presetClass="entr" presetSubtype="0" fill="hold" nodeType="withEffect">
                            <p:stCondLst>
                              <p:cond delay="0"/>
                            </p:stCondLst>
                            <p:childTnLst>
                              <p:set>
                                <p:cBhvr>
                                  <p:cTn id="38" dur="1" fill="hold"/>
                                  <p:tgtEl>
                                    <p:spTgt spid="26"/>
                                  </p:tgtEl>
                                  <p:attrNameLst>
                                    <p:attrName>style.visibility</p:attrName>
                                  </p:attrNameLst>
                                </p:cBhvr>
                                <p:to>
                                  <p:strVal val="visible"/>
                                </p:to>
                              </p:set>
                              <p:animEffect transition="in" filter="fade">
                                <p:cBhvr>
                                  <p:cTn id="39" dur="520"/>
                                  <p:tgtEl>
                                    <p:spTgt spid="26"/>
                                  </p:tgtEl>
                                </p:cBhvr>
                              </p:animEffect>
                            </p:childTnLst>
                          </p:cTn>
                        </p:par>
                        <p:par>
                          <p:cTn id="40" presetID="10" presetClass="entr" presetSubtype="0" fill="hold" nodeType="withEffect">
                            <p:stCondLst>
                              <p:cond delay="0"/>
                            </p:stCondLst>
                            <p:childTnLst>
                              <p:set>
                                <p:cBhvr>
                                  <p:cTn id="41" dur="1" fill="hold"/>
                                  <p:tgtEl>
                                    <p:spTgt spid="27"/>
                                  </p:tgtEl>
                                  <p:attrNameLst>
                                    <p:attrName>style.visibility</p:attrName>
                                  </p:attrNameLst>
                                </p:cBhvr>
                                <p:to>
                                  <p:strVal val="visible"/>
                                </p:to>
                              </p:set>
                              <p:animEffect transition="in" filter="fade">
                                <p:cBhvr>
                                  <p:cTn id="42" dur="520"/>
                                  <p:tgtEl>
                                    <p:spTgt spid="27"/>
                                  </p:tgtEl>
                                </p:cBhvr>
                              </p:animEffect>
                            </p:childTnLst>
                          </p:cTn>
                        </p:par>
                        <p:par>
                          <p:cTn id="43" presetID="10" presetClass="entr" presetSubtype="0" fill="hold" nodeType="withEffect">
                            <p:stCondLst>
                              <p:cond delay="0"/>
                            </p:stCondLst>
                            <p:childTnLst>
                              <p:set>
                                <p:cBhvr>
                                  <p:cTn id="44" dur="1" fill="hold"/>
                                  <p:tgtEl>
                                    <p:spTgt spid="28"/>
                                  </p:tgtEl>
                                  <p:attrNameLst>
                                    <p:attrName>style.visibility</p:attrName>
                                  </p:attrNameLst>
                                </p:cBhvr>
                                <p:to>
                                  <p:strVal val="visible"/>
                                </p:to>
                              </p:set>
                              <p:animEffect transition="in" filter="fade">
                                <p:cBhvr>
                                  <p:cTn id="45" dur="520"/>
                                  <p:tgtEl>
                                    <p:spTgt spid="28"/>
                                  </p:tgtEl>
                                </p:cBhvr>
                              </p:animEffect>
                            </p:childTnLst>
                          </p:cTn>
                        </p:par>
                        <p:par>
                          <p:cTn id="46" presetID="10" presetClass="entr" presetSubtype="0" fill="hold" nodeType="withEffect">
                            <p:stCondLst>
                              <p:cond delay="0"/>
                            </p:stCondLst>
                            <p:childTnLst>
                              <p:set>
                                <p:cBhvr>
                                  <p:cTn id="47" dur="1" fill="hold"/>
                                  <p:tgtEl>
                                    <p:spTgt spid="29"/>
                                  </p:tgtEl>
                                  <p:attrNameLst>
                                    <p:attrName>style.visibility</p:attrName>
                                  </p:attrNameLst>
                                </p:cBhvr>
                                <p:to>
                                  <p:strVal val="visible"/>
                                </p:to>
                              </p:set>
                              <p:animEffect transition="in" filter="fade">
                                <p:cBhvr>
                                  <p:cTn id="48" dur="520"/>
                                  <p:tgtEl>
                                    <p:spTgt spid="29"/>
                                  </p:tgtEl>
                                </p:cBhvr>
                              </p:animEffect>
                            </p:childTnLst>
                          </p:cTn>
                        </p:par>
                        <p:par>
                          <p:cTn id="49" presetID="10" presetClass="entr" presetSubtype="0" fill="hold" nodeType="withEffect">
                            <p:stCondLst>
                              <p:cond delay="0"/>
                            </p:stCondLst>
                            <p:childTnLst>
                              <p:set>
                                <p:cBhvr>
                                  <p:cTn id="50" dur="1" fill="hold"/>
                                  <p:tgtEl>
                                    <p:spTgt spid="30"/>
                                  </p:tgtEl>
                                  <p:attrNameLst>
                                    <p:attrName>style.visibility</p:attrName>
                                  </p:attrNameLst>
                                </p:cBhvr>
                                <p:to>
                                  <p:strVal val="visible"/>
                                </p:to>
                              </p:set>
                              <p:animEffect transition="in" filter="fade">
                                <p:cBhvr>
                                  <p:cTn id="51" dur="520"/>
                                  <p:tgtEl>
                                    <p:spTgt spid="30"/>
                                  </p:tgtEl>
                                </p:cBhvr>
                              </p:animEffect>
                            </p:childTnLst>
                          </p:cTn>
                        </p:par>
                        <p:par>
                          <p:cTn id="52" presetID="10" presetClass="entr" presetSubtype="0" fill="hold" nodeType="withEffect">
                            <p:stCondLst>
                              <p:cond delay="0"/>
                            </p:stCondLst>
                            <p:childTnLst>
                              <p:set>
                                <p:cBhvr>
                                  <p:cTn id="53" dur="1" fill="hold"/>
                                  <p:tgtEl>
                                    <p:spTgt spid="31"/>
                                  </p:tgtEl>
                                  <p:attrNameLst>
                                    <p:attrName>style.visibility</p:attrName>
                                  </p:attrNameLst>
                                </p:cBhvr>
                                <p:to>
                                  <p:strVal val="visible"/>
                                </p:to>
                              </p:set>
                              <p:animEffect transition="in" filter="fade">
                                <p:cBhvr>
                                  <p:cTn id="54" dur="520"/>
                                  <p:tgtEl>
                                    <p:spTgt spid="31"/>
                                  </p:tgtEl>
                                </p:cBhvr>
                              </p:animEffect>
                            </p:childTnLst>
                          </p:cTn>
                        </p:par>
                        <p:par>
                          <p:cTn id="55" presetID="10" presetClass="entr" presetSubtype="0" fill="hold" nodeType="withEffect">
                            <p:stCondLst>
                              <p:cond delay="0"/>
                            </p:stCondLst>
                            <p:childTnLst>
                              <p:set>
                                <p:cBhvr>
                                  <p:cTn id="56" dur="1" fill="hold"/>
                                  <p:tgtEl>
                                    <p:spTgt spid="32"/>
                                  </p:tgtEl>
                                  <p:attrNameLst>
                                    <p:attrName>style.visibility</p:attrName>
                                  </p:attrNameLst>
                                </p:cBhvr>
                                <p:to>
                                  <p:strVal val="visible"/>
                                </p:to>
                              </p:set>
                              <p:animEffect transition="in" filter="fade">
                                <p:cBhvr>
                                  <p:cTn id="57" dur="520"/>
                                  <p:tgtEl>
                                    <p:spTgt spid="32"/>
                                  </p:tgtEl>
                                </p:cBhvr>
                              </p:animEffect>
                            </p:childTnLst>
                          </p:cTn>
                        </p:par>
                        <p:par>
                          <p:cTn id="58" presetID="10" presetClass="entr" presetSubtype="0" fill="hold" nodeType="withEffect">
                            <p:stCondLst>
                              <p:cond delay="0"/>
                            </p:stCondLst>
                            <p:childTnLst>
                              <p:set>
                                <p:cBhvr>
                                  <p:cTn id="59" dur="1" fill="hold"/>
                                  <p:tgtEl>
                                    <p:spTgt spid="33"/>
                                  </p:tgtEl>
                                  <p:attrNameLst>
                                    <p:attrName>style.visibility</p:attrName>
                                  </p:attrNameLst>
                                </p:cBhvr>
                                <p:to>
                                  <p:strVal val="visible"/>
                                </p:to>
                              </p:set>
                              <p:animEffect transition="in" filter="fade">
                                <p:cBhvr>
                                  <p:cTn id="60" dur="520"/>
                                  <p:tgtEl>
                                    <p:spTgt spid="33"/>
                                  </p:tgtEl>
                                </p:cBhvr>
                              </p:animEffect>
                            </p:childTnLst>
                          </p:cTn>
                        </p:par>
                        <p:par>
                          <p:cTn id="61" presetID="10" presetClass="entr" presetSubtype="0" fill="hold" nodeType="withEffect">
                            <p:stCondLst>
                              <p:cond delay="0"/>
                            </p:stCondLst>
                            <p:childTnLst>
                              <p:set>
                                <p:cBhvr>
                                  <p:cTn id="62" dur="1" fill="hold"/>
                                  <p:tgtEl>
                                    <p:spTgt spid="34"/>
                                  </p:tgtEl>
                                  <p:attrNameLst>
                                    <p:attrName>style.visibility</p:attrName>
                                  </p:attrNameLst>
                                </p:cBhvr>
                                <p:to>
                                  <p:strVal val="visible"/>
                                </p:to>
                              </p:set>
                              <p:animEffect transition="in" filter="fade">
                                <p:cBhvr>
                                  <p:cTn id="63" dur="520"/>
                                  <p:tgtEl>
                                    <p:spTgt spid="34"/>
                                  </p:tgtEl>
                                </p:cBhvr>
                              </p:animEffect>
                            </p:childTnLst>
                          </p:cTn>
                        </p:par>
                        <p:par>
                          <p:cTn id="64" presetID="10" presetClass="entr" presetSubtype="0" fill="hold" nodeType="withEffect">
                            <p:stCondLst>
                              <p:cond delay="4200"/>
                            </p:stCondLst>
                            <p:childTnLst>
                              <p:set>
                                <p:cBhvr>
                                  <p:cTn id="65" dur="1" fill="hold"/>
                                  <p:tgtEl>
                                    <p:spTgt spid="35"/>
                                  </p:tgtEl>
                                  <p:attrNameLst>
                                    <p:attrName>style.visibility</p:attrName>
                                  </p:attrNameLst>
                                </p:cBhvr>
                                <p:to>
                                  <p:strVal val="visible"/>
                                </p:to>
                              </p:set>
                              <p:animEffect transition="in" filter="fade">
                                <p:cBhvr>
                                  <p:cTn id="66" dur="520"/>
                                  <p:tgtEl>
                                    <p:spTgt spid="35"/>
                                  </p:tgtEl>
                                </p:cBhvr>
                              </p:animEffect>
                            </p:childTnLst>
                          </p:cTn>
                        </p:par>
                        <p:par>
                          <p:cTn id="67" presetID="10" presetClass="entr" presetSubtype="0" fill="hold" nodeType="withEffect">
                            <p:stCondLst>
                              <p:cond delay="4200"/>
                            </p:stCondLst>
                            <p:childTnLst>
                              <p:set>
                                <p:cBhvr>
                                  <p:cTn id="68" dur="1" fill="hold"/>
                                  <p:tgtEl>
                                    <p:spTgt spid="36"/>
                                  </p:tgtEl>
                                  <p:attrNameLst>
                                    <p:attrName>style.visibility</p:attrName>
                                  </p:attrNameLst>
                                </p:cBhvr>
                                <p:to>
                                  <p:strVal val="visible"/>
                                </p:to>
                              </p:set>
                              <p:animEffect transition="in" filter="fade">
                                <p:cBhvr>
                                  <p:cTn id="69" dur="520"/>
                                  <p:tgtEl>
                                    <p:spTgt spid="36"/>
                                  </p:tgtEl>
                                </p:cBhvr>
                              </p:animEffect>
                            </p:childTnLst>
                          </p:cTn>
                        </p:par>
                        <p:par>
                          <p:cTn id="70" presetID="10" presetClass="entr" presetSubtype="0" fill="hold" nodeType="withEffect">
                            <p:stCondLst>
                              <p:cond delay="4200"/>
                            </p:stCondLst>
                            <p:childTnLst>
                              <p:set>
                                <p:cBhvr>
                                  <p:cTn id="71" dur="1" fill="hold"/>
                                  <p:tgtEl>
                                    <p:spTgt spid="37"/>
                                  </p:tgtEl>
                                  <p:attrNameLst>
                                    <p:attrName>style.visibility</p:attrName>
                                  </p:attrNameLst>
                                </p:cBhvr>
                                <p:to>
                                  <p:strVal val="visible"/>
                                </p:to>
                              </p:set>
                              <p:animEffect transition="in" filter="fade">
                                <p:cBhvr>
                                  <p:cTn id="72" dur="520"/>
                                  <p:tgtEl>
                                    <p:spTgt spid="37"/>
                                  </p:tgtEl>
                                </p:cBhvr>
                              </p:animEffect>
                            </p:childTnLst>
                          </p:cTn>
                        </p:par>
                        <p:par>
                          <p:cTn id="73" presetID="10" presetClass="entr" presetSubtype="0" fill="hold" nodeType="withEffect">
                            <p:stCondLst>
                              <p:cond delay="4200"/>
                            </p:stCondLst>
                            <p:childTnLst>
                              <p:set>
                                <p:cBhvr>
                                  <p:cTn id="74" dur="1" fill="hold"/>
                                  <p:tgtEl>
                                    <p:spTgt spid="38"/>
                                  </p:tgtEl>
                                  <p:attrNameLst>
                                    <p:attrName>style.visibility</p:attrName>
                                  </p:attrNameLst>
                                </p:cBhvr>
                                <p:to>
                                  <p:strVal val="visible"/>
                                </p:to>
                              </p:set>
                              <p:animEffect transition="in" filter="fade">
                                <p:cBhvr>
                                  <p:cTn id="75" dur="520"/>
                                  <p:tgtEl>
                                    <p:spTgt spid="38"/>
                                  </p:tgtEl>
                                </p:cBhvr>
                              </p:animEffect>
                            </p:childTnLst>
                          </p:cTn>
                        </p:par>
                        <p:par>
                          <p:cTn id="76" presetID="10" presetClass="entr" presetSubtype="0" fill="hold" nodeType="withEffect">
                            <p:stCondLst>
                              <p:cond delay="4200"/>
                            </p:stCondLst>
                            <p:childTnLst>
                              <p:set>
                                <p:cBhvr>
                                  <p:cTn id="77" dur="1" fill="hold"/>
                                  <p:tgtEl>
                                    <p:spTgt spid="39"/>
                                  </p:tgtEl>
                                  <p:attrNameLst>
                                    <p:attrName>style.visibility</p:attrName>
                                  </p:attrNameLst>
                                </p:cBhvr>
                                <p:to>
                                  <p:strVal val="visible"/>
                                </p:to>
                              </p:set>
                              <p:animEffect transition="in" filter="fade">
                                <p:cBhvr>
                                  <p:cTn id="78" dur="520"/>
                                  <p:tgtEl>
                                    <p:spTgt spid="39"/>
                                  </p:tgtEl>
                                </p:cBhvr>
                              </p:animEffect>
                            </p:childTnLst>
                          </p:cTn>
                        </p:par>
                        <p:par>
                          <p:cTn id="79" presetID="10" presetClass="entr" presetSubtype="0" fill="hold" nodeType="withEffect">
                            <p:stCondLst>
                              <p:cond delay="4200"/>
                            </p:stCondLst>
                            <p:childTnLst>
                              <p:set>
                                <p:cBhvr>
                                  <p:cTn id="80" dur="1" fill="hold"/>
                                  <p:tgtEl>
                                    <p:spTgt spid="42"/>
                                  </p:tgtEl>
                                  <p:attrNameLst>
                                    <p:attrName>style.visibility</p:attrName>
                                  </p:attrNameLst>
                                </p:cBhvr>
                                <p:to>
                                  <p:strVal val="visible"/>
                                </p:to>
                              </p:set>
                              <p:animEffect transition="in" filter="fade">
                                <p:cBhvr>
                                  <p:cTn id="81" dur="520"/>
                                  <p:tgtEl>
                                    <p:spTgt spid="42"/>
                                  </p:tgtEl>
                                </p:cBhvr>
                              </p:animEffect>
                            </p:childTnLst>
                          </p:cTn>
                        </p:par>
                        <p:par>
                          <p:cTn id="82" presetID="10" presetClass="entr" presetSubtype="0" fill="hold" nodeType="withEffect">
                            <p:stCondLst>
                              <p:cond delay="4200"/>
                            </p:stCondLst>
                            <p:childTnLst>
                              <p:set>
                                <p:cBhvr>
                                  <p:cTn id="83" dur="1" fill="hold"/>
                                  <p:tgtEl>
                                    <p:spTgt spid="43"/>
                                  </p:tgtEl>
                                  <p:attrNameLst>
                                    <p:attrName>style.visibility</p:attrName>
                                  </p:attrNameLst>
                                </p:cBhvr>
                                <p:to>
                                  <p:strVal val="visible"/>
                                </p:to>
                              </p:set>
                              <p:animEffect transition="in" filter="fade">
                                <p:cBhvr>
                                  <p:cTn id="84" dur="520"/>
                                  <p:tgtEl>
                                    <p:spTgt spid="43"/>
                                  </p:tgtEl>
                                </p:cBhvr>
                              </p:animEffect>
                            </p:childTnLst>
                          </p:cTn>
                        </p:par>
                        <p:par>
                          <p:cTn id="85" presetID="10" presetClass="entr" presetSubtype="0" fill="hold" nodeType="withEffect">
                            <p:stCondLst>
                              <p:cond delay="5600"/>
                            </p:stCondLst>
                            <p:childTnLst>
                              <p:set>
                                <p:cBhvr>
                                  <p:cTn id="86" dur="1" fill="hold"/>
                                  <p:tgtEl>
                                    <p:spTgt spid="44"/>
                                  </p:tgtEl>
                                  <p:attrNameLst>
                                    <p:attrName>style.visibility</p:attrName>
                                  </p:attrNameLst>
                                </p:cBhvr>
                                <p:to>
                                  <p:strVal val="visible"/>
                                </p:to>
                              </p:set>
                              <p:animEffect transition="in" filter="fade">
                                <p:cBhvr>
                                  <p:cTn id="87" dur="520"/>
                                  <p:tgtEl>
                                    <p:spTgt spid="44"/>
                                  </p:tgtEl>
                                </p:cBhvr>
                              </p:animEffect>
                            </p:childTnLst>
                          </p:cTn>
                        </p:par>
                        <p:par>
                          <p:cTn id="88" presetID="10" presetClass="entr" presetSubtype="0" fill="hold" nodeType="withEffect">
                            <p:stCondLst>
                              <p:cond delay="5600"/>
                            </p:stCondLst>
                            <p:childTnLst>
                              <p:set>
                                <p:cBhvr>
                                  <p:cTn id="89" dur="1" fill="hold"/>
                                  <p:tgtEl>
                                    <p:spTgt spid="45"/>
                                  </p:tgtEl>
                                  <p:attrNameLst>
                                    <p:attrName>style.visibility</p:attrName>
                                  </p:attrNameLst>
                                </p:cBhvr>
                                <p:to>
                                  <p:strVal val="visible"/>
                                </p:to>
                              </p:set>
                              <p:animEffect transition="in" filter="fade">
                                <p:cBhvr>
                                  <p:cTn id="90" dur="520"/>
                                  <p:tgtEl>
                                    <p:spTgt spid="45"/>
                                  </p:tgtEl>
                                </p:cBhvr>
                              </p:animEffect>
                            </p:childTnLst>
                          </p:cTn>
                        </p:par>
                        <p:par>
                          <p:cTn id="91" presetID="10" presetClass="entr" presetSubtype="0" fill="hold" nodeType="withEffect">
                            <p:stCondLst>
                              <p:cond delay="5600"/>
                            </p:stCondLst>
                            <p:childTnLst>
                              <p:set>
                                <p:cBhvr>
                                  <p:cTn id="92" dur="1" fill="hold"/>
                                  <p:tgtEl>
                                    <p:spTgt spid="46"/>
                                  </p:tgtEl>
                                  <p:attrNameLst>
                                    <p:attrName>style.visibility</p:attrName>
                                  </p:attrNameLst>
                                </p:cBhvr>
                                <p:to>
                                  <p:strVal val="visible"/>
                                </p:to>
                              </p:set>
                              <p:animEffect transition="in" filter="fade">
                                <p:cBhvr>
                                  <p:cTn id="93" dur="520"/>
                                  <p:tgtEl>
                                    <p:spTgt spid="46"/>
                                  </p:tgtEl>
                                </p:cBhvr>
                              </p:animEffect>
                            </p:childTnLst>
                          </p:cTn>
                        </p:par>
                        <p:par>
                          <p:cTn id="94" presetID="10" presetClass="entr" presetSubtype="0" fill="hold" nodeType="withEffect">
                            <p:stCondLst>
                              <p:cond delay="5600"/>
                            </p:stCondLst>
                            <p:childTnLst>
                              <p:set>
                                <p:cBhvr>
                                  <p:cTn id="95" dur="1" fill="hold"/>
                                  <p:tgtEl>
                                    <p:spTgt spid="47"/>
                                  </p:tgtEl>
                                  <p:attrNameLst>
                                    <p:attrName>style.visibility</p:attrName>
                                  </p:attrNameLst>
                                </p:cBhvr>
                                <p:to>
                                  <p:strVal val="visible"/>
                                </p:to>
                              </p:set>
                              <p:animEffect transition="in" filter="fade">
                                <p:cBhvr>
                                  <p:cTn id="96" dur="520"/>
                                  <p:tgtEl>
                                    <p:spTgt spid="47"/>
                                  </p:tgtEl>
                                </p:cBhvr>
                              </p:animEffect>
                            </p:childTnLst>
                          </p:cTn>
                        </p:par>
                        <p:par>
                          <p:cTn id="97" presetID="10" presetClass="entr" presetSubtype="0" fill="hold" nodeType="withEffect">
                            <p:stCondLst>
                              <p:cond delay="4200"/>
                            </p:stCondLst>
                            <p:childTnLst>
                              <p:set>
                                <p:cBhvr>
                                  <p:cTn id="98" dur="1" fill="hold"/>
                                  <p:tgtEl>
                                    <p:spTgt spid="48"/>
                                  </p:tgtEl>
                                  <p:attrNameLst>
                                    <p:attrName>style.visibility</p:attrName>
                                  </p:attrNameLst>
                                </p:cBhvr>
                                <p:to>
                                  <p:strVal val="visible"/>
                                </p:to>
                              </p:set>
                              <p:animEffect transition="in" filter="fade">
                                <p:cBhvr>
                                  <p:cTn id="99" dur="520"/>
                                  <p:tgtEl>
                                    <p:spTgt spid="48"/>
                                  </p:tgtEl>
                                </p:cBhvr>
                              </p:animEffect>
                            </p:childTnLst>
                          </p:cTn>
                        </p:par>
                        <p:par>
                          <p:cTn id="100" presetID="10" presetClass="entr" presetSubtype="0" fill="hold" nodeType="withEffect">
                            <p:stCondLst>
                              <p:cond delay="4200"/>
                            </p:stCondLst>
                            <p:childTnLst>
                              <p:set>
                                <p:cBhvr>
                                  <p:cTn id="101" dur="1" fill="hold"/>
                                  <p:tgtEl>
                                    <p:spTgt spid="49"/>
                                  </p:tgtEl>
                                  <p:attrNameLst>
                                    <p:attrName>style.visibility</p:attrName>
                                  </p:attrNameLst>
                                </p:cBhvr>
                                <p:to>
                                  <p:strVal val="visible"/>
                                </p:to>
                              </p:set>
                              <p:animEffect transition="in" filter="fade">
                                <p:cBhvr>
                                  <p:cTn id="102" dur="520"/>
                                  <p:tgtEl>
                                    <p:spTgt spid="49"/>
                                  </p:tgtEl>
                                </p:cBhvr>
                              </p:animEffect>
                            </p:childTnLst>
                          </p:cTn>
                        </p:par>
                        <p:par>
                          <p:cTn id="103" presetID="10" presetClass="entr" presetSubtype="0" fill="hold" nodeType="withEffect">
                            <p:stCondLst>
                              <p:cond delay="4200"/>
                            </p:stCondLst>
                            <p:childTnLst>
                              <p:set>
                                <p:cBhvr>
                                  <p:cTn id="104" dur="1" fill="hold"/>
                                  <p:tgtEl>
                                    <p:spTgt spid="50"/>
                                  </p:tgtEl>
                                  <p:attrNameLst>
                                    <p:attrName>style.visibility</p:attrName>
                                  </p:attrNameLst>
                                </p:cBhvr>
                                <p:to>
                                  <p:strVal val="visible"/>
                                </p:to>
                              </p:set>
                              <p:animEffect transition="in" filter="fade">
                                <p:cBhvr>
                                  <p:cTn id="105" dur="520"/>
                                  <p:tgtEl>
                                    <p:spTgt spid="50"/>
                                  </p:tgtEl>
                                </p:cBhvr>
                              </p:animEffect>
                            </p:childTnLst>
                          </p:cTn>
                        </p:par>
                        <p:par>
                          <p:cTn id="106" presetID="10" presetClass="entr" presetSubtype="0" fill="hold" nodeType="withEffect">
                            <p:stCondLst>
                              <p:cond delay="4200"/>
                            </p:stCondLst>
                            <p:childTnLst>
                              <p:set>
                                <p:cBhvr>
                                  <p:cTn id="107" dur="1" fill="hold"/>
                                  <p:tgtEl>
                                    <p:spTgt spid="51"/>
                                  </p:tgtEl>
                                  <p:attrNameLst>
                                    <p:attrName>style.visibility</p:attrName>
                                  </p:attrNameLst>
                                </p:cBhvr>
                                <p:to>
                                  <p:strVal val="visible"/>
                                </p:to>
                              </p:set>
                              <p:animEffect transition="in" filter="fade">
                                <p:cBhvr>
                                  <p:cTn id="108" dur="520"/>
                                  <p:tgtEl>
                                    <p:spTgt spid="51"/>
                                  </p:tgtEl>
                                </p:cBhvr>
                              </p:animEffect>
                            </p:childTnLst>
                          </p:cTn>
                        </p:par>
                        <p:par>
                          <p:cTn id="109" presetID="10" presetClass="entr" presetSubtype="0" fill="hold" nodeType="withEffect">
                            <p:stCondLst>
                              <p:cond delay="4200"/>
                            </p:stCondLst>
                            <p:childTnLst>
                              <p:set>
                                <p:cBhvr>
                                  <p:cTn id="110" dur="1" fill="hold"/>
                                  <p:tgtEl>
                                    <p:spTgt spid="52"/>
                                  </p:tgtEl>
                                  <p:attrNameLst>
                                    <p:attrName>style.visibility</p:attrName>
                                  </p:attrNameLst>
                                </p:cBhvr>
                                <p:to>
                                  <p:strVal val="visible"/>
                                </p:to>
                              </p:set>
                              <p:animEffect transition="in" filter="fade">
                                <p:cBhvr>
                                  <p:cTn id="111" dur="520"/>
                                  <p:tgtEl>
                                    <p:spTgt spid="52"/>
                                  </p:tgtEl>
                                </p:cBhvr>
                              </p:animEffect>
                            </p:childTnLst>
                          </p:cTn>
                        </p:par>
                        <p:par>
                          <p:cTn id="112" presetID="10" presetClass="entr" presetSubtype="0" fill="hold" nodeType="withEffect">
                            <p:stCondLst>
                              <p:cond delay="5600"/>
                            </p:stCondLst>
                            <p:childTnLst>
                              <p:set>
                                <p:cBhvr>
                                  <p:cTn id="113" dur="1" fill="hold"/>
                                  <p:tgtEl>
                                    <p:spTgt spid="53"/>
                                  </p:tgtEl>
                                  <p:attrNameLst>
                                    <p:attrName>style.visibility</p:attrName>
                                  </p:attrNameLst>
                                </p:cBhvr>
                                <p:to>
                                  <p:strVal val="visible"/>
                                </p:to>
                              </p:set>
                              <p:animEffect transition="in" filter="fade">
                                <p:cBhvr>
                                  <p:cTn id="114" dur="520"/>
                                  <p:tgtEl>
                                    <p:spTgt spid="53"/>
                                  </p:tgtEl>
                                </p:cBhvr>
                              </p:animEffect>
                            </p:childTnLst>
                          </p:cTn>
                        </p:par>
                        <p:par>
                          <p:cTn id="115" presetID="10" presetClass="entr" presetSubtype="0" fill="hold" nodeType="withEffect">
                            <p:stCondLst>
                              <p:cond delay="5600"/>
                            </p:stCondLst>
                            <p:childTnLst>
                              <p:set>
                                <p:cBhvr>
                                  <p:cTn id="116" dur="1" fill="hold"/>
                                  <p:tgtEl>
                                    <p:spTgt spid="54"/>
                                  </p:tgtEl>
                                  <p:attrNameLst>
                                    <p:attrName>style.visibility</p:attrName>
                                  </p:attrNameLst>
                                </p:cBhvr>
                                <p:to>
                                  <p:strVal val="visible"/>
                                </p:to>
                              </p:set>
                              <p:animEffect transition="in" filter="fade">
                                <p:cBhvr>
                                  <p:cTn id="117" dur="520"/>
                                  <p:tgtEl>
                                    <p:spTgt spid="54"/>
                                  </p:tgtEl>
                                </p:cBhvr>
                              </p:animEffect>
                            </p:childTnLst>
                          </p:cTn>
                        </p:par>
                        <p:par>
                          <p:cTn id="118" presetID="10" presetClass="entr" presetSubtype="0" fill="hold" nodeType="withEffect">
                            <p:stCondLst>
                              <p:cond delay="5600"/>
                            </p:stCondLst>
                            <p:childTnLst>
                              <p:set>
                                <p:cBhvr>
                                  <p:cTn id="119" dur="1" fill="hold"/>
                                  <p:tgtEl>
                                    <p:spTgt spid="55"/>
                                  </p:tgtEl>
                                  <p:attrNameLst>
                                    <p:attrName>style.visibility</p:attrName>
                                  </p:attrNameLst>
                                </p:cBhvr>
                                <p:to>
                                  <p:strVal val="visible"/>
                                </p:to>
                              </p:set>
                              <p:animEffect transition="in" filter="fade">
                                <p:cBhvr>
                                  <p:cTn id="120" dur="520"/>
                                  <p:tgtEl>
                                    <p:spTgt spid="55"/>
                                  </p:tgtEl>
                                </p:cBhvr>
                              </p:animEffect>
                            </p:childTnLst>
                          </p:cTn>
                        </p:par>
                        <p:par>
                          <p:cTn id="121" presetID="10" presetClass="entr" presetSubtype="0" fill="hold" nodeType="withEffect">
                            <p:stCondLst>
                              <p:cond delay="5600"/>
                            </p:stCondLst>
                            <p:childTnLst>
                              <p:set>
                                <p:cBhvr>
                                  <p:cTn id="122" dur="1" fill="hold"/>
                                  <p:tgtEl>
                                    <p:spTgt spid="56"/>
                                  </p:tgtEl>
                                  <p:attrNameLst>
                                    <p:attrName>style.visibility</p:attrName>
                                  </p:attrNameLst>
                                </p:cBhvr>
                                <p:to>
                                  <p:strVal val="visible"/>
                                </p:to>
                              </p:set>
                              <p:animEffect transition="in" filter="fade">
                                <p:cBhvr>
                                  <p:cTn id="123" dur="520"/>
                                  <p:tgtEl>
                                    <p:spTgt spid="56"/>
                                  </p:tgtEl>
                                </p:cBhvr>
                              </p:animEffect>
                            </p:childTnLst>
                          </p:cTn>
                        </p:par>
                        <p:par>
                          <p:cTn id="124" presetID="10" presetClass="entr" presetSubtype="0" fill="hold" nodeType="withEffect">
                            <p:stCondLst>
                              <p:cond delay="7000"/>
                            </p:stCondLst>
                            <p:childTnLst>
                              <p:set>
                                <p:cBhvr>
                                  <p:cTn id="125" dur="1" fill="hold"/>
                                  <p:tgtEl>
                                    <p:spTgt spid="57"/>
                                  </p:tgtEl>
                                  <p:attrNameLst>
                                    <p:attrName>style.visibility</p:attrName>
                                  </p:attrNameLst>
                                </p:cBhvr>
                                <p:to>
                                  <p:strVal val="visible"/>
                                </p:to>
                              </p:set>
                              <p:animEffect transition="in" filter="fade">
                                <p:cBhvr>
                                  <p:cTn id="126" dur="520"/>
                                  <p:tgtEl>
                                    <p:spTgt spid="57"/>
                                  </p:tgtEl>
                                </p:cBhvr>
                              </p:animEffect>
                            </p:childTnLst>
                          </p:cTn>
                        </p:par>
                        <p:par>
                          <p:cTn id="127" presetID="10" presetClass="entr" presetSubtype="0" fill="hold" nodeType="withEffect">
                            <p:stCondLst>
                              <p:cond delay="7000"/>
                            </p:stCondLst>
                            <p:childTnLst>
                              <p:set>
                                <p:cBhvr>
                                  <p:cTn id="128" dur="1" fill="hold"/>
                                  <p:tgtEl>
                                    <p:spTgt spid="58"/>
                                  </p:tgtEl>
                                  <p:attrNameLst>
                                    <p:attrName>style.visibility</p:attrName>
                                  </p:attrNameLst>
                                </p:cBhvr>
                                <p:to>
                                  <p:strVal val="visible"/>
                                </p:to>
                              </p:set>
                              <p:animEffect transition="in" filter="fade">
                                <p:cBhvr>
                                  <p:cTn id="129" dur="520"/>
                                  <p:tgtEl>
                                    <p:spTgt spid="58"/>
                                  </p:tgtEl>
                                </p:cBhvr>
                              </p:animEffect>
                            </p:childTnLst>
                          </p:cTn>
                        </p:par>
                        <p:par>
                          <p:cTn id="130" presetID="10" presetClass="entr" presetSubtype="0" fill="hold" nodeType="withEffect">
                            <p:stCondLst>
                              <p:cond delay="7000"/>
                            </p:stCondLst>
                            <p:childTnLst>
                              <p:set>
                                <p:cBhvr>
                                  <p:cTn id="131" dur="1" fill="hold"/>
                                  <p:tgtEl>
                                    <p:spTgt spid="59"/>
                                  </p:tgtEl>
                                  <p:attrNameLst>
                                    <p:attrName>style.visibility</p:attrName>
                                  </p:attrNameLst>
                                </p:cBhvr>
                                <p:to>
                                  <p:strVal val="visible"/>
                                </p:to>
                              </p:set>
                              <p:animEffect transition="in" filter="fade">
                                <p:cBhvr>
                                  <p:cTn id="132" dur="520"/>
                                  <p:tgtEl>
                                    <p:spTgt spid="59"/>
                                  </p:tgtEl>
                                </p:cBhvr>
                              </p:animEffect>
                            </p:childTnLst>
                          </p:cTn>
                        </p:par>
                        <p:par>
                          <p:cTn id="133" presetID="10" presetClass="entr" presetSubtype="0" fill="hold" nodeType="withEffect">
                            <p:stCondLst>
                              <p:cond delay="7000"/>
                            </p:stCondLst>
                            <p:childTnLst>
                              <p:set>
                                <p:cBhvr>
                                  <p:cTn id="134" dur="1" fill="hold"/>
                                  <p:tgtEl>
                                    <p:spTgt spid="60"/>
                                  </p:tgtEl>
                                  <p:attrNameLst>
                                    <p:attrName>style.visibility</p:attrName>
                                  </p:attrNameLst>
                                </p:cBhvr>
                                <p:to>
                                  <p:strVal val="visible"/>
                                </p:to>
                              </p:set>
                              <p:animEffect transition="in" filter="fade">
                                <p:cBhvr>
                                  <p:cTn id="135" dur="520"/>
                                  <p:tgtEl>
                                    <p:spTgt spid="60"/>
                                  </p:tgtEl>
                                </p:cBhvr>
                              </p:animEffect>
                            </p:childTnLst>
                          </p:cTn>
                        </p:par>
                        <p:par>
                          <p:cTn id="136" presetID="10" presetClass="entr" presetSubtype="0" fill="hold" nodeType="withEffect">
                            <p:stCondLst>
                              <p:cond delay="1400"/>
                            </p:stCondLst>
                            <p:childTnLst>
                              <p:set>
                                <p:cBhvr>
                                  <p:cTn id="137" dur="1" fill="hold"/>
                                  <p:tgtEl>
                                    <p:spTgt spid="61"/>
                                  </p:tgtEl>
                                  <p:attrNameLst>
                                    <p:attrName>style.visibility</p:attrName>
                                  </p:attrNameLst>
                                </p:cBhvr>
                                <p:to>
                                  <p:strVal val="visible"/>
                                </p:to>
                              </p:set>
                              <p:animEffect transition="in" filter="fade">
                                <p:cBhvr>
                                  <p:cTn id="138" dur="520"/>
                                  <p:tgtEl>
                                    <p:spTgt spid="61"/>
                                  </p:tgtEl>
                                </p:cBhvr>
                              </p:animEffect>
                            </p:childTnLst>
                          </p:cTn>
                        </p:par>
                        <p:par>
                          <p:cTn id="139" presetID="10" presetClass="entr" presetSubtype="0" fill="hold" nodeType="withEffect">
                            <p:stCondLst>
                              <p:cond delay="2800"/>
                            </p:stCondLst>
                            <p:childTnLst>
                              <p:set>
                                <p:cBhvr>
                                  <p:cTn id="140" dur="1" fill="hold"/>
                                  <p:tgtEl>
                                    <p:spTgt spid="62"/>
                                  </p:tgtEl>
                                  <p:attrNameLst>
                                    <p:attrName>style.visibility</p:attrName>
                                  </p:attrNameLst>
                                </p:cBhvr>
                                <p:to>
                                  <p:strVal val="visible"/>
                                </p:to>
                              </p:set>
                              <p:animEffect transition="in" filter="fade">
                                <p:cBhvr>
                                  <p:cTn id="141" dur="520"/>
                                  <p:tgtEl>
                                    <p:spTgt spid="62"/>
                                  </p:tgtEl>
                                </p:cBhvr>
                              </p:animEffect>
                            </p:childTnLst>
                          </p:cTn>
                        </p:par>
                        <p:par>
                          <p:cTn id="142" presetID="10" presetClass="entr" presetSubtype="0" fill="hold" nodeType="withEffect">
                            <p:stCondLst>
                              <p:cond delay="2800"/>
                            </p:stCondLst>
                            <p:childTnLst>
                              <p:set>
                                <p:cBhvr>
                                  <p:cTn id="143" dur="1" fill="hold"/>
                                  <p:tgtEl>
                                    <p:spTgt spid="63"/>
                                  </p:tgtEl>
                                  <p:attrNameLst>
                                    <p:attrName>style.visibility</p:attrName>
                                  </p:attrNameLst>
                                </p:cBhvr>
                                <p:to>
                                  <p:strVal val="visible"/>
                                </p:to>
                              </p:set>
                              <p:animEffect transition="in" filter="fade">
                                <p:cBhvr>
                                  <p:cTn id="144" dur="520"/>
                                  <p:tgtEl>
                                    <p:spTgt spid="63"/>
                                  </p:tgtEl>
                                </p:cBhvr>
                              </p:animEffect>
                            </p:childTnLst>
                          </p:cTn>
                        </p:par>
                        <p:par>
                          <p:cTn id="145" presetID="10" presetClass="entr" presetSubtype="0" fill="hold" nodeType="withEffect">
                            <p:stCondLst>
                              <p:cond delay="2800"/>
                            </p:stCondLst>
                            <p:childTnLst>
                              <p:set>
                                <p:cBhvr>
                                  <p:cTn id="146" dur="1" fill="hold"/>
                                  <p:tgtEl>
                                    <p:spTgt spid="64"/>
                                  </p:tgtEl>
                                  <p:attrNameLst>
                                    <p:attrName>style.visibility</p:attrName>
                                  </p:attrNameLst>
                                </p:cBhvr>
                                <p:to>
                                  <p:strVal val="visible"/>
                                </p:to>
                              </p:set>
                              <p:animEffect transition="in" filter="fade">
                                <p:cBhvr>
                                  <p:cTn id="147" dur="520"/>
                                  <p:tgtEl>
                                    <p:spTgt spid="64"/>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7F4"/>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457200" y="258762"/>
            <a:ext cx="409575" cy="273050"/>
          </a:xfrm>
          <a:prstGeom prst="rect">
            <a:avLst/>
          </a:prstGeom>
          <a:effectLst/>
        </p:spPr>
      </p:pic>
      <p:sp>
        <p:nvSpPr>
          <p:cNvPr id="3" name="TextBox 2"/>
          <p:cNvSpPr txBox="1"/>
          <p:nvPr/>
        </p:nvSpPr>
        <p:spPr>
          <a:xfrm>
            <a:off x="981075" y="276225"/>
            <a:ext cx="1714500" cy="285750"/>
          </a:xfrm>
          <a:prstGeom prst="rect">
            <a:avLst/>
          </a:prstGeom>
          <a:noFill/>
          <a:effectLst/>
        </p:spPr>
        <p:txBody>
          <a:bodyPr wrap="square" lIns="0" rIns="0" tIns="0" bIns="0" anchor="t">
            <a:spAutoFit/>
          </a:bodyPr>
          <a:lstStyle/>
          <a:p>
            <a:pPr algn="l" rtl="0">
              <a:lnSpc>
                <a:spcPts val="1512"/>
              </a:lnSpc>
              <a:spcBef>
                <a:spcPts val="0"/>
              </a:spcBef>
              <a:spcAft>
                <a:spcPts val="0"/>
              </a:spcAft>
            </a:pPr>
            <a:r>
              <a:rPr sz="1350" b="1" lang="en-US">
                <a:solidFill>
                  <a:srgbClr val="262626"/>
                </a:solidFill>
                <a:latin typeface="Manrope"/>
              </a:rPr>
              <a:t>GRINDCTRL</a:t>
            </a:r>
          </a:p>
        </p:txBody>
      </p:sp>
      <p:sp>
        <p:nvSpPr>
          <p:cNvPr id="4" name="TextBox 3"/>
          <p:cNvSpPr txBox="1"/>
          <p:nvPr/>
        </p:nvSpPr>
        <p:spPr>
          <a:xfrm>
            <a:off x="6953250" y="285750"/>
            <a:ext cx="4781550" cy="266700"/>
          </a:xfrm>
          <a:prstGeom prst="rect">
            <a:avLst/>
          </a:prstGeom>
          <a:noFill/>
          <a:effectLst/>
        </p:spPr>
        <p:txBody>
          <a:bodyPr wrap="square" lIns="0" rIns="0" tIns="0" bIns="0" anchor="t">
            <a:spAutoFit/>
          </a:bodyPr>
          <a:lstStyle/>
          <a:p>
            <a:pPr algn="r" rtl="0">
              <a:lnSpc>
                <a:spcPts val="1344"/>
              </a:lnSpc>
              <a:spcBef>
                <a:spcPts val="0"/>
              </a:spcBef>
              <a:spcAft>
                <a:spcPts val="0"/>
              </a:spcAft>
            </a:pPr>
            <a:r>
              <a:rPr sz="1200" b="0" lang="en-US">
                <a:solidFill>
                  <a:srgbClr val="68645E"/>
                </a:solidFill>
                <a:latin typeface="Manrope"/>
              </a:rPr>
              <a:t>One fictional exchange follow-up</a:t>
            </a:r>
          </a:p>
        </p:txBody>
      </p:sp>
      <p:sp>
        <p:nvSpPr>
          <p:cNvPr id="5" name="TextBox 4"/>
          <p:cNvSpPr txBox="1"/>
          <p:nvPr/>
        </p:nvSpPr>
        <p:spPr>
          <a:xfrm>
            <a:off x="457200" y="885825"/>
            <a:ext cx="11277600" cy="581025"/>
          </a:xfrm>
          <a:prstGeom prst="rect">
            <a:avLst/>
          </a:prstGeom>
          <a:noFill/>
          <a:effectLst/>
        </p:spPr>
        <p:txBody>
          <a:bodyPr wrap="square" lIns="0" rIns="0" tIns="0" bIns="0" anchor="t">
            <a:spAutoFit/>
          </a:bodyPr>
          <a:lstStyle/>
          <a:p>
            <a:pPr algn="l" rtl="0">
              <a:lnSpc>
                <a:spcPts val="3528"/>
              </a:lnSpc>
              <a:spcBef>
                <a:spcPts val="0"/>
              </a:spcBef>
              <a:spcAft>
                <a:spcPts val="0"/>
              </a:spcAft>
            </a:pPr>
            <a:r>
              <a:rPr sz="3150" b="1" lang="en-US">
                <a:solidFill>
                  <a:srgbClr val="262626"/>
                </a:solidFill>
                <a:latin typeface="Manrope"/>
              </a:rPr>
              <a:t>Continue from the latest update.</a:t>
            </a:r>
          </a:p>
        </p:txBody>
      </p:sp>
      <p:cxnSp>
        <p:nvCxnSpPr>
          <p:cNvPr id="6" name="Connector 5"/>
          <p:cNvCxnSpPr/>
          <p:nvPr/>
        </p:nvCxnSpPr>
        <p:spPr>
          <a:xfrm>
            <a:off x="457200" y="6334125"/>
            <a:ext cx="112776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457200" y="6467475"/>
            <a:ext cx="10287000" cy="247650"/>
          </a:xfrm>
          <a:prstGeom prst="rect">
            <a:avLst/>
          </a:prstGeom>
          <a:noFill/>
          <a:effectLst/>
        </p:spPr>
        <p:txBody>
          <a:bodyPr wrap="square" lIns="0" rIns="0" tIns="0" bIns="0" anchor="t">
            <a:spAutoFit/>
          </a:bodyPr>
          <a:lstStyle/>
          <a:p>
            <a:pPr algn="l" rtl="0">
              <a:lnSpc>
                <a:spcPts val="1344"/>
              </a:lnSpc>
              <a:spcBef>
                <a:spcPts val="0"/>
              </a:spcBef>
              <a:spcAft>
                <a:spcPts val="0"/>
              </a:spcAft>
            </a:pPr>
            <a:r>
              <a:rPr sz="1200" b="0" lang="en-US">
                <a:solidFill>
                  <a:srgbClr val="68645E"/>
                </a:solidFill>
                <a:latin typeface="Manrope"/>
              </a:rPr>
              <a:t>Concrete · Proposed collaboration · Fictional records</a:t>
            </a:r>
          </a:p>
        </p:txBody>
      </p:sp>
      <p:sp>
        <p:nvSpPr>
          <p:cNvPr id="8" name="TextBox 7"/>
          <p:cNvSpPr txBox="1"/>
          <p:nvPr/>
        </p:nvSpPr>
        <p:spPr>
          <a:xfrm>
            <a:off x="11049000" y="6467475"/>
            <a:ext cx="685800" cy="247650"/>
          </a:xfrm>
          <a:prstGeom prst="rect">
            <a:avLst/>
          </a:prstGeom>
          <a:noFill/>
          <a:effectLst/>
        </p:spPr>
        <p:txBody>
          <a:bodyPr wrap="square" lIns="0" rIns="0" tIns="0" bIns="0" anchor="t">
            <a:spAutoFit/>
          </a:bodyPr>
          <a:lstStyle/>
          <a:p>
            <a:pPr algn="r" rtl="0">
              <a:lnSpc>
                <a:spcPts val="1344"/>
              </a:lnSpc>
              <a:spcBef>
                <a:spcPts val="0"/>
              </a:spcBef>
              <a:spcAft>
                <a:spcPts val="0"/>
              </a:spcAft>
            </a:pPr>
            <a:r>
              <a:rPr sz="1200" b="0" lang="en-US">
                <a:solidFill>
                  <a:srgbClr val="68645E"/>
                </a:solidFill>
                <a:latin typeface="Manrope"/>
              </a:rPr>
              <a:t>04 / 07</a:t>
            </a:r>
          </a:p>
        </p:txBody>
      </p:sp>
      <p:sp>
        <p:nvSpPr>
          <p:cNvPr id="9" name="Rounded Rectangle 8"/>
          <p:cNvSpPr/>
          <p:nvPr/>
        </p:nvSpPr>
        <p:spPr>
          <a:xfrm>
            <a:off x="457200" y="1800225"/>
            <a:ext cx="11277600" cy="3276600"/>
          </a:xfrm>
          <a:prstGeom prst="roundRect">
            <a:avLst>
              <a:gd name="adj" fmla="val 3488"/>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457200" y="1752600"/>
            <a:ext cx="11277600" cy="3276600"/>
          </a:xfrm>
          <a:prstGeom prst="roundRect">
            <a:avLst>
              <a:gd name="adj" fmla="val 3488"/>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1" name="Picture 10" descr="genesys.png"/>
          <p:cNvPicPr>
            <a:picLocks noChangeAspect="1"/>
          </p:cNvPicPr>
          <p:nvPr/>
        </p:nvPicPr>
        <p:blipFill>
          <a:blip r:embed="rId3"/>
          <a:stretch>
            <a:fillRect/>
          </a:stretch>
        </p:blipFill>
        <p:spPr>
          <a:xfrm>
            <a:off x="685800" y="1976066"/>
            <a:ext cx="1323975" cy="257917"/>
          </a:xfrm>
          <a:prstGeom prst="rect">
            <a:avLst/>
          </a:prstGeom>
          <a:effectLst/>
        </p:spPr>
      </p:pic>
      <p:sp>
        <p:nvSpPr>
          <p:cNvPr id="12" name="Oval 11"/>
          <p:cNvSpPr/>
          <p:nvPr/>
        </p:nvSpPr>
        <p:spPr>
          <a:xfrm>
            <a:off x="723900" y="2533650"/>
            <a:ext cx="76200" cy="76200"/>
          </a:xfrm>
          <a:prstGeom prst="ellipse">
            <a:avLst/>
          </a:prstGeom>
          <a:solidFill>
            <a:srgbClr val="49654E"/>
          </a:solidFill>
          <a:ln w="9525">
            <a:solidFill>
              <a:srgbClr val="49654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971550" y="2457450"/>
            <a:ext cx="2152650" cy="304800"/>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0" lang="en-US">
                <a:solidFill>
                  <a:srgbClr val="49654E"/>
                </a:solidFill>
                <a:latin typeface="Manrope"/>
              </a:rPr>
              <a:t>Call in progress</a:t>
            </a:r>
          </a:p>
        </p:txBody>
      </p:sp>
      <p:sp>
        <p:nvSpPr>
          <p:cNvPr id="14" name="Oval 13"/>
          <p:cNvSpPr/>
          <p:nvPr/>
        </p:nvSpPr>
        <p:spPr>
          <a:xfrm>
            <a:off x="685800" y="3000375"/>
            <a:ext cx="666750" cy="666750"/>
          </a:xfrm>
          <a:prstGeom prst="ellipse">
            <a:avLst/>
          </a:prstGeom>
          <a:solidFill>
            <a:srgbClr val="EFF4EE"/>
          </a:solidFill>
          <a:ln w="9525">
            <a:solidFill>
              <a:srgbClr val="EFF4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5" name="Picture 14" descr="icon-call.png"/>
          <p:cNvPicPr>
            <a:picLocks noChangeAspect="1"/>
          </p:cNvPicPr>
          <p:nvPr/>
        </p:nvPicPr>
        <p:blipFill>
          <a:blip r:embed="rId4"/>
          <a:stretch>
            <a:fillRect/>
          </a:stretch>
        </p:blipFill>
        <p:spPr>
          <a:xfrm>
            <a:off x="866775" y="3181350"/>
            <a:ext cx="304800" cy="304800"/>
          </a:xfrm>
          <a:prstGeom prst="rect">
            <a:avLst/>
          </a:prstGeom>
          <a:effectLst/>
        </p:spPr>
      </p:pic>
      <p:sp>
        <p:nvSpPr>
          <p:cNvPr id="16" name="TextBox 15"/>
          <p:cNvSpPr txBox="1"/>
          <p:nvPr/>
        </p:nvSpPr>
        <p:spPr>
          <a:xfrm>
            <a:off x="1524000" y="3048000"/>
            <a:ext cx="2047875" cy="381000"/>
          </a:xfrm>
          <a:prstGeom prst="rect">
            <a:avLst/>
          </a:prstGeom>
          <a:noFill/>
          <a:effectLst/>
        </p:spPr>
        <p:txBody>
          <a:bodyPr wrap="square" lIns="0" rIns="0" tIns="0" bIns="0" anchor="t">
            <a:spAutoFit/>
          </a:bodyPr>
          <a:lstStyle/>
          <a:p>
            <a:pPr algn="l" rtl="0">
              <a:lnSpc>
                <a:spcPts val="2184"/>
              </a:lnSpc>
              <a:spcBef>
                <a:spcPts val="0"/>
              </a:spcBef>
              <a:spcAft>
                <a:spcPts val="0"/>
              </a:spcAft>
            </a:pPr>
            <a:r>
              <a:rPr sz="1950" b="1" lang="en-US">
                <a:solidFill>
                  <a:srgbClr val="262626"/>
                </a:solidFill>
                <a:latin typeface="Manrope"/>
              </a:rPr>
              <a:t>Contact A</a:t>
            </a:r>
          </a:p>
        </p:txBody>
      </p:sp>
      <p:sp>
        <p:nvSpPr>
          <p:cNvPr id="17" name="TextBox 16"/>
          <p:cNvSpPr txBox="1"/>
          <p:nvPr/>
        </p:nvSpPr>
        <p:spPr>
          <a:xfrm>
            <a:off x="685800" y="4000500"/>
            <a:ext cx="2714625" cy="381000"/>
          </a:xfrm>
          <a:prstGeom prst="rect">
            <a:avLst/>
          </a:prstGeom>
          <a:noFill/>
          <a:effectLst/>
        </p:spPr>
        <p:txBody>
          <a:bodyPr wrap="square" lIns="0" rIns="0" tIns="0" bIns="0" anchor="t">
            <a:spAutoFit/>
          </a:bodyPr>
          <a:lstStyle/>
          <a:p>
            <a:pPr algn="l" rtl="0">
              <a:lnSpc>
                <a:spcPts val="2268"/>
              </a:lnSpc>
              <a:spcBef>
                <a:spcPts val="0"/>
              </a:spcBef>
              <a:spcAft>
                <a:spcPts val="0"/>
              </a:spcAft>
            </a:pPr>
            <a:r>
              <a:rPr sz="2025" b="0" lang="en-US">
                <a:solidFill>
                  <a:srgbClr val="262626"/>
                </a:solidFill>
                <a:latin typeface="Manrope"/>
              </a:rPr>
              <a:t>+20 ••• 410</a:t>
            </a:r>
          </a:p>
        </p:txBody>
      </p:sp>
      <p:cxnSp>
        <p:nvCxnSpPr>
          <p:cNvPr id="18" name="Connector 17"/>
          <p:cNvCxnSpPr/>
          <p:nvPr/>
        </p:nvCxnSpPr>
        <p:spPr>
          <a:xfrm>
            <a:off x="3657600" y="1981200"/>
            <a:ext cx="0" cy="281940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pic>
        <p:nvPicPr>
          <p:cNvPr id="19" name="Picture 18" descr="zoho.png"/>
          <p:cNvPicPr>
            <a:picLocks noChangeAspect="1"/>
          </p:cNvPicPr>
          <p:nvPr/>
        </p:nvPicPr>
        <p:blipFill>
          <a:blip r:embed="rId5"/>
          <a:stretch>
            <a:fillRect/>
          </a:stretch>
        </p:blipFill>
        <p:spPr>
          <a:xfrm>
            <a:off x="4014008" y="1971675"/>
            <a:ext cx="620684" cy="266700"/>
          </a:xfrm>
          <a:prstGeom prst="rect">
            <a:avLst/>
          </a:prstGeom>
          <a:effectLst/>
        </p:spPr>
      </p:pic>
      <p:sp>
        <p:nvSpPr>
          <p:cNvPr id="20" name="TextBox 19"/>
          <p:cNvSpPr txBox="1"/>
          <p:nvPr/>
        </p:nvSpPr>
        <p:spPr>
          <a:xfrm>
            <a:off x="4876800" y="1971675"/>
            <a:ext cx="6410325" cy="371475"/>
          </a:xfrm>
          <a:prstGeom prst="rect">
            <a:avLst/>
          </a:prstGeom>
          <a:noFill/>
          <a:effectLst/>
        </p:spPr>
        <p:txBody>
          <a:bodyPr wrap="square" lIns="0" rIns="0" tIns="0" bIns="0" anchor="t">
            <a:spAutoFit/>
          </a:bodyPr>
          <a:lstStyle/>
          <a:p>
            <a:pPr algn="l" rtl="0">
              <a:lnSpc>
                <a:spcPts val="2184"/>
              </a:lnSpc>
              <a:spcBef>
                <a:spcPts val="0"/>
              </a:spcBef>
              <a:spcAft>
                <a:spcPts val="0"/>
              </a:spcAft>
            </a:pPr>
            <a:r>
              <a:rPr sz="1950" b="1" lang="en-US">
                <a:solidFill>
                  <a:srgbClr val="262626"/>
                </a:solidFill>
                <a:latin typeface="Manrope"/>
              </a:rPr>
              <a:t>T101 · Exchange follow-up</a:t>
            </a:r>
          </a:p>
        </p:txBody>
      </p:sp>
      <p:pic>
        <p:nvPicPr>
          <p:cNvPr id="21" name="Picture 20" descr="icon-clock.png"/>
          <p:cNvPicPr>
            <a:picLocks noChangeAspect="1"/>
          </p:cNvPicPr>
          <p:nvPr/>
        </p:nvPicPr>
        <p:blipFill>
          <a:blip r:embed="rId6"/>
          <a:stretch>
            <a:fillRect/>
          </a:stretch>
        </p:blipFill>
        <p:spPr>
          <a:xfrm>
            <a:off x="3962400" y="2571750"/>
            <a:ext cx="200025" cy="200025"/>
          </a:xfrm>
          <a:prstGeom prst="rect">
            <a:avLst/>
          </a:prstGeom>
          <a:effectLst/>
        </p:spPr>
      </p:pic>
      <p:sp>
        <p:nvSpPr>
          <p:cNvPr id="22" name="TextBox 21"/>
          <p:cNvSpPr txBox="1"/>
          <p:nvPr/>
        </p:nvSpPr>
        <p:spPr>
          <a:xfrm>
            <a:off x="4248150" y="2552700"/>
            <a:ext cx="6381750" cy="304800"/>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0" lang="en-US">
                <a:solidFill>
                  <a:srgbClr val="965318"/>
                </a:solidFill>
                <a:latin typeface="Manrope"/>
              </a:rPr>
              <a:t>Waiting on the branch</a:t>
            </a:r>
          </a:p>
        </p:txBody>
      </p:sp>
      <p:sp>
        <p:nvSpPr>
          <p:cNvPr id="23" name="Rounded Rectangle 22"/>
          <p:cNvSpPr/>
          <p:nvPr/>
        </p:nvSpPr>
        <p:spPr>
          <a:xfrm>
            <a:off x="3962400" y="3124200"/>
            <a:ext cx="7467600" cy="1590675"/>
          </a:xfrm>
          <a:prstGeom prst="roundRect">
            <a:avLst>
              <a:gd name="adj" fmla="val 4790"/>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4" name="Picture 23" descr="icon-file.png"/>
          <p:cNvPicPr>
            <a:picLocks noChangeAspect="1"/>
          </p:cNvPicPr>
          <p:nvPr/>
        </p:nvPicPr>
        <p:blipFill>
          <a:blip r:embed="rId7"/>
          <a:stretch>
            <a:fillRect/>
          </a:stretch>
        </p:blipFill>
        <p:spPr>
          <a:xfrm>
            <a:off x="4191000" y="3314700"/>
            <a:ext cx="257175" cy="257175"/>
          </a:xfrm>
          <a:prstGeom prst="rect">
            <a:avLst/>
          </a:prstGeom>
          <a:effectLst/>
        </p:spPr>
      </p:pic>
      <p:sp>
        <p:nvSpPr>
          <p:cNvPr id="25" name="TextBox 24"/>
          <p:cNvSpPr txBox="1"/>
          <p:nvPr/>
        </p:nvSpPr>
        <p:spPr>
          <a:xfrm>
            <a:off x="4581525" y="3305175"/>
            <a:ext cx="6496050" cy="333375"/>
          </a:xfrm>
          <a:prstGeom prst="rect">
            <a:avLst/>
          </a:prstGeom>
          <a:noFill/>
          <a:effectLst/>
        </p:spPr>
        <p:txBody>
          <a:bodyPr wrap="square" lIns="0" rIns="0" tIns="0" bIns="0" anchor="t">
            <a:spAutoFit/>
          </a:bodyPr>
          <a:lstStyle/>
          <a:p>
            <a:pPr algn="l" rtl="0">
              <a:lnSpc>
                <a:spcPts val="1848"/>
              </a:lnSpc>
              <a:spcBef>
                <a:spcPts val="0"/>
              </a:spcBef>
              <a:spcAft>
                <a:spcPts val="0"/>
              </a:spcAft>
            </a:pPr>
            <a:r>
              <a:rPr sz="1650" b="0" lang="en-US">
                <a:solidFill>
                  <a:srgbClr val="965318"/>
                </a:solidFill>
                <a:latin typeface="Manrope"/>
              </a:rPr>
              <a:t>Latest recorded note</a:t>
            </a:r>
          </a:p>
        </p:txBody>
      </p:sp>
      <p:sp>
        <p:nvSpPr>
          <p:cNvPr id="26" name="TextBox 25"/>
          <p:cNvSpPr txBox="1"/>
          <p:nvPr/>
        </p:nvSpPr>
        <p:spPr>
          <a:xfrm>
            <a:off x="4191000" y="3829050"/>
            <a:ext cx="7010400" cy="561975"/>
          </a:xfrm>
          <a:prstGeom prst="rect">
            <a:avLst/>
          </a:prstGeom>
          <a:noFill/>
          <a:effectLst/>
        </p:spPr>
        <p:txBody>
          <a:bodyPr wrap="square" lIns="0" rIns="0" tIns="0" bIns="0" anchor="t">
            <a:spAutoFit/>
          </a:bodyPr>
          <a:lstStyle/>
          <a:p>
            <a:pPr algn="l" rtl="0">
              <a:lnSpc>
                <a:spcPts val="2856"/>
              </a:lnSpc>
              <a:spcBef>
                <a:spcPts val="0"/>
              </a:spcBef>
              <a:spcAft>
                <a:spcPts val="0"/>
              </a:spcAft>
            </a:pPr>
            <a:r>
              <a:rPr sz="2550" b="1" lang="en-US">
                <a:solidFill>
                  <a:srgbClr val="262626"/>
                </a:solidFill>
                <a:latin typeface="Manrope"/>
              </a:rPr>
              <a:t>Branch review is still pending.</a:t>
            </a:r>
          </a:p>
        </p:txBody>
      </p:sp>
      <p:sp>
        <p:nvSpPr>
          <p:cNvPr id="27" name="Oval 26"/>
          <p:cNvSpPr/>
          <p:nvPr/>
        </p:nvSpPr>
        <p:spPr>
          <a:xfrm>
            <a:off x="609600" y="5372100"/>
            <a:ext cx="581025" cy="581025"/>
          </a:xfrm>
          <a:prstGeom prst="ellipse">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8" name="Picture 27" descr="icon-actor.png"/>
          <p:cNvPicPr>
            <a:picLocks noChangeAspect="1"/>
          </p:cNvPicPr>
          <p:nvPr/>
        </p:nvPicPr>
        <p:blipFill>
          <a:blip r:embed="rId8"/>
          <a:stretch>
            <a:fillRect/>
          </a:stretch>
        </p:blipFill>
        <p:spPr>
          <a:xfrm>
            <a:off x="737426" y="5499926"/>
            <a:ext cx="325374" cy="325374"/>
          </a:xfrm>
          <a:prstGeom prst="rect">
            <a:avLst/>
          </a:prstGeom>
          <a:effectLst/>
        </p:spPr>
      </p:pic>
      <p:pic>
        <p:nvPicPr>
          <p:cNvPr id="29" name="Picture 28" descr="icon-speech.png"/>
          <p:cNvPicPr>
            <a:picLocks noChangeAspect="1"/>
          </p:cNvPicPr>
          <p:nvPr/>
        </p:nvPicPr>
        <p:blipFill>
          <a:blip r:embed="rId9"/>
          <a:stretch>
            <a:fillRect/>
          </a:stretch>
        </p:blipFill>
        <p:spPr>
          <a:xfrm>
            <a:off x="1323975" y="5391150"/>
            <a:ext cx="371475" cy="371475"/>
          </a:xfrm>
          <a:prstGeom prst="rect">
            <a:avLst/>
          </a:prstGeom>
          <a:effectLst/>
        </p:spPr>
      </p:pic>
      <p:sp>
        <p:nvSpPr>
          <p:cNvPr id="30" name="TextBox 29"/>
          <p:cNvSpPr txBox="1"/>
          <p:nvPr/>
        </p:nvSpPr>
        <p:spPr>
          <a:xfrm>
            <a:off x="1847850" y="5286375"/>
            <a:ext cx="9572625" cy="400050"/>
          </a:xfrm>
          <a:prstGeom prst="rect">
            <a:avLst/>
          </a:prstGeom>
          <a:noFill/>
          <a:effectLst/>
        </p:spPr>
        <p:txBody>
          <a:bodyPr wrap="square" lIns="0" rIns="0" tIns="0" bIns="0" anchor="t">
            <a:spAutoFit/>
          </a:bodyPr>
          <a:lstStyle/>
          <a:p>
            <a:pPr algn="l" rtl="0">
              <a:lnSpc>
                <a:spcPts val="2268"/>
              </a:lnSpc>
              <a:spcBef>
                <a:spcPts val="0"/>
              </a:spcBef>
              <a:spcAft>
                <a:spcPts val="0"/>
              </a:spcAft>
            </a:pPr>
            <a:r>
              <a:rPr sz="2025" b="1" lang="en-US">
                <a:solidFill>
                  <a:srgbClr val="262626"/>
                </a:solidFill>
                <a:latin typeface="Manrope"/>
              </a:rPr>
              <a:t>“I can see your exchange request is awaiting branch review.”</a:t>
            </a:r>
          </a:p>
        </p:txBody>
      </p:sp>
      <p:sp>
        <p:nvSpPr>
          <p:cNvPr id="31" name="TextBox 30"/>
          <p:cNvSpPr txBox="1"/>
          <p:nvPr/>
        </p:nvSpPr>
        <p:spPr>
          <a:xfrm>
            <a:off x="1847850" y="5762625"/>
            <a:ext cx="9572625" cy="285750"/>
          </a:xfrm>
          <a:prstGeom prst="rect">
            <a:avLst/>
          </a:prstGeom>
          <a:noFill/>
          <a:effectLst/>
        </p:spPr>
        <p:txBody>
          <a:bodyPr wrap="square" lIns="0" rIns="0" tIns="0" bIns="0" anchor="t">
            <a:spAutoFit/>
          </a:bodyPr>
          <a:lstStyle/>
          <a:p>
            <a:pPr algn="l" rtl="0">
              <a:lnSpc>
                <a:spcPts val="1596"/>
              </a:lnSpc>
              <a:spcBef>
                <a:spcPts val="0"/>
              </a:spcBef>
              <a:spcAft>
                <a:spcPts val="0"/>
              </a:spcAft>
            </a:pPr>
            <a:r>
              <a:rPr sz="1425" b="0" lang="en-US">
                <a:solidFill>
                  <a:srgbClr val="68645E"/>
                </a:solidFill>
                <a:latin typeface="Manrope"/>
              </a:rPr>
              <a:t>Illustrative employee response after caller verification</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set>
                                <p:cBhvr>
                                  <p:cTn id="5" dur="1" fill="hold"/>
                                  <p:tgtEl>
                                    <p:spTgt spid="11"/>
                                  </p:tgtEl>
                                  <p:attrNameLst>
                                    <p:attrName>style.visibility</p:attrName>
                                  </p:attrNameLst>
                                </p:cBhvr>
                                <p:to>
                                  <p:strVal val="visible"/>
                                </p:to>
                              </p:set>
                              <p:animEffect transition="in" filter="fade">
                                <p:cBhvr>
                                  <p:cTn id="6" dur="520"/>
                                  <p:tgtEl>
                                    <p:spTgt spid="11"/>
                                  </p:tgtEl>
                                </p:cBhvr>
                              </p:animEffect>
                            </p:childTnLst>
                          </p:cTn>
                        </p:par>
                        <p:par>
                          <p:cTn id="7" presetID="10" presetClass="entr" presetSubtype="0" fill="hold" nodeType="withEffect">
                            <p:stCondLst>
                              <p:cond delay="0"/>
                            </p:stCondLst>
                            <p:childTnLst>
                              <p:set>
                                <p:cBhvr>
                                  <p:cTn id="8" dur="1" fill="hold"/>
                                  <p:tgtEl>
                                    <p:spTgt spid="12"/>
                                  </p:tgtEl>
                                  <p:attrNameLst>
                                    <p:attrName>style.visibility</p:attrName>
                                  </p:attrNameLst>
                                </p:cBhvr>
                                <p:to>
                                  <p:strVal val="visible"/>
                                </p:to>
                              </p:set>
                              <p:animEffect transition="in" filter="fade">
                                <p:cBhvr>
                                  <p:cTn id="9" dur="520"/>
                                  <p:tgtEl>
                                    <p:spTgt spid="12"/>
                                  </p:tgtEl>
                                </p:cBhvr>
                              </p:animEffect>
                            </p:childTnLst>
                          </p:cTn>
                        </p:par>
                        <p:par>
                          <p:cTn id="10" presetID="10" presetClass="entr" presetSubtype="0" fill="hold" nodeType="withEffect">
                            <p:stCondLst>
                              <p:cond delay="0"/>
                            </p:stCondLst>
                            <p:childTnLst>
                              <p:set>
                                <p:cBhvr>
                                  <p:cTn id="11" dur="1" fill="hold"/>
                                  <p:tgtEl>
                                    <p:spTgt spid="13"/>
                                  </p:tgtEl>
                                  <p:attrNameLst>
                                    <p:attrName>style.visibility</p:attrName>
                                  </p:attrNameLst>
                                </p:cBhvr>
                                <p:to>
                                  <p:strVal val="visible"/>
                                </p:to>
                              </p:set>
                              <p:animEffect transition="in" filter="fade">
                                <p:cBhvr>
                                  <p:cTn id="12" dur="520"/>
                                  <p:tgtEl>
                                    <p:spTgt spid="13"/>
                                  </p:tgtEl>
                                </p:cBhvr>
                              </p:animEffect>
                            </p:childTnLst>
                          </p:cTn>
                        </p:par>
                        <p:par>
                          <p:cTn id="13" presetID="10" presetClass="entr" presetSubtype="0" fill="hold" nodeType="withEffect">
                            <p:stCondLst>
                              <p:cond delay="0"/>
                            </p:stCondLst>
                            <p:childTnLst>
                              <p:set>
                                <p:cBhvr>
                                  <p:cTn id="14" dur="1" fill="hold"/>
                                  <p:tgtEl>
                                    <p:spTgt spid="14"/>
                                  </p:tgtEl>
                                  <p:attrNameLst>
                                    <p:attrName>style.visibility</p:attrName>
                                  </p:attrNameLst>
                                </p:cBhvr>
                                <p:to>
                                  <p:strVal val="visible"/>
                                </p:to>
                              </p:set>
                              <p:animEffect transition="in" filter="fade">
                                <p:cBhvr>
                                  <p:cTn id="15" dur="520"/>
                                  <p:tgtEl>
                                    <p:spTgt spid="14"/>
                                  </p:tgtEl>
                                </p:cBhvr>
                              </p:animEffect>
                            </p:childTnLst>
                          </p:cTn>
                        </p:par>
                        <p:par>
                          <p:cTn id="16" presetID="10" presetClass="entr" presetSubtype="0" fill="hold" nodeType="withEffect">
                            <p:stCondLst>
                              <p:cond delay="0"/>
                            </p:stCondLst>
                            <p:childTnLst>
                              <p:set>
                                <p:cBhvr>
                                  <p:cTn id="17" dur="1" fill="hold"/>
                                  <p:tgtEl>
                                    <p:spTgt spid="15"/>
                                  </p:tgtEl>
                                  <p:attrNameLst>
                                    <p:attrName>style.visibility</p:attrName>
                                  </p:attrNameLst>
                                </p:cBhvr>
                                <p:to>
                                  <p:strVal val="visible"/>
                                </p:to>
                              </p:set>
                              <p:animEffect transition="in" filter="fade">
                                <p:cBhvr>
                                  <p:cTn id="18" dur="520"/>
                                  <p:tgtEl>
                                    <p:spTgt spid="15"/>
                                  </p:tgtEl>
                                </p:cBhvr>
                              </p:animEffect>
                            </p:childTnLst>
                          </p:cTn>
                        </p:par>
                        <p:par>
                          <p:cTn id="19" presetID="10" presetClass="entr" presetSubtype="0" fill="hold" nodeType="withEffect">
                            <p:stCondLst>
                              <p:cond delay="0"/>
                            </p:stCondLst>
                            <p:childTnLst>
                              <p:set>
                                <p:cBhvr>
                                  <p:cTn id="20" dur="1" fill="hold"/>
                                  <p:tgtEl>
                                    <p:spTgt spid="16"/>
                                  </p:tgtEl>
                                  <p:attrNameLst>
                                    <p:attrName>style.visibility</p:attrName>
                                  </p:attrNameLst>
                                </p:cBhvr>
                                <p:to>
                                  <p:strVal val="visible"/>
                                </p:to>
                              </p:set>
                              <p:animEffect transition="in" filter="fade">
                                <p:cBhvr>
                                  <p:cTn id="21" dur="520"/>
                                  <p:tgtEl>
                                    <p:spTgt spid="16"/>
                                  </p:tgtEl>
                                </p:cBhvr>
                              </p:animEffect>
                            </p:childTnLst>
                          </p:cTn>
                        </p:par>
                        <p:par>
                          <p:cTn id="22" presetID="10" presetClass="entr" presetSubtype="0" fill="hold" nodeType="withEffect">
                            <p:stCondLst>
                              <p:cond delay="0"/>
                            </p:stCondLst>
                            <p:childTnLst>
                              <p:set>
                                <p:cBhvr>
                                  <p:cTn id="23" dur="1" fill="hold"/>
                                  <p:tgtEl>
                                    <p:spTgt spid="17"/>
                                  </p:tgtEl>
                                  <p:attrNameLst>
                                    <p:attrName>style.visibility</p:attrName>
                                  </p:attrNameLst>
                                </p:cBhvr>
                                <p:to>
                                  <p:strVal val="visible"/>
                                </p:to>
                              </p:set>
                              <p:animEffect transition="in" filter="fade">
                                <p:cBhvr>
                                  <p:cTn id="24" dur="520"/>
                                  <p:tgtEl>
                                    <p:spTgt spid="17"/>
                                  </p:tgtEl>
                                </p:cBhvr>
                              </p:animEffect>
                            </p:childTnLst>
                          </p:cTn>
                        </p:par>
                        <p:par>
                          <p:cTn id="25" presetID="10" presetClass="entr" presetSubtype="0" fill="hold" nodeType="withEffect">
                            <p:stCondLst>
                              <p:cond delay="1400"/>
                            </p:stCondLst>
                            <p:childTnLst>
                              <p:set>
                                <p:cBhvr>
                                  <p:cTn id="26" dur="1" fill="hold"/>
                                  <p:tgtEl>
                                    <p:spTgt spid="21"/>
                                  </p:tgtEl>
                                  <p:attrNameLst>
                                    <p:attrName>style.visibility</p:attrName>
                                  </p:attrNameLst>
                                </p:cBhvr>
                                <p:to>
                                  <p:strVal val="visible"/>
                                </p:to>
                              </p:set>
                              <p:animEffect transition="in" filter="fade">
                                <p:cBhvr>
                                  <p:cTn id="27" dur="520"/>
                                  <p:tgtEl>
                                    <p:spTgt spid="21"/>
                                  </p:tgtEl>
                                </p:cBhvr>
                              </p:animEffect>
                            </p:childTnLst>
                          </p:cTn>
                        </p:par>
                        <p:par>
                          <p:cTn id="28" presetID="10" presetClass="entr" presetSubtype="0" fill="hold" nodeType="withEffect">
                            <p:stCondLst>
                              <p:cond delay="1400"/>
                            </p:stCondLst>
                            <p:childTnLst>
                              <p:set>
                                <p:cBhvr>
                                  <p:cTn id="29" dur="1" fill="hold"/>
                                  <p:tgtEl>
                                    <p:spTgt spid="22"/>
                                  </p:tgtEl>
                                  <p:attrNameLst>
                                    <p:attrName>style.visibility</p:attrName>
                                  </p:attrNameLst>
                                </p:cBhvr>
                                <p:to>
                                  <p:strVal val="visible"/>
                                </p:to>
                              </p:set>
                              <p:animEffect transition="in" filter="fade">
                                <p:cBhvr>
                                  <p:cTn id="30" dur="520"/>
                                  <p:tgtEl>
                                    <p:spTgt spid="22"/>
                                  </p:tgtEl>
                                </p:cBhvr>
                              </p:animEffect>
                            </p:childTnLst>
                          </p:cTn>
                        </p:par>
                        <p:par>
                          <p:cTn id="31" presetID="10" presetClass="entr" presetSubtype="0" fill="hold" nodeType="withEffect">
                            <p:stCondLst>
                              <p:cond delay="1400"/>
                            </p:stCondLst>
                            <p:childTnLst>
                              <p:set>
                                <p:cBhvr>
                                  <p:cTn id="32" dur="1" fill="hold"/>
                                  <p:tgtEl>
                                    <p:spTgt spid="23"/>
                                  </p:tgtEl>
                                  <p:attrNameLst>
                                    <p:attrName>style.visibility</p:attrName>
                                  </p:attrNameLst>
                                </p:cBhvr>
                                <p:to>
                                  <p:strVal val="visible"/>
                                </p:to>
                              </p:set>
                              <p:animEffect transition="in" filter="fade">
                                <p:cBhvr>
                                  <p:cTn id="33" dur="520"/>
                                  <p:tgtEl>
                                    <p:spTgt spid="23"/>
                                  </p:tgtEl>
                                </p:cBhvr>
                              </p:animEffect>
                            </p:childTnLst>
                          </p:cTn>
                        </p:par>
                        <p:par>
                          <p:cTn id="34" presetID="10" presetClass="entr" presetSubtype="0" fill="hold" nodeType="withEffect">
                            <p:stCondLst>
                              <p:cond delay="1400"/>
                            </p:stCondLst>
                            <p:childTnLst>
                              <p:set>
                                <p:cBhvr>
                                  <p:cTn id="35" dur="1" fill="hold"/>
                                  <p:tgtEl>
                                    <p:spTgt spid="24"/>
                                  </p:tgtEl>
                                  <p:attrNameLst>
                                    <p:attrName>style.visibility</p:attrName>
                                  </p:attrNameLst>
                                </p:cBhvr>
                                <p:to>
                                  <p:strVal val="visible"/>
                                </p:to>
                              </p:set>
                              <p:animEffect transition="in" filter="fade">
                                <p:cBhvr>
                                  <p:cTn id="36" dur="520"/>
                                  <p:tgtEl>
                                    <p:spTgt spid="24"/>
                                  </p:tgtEl>
                                </p:cBhvr>
                              </p:animEffect>
                            </p:childTnLst>
                          </p:cTn>
                        </p:par>
                        <p:par>
                          <p:cTn id="37" presetID="10" presetClass="entr" presetSubtype="0" fill="hold" nodeType="withEffect">
                            <p:stCondLst>
                              <p:cond delay="1400"/>
                            </p:stCondLst>
                            <p:childTnLst>
                              <p:set>
                                <p:cBhvr>
                                  <p:cTn id="38" dur="1" fill="hold"/>
                                  <p:tgtEl>
                                    <p:spTgt spid="25"/>
                                  </p:tgtEl>
                                  <p:attrNameLst>
                                    <p:attrName>style.visibility</p:attrName>
                                  </p:attrNameLst>
                                </p:cBhvr>
                                <p:to>
                                  <p:strVal val="visible"/>
                                </p:to>
                              </p:set>
                              <p:animEffect transition="in" filter="fade">
                                <p:cBhvr>
                                  <p:cTn id="39" dur="520"/>
                                  <p:tgtEl>
                                    <p:spTgt spid="25"/>
                                  </p:tgtEl>
                                </p:cBhvr>
                              </p:animEffect>
                            </p:childTnLst>
                          </p:cTn>
                        </p:par>
                        <p:par>
                          <p:cTn id="40" presetID="10" presetClass="entr" presetSubtype="0" fill="hold" nodeType="withEffect">
                            <p:stCondLst>
                              <p:cond delay="1400"/>
                            </p:stCondLst>
                            <p:childTnLst>
                              <p:set>
                                <p:cBhvr>
                                  <p:cTn id="41" dur="1" fill="hold"/>
                                  <p:tgtEl>
                                    <p:spTgt spid="26"/>
                                  </p:tgtEl>
                                  <p:attrNameLst>
                                    <p:attrName>style.visibility</p:attrName>
                                  </p:attrNameLst>
                                </p:cBhvr>
                                <p:to>
                                  <p:strVal val="visible"/>
                                </p:to>
                              </p:set>
                              <p:animEffect transition="in" filter="fade">
                                <p:cBhvr>
                                  <p:cTn id="42" dur="520"/>
                                  <p:tgtEl>
                                    <p:spTgt spid="26"/>
                                  </p:tgtEl>
                                </p:cBhvr>
                              </p:animEffect>
                            </p:childTnLst>
                          </p:cTn>
                        </p:par>
                        <p:par>
                          <p:cTn id="43" presetID="10" presetClass="entr" presetSubtype="0" fill="hold" nodeType="withEffect">
                            <p:stCondLst>
                              <p:cond delay="2800"/>
                            </p:stCondLst>
                            <p:childTnLst>
                              <p:set>
                                <p:cBhvr>
                                  <p:cTn id="44" dur="1" fill="hold"/>
                                  <p:tgtEl>
                                    <p:spTgt spid="27"/>
                                  </p:tgtEl>
                                  <p:attrNameLst>
                                    <p:attrName>style.visibility</p:attrName>
                                  </p:attrNameLst>
                                </p:cBhvr>
                                <p:to>
                                  <p:strVal val="visible"/>
                                </p:to>
                              </p:set>
                              <p:animEffect transition="in" filter="fade">
                                <p:cBhvr>
                                  <p:cTn id="45" dur="520"/>
                                  <p:tgtEl>
                                    <p:spTgt spid="27"/>
                                  </p:tgtEl>
                                </p:cBhvr>
                              </p:animEffect>
                            </p:childTnLst>
                          </p:cTn>
                        </p:par>
                        <p:par>
                          <p:cTn id="46" presetID="10" presetClass="entr" presetSubtype="0" fill="hold" nodeType="withEffect">
                            <p:stCondLst>
                              <p:cond delay="2800"/>
                            </p:stCondLst>
                            <p:childTnLst>
                              <p:set>
                                <p:cBhvr>
                                  <p:cTn id="47" dur="1" fill="hold"/>
                                  <p:tgtEl>
                                    <p:spTgt spid="28"/>
                                  </p:tgtEl>
                                  <p:attrNameLst>
                                    <p:attrName>style.visibility</p:attrName>
                                  </p:attrNameLst>
                                </p:cBhvr>
                                <p:to>
                                  <p:strVal val="visible"/>
                                </p:to>
                              </p:set>
                              <p:animEffect transition="in" filter="fade">
                                <p:cBhvr>
                                  <p:cTn id="48" dur="520"/>
                                  <p:tgtEl>
                                    <p:spTgt spid="28"/>
                                  </p:tgtEl>
                                </p:cBhvr>
                              </p:animEffect>
                            </p:childTnLst>
                          </p:cTn>
                        </p:par>
                        <p:par>
                          <p:cTn id="49" presetID="10" presetClass="entr" presetSubtype="0" fill="hold" nodeType="withEffect">
                            <p:stCondLst>
                              <p:cond delay="2800"/>
                            </p:stCondLst>
                            <p:childTnLst>
                              <p:set>
                                <p:cBhvr>
                                  <p:cTn id="50" dur="1" fill="hold"/>
                                  <p:tgtEl>
                                    <p:spTgt spid="29"/>
                                  </p:tgtEl>
                                  <p:attrNameLst>
                                    <p:attrName>style.visibility</p:attrName>
                                  </p:attrNameLst>
                                </p:cBhvr>
                                <p:to>
                                  <p:strVal val="visible"/>
                                </p:to>
                              </p:set>
                              <p:animEffect transition="in" filter="fade">
                                <p:cBhvr>
                                  <p:cTn id="51" dur="520"/>
                                  <p:tgtEl>
                                    <p:spTgt spid="29"/>
                                  </p:tgtEl>
                                </p:cBhvr>
                              </p:animEffect>
                            </p:childTnLst>
                          </p:cTn>
                        </p:par>
                        <p:par>
                          <p:cTn id="52" presetID="10" presetClass="entr" presetSubtype="0" fill="hold" nodeType="withEffect">
                            <p:stCondLst>
                              <p:cond delay="2800"/>
                            </p:stCondLst>
                            <p:childTnLst>
                              <p:set>
                                <p:cBhvr>
                                  <p:cTn id="53" dur="1" fill="hold"/>
                                  <p:tgtEl>
                                    <p:spTgt spid="30"/>
                                  </p:tgtEl>
                                  <p:attrNameLst>
                                    <p:attrName>style.visibility</p:attrName>
                                  </p:attrNameLst>
                                </p:cBhvr>
                                <p:to>
                                  <p:strVal val="visible"/>
                                </p:to>
                              </p:set>
                              <p:animEffect transition="in" filter="fade">
                                <p:cBhvr>
                                  <p:cTn id="54" dur="520"/>
                                  <p:tgtEl>
                                    <p:spTgt spid="30"/>
                                  </p:tgtEl>
                                </p:cBhvr>
                              </p:animEffect>
                            </p:childTnLst>
                          </p:cTn>
                        </p:par>
                        <p:par>
                          <p:cTn id="55" presetID="10" presetClass="entr" presetSubtype="0" fill="hold" nodeType="withEffect">
                            <p:stCondLst>
                              <p:cond delay="2800"/>
                            </p:stCondLst>
                            <p:childTnLst>
                              <p:set>
                                <p:cBhvr>
                                  <p:cTn id="56" dur="1" fill="hold"/>
                                  <p:tgtEl>
                                    <p:spTgt spid="31"/>
                                  </p:tgtEl>
                                  <p:attrNameLst>
                                    <p:attrName>style.visibility</p:attrName>
                                  </p:attrNameLst>
                                </p:cBhvr>
                                <p:to>
                                  <p:strVal val="visible"/>
                                </p:to>
                              </p:set>
                              <p:animEffect transition="in" filter="fade">
                                <p:cBhvr>
                                  <p:cTn id="57" dur="520"/>
                                  <p:tgtEl>
                                    <p:spTgt spid="31"/>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7F4"/>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457200" y="258762"/>
            <a:ext cx="409575" cy="273050"/>
          </a:xfrm>
          <a:prstGeom prst="rect">
            <a:avLst/>
          </a:prstGeom>
          <a:effectLst/>
        </p:spPr>
      </p:pic>
      <p:sp>
        <p:nvSpPr>
          <p:cNvPr id="3" name="TextBox 2"/>
          <p:cNvSpPr txBox="1"/>
          <p:nvPr/>
        </p:nvSpPr>
        <p:spPr>
          <a:xfrm>
            <a:off x="981075" y="276225"/>
            <a:ext cx="1714500" cy="285750"/>
          </a:xfrm>
          <a:prstGeom prst="rect">
            <a:avLst/>
          </a:prstGeom>
          <a:noFill/>
          <a:effectLst/>
        </p:spPr>
        <p:txBody>
          <a:bodyPr wrap="square" lIns="0" rIns="0" tIns="0" bIns="0" anchor="t">
            <a:spAutoFit/>
          </a:bodyPr>
          <a:lstStyle/>
          <a:p>
            <a:pPr algn="l" rtl="0">
              <a:lnSpc>
                <a:spcPts val="1512"/>
              </a:lnSpc>
              <a:spcBef>
                <a:spcPts val="0"/>
              </a:spcBef>
              <a:spcAft>
                <a:spcPts val="0"/>
              </a:spcAft>
            </a:pPr>
            <a:r>
              <a:rPr sz="1350" b="1" lang="en-US">
                <a:solidFill>
                  <a:srgbClr val="262626"/>
                </a:solidFill>
                <a:latin typeface="Manrope"/>
              </a:rPr>
              <a:t>GRINDCTRL</a:t>
            </a:r>
          </a:p>
        </p:txBody>
      </p:sp>
      <p:sp>
        <p:nvSpPr>
          <p:cNvPr id="4" name="TextBox 3"/>
          <p:cNvSpPr txBox="1"/>
          <p:nvPr/>
        </p:nvSpPr>
        <p:spPr>
          <a:xfrm>
            <a:off x="6953250" y="285750"/>
            <a:ext cx="4781550" cy="266700"/>
          </a:xfrm>
          <a:prstGeom prst="rect">
            <a:avLst/>
          </a:prstGeom>
          <a:noFill/>
          <a:effectLst/>
        </p:spPr>
        <p:txBody>
          <a:bodyPr wrap="square" lIns="0" rIns="0" tIns="0" bIns="0" anchor="t">
            <a:spAutoFit/>
          </a:bodyPr>
          <a:lstStyle/>
          <a:p>
            <a:pPr algn="r" rtl="0">
              <a:lnSpc>
                <a:spcPts val="1344"/>
              </a:lnSpc>
              <a:spcBef>
                <a:spcPts val="0"/>
              </a:spcBef>
              <a:spcAft>
                <a:spcPts val="0"/>
              </a:spcAft>
            </a:pPr>
            <a:r>
              <a:rPr sz="1200" b="0" lang="en-US">
                <a:solidFill>
                  <a:srgbClr val="68645E"/>
                </a:solidFill>
                <a:latin typeface="Manrope"/>
              </a:rPr>
              <a:t>Current → proposed</a:t>
            </a:r>
          </a:p>
        </p:txBody>
      </p:sp>
      <p:sp>
        <p:nvSpPr>
          <p:cNvPr id="5" name="TextBox 4"/>
          <p:cNvSpPr txBox="1"/>
          <p:nvPr/>
        </p:nvSpPr>
        <p:spPr>
          <a:xfrm>
            <a:off x="457200" y="885825"/>
            <a:ext cx="11277600" cy="581025"/>
          </a:xfrm>
          <a:prstGeom prst="rect">
            <a:avLst/>
          </a:prstGeom>
          <a:noFill/>
          <a:effectLst/>
        </p:spPr>
        <p:txBody>
          <a:bodyPr wrap="square" lIns="0" rIns="0" tIns="0" bIns="0" anchor="t">
            <a:spAutoFit/>
          </a:bodyPr>
          <a:lstStyle/>
          <a:p>
            <a:pPr algn="l" rtl="0">
              <a:lnSpc>
                <a:spcPts val="3528"/>
              </a:lnSpc>
              <a:spcBef>
                <a:spcPts val="0"/>
              </a:spcBef>
              <a:spcAft>
                <a:spcPts val="0"/>
              </a:spcAft>
            </a:pPr>
            <a:r>
              <a:rPr sz="3150" b="1" lang="en-US">
                <a:solidFill>
                  <a:srgbClr val="262626"/>
                </a:solidFill>
                <a:latin typeface="Manrope"/>
              </a:rPr>
              <a:t>One call. Two employee experiences.</a:t>
            </a:r>
          </a:p>
        </p:txBody>
      </p:sp>
      <p:cxnSp>
        <p:nvCxnSpPr>
          <p:cNvPr id="6" name="Connector 5"/>
          <p:cNvCxnSpPr/>
          <p:nvPr/>
        </p:nvCxnSpPr>
        <p:spPr>
          <a:xfrm>
            <a:off x="457200" y="6334125"/>
            <a:ext cx="112776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457200" y="6467475"/>
            <a:ext cx="10287000" cy="247650"/>
          </a:xfrm>
          <a:prstGeom prst="rect">
            <a:avLst/>
          </a:prstGeom>
          <a:noFill/>
          <a:effectLst/>
        </p:spPr>
        <p:txBody>
          <a:bodyPr wrap="square" lIns="0" rIns="0" tIns="0" bIns="0" anchor="t">
            <a:spAutoFit/>
          </a:bodyPr>
          <a:lstStyle/>
          <a:p>
            <a:pPr algn="l" rtl="0">
              <a:lnSpc>
                <a:spcPts val="1344"/>
              </a:lnSpc>
              <a:spcBef>
                <a:spcPts val="0"/>
              </a:spcBef>
              <a:spcAft>
                <a:spcPts val="0"/>
              </a:spcAft>
            </a:pPr>
            <a:r>
              <a:rPr sz="1200" b="0" lang="en-US">
                <a:solidFill>
                  <a:srgbClr val="68645E"/>
                </a:solidFill>
                <a:latin typeface="Manrope"/>
              </a:rPr>
              <a:t>Concrete · Proposed collaboration · Fictional records</a:t>
            </a:r>
          </a:p>
        </p:txBody>
      </p:sp>
      <p:sp>
        <p:nvSpPr>
          <p:cNvPr id="8" name="TextBox 7"/>
          <p:cNvSpPr txBox="1"/>
          <p:nvPr/>
        </p:nvSpPr>
        <p:spPr>
          <a:xfrm>
            <a:off x="11049000" y="6467475"/>
            <a:ext cx="685800" cy="247650"/>
          </a:xfrm>
          <a:prstGeom prst="rect">
            <a:avLst/>
          </a:prstGeom>
          <a:noFill/>
          <a:effectLst/>
        </p:spPr>
        <p:txBody>
          <a:bodyPr wrap="square" lIns="0" rIns="0" tIns="0" bIns="0" anchor="t">
            <a:spAutoFit/>
          </a:bodyPr>
          <a:lstStyle/>
          <a:p>
            <a:pPr algn="r" rtl="0">
              <a:lnSpc>
                <a:spcPts val="1344"/>
              </a:lnSpc>
              <a:spcBef>
                <a:spcPts val="0"/>
              </a:spcBef>
              <a:spcAft>
                <a:spcPts val="0"/>
              </a:spcAft>
            </a:pPr>
            <a:r>
              <a:rPr sz="1200" b="0" lang="en-US">
                <a:solidFill>
                  <a:srgbClr val="68645E"/>
                </a:solidFill>
                <a:latin typeface="Manrope"/>
              </a:rPr>
              <a:t>05 / 07</a:t>
            </a:r>
          </a:p>
        </p:txBody>
      </p:sp>
      <p:sp>
        <p:nvSpPr>
          <p:cNvPr id="9" name="TextBox 8"/>
          <p:cNvSpPr txBox="1"/>
          <p:nvPr/>
        </p:nvSpPr>
        <p:spPr>
          <a:xfrm>
            <a:off x="457200" y="1666875"/>
            <a:ext cx="5334000" cy="400050"/>
          </a:xfrm>
          <a:prstGeom prst="rect">
            <a:avLst/>
          </a:prstGeom>
          <a:noFill/>
          <a:effectLst/>
        </p:spPr>
        <p:txBody>
          <a:bodyPr wrap="square" lIns="0" rIns="0" tIns="0" bIns="0" anchor="t">
            <a:spAutoFit/>
          </a:bodyPr>
          <a:lstStyle/>
          <a:p>
            <a:pPr algn="l" rtl="0">
              <a:lnSpc>
                <a:spcPts val="2184"/>
              </a:lnSpc>
              <a:spcBef>
                <a:spcPts val="0"/>
              </a:spcBef>
              <a:spcAft>
                <a:spcPts val="0"/>
              </a:spcAft>
            </a:pPr>
            <a:r>
              <a:rPr sz="1950" b="1" lang="en-US">
                <a:solidFill>
                  <a:srgbClr val="68645E"/>
                </a:solidFill>
                <a:latin typeface="Manrope"/>
              </a:rPr>
              <a:t>Current</a:t>
            </a:r>
          </a:p>
        </p:txBody>
      </p:sp>
      <p:sp>
        <p:nvSpPr>
          <p:cNvPr id="10" name="Rounded Rectangle 9"/>
          <p:cNvSpPr/>
          <p:nvPr/>
        </p:nvSpPr>
        <p:spPr>
          <a:xfrm>
            <a:off x="457200" y="2286000"/>
            <a:ext cx="5334000" cy="3486150"/>
          </a:xfrm>
          <a:prstGeom prst="roundRect">
            <a:avLst>
              <a:gd name="adj" fmla="val 3278"/>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ounded Rectangle 10"/>
          <p:cNvSpPr/>
          <p:nvPr/>
        </p:nvSpPr>
        <p:spPr>
          <a:xfrm>
            <a:off x="457200" y="2238375"/>
            <a:ext cx="5334000" cy="3486150"/>
          </a:xfrm>
          <a:prstGeom prst="roundRect">
            <a:avLst>
              <a:gd name="adj" fmla="val 3278"/>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2" name="Picture 11" descr="genesys.png"/>
          <p:cNvPicPr>
            <a:picLocks noChangeAspect="1"/>
          </p:cNvPicPr>
          <p:nvPr/>
        </p:nvPicPr>
        <p:blipFill>
          <a:blip r:embed="rId3"/>
          <a:stretch>
            <a:fillRect/>
          </a:stretch>
        </p:blipFill>
        <p:spPr>
          <a:xfrm>
            <a:off x="666750" y="2465305"/>
            <a:ext cx="1190625" cy="231940"/>
          </a:xfrm>
          <a:prstGeom prst="rect">
            <a:avLst/>
          </a:prstGeom>
          <a:effectLst/>
        </p:spPr>
      </p:pic>
      <p:sp>
        <p:nvSpPr>
          <p:cNvPr id="13" name="Oval 12"/>
          <p:cNvSpPr/>
          <p:nvPr/>
        </p:nvSpPr>
        <p:spPr>
          <a:xfrm>
            <a:off x="666750" y="3019425"/>
            <a:ext cx="542925" cy="542925"/>
          </a:xfrm>
          <a:prstGeom prst="ellipse">
            <a:avLst/>
          </a:prstGeom>
          <a:solidFill>
            <a:srgbClr val="EFF4EE"/>
          </a:solidFill>
          <a:ln w="9525">
            <a:solidFill>
              <a:srgbClr val="EFF4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4" name="Picture 13" descr="icon-call.png"/>
          <p:cNvPicPr>
            <a:picLocks noChangeAspect="1"/>
          </p:cNvPicPr>
          <p:nvPr/>
        </p:nvPicPr>
        <p:blipFill>
          <a:blip r:embed="rId4"/>
          <a:stretch>
            <a:fillRect/>
          </a:stretch>
        </p:blipFill>
        <p:spPr>
          <a:xfrm>
            <a:off x="809625" y="3162300"/>
            <a:ext cx="257175" cy="257175"/>
          </a:xfrm>
          <a:prstGeom prst="rect">
            <a:avLst/>
          </a:prstGeom>
          <a:effectLst/>
        </p:spPr>
      </p:pic>
      <p:sp>
        <p:nvSpPr>
          <p:cNvPr id="15" name="TextBox 14"/>
          <p:cNvSpPr txBox="1"/>
          <p:nvPr/>
        </p:nvSpPr>
        <p:spPr>
          <a:xfrm>
            <a:off x="1362075" y="3038475"/>
            <a:ext cx="4000500" cy="342900"/>
          </a:xfrm>
          <a:prstGeom prst="rect">
            <a:avLst/>
          </a:prstGeom>
          <a:noFill/>
          <a:effectLst/>
        </p:spPr>
        <p:txBody>
          <a:bodyPr wrap="square" lIns="0" rIns="0" tIns="0" bIns="0" anchor="t">
            <a:spAutoFit/>
          </a:bodyPr>
          <a:lstStyle/>
          <a:p>
            <a:pPr algn="l" rtl="0">
              <a:lnSpc>
                <a:spcPts val="2100"/>
              </a:lnSpc>
              <a:spcBef>
                <a:spcPts val="0"/>
              </a:spcBef>
              <a:spcAft>
                <a:spcPts val="0"/>
              </a:spcAft>
            </a:pPr>
            <a:r>
              <a:rPr sz="1875" b="1" lang="en-US">
                <a:solidFill>
                  <a:srgbClr val="262626"/>
                </a:solidFill>
                <a:latin typeface="Manrope"/>
              </a:rPr>
              <a:t>+20 ••• 410</a:t>
            </a:r>
          </a:p>
        </p:txBody>
      </p:sp>
      <p:sp>
        <p:nvSpPr>
          <p:cNvPr id="16" name="Rounded Rectangle 15"/>
          <p:cNvSpPr/>
          <p:nvPr/>
        </p:nvSpPr>
        <p:spPr>
          <a:xfrm>
            <a:off x="1219200" y="3686175"/>
            <a:ext cx="4381500" cy="1914525"/>
          </a:xfrm>
          <a:prstGeom prst="roundRect">
            <a:avLst>
              <a:gd name="adj" fmla="val 5970"/>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ounded Rectangle 16"/>
          <p:cNvSpPr/>
          <p:nvPr/>
        </p:nvSpPr>
        <p:spPr>
          <a:xfrm>
            <a:off x="1219200" y="3638550"/>
            <a:ext cx="4381500" cy="1914525"/>
          </a:xfrm>
          <a:prstGeom prst="roundRect">
            <a:avLst>
              <a:gd name="adj" fmla="val 5970"/>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8" name="Picture 17" descr="zoho.png"/>
          <p:cNvPicPr>
            <a:picLocks noChangeAspect="1"/>
          </p:cNvPicPr>
          <p:nvPr/>
        </p:nvPicPr>
        <p:blipFill>
          <a:blip r:embed="rId5"/>
          <a:stretch>
            <a:fillRect/>
          </a:stretch>
        </p:blipFill>
        <p:spPr>
          <a:xfrm>
            <a:off x="1437409" y="3800475"/>
            <a:ext cx="554182" cy="238125"/>
          </a:xfrm>
          <a:prstGeom prst="rect">
            <a:avLst/>
          </a:prstGeom>
          <a:effectLst/>
        </p:spPr>
      </p:pic>
      <p:sp>
        <p:nvSpPr>
          <p:cNvPr id="19" name="Rounded Rectangle 18"/>
          <p:cNvSpPr/>
          <p:nvPr/>
        </p:nvSpPr>
        <p:spPr>
          <a:xfrm>
            <a:off x="1409700" y="4200525"/>
            <a:ext cx="4019550" cy="514350"/>
          </a:xfrm>
          <a:prstGeom prst="roundRect">
            <a:avLst>
              <a:gd name="adj" fmla="val 11111"/>
            </a:avLst>
          </a:prstGeom>
          <a:solidFill>
            <a:srgbClr val="FFFFFF"/>
          </a:solidFill>
          <a:ln w="9525">
            <a:solidFill>
              <a:srgbClr val="FFBA6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0" name="Picture 19" descr="icon-search.png"/>
          <p:cNvPicPr>
            <a:picLocks noChangeAspect="1"/>
          </p:cNvPicPr>
          <p:nvPr/>
        </p:nvPicPr>
        <p:blipFill>
          <a:blip r:embed="rId6"/>
          <a:stretch>
            <a:fillRect/>
          </a:stretch>
        </p:blipFill>
        <p:spPr>
          <a:xfrm>
            <a:off x="1524000" y="4333875"/>
            <a:ext cx="238125" cy="238125"/>
          </a:xfrm>
          <a:prstGeom prst="rect">
            <a:avLst/>
          </a:prstGeom>
          <a:effectLst/>
        </p:spPr>
      </p:pic>
      <p:sp>
        <p:nvSpPr>
          <p:cNvPr id="21" name="TextBox 20"/>
          <p:cNvSpPr txBox="1"/>
          <p:nvPr/>
        </p:nvSpPr>
        <p:spPr>
          <a:xfrm>
            <a:off x="1914525" y="4286250"/>
            <a:ext cx="3019425" cy="342900"/>
          </a:xfrm>
          <a:prstGeom prst="rect">
            <a:avLst/>
          </a:prstGeom>
          <a:noFill/>
          <a:effectLst/>
        </p:spPr>
        <p:txBody>
          <a:bodyPr wrap="square" lIns="0" rIns="0" tIns="0" bIns="0" anchor="t">
            <a:spAutoFit/>
          </a:bodyPr>
          <a:lstStyle/>
          <a:p>
            <a:pPr algn="l" rtl="0">
              <a:lnSpc>
                <a:spcPts val="2100"/>
              </a:lnSpc>
              <a:spcBef>
                <a:spcPts val="0"/>
              </a:spcBef>
              <a:spcAft>
                <a:spcPts val="0"/>
              </a:spcAft>
            </a:pPr>
            <a:r>
              <a:rPr sz="1875" b="0" lang="en-US">
                <a:solidFill>
                  <a:srgbClr val="262626"/>
                </a:solidFill>
                <a:latin typeface="Manrope"/>
              </a:rPr>
              <a:t>+20 ••• 410</a:t>
            </a:r>
          </a:p>
        </p:txBody>
      </p:sp>
      <p:pic>
        <p:nvPicPr>
          <p:cNvPr id="22" name="Picture 21" descr="icon-pointer.png"/>
          <p:cNvPicPr>
            <a:picLocks noChangeAspect="1"/>
          </p:cNvPicPr>
          <p:nvPr/>
        </p:nvPicPr>
        <p:blipFill>
          <a:blip r:embed="rId7"/>
          <a:stretch>
            <a:fillRect/>
          </a:stretch>
        </p:blipFill>
        <p:spPr>
          <a:xfrm>
            <a:off x="4886325" y="4486275"/>
            <a:ext cx="352425" cy="352425"/>
          </a:xfrm>
          <a:prstGeom prst="rect">
            <a:avLst/>
          </a:prstGeom>
          <a:effectLst/>
        </p:spPr>
      </p:pic>
      <p:sp>
        <p:nvSpPr>
          <p:cNvPr id="23" name="TextBox 22"/>
          <p:cNvSpPr txBox="1"/>
          <p:nvPr/>
        </p:nvSpPr>
        <p:spPr>
          <a:xfrm>
            <a:off x="1428750" y="4953000"/>
            <a:ext cx="3876675" cy="361950"/>
          </a:xfrm>
          <a:prstGeom prst="rect">
            <a:avLst/>
          </a:prstGeom>
          <a:noFill/>
          <a:effectLst/>
        </p:spPr>
        <p:txBody>
          <a:bodyPr wrap="square" lIns="0" rIns="0" tIns="0" bIns="0" anchor="t">
            <a:spAutoFit/>
          </a:bodyPr>
          <a:lstStyle/>
          <a:p>
            <a:pPr algn="l" rtl="0">
              <a:lnSpc>
                <a:spcPts val="1848"/>
              </a:lnSpc>
              <a:spcBef>
                <a:spcPts val="0"/>
              </a:spcBef>
              <a:spcAft>
                <a:spcPts val="0"/>
              </a:spcAft>
            </a:pPr>
            <a:r>
              <a:rPr sz="1650" b="1" lang="en-US">
                <a:solidFill>
                  <a:srgbClr val="262626"/>
                </a:solidFill>
                <a:latin typeface="Manrope"/>
              </a:rPr>
              <a:t>T101 · Exchange follow-up</a:t>
            </a:r>
          </a:p>
        </p:txBody>
      </p:sp>
      <p:sp>
        <p:nvSpPr>
          <p:cNvPr id="24" name="TextBox 23"/>
          <p:cNvSpPr txBox="1"/>
          <p:nvPr/>
        </p:nvSpPr>
        <p:spPr>
          <a:xfrm>
            <a:off x="495300" y="5924550"/>
            <a:ext cx="5257800" cy="295275"/>
          </a:xfrm>
          <a:prstGeom prst="rect">
            <a:avLst/>
          </a:prstGeom>
          <a:noFill/>
          <a:effectLst/>
        </p:spPr>
        <p:txBody>
          <a:bodyPr wrap="square" lIns="0" rIns="0" tIns="0" bIns="0" anchor="t">
            <a:spAutoFit/>
          </a:bodyPr>
          <a:lstStyle/>
          <a:p>
            <a:pPr algn="l" rtl="0">
              <a:lnSpc>
                <a:spcPts val="1764"/>
              </a:lnSpc>
              <a:spcBef>
                <a:spcPts val="0"/>
              </a:spcBef>
              <a:spcAft>
                <a:spcPts val="0"/>
              </a:spcAft>
            </a:pPr>
            <a:r>
              <a:rPr sz="1575" b="0" lang="en-US">
                <a:solidFill>
                  <a:srgbClr val="68645E"/>
                </a:solidFill>
                <a:latin typeface="Manrope"/>
              </a:rPr>
              <a:t>Switch window · search number</a:t>
            </a:r>
          </a:p>
        </p:txBody>
      </p:sp>
      <p:sp>
        <p:nvSpPr>
          <p:cNvPr id="25" name="TextBox 24"/>
          <p:cNvSpPr txBox="1"/>
          <p:nvPr/>
        </p:nvSpPr>
        <p:spPr>
          <a:xfrm>
            <a:off x="6400800" y="1666875"/>
            <a:ext cx="5334000" cy="400050"/>
          </a:xfrm>
          <a:prstGeom prst="rect">
            <a:avLst/>
          </a:prstGeom>
          <a:noFill/>
          <a:effectLst/>
        </p:spPr>
        <p:txBody>
          <a:bodyPr wrap="square" lIns="0" rIns="0" tIns="0" bIns="0" anchor="t">
            <a:spAutoFit/>
          </a:bodyPr>
          <a:lstStyle/>
          <a:p>
            <a:pPr algn="l" rtl="0">
              <a:lnSpc>
                <a:spcPts val="2184"/>
              </a:lnSpc>
              <a:spcBef>
                <a:spcPts val="0"/>
              </a:spcBef>
              <a:spcAft>
                <a:spcPts val="0"/>
              </a:spcAft>
            </a:pPr>
            <a:r>
              <a:rPr sz="1950" b="1" lang="en-US">
                <a:solidFill>
                  <a:srgbClr val="49654E"/>
                </a:solidFill>
                <a:latin typeface="Manrope"/>
              </a:rPr>
              <a:t>Proposed</a:t>
            </a:r>
          </a:p>
        </p:txBody>
      </p:sp>
      <p:sp>
        <p:nvSpPr>
          <p:cNvPr id="26" name="Rounded Rectangle 25"/>
          <p:cNvSpPr/>
          <p:nvPr/>
        </p:nvSpPr>
        <p:spPr>
          <a:xfrm>
            <a:off x="6400800" y="2286000"/>
            <a:ext cx="5334000" cy="3486150"/>
          </a:xfrm>
          <a:prstGeom prst="roundRect">
            <a:avLst>
              <a:gd name="adj" fmla="val 3278"/>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ounded Rectangle 26"/>
          <p:cNvSpPr/>
          <p:nvPr/>
        </p:nvSpPr>
        <p:spPr>
          <a:xfrm>
            <a:off x="6400800" y="2238375"/>
            <a:ext cx="5334000" cy="3486150"/>
          </a:xfrm>
          <a:prstGeom prst="roundRect">
            <a:avLst>
              <a:gd name="adj" fmla="val 3278"/>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8" name="Picture 27" descr="genesys.png"/>
          <p:cNvPicPr>
            <a:picLocks noChangeAspect="1"/>
          </p:cNvPicPr>
          <p:nvPr/>
        </p:nvPicPr>
        <p:blipFill>
          <a:blip r:embed="rId3"/>
          <a:stretch>
            <a:fillRect/>
          </a:stretch>
        </p:blipFill>
        <p:spPr>
          <a:xfrm>
            <a:off x="6610350" y="2465305"/>
            <a:ext cx="1190625" cy="231940"/>
          </a:xfrm>
          <a:prstGeom prst="rect">
            <a:avLst/>
          </a:prstGeom>
          <a:effectLst/>
        </p:spPr>
      </p:pic>
      <p:sp>
        <p:nvSpPr>
          <p:cNvPr id="29" name="Oval 28"/>
          <p:cNvSpPr/>
          <p:nvPr/>
        </p:nvSpPr>
        <p:spPr>
          <a:xfrm>
            <a:off x="6610350" y="3019425"/>
            <a:ext cx="542925" cy="542925"/>
          </a:xfrm>
          <a:prstGeom prst="ellipse">
            <a:avLst/>
          </a:prstGeom>
          <a:solidFill>
            <a:srgbClr val="EFF4EE"/>
          </a:solidFill>
          <a:ln w="9525">
            <a:solidFill>
              <a:srgbClr val="EFF4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0" name="Picture 29" descr="icon-call.png"/>
          <p:cNvPicPr>
            <a:picLocks noChangeAspect="1"/>
          </p:cNvPicPr>
          <p:nvPr/>
        </p:nvPicPr>
        <p:blipFill>
          <a:blip r:embed="rId4"/>
          <a:stretch>
            <a:fillRect/>
          </a:stretch>
        </p:blipFill>
        <p:spPr>
          <a:xfrm>
            <a:off x="6753225" y="3162300"/>
            <a:ext cx="257175" cy="257175"/>
          </a:xfrm>
          <a:prstGeom prst="rect">
            <a:avLst/>
          </a:prstGeom>
          <a:effectLst/>
        </p:spPr>
      </p:pic>
      <p:sp>
        <p:nvSpPr>
          <p:cNvPr id="31" name="TextBox 30"/>
          <p:cNvSpPr txBox="1"/>
          <p:nvPr/>
        </p:nvSpPr>
        <p:spPr>
          <a:xfrm>
            <a:off x="7305675" y="3038475"/>
            <a:ext cx="4000500" cy="342900"/>
          </a:xfrm>
          <a:prstGeom prst="rect">
            <a:avLst/>
          </a:prstGeom>
          <a:noFill/>
          <a:effectLst/>
        </p:spPr>
        <p:txBody>
          <a:bodyPr wrap="square" lIns="0" rIns="0" tIns="0" bIns="0" anchor="t">
            <a:spAutoFit/>
          </a:bodyPr>
          <a:lstStyle/>
          <a:p>
            <a:pPr algn="l" rtl="0">
              <a:lnSpc>
                <a:spcPts val="2100"/>
              </a:lnSpc>
              <a:spcBef>
                <a:spcPts val="0"/>
              </a:spcBef>
              <a:spcAft>
                <a:spcPts val="0"/>
              </a:spcAft>
            </a:pPr>
            <a:r>
              <a:rPr sz="1875" b="1" lang="en-US">
                <a:solidFill>
                  <a:srgbClr val="262626"/>
                </a:solidFill>
                <a:latin typeface="Manrope"/>
              </a:rPr>
              <a:t>+20 ••• 410</a:t>
            </a:r>
          </a:p>
        </p:txBody>
      </p:sp>
      <p:cxnSp>
        <p:nvCxnSpPr>
          <p:cNvPr id="32" name="Connector 31"/>
          <p:cNvCxnSpPr/>
          <p:nvPr/>
        </p:nvCxnSpPr>
        <p:spPr>
          <a:xfrm>
            <a:off x="6610350" y="3667125"/>
            <a:ext cx="49149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pic>
        <p:nvPicPr>
          <p:cNvPr id="33" name="Picture 32" descr="zoho.png"/>
          <p:cNvPicPr>
            <a:picLocks noChangeAspect="1"/>
          </p:cNvPicPr>
          <p:nvPr/>
        </p:nvPicPr>
        <p:blipFill>
          <a:blip r:embed="rId5"/>
          <a:stretch>
            <a:fillRect/>
          </a:stretch>
        </p:blipFill>
        <p:spPr>
          <a:xfrm>
            <a:off x="6655550" y="3857625"/>
            <a:ext cx="576349" cy="247650"/>
          </a:xfrm>
          <a:prstGeom prst="rect">
            <a:avLst/>
          </a:prstGeom>
          <a:effectLst/>
        </p:spPr>
      </p:pic>
      <p:sp>
        <p:nvSpPr>
          <p:cNvPr id="34" name="TextBox 33"/>
          <p:cNvSpPr txBox="1"/>
          <p:nvPr/>
        </p:nvSpPr>
        <p:spPr>
          <a:xfrm>
            <a:off x="7439025" y="3838575"/>
            <a:ext cx="4076700" cy="361950"/>
          </a:xfrm>
          <a:prstGeom prst="rect">
            <a:avLst/>
          </a:prstGeom>
          <a:noFill/>
          <a:effectLst/>
        </p:spPr>
        <p:txBody>
          <a:bodyPr wrap="square" lIns="0" rIns="0" tIns="0" bIns="0" anchor="t">
            <a:spAutoFit/>
          </a:bodyPr>
          <a:lstStyle/>
          <a:p>
            <a:pPr algn="l" rtl="0">
              <a:lnSpc>
                <a:spcPts val="1848"/>
              </a:lnSpc>
              <a:spcBef>
                <a:spcPts val="0"/>
              </a:spcBef>
              <a:spcAft>
                <a:spcPts val="0"/>
              </a:spcAft>
            </a:pPr>
            <a:r>
              <a:rPr sz="1650" b="1" lang="en-US">
                <a:solidFill>
                  <a:srgbClr val="262626"/>
                </a:solidFill>
                <a:latin typeface="Manrope"/>
              </a:rPr>
              <a:t>T101 · Exchange follow-up</a:t>
            </a:r>
          </a:p>
        </p:txBody>
      </p:sp>
      <p:sp>
        <p:nvSpPr>
          <p:cNvPr id="35" name="Rounded Rectangle 34"/>
          <p:cNvSpPr/>
          <p:nvPr/>
        </p:nvSpPr>
        <p:spPr>
          <a:xfrm>
            <a:off x="6610350" y="4381500"/>
            <a:ext cx="4914900" cy="1076325"/>
          </a:xfrm>
          <a:prstGeom prst="roundRect">
            <a:avLst>
              <a:gd name="adj" fmla="val 7079"/>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6" name="Picture 35" descr="icon-file.png"/>
          <p:cNvPicPr>
            <a:picLocks noChangeAspect="1"/>
          </p:cNvPicPr>
          <p:nvPr/>
        </p:nvPicPr>
        <p:blipFill>
          <a:blip r:embed="rId8"/>
          <a:stretch>
            <a:fillRect/>
          </a:stretch>
        </p:blipFill>
        <p:spPr>
          <a:xfrm>
            <a:off x="6772275" y="4552950"/>
            <a:ext cx="228600" cy="228600"/>
          </a:xfrm>
          <a:prstGeom prst="rect">
            <a:avLst/>
          </a:prstGeom>
          <a:effectLst/>
        </p:spPr>
      </p:pic>
      <p:sp>
        <p:nvSpPr>
          <p:cNvPr id="37" name="TextBox 36"/>
          <p:cNvSpPr txBox="1"/>
          <p:nvPr/>
        </p:nvSpPr>
        <p:spPr>
          <a:xfrm>
            <a:off x="7153275" y="4524375"/>
            <a:ext cx="3914775" cy="314325"/>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0" lang="en-US">
                <a:solidFill>
                  <a:srgbClr val="965318"/>
                </a:solidFill>
                <a:latin typeface="Manrope"/>
              </a:rPr>
              <a:t>Latest note</a:t>
            </a:r>
          </a:p>
        </p:txBody>
      </p:sp>
      <p:sp>
        <p:nvSpPr>
          <p:cNvPr id="38" name="TextBox 37"/>
          <p:cNvSpPr txBox="1"/>
          <p:nvPr/>
        </p:nvSpPr>
        <p:spPr>
          <a:xfrm>
            <a:off x="6772275" y="4953000"/>
            <a:ext cx="4457700" cy="352425"/>
          </a:xfrm>
          <a:prstGeom prst="rect">
            <a:avLst/>
          </a:prstGeom>
          <a:noFill/>
          <a:effectLst/>
        </p:spPr>
        <p:txBody>
          <a:bodyPr wrap="square" lIns="0" rIns="0" tIns="0" bIns="0" anchor="t">
            <a:spAutoFit/>
          </a:bodyPr>
          <a:lstStyle/>
          <a:p>
            <a:pPr algn="l" rtl="0">
              <a:lnSpc>
                <a:spcPts val="2100"/>
              </a:lnSpc>
              <a:spcBef>
                <a:spcPts val="0"/>
              </a:spcBef>
              <a:spcAft>
                <a:spcPts val="0"/>
              </a:spcAft>
            </a:pPr>
            <a:r>
              <a:rPr sz="1875" b="1" lang="en-US">
                <a:solidFill>
                  <a:srgbClr val="262626"/>
                </a:solidFill>
                <a:latin typeface="Manrope"/>
              </a:rPr>
              <a:t>Branch review still pending.</a:t>
            </a:r>
          </a:p>
        </p:txBody>
      </p:sp>
      <p:sp>
        <p:nvSpPr>
          <p:cNvPr id="39" name="TextBox 38"/>
          <p:cNvSpPr txBox="1"/>
          <p:nvPr/>
        </p:nvSpPr>
        <p:spPr>
          <a:xfrm>
            <a:off x="6438900" y="5924550"/>
            <a:ext cx="5257800" cy="295275"/>
          </a:xfrm>
          <a:prstGeom prst="rect">
            <a:avLst/>
          </a:prstGeom>
          <a:noFill/>
          <a:effectLst/>
        </p:spPr>
        <p:txBody>
          <a:bodyPr wrap="square" lIns="0" rIns="0" tIns="0" bIns="0" anchor="t">
            <a:spAutoFit/>
          </a:bodyPr>
          <a:lstStyle/>
          <a:p>
            <a:pPr algn="l" rtl="0">
              <a:lnSpc>
                <a:spcPts val="1764"/>
              </a:lnSpc>
              <a:spcBef>
                <a:spcPts val="0"/>
              </a:spcBef>
              <a:spcAft>
                <a:spcPts val="0"/>
              </a:spcAft>
            </a:pPr>
            <a:r>
              <a:rPr sz="1575" b="0" lang="en-US">
                <a:solidFill>
                  <a:srgbClr val="49654E"/>
                </a:solidFill>
                <a:latin typeface="Manrope"/>
              </a:rPr>
              <a:t>Context beside the call</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1400"/>
                            </p:stCondLst>
                            <p:childTnLst>
                              <p:set>
                                <p:cBhvr>
                                  <p:cTn id="5" dur="1" fill="hold"/>
                                  <p:tgtEl>
                                    <p:spTgt spid="16"/>
                                  </p:tgtEl>
                                  <p:attrNameLst>
                                    <p:attrName>style.visibility</p:attrName>
                                  </p:attrNameLst>
                                </p:cBhvr>
                                <p:to>
                                  <p:strVal val="visible"/>
                                </p:to>
                              </p:set>
                              <p:animEffect transition="in" filter="fade">
                                <p:cBhvr>
                                  <p:cTn id="6" dur="520"/>
                                  <p:tgtEl>
                                    <p:spTgt spid="16"/>
                                  </p:tgtEl>
                                </p:cBhvr>
                              </p:animEffect>
                            </p:childTnLst>
                          </p:cTn>
                        </p:par>
                        <p:par>
                          <p:cTn id="7" presetID="10" presetClass="entr" presetSubtype="0" fill="hold" nodeType="withEffect">
                            <p:stCondLst>
                              <p:cond delay="1400"/>
                            </p:stCondLst>
                            <p:childTnLst>
                              <p:set>
                                <p:cBhvr>
                                  <p:cTn id="8" dur="1" fill="hold"/>
                                  <p:tgtEl>
                                    <p:spTgt spid="17"/>
                                  </p:tgtEl>
                                  <p:attrNameLst>
                                    <p:attrName>style.visibility</p:attrName>
                                  </p:attrNameLst>
                                </p:cBhvr>
                                <p:to>
                                  <p:strVal val="visible"/>
                                </p:to>
                              </p:set>
                              <p:animEffect transition="in" filter="fade">
                                <p:cBhvr>
                                  <p:cTn id="9" dur="520"/>
                                  <p:tgtEl>
                                    <p:spTgt spid="17"/>
                                  </p:tgtEl>
                                </p:cBhvr>
                              </p:animEffect>
                            </p:childTnLst>
                          </p:cTn>
                        </p:par>
                        <p:par>
                          <p:cTn id="10" presetID="10" presetClass="entr" presetSubtype="0" fill="hold" nodeType="withEffect">
                            <p:stCondLst>
                              <p:cond delay="1400"/>
                            </p:stCondLst>
                            <p:childTnLst>
                              <p:set>
                                <p:cBhvr>
                                  <p:cTn id="11" dur="1" fill="hold"/>
                                  <p:tgtEl>
                                    <p:spTgt spid="18"/>
                                  </p:tgtEl>
                                  <p:attrNameLst>
                                    <p:attrName>style.visibility</p:attrName>
                                  </p:attrNameLst>
                                </p:cBhvr>
                                <p:to>
                                  <p:strVal val="visible"/>
                                </p:to>
                              </p:set>
                              <p:animEffect transition="in" filter="fade">
                                <p:cBhvr>
                                  <p:cTn id="12" dur="520"/>
                                  <p:tgtEl>
                                    <p:spTgt spid="18"/>
                                  </p:tgtEl>
                                </p:cBhvr>
                              </p:animEffect>
                            </p:childTnLst>
                          </p:cTn>
                        </p:par>
                        <p:par>
                          <p:cTn id="13" presetID="10" presetClass="entr" presetSubtype="0" fill="hold" nodeType="withEffect">
                            <p:stCondLst>
                              <p:cond delay="1400"/>
                            </p:stCondLst>
                            <p:childTnLst>
                              <p:set>
                                <p:cBhvr>
                                  <p:cTn id="14" dur="1" fill="hold"/>
                                  <p:tgtEl>
                                    <p:spTgt spid="19"/>
                                  </p:tgtEl>
                                  <p:attrNameLst>
                                    <p:attrName>style.visibility</p:attrName>
                                  </p:attrNameLst>
                                </p:cBhvr>
                                <p:to>
                                  <p:strVal val="visible"/>
                                </p:to>
                              </p:set>
                              <p:animEffect transition="in" filter="fade">
                                <p:cBhvr>
                                  <p:cTn id="15" dur="520"/>
                                  <p:tgtEl>
                                    <p:spTgt spid="19"/>
                                  </p:tgtEl>
                                </p:cBhvr>
                              </p:animEffect>
                            </p:childTnLst>
                          </p:cTn>
                        </p:par>
                        <p:par>
                          <p:cTn id="16" presetID="10" presetClass="entr" presetSubtype="0" fill="hold" nodeType="withEffect">
                            <p:stCondLst>
                              <p:cond delay="1400"/>
                            </p:stCondLst>
                            <p:childTnLst>
                              <p:set>
                                <p:cBhvr>
                                  <p:cTn id="17" dur="1" fill="hold"/>
                                  <p:tgtEl>
                                    <p:spTgt spid="20"/>
                                  </p:tgtEl>
                                  <p:attrNameLst>
                                    <p:attrName>style.visibility</p:attrName>
                                  </p:attrNameLst>
                                </p:cBhvr>
                                <p:to>
                                  <p:strVal val="visible"/>
                                </p:to>
                              </p:set>
                              <p:animEffect transition="in" filter="fade">
                                <p:cBhvr>
                                  <p:cTn id="18" dur="520"/>
                                  <p:tgtEl>
                                    <p:spTgt spid="20"/>
                                  </p:tgtEl>
                                </p:cBhvr>
                              </p:animEffect>
                            </p:childTnLst>
                          </p:cTn>
                        </p:par>
                        <p:par>
                          <p:cTn id="19" presetID="10" presetClass="entr" presetSubtype="0" fill="hold" nodeType="withEffect">
                            <p:stCondLst>
                              <p:cond delay="1400"/>
                            </p:stCondLst>
                            <p:childTnLst>
                              <p:set>
                                <p:cBhvr>
                                  <p:cTn id="20" dur="1" fill="hold"/>
                                  <p:tgtEl>
                                    <p:spTgt spid="21"/>
                                  </p:tgtEl>
                                  <p:attrNameLst>
                                    <p:attrName>style.visibility</p:attrName>
                                  </p:attrNameLst>
                                </p:cBhvr>
                                <p:to>
                                  <p:strVal val="visible"/>
                                </p:to>
                              </p:set>
                              <p:animEffect transition="in" filter="fade">
                                <p:cBhvr>
                                  <p:cTn id="21" dur="520"/>
                                  <p:tgtEl>
                                    <p:spTgt spid="21"/>
                                  </p:tgtEl>
                                </p:cBhvr>
                              </p:animEffect>
                            </p:childTnLst>
                          </p:cTn>
                        </p:par>
                        <p:par>
                          <p:cTn id="22" presetID="10" presetClass="entr" presetSubtype="0" fill="hold" nodeType="withEffect">
                            <p:stCondLst>
                              <p:cond delay="1400"/>
                            </p:stCondLst>
                            <p:childTnLst>
                              <p:set>
                                <p:cBhvr>
                                  <p:cTn id="23" dur="1" fill="hold"/>
                                  <p:tgtEl>
                                    <p:spTgt spid="22"/>
                                  </p:tgtEl>
                                  <p:attrNameLst>
                                    <p:attrName>style.visibility</p:attrName>
                                  </p:attrNameLst>
                                </p:cBhvr>
                                <p:to>
                                  <p:strVal val="visible"/>
                                </p:to>
                              </p:set>
                              <p:animEffect transition="in" filter="fade">
                                <p:cBhvr>
                                  <p:cTn id="24" dur="520"/>
                                  <p:tgtEl>
                                    <p:spTgt spid="22"/>
                                  </p:tgtEl>
                                </p:cBhvr>
                              </p:animEffect>
                            </p:childTnLst>
                          </p:cTn>
                        </p:par>
                        <p:par>
                          <p:cTn id="25" presetID="10" presetClass="entr" presetSubtype="0" fill="hold" nodeType="withEffect">
                            <p:stCondLst>
                              <p:cond delay="1400"/>
                            </p:stCondLst>
                            <p:childTnLst>
                              <p:set>
                                <p:cBhvr>
                                  <p:cTn id="26" dur="1" fill="hold"/>
                                  <p:tgtEl>
                                    <p:spTgt spid="23"/>
                                  </p:tgtEl>
                                  <p:attrNameLst>
                                    <p:attrName>style.visibility</p:attrName>
                                  </p:attrNameLst>
                                </p:cBhvr>
                                <p:to>
                                  <p:strVal val="visible"/>
                                </p:to>
                              </p:set>
                              <p:animEffect transition="in" filter="fade">
                                <p:cBhvr>
                                  <p:cTn id="27" dur="520"/>
                                  <p:tgtEl>
                                    <p:spTgt spid="23"/>
                                  </p:tgtEl>
                                </p:cBhvr>
                              </p:animEffect>
                            </p:childTnLst>
                          </p:cTn>
                        </p:par>
                        <p:par>
                          <p:cTn id="28" presetID="10" presetClass="entr" presetSubtype="0" fill="hold" nodeType="withEffect">
                            <p:stCondLst>
                              <p:cond delay="1400"/>
                            </p:stCondLst>
                            <p:childTnLst>
                              <p:set>
                                <p:cBhvr>
                                  <p:cTn id="29" dur="1" fill="hold"/>
                                  <p:tgtEl>
                                    <p:spTgt spid="33"/>
                                  </p:tgtEl>
                                  <p:attrNameLst>
                                    <p:attrName>style.visibility</p:attrName>
                                  </p:attrNameLst>
                                </p:cBhvr>
                                <p:to>
                                  <p:strVal val="visible"/>
                                </p:to>
                              </p:set>
                              <p:animEffect transition="in" filter="fade">
                                <p:cBhvr>
                                  <p:cTn id="30" dur="520"/>
                                  <p:tgtEl>
                                    <p:spTgt spid="33"/>
                                  </p:tgtEl>
                                </p:cBhvr>
                              </p:animEffect>
                            </p:childTnLst>
                          </p:cTn>
                        </p:par>
                        <p:par>
                          <p:cTn id="31" presetID="10" presetClass="entr" presetSubtype="0" fill="hold" nodeType="withEffect">
                            <p:stCondLst>
                              <p:cond delay="1400"/>
                            </p:stCondLst>
                            <p:childTnLst>
                              <p:set>
                                <p:cBhvr>
                                  <p:cTn id="32" dur="1" fill="hold"/>
                                  <p:tgtEl>
                                    <p:spTgt spid="34"/>
                                  </p:tgtEl>
                                  <p:attrNameLst>
                                    <p:attrName>style.visibility</p:attrName>
                                  </p:attrNameLst>
                                </p:cBhvr>
                                <p:to>
                                  <p:strVal val="visible"/>
                                </p:to>
                              </p:set>
                              <p:animEffect transition="in" filter="fade">
                                <p:cBhvr>
                                  <p:cTn id="33" dur="520"/>
                                  <p:tgtEl>
                                    <p:spTgt spid="34"/>
                                  </p:tgtEl>
                                </p:cBhvr>
                              </p:animEffect>
                            </p:childTnLst>
                          </p:cTn>
                        </p:par>
                        <p:par>
                          <p:cTn id="34" presetID="10" presetClass="entr" presetSubtype="0" fill="hold" nodeType="withEffect">
                            <p:stCondLst>
                              <p:cond delay="1400"/>
                            </p:stCondLst>
                            <p:childTnLst>
                              <p:set>
                                <p:cBhvr>
                                  <p:cTn id="35" dur="1" fill="hold"/>
                                  <p:tgtEl>
                                    <p:spTgt spid="35"/>
                                  </p:tgtEl>
                                  <p:attrNameLst>
                                    <p:attrName>style.visibility</p:attrName>
                                  </p:attrNameLst>
                                </p:cBhvr>
                                <p:to>
                                  <p:strVal val="visible"/>
                                </p:to>
                              </p:set>
                              <p:animEffect transition="in" filter="fade">
                                <p:cBhvr>
                                  <p:cTn id="36" dur="520"/>
                                  <p:tgtEl>
                                    <p:spTgt spid="35"/>
                                  </p:tgtEl>
                                </p:cBhvr>
                              </p:animEffect>
                            </p:childTnLst>
                          </p:cTn>
                        </p:par>
                        <p:par>
                          <p:cTn id="37" presetID="10" presetClass="entr" presetSubtype="0" fill="hold" nodeType="withEffect">
                            <p:stCondLst>
                              <p:cond delay="1400"/>
                            </p:stCondLst>
                            <p:childTnLst>
                              <p:set>
                                <p:cBhvr>
                                  <p:cTn id="38" dur="1" fill="hold"/>
                                  <p:tgtEl>
                                    <p:spTgt spid="36"/>
                                  </p:tgtEl>
                                  <p:attrNameLst>
                                    <p:attrName>style.visibility</p:attrName>
                                  </p:attrNameLst>
                                </p:cBhvr>
                                <p:to>
                                  <p:strVal val="visible"/>
                                </p:to>
                              </p:set>
                              <p:animEffect transition="in" filter="fade">
                                <p:cBhvr>
                                  <p:cTn id="39" dur="520"/>
                                  <p:tgtEl>
                                    <p:spTgt spid="36"/>
                                  </p:tgtEl>
                                </p:cBhvr>
                              </p:animEffect>
                            </p:childTnLst>
                          </p:cTn>
                        </p:par>
                        <p:par>
                          <p:cTn id="40" presetID="10" presetClass="entr" presetSubtype="0" fill="hold" nodeType="withEffect">
                            <p:stCondLst>
                              <p:cond delay="1400"/>
                            </p:stCondLst>
                            <p:childTnLst>
                              <p:set>
                                <p:cBhvr>
                                  <p:cTn id="41" dur="1" fill="hold"/>
                                  <p:tgtEl>
                                    <p:spTgt spid="37"/>
                                  </p:tgtEl>
                                  <p:attrNameLst>
                                    <p:attrName>style.visibility</p:attrName>
                                  </p:attrNameLst>
                                </p:cBhvr>
                                <p:to>
                                  <p:strVal val="visible"/>
                                </p:to>
                              </p:set>
                              <p:animEffect transition="in" filter="fade">
                                <p:cBhvr>
                                  <p:cTn id="42" dur="520"/>
                                  <p:tgtEl>
                                    <p:spTgt spid="37"/>
                                  </p:tgtEl>
                                </p:cBhvr>
                              </p:animEffect>
                            </p:childTnLst>
                          </p:cTn>
                        </p:par>
                        <p:par>
                          <p:cTn id="43" presetID="10" presetClass="entr" presetSubtype="0" fill="hold" nodeType="withEffect">
                            <p:stCondLst>
                              <p:cond delay="1400"/>
                            </p:stCondLst>
                            <p:childTnLst>
                              <p:set>
                                <p:cBhvr>
                                  <p:cTn id="44" dur="1" fill="hold"/>
                                  <p:tgtEl>
                                    <p:spTgt spid="38"/>
                                  </p:tgtEl>
                                  <p:attrNameLst>
                                    <p:attrName>style.visibility</p:attrName>
                                  </p:attrNameLst>
                                </p:cBhvr>
                                <p:to>
                                  <p:strVal val="visible"/>
                                </p:to>
                              </p:set>
                              <p:animEffect transition="in" filter="fade">
                                <p:cBhvr>
                                  <p:cTn id="45" dur="520"/>
                                  <p:tgtEl>
                                    <p:spTgt spid="38"/>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7F4"/>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457200" y="258762"/>
            <a:ext cx="409575" cy="273050"/>
          </a:xfrm>
          <a:prstGeom prst="rect">
            <a:avLst/>
          </a:prstGeom>
          <a:effectLst/>
        </p:spPr>
      </p:pic>
      <p:sp>
        <p:nvSpPr>
          <p:cNvPr id="3" name="TextBox 2"/>
          <p:cNvSpPr txBox="1"/>
          <p:nvPr/>
        </p:nvSpPr>
        <p:spPr>
          <a:xfrm>
            <a:off x="981075" y="276225"/>
            <a:ext cx="1714500" cy="285750"/>
          </a:xfrm>
          <a:prstGeom prst="rect">
            <a:avLst/>
          </a:prstGeom>
          <a:noFill/>
          <a:effectLst/>
        </p:spPr>
        <p:txBody>
          <a:bodyPr wrap="square" lIns="0" rIns="0" tIns="0" bIns="0" anchor="t">
            <a:spAutoFit/>
          </a:bodyPr>
          <a:lstStyle/>
          <a:p>
            <a:pPr algn="l" rtl="0">
              <a:lnSpc>
                <a:spcPts val="1512"/>
              </a:lnSpc>
              <a:spcBef>
                <a:spcPts val="0"/>
              </a:spcBef>
              <a:spcAft>
                <a:spcPts val="0"/>
              </a:spcAft>
            </a:pPr>
            <a:r>
              <a:rPr sz="1350" b="1" lang="en-US">
                <a:solidFill>
                  <a:srgbClr val="262626"/>
                </a:solidFill>
                <a:latin typeface="Manrope"/>
              </a:rPr>
              <a:t>GRINDCTRL</a:t>
            </a:r>
          </a:p>
        </p:txBody>
      </p:sp>
      <p:sp>
        <p:nvSpPr>
          <p:cNvPr id="4" name="TextBox 3"/>
          <p:cNvSpPr txBox="1"/>
          <p:nvPr/>
        </p:nvSpPr>
        <p:spPr>
          <a:xfrm>
            <a:off x="6953250" y="285750"/>
            <a:ext cx="4781550" cy="266700"/>
          </a:xfrm>
          <a:prstGeom prst="rect">
            <a:avLst/>
          </a:prstGeom>
          <a:noFill/>
          <a:effectLst/>
        </p:spPr>
        <p:txBody>
          <a:bodyPr wrap="square" lIns="0" rIns="0" tIns="0" bIns="0" anchor="t">
            <a:spAutoFit/>
          </a:bodyPr>
          <a:lstStyle/>
          <a:p>
            <a:pPr algn="r" rtl="0">
              <a:lnSpc>
                <a:spcPts val="1344"/>
              </a:lnSpc>
              <a:spcBef>
                <a:spcPts val="0"/>
              </a:spcBef>
              <a:spcAft>
                <a:spcPts val="0"/>
              </a:spcAft>
            </a:pPr>
            <a:r>
              <a:rPr sz="1200" b="0" lang="en-US">
                <a:solidFill>
                  <a:srgbClr val="68645E"/>
                </a:solidFill>
                <a:latin typeface="Manrope"/>
              </a:rPr>
              <a:t>Expected benefits · To validate in a pilot</a:t>
            </a:r>
          </a:p>
        </p:txBody>
      </p:sp>
      <p:sp>
        <p:nvSpPr>
          <p:cNvPr id="5" name="TextBox 4"/>
          <p:cNvSpPr txBox="1"/>
          <p:nvPr/>
        </p:nvSpPr>
        <p:spPr>
          <a:xfrm>
            <a:off x="457200" y="885825"/>
            <a:ext cx="11277600" cy="581025"/>
          </a:xfrm>
          <a:prstGeom prst="rect">
            <a:avLst/>
          </a:prstGeom>
          <a:noFill/>
          <a:effectLst/>
        </p:spPr>
        <p:txBody>
          <a:bodyPr wrap="square" lIns="0" rIns="0" tIns="0" bIns="0" anchor="t">
            <a:spAutoFit/>
          </a:bodyPr>
          <a:lstStyle/>
          <a:p>
            <a:pPr algn="l" rtl="0">
              <a:lnSpc>
                <a:spcPts val="3528"/>
              </a:lnSpc>
              <a:spcBef>
                <a:spcPts val="0"/>
              </a:spcBef>
              <a:spcAft>
                <a:spcPts val="0"/>
              </a:spcAft>
            </a:pPr>
            <a:r>
              <a:rPr sz="3150" b="1" lang="en-US">
                <a:solidFill>
                  <a:srgbClr val="262626"/>
                </a:solidFill>
                <a:latin typeface="Manrope"/>
              </a:rPr>
              <a:t>Less searching. More attention to the customer.</a:t>
            </a:r>
          </a:p>
        </p:txBody>
      </p:sp>
      <p:cxnSp>
        <p:nvCxnSpPr>
          <p:cNvPr id="6" name="Connector 5"/>
          <p:cNvCxnSpPr/>
          <p:nvPr/>
        </p:nvCxnSpPr>
        <p:spPr>
          <a:xfrm>
            <a:off x="457200" y="6334125"/>
            <a:ext cx="112776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457200" y="6467475"/>
            <a:ext cx="10287000" cy="247650"/>
          </a:xfrm>
          <a:prstGeom prst="rect">
            <a:avLst/>
          </a:prstGeom>
          <a:noFill/>
          <a:effectLst/>
        </p:spPr>
        <p:txBody>
          <a:bodyPr wrap="square" lIns="0" rIns="0" tIns="0" bIns="0" anchor="t">
            <a:spAutoFit/>
          </a:bodyPr>
          <a:lstStyle/>
          <a:p>
            <a:pPr algn="l" rtl="0">
              <a:lnSpc>
                <a:spcPts val="1344"/>
              </a:lnSpc>
              <a:spcBef>
                <a:spcPts val="0"/>
              </a:spcBef>
              <a:spcAft>
                <a:spcPts val="0"/>
              </a:spcAft>
            </a:pPr>
            <a:r>
              <a:rPr sz="1200" b="0" lang="en-US">
                <a:solidFill>
                  <a:srgbClr val="68645E"/>
                </a:solidFill>
                <a:latin typeface="Manrope"/>
              </a:rPr>
              <a:t>Concrete · Proposed collaboration · Fictional records</a:t>
            </a:r>
          </a:p>
        </p:txBody>
      </p:sp>
      <p:sp>
        <p:nvSpPr>
          <p:cNvPr id="8" name="TextBox 7"/>
          <p:cNvSpPr txBox="1"/>
          <p:nvPr/>
        </p:nvSpPr>
        <p:spPr>
          <a:xfrm>
            <a:off x="11049000" y="6467475"/>
            <a:ext cx="685800" cy="247650"/>
          </a:xfrm>
          <a:prstGeom prst="rect">
            <a:avLst/>
          </a:prstGeom>
          <a:noFill/>
          <a:effectLst/>
        </p:spPr>
        <p:txBody>
          <a:bodyPr wrap="square" lIns="0" rIns="0" tIns="0" bIns="0" anchor="t">
            <a:spAutoFit/>
          </a:bodyPr>
          <a:lstStyle/>
          <a:p>
            <a:pPr algn="r" rtl="0">
              <a:lnSpc>
                <a:spcPts val="1344"/>
              </a:lnSpc>
              <a:spcBef>
                <a:spcPts val="0"/>
              </a:spcBef>
              <a:spcAft>
                <a:spcPts val="0"/>
              </a:spcAft>
            </a:pPr>
            <a:r>
              <a:rPr sz="1200" b="0" lang="en-US">
                <a:solidFill>
                  <a:srgbClr val="68645E"/>
                </a:solidFill>
                <a:latin typeface="Manrope"/>
              </a:rPr>
              <a:t>06 / 07</a:t>
            </a:r>
          </a:p>
        </p:txBody>
      </p:sp>
      <p:sp>
        <p:nvSpPr>
          <p:cNvPr id="9" name="Rounded Rectangle 8"/>
          <p:cNvSpPr/>
          <p:nvPr/>
        </p:nvSpPr>
        <p:spPr>
          <a:xfrm>
            <a:off x="457200" y="1800225"/>
            <a:ext cx="8343900" cy="4171950"/>
          </a:xfrm>
          <a:prstGeom prst="roundRect">
            <a:avLst>
              <a:gd name="adj" fmla="val 2739"/>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457200" y="1752600"/>
            <a:ext cx="8343900" cy="4171950"/>
          </a:xfrm>
          <a:prstGeom prst="roundRect">
            <a:avLst>
              <a:gd name="adj" fmla="val 2739"/>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1" name="Picture 10" descr="genesys.png"/>
          <p:cNvPicPr>
            <a:picLocks noChangeAspect="1"/>
          </p:cNvPicPr>
          <p:nvPr/>
        </p:nvPicPr>
        <p:blipFill>
          <a:blip r:embed="rId3"/>
          <a:stretch>
            <a:fillRect/>
          </a:stretch>
        </p:blipFill>
        <p:spPr>
          <a:xfrm>
            <a:off x="685800" y="1942729"/>
            <a:ext cx="1323975" cy="257917"/>
          </a:xfrm>
          <a:prstGeom prst="rect">
            <a:avLst/>
          </a:prstGeom>
          <a:effectLst/>
        </p:spPr>
      </p:pic>
      <p:pic>
        <p:nvPicPr>
          <p:cNvPr id="12" name="Picture 11" descr="icon-call.png"/>
          <p:cNvPicPr>
            <a:picLocks noChangeAspect="1"/>
          </p:cNvPicPr>
          <p:nvPr/>
        </p:nvPicPr>
        <p:blipFill>
          <a:blip r:embed="rId4"/>
          <a:stretch>
            <a:fillRect/>
          </a:stretch>
        </p:blipFill>
        <p:spPr>
          <a:xfrm>
            <a:off x="2305050" y="1962150"/>
            <a:ext cx="238125" cy="238125"/>
          </a:xfrm>
          <a:prstGeom prst="rect">
            <a:avLst/>
          </a:prstGeom>
          <a:effectLst/>
        </p:spPr>
      </p:pic>
      <p:sp>
        <p:nvSpPr>
          <p:cNvPr id="13" name="TextBox 12"/>
          <p:cNvSpPr txBox="1"/>
          <p:nvPr/>
        </p:nvSpPr>
        <p:spPr>
          <a:xfrm>
            <a:off x="2714625" y="1924050"/>
            <a:ext cx="3619500" cy="381000"/>
          </a:xfrm>
          <a:prstGeom prst="rect">
            <a:avLst/>
          </a:prstGeom>
          <a:noFill/>
          <a:effectLst/>
        </p:spPr>
        <p:txBody>
          <a:bodyPr wrap="square" lIns="0" rIns="0" tIns="0" bIns="0" anchor="t">
            <a:spAutoFit/>
          </a:bodyPr>
          <a:lstStyle/>
          <a:p>
            <a:pPr algn="l" rtl="0">
              <a:lnSpc>
                <a:spcPts val="2268"/>
              </a:lnSpc>
              <a:spcBef>
                <a:spcPts val="0"/>
              </a:spcBef>
              <a:spcAft>
                <a:spcPts val="0"/>
              </a:spcAft>
            </a:pPr>
            <a:r>
              <a:rPr sz="2025" b="1" lang="en-US">
                <a:solidFill>
                  <a:srgbClr val="262626"/>
                </a:solidFill>
                <a:latin typeface="Manrope"/>
              </a:rPr>
              <a:t>+20 ••• 410</a:t>
            </a:r>
          </a:p>
        </p:txBody>
      </p:sp>
      <p:sp>
        <p:nvSpPr>
          <p:cNvPr id="14" name="Oval 13"/>
          <p:cNvSpPr/>
          <p:nvPr/>
        </p:nvSpPr>
        <p:spPr>
          <a:xfrm>
            <a:off x="6591300" y="2047875"/>
            <a:ext cx="76200" cy="76200"/>
          </a:xfrm>
          <a:prstGeom prst="ellipse">
            <a:avLst/>
          </a:prstGeom>
          <a:solidFill>
            <a:srgbClr val="49654E"/>
          </a:solidFill>
          <a:ln w="9525">
            <a:solidFill>
              <a:srgbClr val="49654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838950" y="1971675"/>
            <a:ext cx="1733550" cy="304800"/>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0" lang="en-US">
                <a:solidFill>
                  <a:srgbClr val="49654E"/>
                </a:solidFill>
                <a:latin typeface="Manrope"/>
              </a:rPr>
              <a:t>In progress</a:t>
            </a:r>
          </a:p>
        </p:txBody>
      </p:sp>
      <p:cxnSp>
        <p:nvCxnSpPr>
          <p:cNvPr id="16" name="Connector 15"/>
          <p:cNvCxnSpPr/>
          <p:nvPr/>
        </p:nvCxnSpPr>
        <p:spPr>
          <a:xfrm>
            <a:off x="457200" y="2514600"/>
            <a:ext cx="83439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17" name="Oval 16"/>
          <p:cNvSpPr/>
          <p:nvPr/>
        </p:nvSpPr>
        <p:spPr>
          <a:xfrm>
            <a:off x="685800" y="2762250"/>
            <a:ext cx="457200" cy="457200"/>
          </a:xfrm>
          <a:prstGeom prst="ellipse">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8" name="Picture 17" descr="icon-actor.png"/>
          <p:cNvPicPr>
            <a:picLocks noChangeAspect="1"/>
          </p:cNvPicPr>
          <p:nvPr/>
        </p:nvPicPr>
        <p:blipFill>
          <a:blip r:embed="rId5"/>
          <a:stretch>
            <a:fillRect/>
          </a:stretch>
        </p:blipFill>
        <p:spPr>
          <a:xfrm>
            <a:off x="786384" y="2862834"/>
            <a:ext cx="256032" cy="256032"/>
          </a:xfrm>
          <a:prstGeom prst="rect">
            <a:avLst/>
          </a:prstGeom>
          <a:effectLst/>
        </p:spPr>
      </p:pic>
      <p:sp>
        <p:nvSpPr>
          <p:cNvPr id="19" name="TextBox 18"/>
          <p:cNvSpPr txBox="1"/>
          <p:nvPr/>
        </p:nvSpPr>
        <p:spPr>
          <a:xfrm>
            <a:off x="1333500" y="2752725"/>
            <a:ext cx="4762500" cy="400050"/>
          </a:xfrm>
          <a:prstGeom prst="rect">
            <a:avLst/>
          </a:prstGeom>
          <a:noFill/>
          <a:effectLst/>
        </p:spPr>
        <p:txBody>
          <a:bodyPr wrap="square" lIns="0" rIns="0" tIns="0" bIns="0" anchor="t">
            <a:spAutoFit/>
          </a:bodyPr>
          <a:lstStyle/>
          <a:p>
            <a:pPr algn="l" rtl="0">
              <a:lnSpc>
                <a:spcPts val="2352"/>
              </a:lnSpc>
              <a:spcBef>
                <a:spcPts val="0"/>
              </a:spcBef>
              <a:spcAft>
                <a:spcPts val="0"/>
              </a:spcAft>
            </a:pPr>
            <a:r>
              <a:rPr sz="2100" b="1" lang="en-US">
                <a:solidFill>
                  <a:srgbClr val="262626"/>
                </a:solidFill>
                <a:latin typeface="Manrope"/>
              </a:rPr>
              <a:t>Contact A</a:t>
            </a:r>
          </a:p>
        </p:txBody>
      </p:sp>
      <p:sp>
        <p:nvSpPr>
          <p:cNvPr id="20" name="TextBox 19"/>
          <p:cNvSpPr txBox="1"/>
          <p:nvPr/>
        </p:nvSpPr>
        <p:spPr>
          <a:xfrm>
            <a:off x="1333500" y="3190875"/>
            <a:ext cx="6534150" cy="304800"/>
          </a:xfrm>
          <a:prstGeom prst="rect">
            <a:avLst/>
          </a:prstGeom>
          <a:noFill/>
          <a:effectLst/>
        </p:spPr>
        <p:txBody>
          <a:bodyPr wrap="square" lIns="0" rIns="0" tIns="0" bIns="0" anchor="t">
            <a:spAutoFit/>
          </a:bodyPr>
          <a:lstStyle/>
          <a:p>
            <a:pPr algn="l" rtl="0">
              <a:lnSpc>
                <a:spcPts val="1764"/>
              </a:lnSpc>
              <a:spcBef>
                <a:spcPts val="0"/>
              </a:spcBef>
              <a:spcAft>
                <a:spcPts val="0"/>
              </a:spcAft>
            </a:pPr>
            <a:r>
              <a:rPr sz="1575" b="0" lang="en-US">
                <a:solidFill>
                  <a:srgbClr val="68645E"/>
                </a:solidFill>
                <a:latin typeface="Manrope"/>
              </a:rPr>
              <a:t>Associated record · Existing Desk history</a:t>
            </a:r>
          </a:p>
        </p:txBody>
      </p:sp>
      <p:pic>
        <p:nvPicPr>
          <p:cNvPr id="21" name="Picture 20" descr="zoho.png"/>
          <p:cNvPicPr>
            <a:picLocks noChangeAspect="1"/>
          </p:cNvPicPr>
          <p:nvPr/>
        </p:nvPicPr>
        <p:blipFill>
          <a:blip r:embed="rId6"/>
          <a:stretch>
            <a:fillRect/>
          </a:stretch>
        </p:blipFill>
        <p:spPr>
          <a:xfrm>
            <a:off x="7597053" y="2838450"/>
            <a:ext cx="665018" cy="285750"/>
          </a:xfrm>
          <a:prstGeom prst="rect">
            <a:avLst/>
          </a:prstGeom>
          <a:effectLst/>
        </p:spPr>
      </p:pic>
      <p:cxnSp>
        <p:nvCxnSpPr>
          <p:cNvPr id="22" name="Connector 21"/>
          <p:cNvCxnSpPr/>
          <p:nvPr/>
        </p:nvCxnSpPr>
        <p:spPr>
          <a:xfrm>
            <a:off x="685800" y="3714750"/>
            <a:ext cx="78867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pic>
        <p:nvPicPr>
          <p:cNvPr id="23" name="Picture 22" descr="icon-case.png"/>
          <p:cNvPicPr>
            <a:picLocks noChangeAspect="1"/>
          </p:cNvPicPr>
          <p:nvPr/>
        </p:nvPicPr>
        <p:blipFill>
          <a:blip r:embed="rId7"/>
          <a:stretch>
            <a:fillRect/>
          </a:stretch>
        </p:blipFill>
        <p:spPr>
          <a:xfrm>
            <a:off x="685800" y="3943350"/>
            <a:ext cx="257175" cy="257175"/>
          </a:xfrm>
          <a:prstGeom prst="rect">
            <a:avLst/>
          </a:prstGeom>
          <a:effectLst/>
        </p:spPr>
      </p:pic>
      <p:sp>
        <p:nvSpPr>
          <p:cNvPr id="24" name="TextBox 23"/>
          <p:cNvSpPr txBox="1"/>
          <p:nvPr/>
        </p:nvSpPr>
        <p:spPr>
          <a:xfrm>
            <a:off x="1076325" y="3895725"/>
            <a:ext cx="7019925" cy="381000"/>
          </a:xfrm>
          <a:prstGeom prst="rect">
            <a:avLst/>
          </a:prstGeom>
          <a:noFill/>
          <a:effectLst/>
        </p:spPr>
        <p:txBody>
          <a:bodyPr wrap="square" lIns="0" rIns="0" tIns="0" bIns="0" anchor="t">
            <a:spAutoFit/>
          </a:bodyPr>
          <a:lstStyle/>
          <a:p>
            <a:pPr algn="l" rtl="0">
              <a:lnSpc>
                <a:spcPts val="2184"/>
              </a:lnSpc>
              <a:spcBef>
                <a:spcPts val="0"/>
              </a:spcBef>
              <a:spcAft>
                <a:spcPts val="0"/>
              </a:spcAft>
            </a:pPr>
            <a:r>
              <a:rPr sz="1950" b="1" lang="en-US">
                <a:solidFill>
                  <a:srgbClr val="262626"/>
                </a:solidFill>
                <a:latin typeface="Manrope"/>
              </a:rPr>
              <a:t>T101 · Exchange follow-up</a:t>
            </a:r>
          </a:p>
        </p:txBody>
      </p:sp>
      <p:pic>
        <p:nvPicPr>
          <p:cNvPr id="25" name="Picture 24" descr="icon-clock.png"/>
          <p:cNvPicPr>
            <a:picLocks noChangeAspect="1"/>
          </p:cNvPicPr>
          <p:nvPr/>
        </p:nvPicPr>
        <p:blipFill>
          <a:blip r:embed="rId8"/>
          <a:stretch>
            <a:fillRect/>
          </a:stretch>
        </p:blipFill>
        <p:spPr>
          <a:xfrm>
            <a:off x="685800" y="4400550"/>
            <a:ext cx="200025" cy="200025"/>
          </a:xfrm>
          <a:prstGeom prst="rect">
            <a:avLst/>
          </a:prstGeom>
          <a:effectLst/>
        </p:spPr>
      </p:pic>
      <p:sp>
        <p:nvSpPr>
          <p:cNvPr id="26" name="TextBox 25"/>
          <p:cNvSpPr txBox="1"/>
          <p:nvPr/>
        </p:nvSpPr>
        <p:spPr>
          <a:xfrm>
            <a:off x="971550" y="4381500"/>
            <a:ext cx="6619875" cy="304800"/>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0" lang="en-US">
                <a:solidFill>
                  <a:srgbClr val="965318"/>
                </a:solidFill>
                <a:latin typeface="Manrope"/>
              </a:rPr>
              <a:t>Waiting on the branch</a:t>
            </a:r>
          </a:p>
        </p:txBody>
      </p:sp>
      <p:sp>
        <p:nvSpPr>
          <p:cNvPr id="27" name="Rounded Rectangle 26"/>
          <p:cNvSpPr/>
          <p:nvPr/>
        </p:nvSpPr>
        <p:spPr>
          <a:xfrm>
            <a:off x="685800" y="4905375"/>
            <a:ext cx="7886700" cy="790575"/>
          </a:xfrm>
          <a:prstGeom prst="roundRect">
            <a:avLst>
              <a:gd name="adj" fmla="val 9638"/>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8" name="Picture 27" descr="icon-file.png"/>
          <p:cNvPicPr>
            <a:picLocks noChangeAspect="1"/>
          </p:cNvPicPr>
          <p:nvPr/>
        </p:nvPicPr>
        <p:blipFill>
          <a:blip r:embed="rId9"/>
          <a:stretch>
            <a:fillRect/>
          </a:stretch>
        </p:blipFill>
        <p:spPr>
          <a:xfrm>
            <a:off x="876300" y="5153025"/>
            <a:ext cx="276225" cy="276225"/>
          </a:xfrm>
          <a:prstGeom prst="rect">
            <a:avLst/>
          </a:prstGeom>
          <a:effectLst/>
        </p:spPr>
      </p:pic>
      <p:sp>
        <p:nvSpPr>
          <p:cNvPr id="29" name="TextBox 28"/>
          <p:cNvSpPr txBox="1"/>
          <p:nvPr/>
        </p:nvSpPr>
        <p:spPr>
          <a:xfrm>
            <a:off x="1304925" y="5105400"/>
            <a:ext cx="7029450" cy="428625"/>
          </a:xfrm>
          <a:prstGeom prst="rect">
            <a:avLst/>
          </a:prstGeom>
          <a:noFill/>
          <a:effectLst/>
        </p:spPr>
        <p:txBody>
          <a:bodyPr wrap="square" lIns="0" rIns="0" tIns="0" bIns="0" anchor="t">
            <a:spAutoFit/>
          </a:bodyPr>
          <a:lstStyle/>
          <a:p>
            <a:pPr algn="l" rtl="0">
              <a:lnSpc>
                <a:spcPts val="2436"/>
              </a:lnSpc>
              <a:spcBef>
                <a:spcPts val="0"/>
              </a:spcBef>
              <a:spcAft>
                <a:spcPts val="0"/>
              </a:spcAft>
            </a:pPr>
            <a:r>
              <a:rPr sz="2175" b="1" lang="en-US">
                <a:solidFill>
                  <a:srgbClr val="262626"/>
                </a:solidFill>
                <a:latin typeface="Manrope"/>
              </a:rPr>
              <a:t>Branch review is still pending.</a:t>
            </a:r>
          </a:p>
        </p:txBody>
      </p:sp>
      <p:cxnSp>
        <p:nvCxnSpPr>
          <p:cNvPr id="30" name="Connector 29"/>
          <p:cNvCxnSpPr/>
          <p:nvPr/>
        </p:nvCxnSpPr>
        <p:spPr>
          <a:xfrm>
            <a:off x="8858250" y="3038475"/>
            <a:ext cx="228600" cy="0"/>
          </a:xfrm>
          <a:prstGeom prst="line">
            <a:avLst/>
          </a:prstGeom>
          <a:ln w="19050">
            <a:solidFill>
              <a:srgbClr val="965318"/>
            </a:solidFill>
          </a:ln>
          <a:effectLst/>
        </p:spPr>
        <p:style>
          <a:lnRef idx="2">
            <a:schemeClr val="accent1"/>
          </a:lnRef>
          <a:fillRef idx="0">
            <a:schemeClr val="accent1"/>
          </a:fillRef>
          <a:effectRef idx="0">
            <a:schemeClr val="accent1"/>
          </a:effectRef>
          <a:fontRef idx="minor">
            <a:schemeClr val="tx1"/>
          </a:fontRef>
        </p:style>
      </p:cxnSp>
      <p:sp>
        <p:nvSpPr>
          <p:cNvPr id="31" name="Oval 30"/>
          <p:cNvSpPr/>
          <p:nvPr/>
        </p:nvSpPr>
        <p:spPr>
          <a:xfrm>
            <a:off x="8772525" y="3000375"/>
            <a:ext cx="76200" cy="76200"/>
          </a:xfrm>
          <a:prstGeom prst="ellipse">
            <a:avLst/>
          </a:prstGeom>
          <a:solidFill>
            <a:srgbClr val="965318"/>
          </a:solidFill>
          <a:ln w="9525">
            <a:solidFill>
              <a:srgbClr val="96531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9296400" y="2847975"/>
            <a:ext cx="2343150" cy="752475"/>
          </a:xfrm>
          <a:prstGeom prst="rect">
            <a:avLst/>
          </a:prstGeom>
          <a:noFill/>
          <a:effectLst/>
        </p:spPr>
        <p:txBody>
          <a:bodyPr wrap="square" lIns="0" rIns="0" tIns="0" bIns="0" anchor="t">
            <a:spAutoFit/>
          </a:bodyPr>
          <a:lstStyle/>
          <a:p>
            <a:pPr algn="l" rtl="0">
              <a:lnSpc>
                <a:spcPts val="2016"/>
              </a:lnSpc>
              <a:spcBef>
                <a:spcPts val="0"/>
              </a:spcBef>
              <a:spcAft>
                <a:spcPts val="0"/>
              </a:spcAft>
            </a:pPr>
            <a:r>
              <a:rPr sz="1800" b="1" lang="en-US">
                <a:solidFill>
                  <a:srgbClr val="262626"/>
                </a:solidFill>
                <a:latin typeface="Manrope"/>
              </a:rPr>
              <a:t>Less manual</a:t>
            </a:r>
          </a:p>
          <a:p>
            <a:pPr algn="l" rtl="0">
              <a:lnSpc>
                <a:spcPts val="2016"/>
              </a:lnSpc>
              <a:spcBef>
                <a:spcPts val="0"/>
              </a:spcBef>
              <a:spcAft>
                <a:spcPts val="0"/>
              </a:spcAft>
            </a:pPr>
            <a:r>
              <a:rPr sz="1800" b="1" lang="en-US">
                <a:solidFill>
                  <a:srgbClr val="262626"/>
                </a:solidFill>
                <a:latin typeface="Manrope"/>
              </a:rPr>
              <a:t>searching</a:t>
            </a:r>
          </a:p>
        </p:txBody>
      </p:sp>
      <p:cxnSp>
        <p:nvCxnSpPr>
          <p:cNvPr id="33" name="Connector 32"/>
          <p:cNvCxnSpPr/>
          <p:nvPr/>
        </p:nvCxnSpPr>
        <p:spPr>
          <a:xfrm>
            <a:off x="8858250" y="4124325"/>
            <a:ext cx="228600" cy="0"/>
          </a:xfrm>
          <a:prstGeom prst="line">
            <a:avLst/>
          </a:prstGeom>
          <a:ln w="19050">
            <a:solidFill>
              <a:srgbClr val="965318"/>
            </a:solidFill>
          </a:ln>
          <a:effectLst/>
        </p:spPr>
        <p:style>
          <a:lnRef idx="2">
            <a:schemeClr val="accent1"/>
          </a:lnRef>
          <a:fillRef idx="0">
            <a:schemeClr val="accent1"/>
          </a:fillRef>
          <a:effectRef idx="0">
            <a:schemeClr val="accent1"/>
          </a:effectRef>
          <a:fontRef idx="minor">
            <a:schemeClr val="tx1"/>
          </a:fontRef>
        </p:style>
      </p:cxnSp>
      <p:sp>
        <p:nvSpPr>
          <p:cNvPr id="34" name="Oval 33"/>
          <p:cNvSpPr/>
          <p:nvPr/>
        </p:nvSpPr>
        <p:spPr>
          <a:xfrm>
            <a:off x="8772525" y="4086225"/>
            <a:ext cx="76200" cy="76200"/>
          </a:xfrm>
          <a:prstGeom prst="ellipse">
            <a:avLst/>
          </a:prstGeom>
          <a:solidFill>
            <a:srgbClr val="965318"/>
          </a:solidFill>
          <a:ln w="9525">
            <a:solidFill>
              <a:srgbClr val="96531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9296400" y="3981450"/>
            <a:ext cx="2343150" cy="752475"/>
          </a:xfrm>
          <a:prstGeom prst="rect">
            <a:avLst/>
          </a:prstGeom>
          <a:noFill/>
          <a:effectLst/>
        </p:spPr>
        <p:txBody>
          <a:bodyPr wrap="square" lIns="0" rIns="0" tIns="0" bIns="0" anchor="t">
            <a:spAutoFit/>
          </a:bodyPr>
          <a:lstStyle/>
          <a:p>
            <a:pPr algn="l" rtl="0">
              <a:lnSpc>
                <a:spcPts val="2016"/>
              </a:lnSpc>
              <a:spcBef>
                <a:spcPts val="0"/>
              </a:spcBef>
              <a:spcAft>
                <a:spcPts val="0"/>
              </a:spcAft>
            </a:pPr>
            <a:r>
              <a:rPr sz="1800" b="1" lang="en-US">
                <a:solidFill>
                  <a:srgbClr val="262626"/>
                </a:solidFill>
                <a:latin typeface="Manrope"/>
              </a:rPr>
              <a:t>Previous follow-ups</a:t>
            </a:r>
          </a:p>
          <a:p>
            <a:pPr algn="l" rtl="0">
              <a:lnSpc>
                <a:spcPts val="2016"/>
              </a:lnSpc>
              <a:spcBef>
                <a:spcPts val="0"/>
              </a:spcBef>
              <a:spcAft>
                <a:spcPts val="0"/>
              </a:spcAft>
            </a:pPr>
            <a:r>
              <a:rPr sz="1800" b="1" lang="en-US">
                <a:solidFill>
                  <a:srgbClr val="262626"/>
                </a:solidFill>
                <a:latin typeface="Manrope"/>
              </a:rPr>
              <a:t>in view</a:t>
            </a:r>
          </a:p>
        </p:txBody>
      </p:sp>
      <p:cxnSp>
        <p:nvCxnSpPr>
          <p:cNvPr id="36" name="Connector 35"/>
          <p:cNvCxnSpPr/>
          <p:nvPr/>
        </p:nvCxnSpPr>
        <p:spPr>
          <a:xfrm>
            <a:off x="8858250" y="5295900"/>
            <a:ext cx="228600" cy="0"/>
          </a:xfrm>
          <a:prstGeom prst="line">
            <a:avLst/>
          </a:prstGeom>
          <a:ln w="19050">
            <a:solidFill>
              <a:srgbClr val="965318"/>
            </a:solidFill>
          </a:ln>
          <a:effectLst/>
        </p:spPr>
        <p:style>
          <a:lnRef idx="2">
            <a:schemeClr val="accent1"/>
          </a:lnRef>
          <a:fillRef idx="0">
            <a:schemeClr val="accent1"/>
          </a:fillRef>
          <a:effectRef idx="0">
            <a:schemeClr val="accent1"/>
          </a:effectRef>
          <a:fontRef idx="minor">
            <a:schemeClr val="tx1"/>
          </a:fontRef>
        </p:style>
      </p:cxnSp>
      <p:sp>
        <p:nvSpPr>
          <p:cNvPr id="37" name="Oval 36"/>
          <p:cNvSpPr/>
          <p:nvPr/>
        </p:nvSpPr>
        <p:spPr>
          <a:xfrm>
            <a:off x="8772525" y="5257800"/>
            <a:ext cx="76200" cy="76200"/>
          </a:xfrm>
          <a:prstGeom prst="ellipse">
            <a:avLst/>
          </a:prstGeom>
          <a:solidFill>
            <a:srgbClr val="965318"/>
          </a:solidFill>
          <a:ln w="9525">
            <a:solidFill>
              <a:srgbClr val="96531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9296400" y="5095875"/>
            <a:ext cx="2343150" cy="752475"/>
          </a:xfrm>
          <a:prstGeom prst="rect">
            <a:avLst/>
          </a:prstGeom>
          <a:noFill/>
          <a:effectLst/>
        </p:spPr>
        <p:txBody>
          <a:bodyPr wrap="square" lIns="0" rIns="0" tIns="0" bIns="0" anchor="t">
            <a:spAutoFit/>
          </a:bodyPr>
          <a:lstStyle/>
          <a:p>
            <a:pPr algn="l" rtl="0">
              <a:lnSpc>
                <a:spcPts val="2016"/>
              </a:lnSpc>
              <a:spcBef>
                <a:spcPts val="0"/>
              </a:spcBef>
              <a:spcAft>
                <a:spcPts val="0"/>
              </a:spcAft>
            </a:pPr>
            <a:r>
              <a:rPr sz="1800" b="1" lang="en-US">
                <a:solidFill>
                  <a:srgbClr val="262626"/>
                </a:solidFill>
                <a:latin typeface="Manrope"/>
              </a:rPr>
              <a:t>More informed</a:t>
            </a:r>
          </a:p>
          <a:p>
            <a:pPr algn="l" rtl="0">
              <a:lnSpc>
                <a:spcPts val="2016"/>
              </a:lnSpc>
              <a:spcBef>
                <a:spcPts val="0"/>
              </a:spcBef>
              <a:spcAft>
                <a:spcPts val="0"/>
              </a:spcAft>
            </a:pPr>
            <a:r>
              <a:rPr sz="1800" b="1" lang="en-US">
                <a:solidFill>
                  <a:srgbClr val="262626"/>
                </a:solidFill>
                <a:latin typeface="Manrope"/>
              </a:rPr>
              <a:t>conversations</a:t>
            </a:r>
          </a:p>
        </p:txBody>
      </p:sp>
      <p:sp>
        <p:nvSpPr>
          <p:cNvPr id="39" name="TextBox 38"/>
          <p:cNvSpPr txBox="1"/>
          <p:nvPr/>
        </p:nvSpPr>
        <p:spPr>
          <a:xfrm>
            <a:off x="457200" y="6019800"/>
            <a:ext cx="11277600" cy="266700"/>
          </a:xfrm>
          <a:prstGeom prst="rect">
            <a:avLst/>
          </a:prstGeom>
          <a:noFill/>
          <a:effectLst/>
        </p:spPr>
        <p:txBody>
          <a:bodyPr wrap="square" lIns="0" rIns="0" tIns="0" bIns="0" anchor="t">
            <a:spAutoFit/>
          </a:bodyPr>
          <a:lstStyle/>
          <a:p>
            <a:pPr algn="l" rtl="0">
              <a:lnSpc>
                <a:spcPts val="1512"/>
              </a:lnSpc>
              <a:spcBef>
                <a:spcPts val="0"/>
              </a:spcBef>
              <a:spcAft>
                <a:spcPts val="0"/>
              </a:spcAft>
            </a:pPr>
            <a:r>
              <a:rPr sz="1350" b="0" lang="en-US">
                <a:solidFill>
                  <a:srgbClr val="68645E"/>
                </a:solidFill>
                <a:latin typeface="Manrope"/>
              </a:rPr>
              <a:t>Pilot expectations, not measured results.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set>
                                <p:cBhvr>
                                  <p:cTn id="5" dur="1" fill="hold"/>
                                  <p:tgtEl>
                                    <p:spTgt spid="17"/>
                                  </p:tgtEl>
                                  <p:attrNameLst>
                                    <p:attrName>style.visibility</p:attrName>
                                  </p:attrNameLst>
                                </p:cBhvr>
                                <p:to>
                                  <p:strVal val="visible"/>
                                </p:to>
                              </p:set>
                              <p:animEffect transition="in" filter="fade">
                                <p:cBhvr>
                                  <p:cTn id="6" dur="520"/>
                                  <p:tgtEl>
                                    <p:spTgt spid="17"/>
                                  </p:tgtEl>
                                </p:cBhvr>
                              </p:animEffect>
                            </p:childTnLst>
                          </p:cTn>
                        </p:par>
                        <p:par>
                          <p:cTn id="7" presetID="10" presetClass="entr" presetSubtype="0" fill="hold" nodeType="withEffect">
                            <p:stCondLst>
                              <p:cond delay="0"/>
                            </p:stCondLst>
                            <p:childTnLst>
                              <p:set>
                                <p:cBhvr>
                                  <p:cTn id="8" dur="1" fill="hold"/>
                                  <p:tgtEl>
                                    <p:spTgt spid="18"/>
                                  </p:tgtEl>
                                  <p:attrNameLst>
                                    <p:attrName>style.visibility</p:attrName>
                                  </p:attrNameLst>
                                </p:cBhvr>
                                <p:to>
                                  <p:strVal val="visible"/>
                                </p:to>
                              </p:set>
                              <p:animEffect transition="in" filter="fade">
                                <p:cBhvr>
                                  <p:cTn id="9" dur="520"/>
                                  <p:tgtEl>
                                    <p:spTgt spid="18"/>
                                  </p:tgtEl>
                                </p:cBhvr>
                              </p:animEffect>
                            </p:childTnLst>
                          </p:cTn>
                        </p:par>
                        <p:par>
                          <p:cTn id="10" presetID="10" presetClass="entr" presetSubtype="0" fill="hold" nodeType="withEffect">
                            <p:stCondLst>
                              <p:cond delay="0"/>
                            </p:stCondLst>
                            <p:childTnLst>
                              <p:set>
                                <p:cBhvr>
                                  <p:cTn id="11" dur="1" fill="hold"/>
                                  <p:tgtEl>
                                    <p:spTgt spid="19"/>
                                  </p:tgtEl>
                                  <p:attrNameLst>
                                    <p:attrName>style.visibility</p:attrName>
                                  </p:attrNameLst>
                                </p:cBhvr>
                                <p:to>
                                  <p:strVal val="visible"/>
                                </p:to>
                              </p:set>
                              <p:animEffect transition="in" filter="fade">
                                <p:cBhvr>
                                  <p:cTn id="12" dur="520"/>
                                  <p:tgtEl>
                                    <p:spTgt spid="19"/>
                                  </p:tgtEl>
                                </p:cBhvr>
                              </p:animEffect>
                            </p:childTnLst>
                          </p:cTn>
                        </p:par>
                        <p:par>
                          <p:cTn id="13" presetID="10" presetClass="entr" presetSubtype="0" fill="hold" nodeType="withEffect">
                            <p:stCondLst>
                              <p:cond delay="0"/>
                            </p:stCondLst>
                            <p:childTnLst>
                              <p:set>
                                <p:cBhvr>
                                  <p:cTn id="14" dur="1" fill="hold"/>
                                  <p:tgtEl>
                                    <p:spTgt spid="20"/>
                                  </p:tgtEl>
                                  <p:attrNameLst>
                                    <p:attrName>style.visibility</p:attrName>
                                  </p:attrNameLst>
                                </p:cBhvr>
                                <p:to>
                                  <p:strVal val="visible"/>
                                </p:to>
                              </p:set>
                              <p:animEffect transition="in" filter="fade">
                                <p:cBhvr>
                                  <p:cTn id="15" dur="520"/>
                                  <p:tgtEl>
                                    <p:spTgt spid="20"/>
                                  </p:tgtEl>
                                </p:cBhvr>
                              </p:animEffect>
                            </p:childTnLst>
                          </p:cTn>
                        </p:par>
                        <p:par>
                          <p:cTn id="16" presetID="10" presetClass="entr" presetSubtype="0" fill="hold" nodeType="withEffect">
                            <p:stCondLst>
                              <p:cond delay="0"/>
                            </p:stCondLst>
                            <p:childTnLst>
                              <p:set>
                                <p:cBhvr>
                                  <p:cTn id="17" dur="1" fill="hold"/>
                                  <p:tgtEl>
                                    <p:spTgt spid="21"/>
                                  </p:tgtEl>
                                  <p:attrNameLst>
                                    <p:attrName>style.visibility</p:attrName>
                                  </p:attrNameLst>
                                </p:cBhvr>
                                <p:to>
                                  <p:strVal val="visible"/>
                                </p:to>
                              </p:set>
                              <p:animEffect transition="in" filter="fade">
                                <p:cBhvr>
                                  <p:cTn id="18" dur="520"/>
                                  <p:tgtEl>
                                    <p:spTgt spid="21"/>
                                  </p:tgtEl>
                                </p:cBhvr>
                              </p:animEffect>
                            </p:childTnLst>
                          </p:cTn>
                        </p:par>
                        <p:par>
                          <p:cTn id="19" presetID="10" presetClass="entr" presetSubtype="0" fill="hold" nodeType="withEffect">
                            <p:stCondLst>
                              <p:cond delay="1400"/>
                            </p:stCondLst>
                            <p:childTnLst>
                              <p:set>
                                <p:cBhvr>
                                  <p:cTn id="20" dur="1" fill="hold"/>
                                  <p:tgtEl>
                                    <p:spTgt spid="23"/>
                                  </p:tgtEl>
                                  <p:attrNameLst>
                                    <p:attrName>style.visibility</p:attrName>
                                  </p:attrNameLst>
                                </p:cBhvr>
                                <p:to>
                                  <p:strVal val="visible"/>
                                </p:to>
                              </p:set>
                              <p:animEffect transition="in" filter="fade">
                                <p:cBhvr>
                                  <p:cTn id="21" dur="520"/>
                                  <p:tgtEl>
                                    <p:spTgt spid="23"/>
                                  </p:tgtEl>
                                </p:cBhvr>
                              </p:animEffect>
                            </p:childTnLst>
                          </p:cTn>
                        </p:par>
                        <p:par>
                          <p:cTn id="22" presetID="10" presetClass="entr" presetSubtype="0" fill="hold" nodeType="withEffect">
                            <p:stCondLst>
                              <p:cond delay="1400"/>
                            </p:stCondLst>
                            <p:childTnLst>
                              <p:set>
                                <p:cBhvr>
                                  <p:cTn id="23" dur="1" fill="hold"/>
                                  <p:tgtEl>
                                    <p:spTgt spid="24"/>
                                  </p:tgtEl>
                                  <p:attrNameLst>
                                    <p:attrName>style.visibility</p:attrName>
                                  </p:attrNameLst>
                                </p:cBhvr>
                                <p:to>
                                  <p:strVal val="visible"/>
                                </p:to>
                              </p:set>
                              <p:animEffect transition="in" filter="fade">
                                <p:cBhvr>
                                  <p:cTn id="24" dur="520"/>
                                  <p:tgtEl>
                                    <p:spTgt spid="24"/>
                                  </p:tgtEl>
                                </p:cBhvr>
                              </p:animEffect>
                            </p:childTnLst>
                          </p:cTn>
                        </p:par>
                        <p:par>
                          <p:cTn id="25" presetID="10" presetClass="entr" presetSubtype="0" fill="hold" nodeType="withEffect">
                            <p:stCondLst>
                              <p:cond delay="1400"/>
                            </p:stCondLst>
                            <p:childTnLst>
                              <p:set>
                                <p:cBhvr>
                                  <p:cTn id="26" dur="1" fill="hold"/>
                                  <p:tgtEl>
                                    <p:spTgt spid="25"/>
                                  </p:tgtEl>
                                  <p:attrNameLst>
                                    <p:attrName>style.visibility</p:attrName>
                                  </p:attrNameLst>
                                </p:cBhvr>
                                <p:to>
                                  <p:strVal val="visible"/>
                                </p:to>
                              </p:set>
                              <p:animEffect transition="in" filter="fade">
                                <p:cBhvr>
                                  <p:cTn id="27" dur="520"/>
                                  <p:tgtEl>
                                    <p:spTgt spid="25"/>
                                  </p:tgtEl>
                                </p:cBhvr>
                              </p:animEffect>
                            </p:childTnLst>
                          </p:cTn>
                        </p:par>
                        <p:par>
                          <p:cTn id="28" presetID="10" presetClass="entr" presetSubtype="0" fill="hold" nodeType="withEffect">
                            <p:stCondLst>
                              <p:cond delay="1400"/>
                            </p:stCondLst>
                            <p:childTnLst>
                              <p:set>
                                <p:cBhvr>
                                  <p:cTn id="29" dur="1" fill="hold"/>
                                  <p:tgtEl>
                                    <p:spTgt spid="26"/>
                                  </p:tgtEl>
                                  <p:attrNameLst>
                                    <p:attrName>style.visibility</p:attrName>
                                  </p:attrNameLst>
                                </p:cBhvr>
                                <p:to>
                                  <p:strVal val="visible"/>
                                </p:to>
                              </p:set>
                              <p:animEffect transition="in" filter="fade">
                                <p:cBhvr>
                                  <p:cTn id="30" dur="520"/>
                                  <p:tgtEl>
                                    <p:spTgt spid="26"/>
                                  </p:tgtEl>
                                </p:cBhvr>
                              </p:animEffect>
                            </p:childTnLst>
                          </p:cTn>
                        </p:par>
                        <p:par>
                          <p:cTn id="31" presetID="10" presetClass="entr" presetSubtype="0" fill="hold" nodeType="withEffect">
                            <p:stCondLst>
                              <p:cond delay="2800"/>
                            </p:stCondLst>
                            <p:childTnLst>
                              <p:set>
                                <p:cBhvr>
                                  <p:cTn id="32" dur="1" fill="hold"/>
                                  <p:tgtEl>
                                    <p:spTgt spid="27"/>
                                  </p:tgtEl>
                                  <p:attrNameLst>
                                    <p:attrName>style.visibility</p:attrName>
                                  </p:attrNameLst>
                                </p:cBhvr>
                                <p:to>
                                  <p:strVal val="visible"/>
                                </p:to>
                              </p:set>
                              <p:animEffect transition="in" filter="fade">
                                <p:cBhvr>
                                  <p:cTn id="33" dur="520"/>
                                  <p:tgtEl>
                                    <p:spTgt spid="27"/>
                                  </p:tgtEl>
                                </p:cBhvr>
                              </p:animEffect>
                            </p:childTnLst>
                          </p:cTn>
                        </p:par>
                        <p:par>
                          <p:cTn id="34" presetID="10" presetClass="entr" presetSubtype="0" fill="hold" nodeType="withEffect">
                            <p:stCondLst>
                              <p:cond delay="2800"/>
                            </p:stCondLst>
                            <p:childTnLst>
                              <p:set>
                                <p:cBhvr>
                                  <p:cTn id="35" dur="1" fill="hold"/>
                                  <p:tgtEl>
                                    <p:spTgt spid="28"/>
                                  </p:tgtEl>
                                  <p:attrNameLst>
                                    <p:attrName>style.visibility</p:attrName>
                                  </p:attrNameLst>
                                </p:cBhvr>
                                <p:to>
                                  <p:strVal val="visible"/>
                                </p:to>
                              </p:set>
                              <p:animEffect transition="in" filter="fade">
                                <p:cBhvr>
                                  <p:cTn id="36" dur="520"/>
                                  <p:tgtEl>
                                    <p:spTgt spid="28"/>
                                  </p:tgtEl>
                                </p:cBhvr>
                              </p:animEffect>
                            </p:childTnLst>
                          </p:cTn>
                        </p:par>
                        <p:par>
                          <p:cTn id="37" presetID="10" presetClass="entr" presetSubtype="0" fill="hold" nodeType="withEffect">
                            <p:stCondLst>
                              <p:cond delay="2800"/>
                            </p:stCondLst>
                            <p:childTnLst>
                              <p:set>
                                <p:cBhvr>
                                  <p:cTn id="38" dur="1" fill="hold"/>
                                  <p:tgtEl>
                                    <p:spTgt spid="29"/>
                                  </p:tgtEl>
                                  <p:attrNameLst>
                                    <p:attrName>style.visibility</p:attrName>
                                  </p:attrNameLst>
                                </p:cBhvr>
                                <p:to>
                                  <p:strVal val="visible"/>
                                </p:to>
                              </p:set>
                              <p:animEffect transition="in" filter="fade">
                                <p:cBhvr>
                                  <p:cTn id="39" dur="520"/>
                                  <p:tgtEl>
                                    <p:spTgt spid="29"/>
                                  </p:tgtEl>
                                </p:cBhvr>
                              </p:animEffect>
                            </p:childTnLst>
                          </p:cTn>
                        </p:par>
                        <p:par>
                          <p:cTn id="40" presetID="10" presetClass="entr" presetSubtype="0" fill="hold" nodeType="withEffect">
                            <p:stCondLst>
                              <p:cond delay="0"/>
                            </p:stCondLst>
                            <p:childTnLst>
                              <p:set>
                                <p:cBhvr>
                                  <p:cTn id="41" dur="1" fill="hold"/>
                                  <p:tgtEl>
                                    <p:spTgt spid="30"/>
                                  </p:tgtEl>
                                  <p:attrNameLst>
                                    <p:attrName>style.visibility</p:attrName>
                                  </p:attrNameLst>
                                </p:cBhvr>
                                <p:to>
                                  <p:strVal val="visible"/>
                                </p:to>
                              </p:set>
                              <p:animEffect transition="in" filter="fade">
                                <p:cBhvr>
                                  <p:cTn id="42" dur="520"/>
                                  <p:tgtEl>
                                    <p:spTgt spid="30"/>
                                  </p:tgtEl>
                                </p:cBhvr>
                              </p:animEffect>
                            </p:childTnLst>
                          </p:cTn>
                        </p:par>
                        <p:par>
                          <p:cTn id="43" presetID="10" presetClass="entr" presetSubtype="0" fill="hold" nodeType="withEffect">
                            <p:stCondLst>
                              <p:cond delay="0"/>
                            </p:stCondLst>
                            <p:childTnLst>
                              <p:set>
                                <p:cBhvr>
                                  <p:cTn id="44" dur="1" fill="hold"/>
                                  <p:tgtEl>
                                    <p:spTgt spid="31"/>
                                  </p:tgtEl>
                                  <p:attrNameLst>
                                    <p:attrName>style.visibility</p:attrName>
                                  </p:attrNameLst>
                                </p:cBhvr>
                                <p:to>
                                  <p:strVal val="visible"/>
                                </p:to>
                              </p:set>
                              <p:animEffect transition="in" filter="fade">
                                <p:cBhvr>
                                  <p:cTn id="45" dur="520"/>
                                  <p:tgtEl>
                                    <p:spTgt spid="31"/>
                                  </p:tgtEl>
                                </p:cBhvr>
                              </p:animEffect>
                            </p:childTnLst>
                          </p:cTn>
                        </p:par>
                        <p:par>
                          <p:cTn id="46" presetID="10" presetClass="entr" presetSubtype="0" fill="hold" nodeType="withEffect">
                            <p:stCondLst>
                              <p:cond delay="0"/>
                            </p:stCondLst>
                            <p:childTnLst>
                              <p:set>
                                <p:cBhvr>
                                  <p:cTn id="47" dur="1" fill="hold"/>
                                  <p:tgtEl>
                                    <p:spTgt spid="32"/>
                                  </p:tgtEl>
                                  <p:attrNameLst>
                                    <p:attrName>style.visibility</p:attrName>
                                  </p:attrNameLst>
                                </p:cBhvr>
                                <p:to>
                                  <p:strVal val="visible"/>
                                </p:to>
                              </p:set>
                              <p:animEffect transition="in" filter="fade">
                                <p:cBhvr>
                                  <p:cTn id="48" dur="520"/>
                                  <p:tgtEl>
                                    <p:spTgt spid="32"/>
                                  </p:tgtEl>
                                </p:cBhvr>
                              </p:animEffect>
                            </p:childTnLst>
                          </p:cTn>
                        </p:par>
                        <p:par>
                          <p:cTn id="49" presetID="10" presetClass="entr" presetSubtype="0" fill="hold" nodeType="withEffect">
                            <p:stCondLst>
                              <p:cond delay="1400"/>
                            </p:stCondLst>
                            <p:childTnLst>
                              <p:set>
                                <p:cBhvr>
                                  <p:cTn id="50" dur="1" fill="hold"/>
                                  <p:tgtEl>
                                    <p:spTgt spid="33"/>
                                  </p:tgtEl>
                                  <p:attrNameLst>
                                    <p:attrName>style.visibility</p:attrName>
                                  </p:attrNameLst>
                                </p:cBhvr>
                                <p:to>
                                  <p:strVal val="visible"/>
                                </p:to>
                              </p:set>
                              <p:animEffect transition="in" filter="fade">
                                <p:cBhvr>
                                  <p:cTn id="51" dur="520"/>
                                  <p:tgtEl>
                                    <p:spTgt spid="33"/>
                                  </p:tgtEl>
                                </p:cBhvr>
                              </p:animEffect>
                            </p:childTnLst>
                          </p:cTn>
                        </p:par>
                        <p:par>
                          <p:cTn id="52" presetID="10" presetClass="entr" presetSubtype="0" fill="hold" nodeType="withEffect">
                            <p:stCondLst>
                              <p:cond delay="1400"/>
                            </p:stCondLst>
                            <p:childTnLst>
                              <p:set>
                                <p:cBhvr>
                                  <p:cTn id="53" dur="1" fill="hold"/>
                                  <p:tgtEl>
                                    <p:spTgt spid="34"/>
                                  </p:tgtEl>
                                  <p:attrNameLst>
                                    <p:attrName>style.visibility</p:attrName>
                                  </p:attrNameLst>
                                </p:cBhvr>
                                <p:to>
                                  <p:strVal val="visible"/>
                                </p:to>
                              </p:set>
                              <p:animEffect transition="in" filter="fade">
                                <p:cBhvr>
                                  <p:cTn id="54" dur="520"/>
                                  <p:tgtEl>
                                    <p:spTgt spid="34"/>
                                  </p:tgtEl>
                                </p:cBhvr>
                              </p:animEffect>
                            </p:childTnLst>
                          </p:cTn>
                        </p:par>
                        <p:par>
                          <p:cTn id="55" presetID="10" presetClass="entr" presetSubtype="0" fill="hold" nodeType="withEffect">
                            <p:stCondLst>
                              <p:cond delay="1400"/>
                            </p:stCondLst>
                            <p:childTnLst>
                              <p:set>
                                <p:cBhvr>
                                  <p:cTn id="56" dur="1" fill="hold"/>
                                  <p:tgtEl>
                                    <p:spTgt spid="35"/>
                                  </p:tgtEl>
                                  <p:attrNameLst>
                                    <p:attrName>style.visibility</p:attrName>
                                  </p:attrNameLst>
                                </p:cBhvr>
                                <p:to>
                                  <p:strVal val="visible"/>
                                </p:to>
                              </p:set>
                              <p:animEffect transition="in" filter="fade">
                                <p:cBhvr>
                                  <p:cTn id="57" dur="520"/>
                                  <p:tgtEl>
                                    <p:spTgt spid="35"/>
                                  </p:tgtEl>
                                </p:cBhvr>
                              </p:animEffect>
                            </p:childTnLst>
                          </p:cTn>
                        </p:par>
                        <p:par>
                          <p:cTn id="58" presetID="10" presetClass="entr" presetSubtype="0" fill="hold" nodeType="withEffect">
                            <p:stCondLst>
                              <p:cond delay="2800"/>
                            </p:stCondLst>
                            <p:childTnLst>
                              <p:set>
                                <p:cBhvr>
                                  <p:cTn id="59" dur="1" fill="hold"/>
                                  <p:tgtEl>
                                    <p:spTgt spid="36"/>
                                  </p:tgtEl>
                                  <p:attrNameLst>
                                    <p:attrName>style.visibility</p:attrName>
                                  </p:attrNameLst>
                                </p:cBhvr>
                                <p:to>
                                  <p:strVal val="visible"/>
                                </p:to>
                              </p:set>
                              <p:animEffect transition="in" filter="fade">
                                <p:cBhvr>
                                  <p:cTn id="60" dur="520"/>
                                  <p:tgtEl>
                                    <p:spTgt spid="36"/>
                                  </p:tgtEl>
                                </p:cBhvr>
                              </p:animEffect>
                            </p:childTnLst>
                          </p:cTn>
                        </p:par>
                        <p:par>
                          <p:cTn id="61" presetID="10" presetClass="entr" presetSubtype="0" fill="hold" nodeType="withEffect">
                            <p:stCondLst>
                              <p:cond delay="2800"/>
                            </p:stCondLst>
                            <p:childTnLst>
                              <p:set>
                                <p:cBhvr>
                                  <p:cTn id="62" dur="1" fill="hold"/>
                                  <p:tgtEl>
                                    <p:spTgt spid="37"/>
                                  </p:tgtEl>
                                  <p:attrNameLst>
                                    <p:attrName>style.visibility</p:attrName>
                                  </p:attrNameLst>
                                </p:cBhvr>
                                <p:to>
                                  <p:strVal val="visible"/>
                                </p:to>
                              </p:set>
                              <p:animEffect transition="in" filter="fade">
                                <p:cBhvr>
                                  <p:cTn id="63" dur="520"/>
                                  <p:tgtEl>
                                    <p:spTgt spid="37"/>
                                  </p:tgtEl>
                                </p:cBhvr>
                              </p:animEffect>
                            </p:childTnLst>
                          </p:cTn>
                        </p:par>
                        <p:par>
                          <p:cTn id="64" presetID="10" presetClass="entr" presetSubtype="0" fill="hold" nodeType="withEffect">
                            <p:stCondLst>
                              <p:cond delay="2800"/>
                            </p:stCondLst>
                            <p:childTnLst>
                              <p:set>
                                <p:cBhvr>
                                  <p:cTn id="65" dur="1" fill="hold"/>
                                  <p:tgtEl>
                                    <p:spTgt spid="38"/>
                                  </p:tgtEl>
                                  <p:attrNameLst>
                                    <p:attrName>style.visibility</p:attrName>
                                  </p:attrNameLst>
                                </p:cBhvr>
                                <p:to>
                                  <p:strVal val="visible"/>
                                </p:to>
                              </p:set>
                              <p:animEffect transition="in" filter="fade">
                                <p:cBhvr>
                                  <p:cTn id="66" dur="520"/>
                                  <p:tgtEl>
                                    <p:spTgt spid="38"/>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7F4"/>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457200" y="258762"/>
            <a:ext cx="409575" cy="273050"/>
          </a:xfrm>
          <a:prstGeom prst="rect">
            <a:avLst/>
          </a:prstGeom>
          <a:effectLst/>
        </p:spPr>
      </p:pic>
      <p:sp>
        <p:nvSpPr>
          <p:cNvPr id="3" name="TextBox 2"/>
          <p:cNvSpPr txBox="1"/>
          <p:nvPr/>
        </p:nvSpPr>
        <p:spPr>
          <a:xfrm>
            <a:off x="981075" y="276225"/>
            <a:ext cx="1714500" cy="285750"/>
          </a:xfrm>
          <a:prstGeom prst="rect">
            <a:avLst/>
          </a:prstGeom>
          <a:noFill/>
          <a:effectLst/>
        </p:spPr>
        <p:txBody>
          <a:bodyPr wrap="square" lIns="0" rIns="0" tIns="0" bIns="0" anchor="t">
            <a:spAutoFit/>
          </a:bodyPr>
          <a:lstStyle/>
          <a:p>
            <a:pPr algn="l" rtl="0">
              <a:lnSpc>
                <a:spcPts val="1512"/>
              </a:lnSpc>
              <a:spcBef>
                <a:spcPts val="0"/>
              </a:spcBef>
              <a:spcAft>
                <a:spcPts val="0"/>
              </a:spcAft>
            </a:pPr>
            <a:r>
              <a:rPr sz="1350" b="1" lang="en-US">
                <a:solidFill>
                  <a:srgbClr val="262626"/>
                </a:solidFill>
                <a:latin typeface="Manrope"/>
              </a:rPr>
              <a:t>GRINDCTRL</a:t>
            </a:r>
          </a:p>
        </p:txBody>
      </p:sp>
      <p:sp>
        <p:nvSpPr>
          <p:cNvPr id="4" name="TextBox 3"/>
          <p:cNvSpPr txBox="1"/>
          <p:nvPr/>
        </p:nvSpPr>
        <p:spPr>
          <a:xfrm>
            <a:off x="6953250" y="285750"/>
            <a:ext cx="4781550" cy="266700"/>
          </a:xfrm>
          <a:prstGeom prst="rect">
            <a:avLst/>
          </a:prstGeom>
          <a:noFill/>
          <a:effectLst/>
        </p:spPr>
        <p:txBody>
          <a:bodyPr wrap="square" lIns="0" rIns="0" tIns="0" bIns="0" anchor="t">
            <a:spAutoFit/>
          </a:bodyPr>
          <a:lstStyle/>
          <a:p>
            <a:pPr algn="r" rtl="0">
              <a:lnSpc>
                <a:spcPts val="1344"/>
              </a:lnSpc>
              <a:spcBef>
                <a:spcPts val="0"/>
              </a:spcBef>
              <a:spcAft>
                <a:spcPts val="0"/>
              </a:spcAft>
            </a:pPr>
            <a:r>
              <a:rPr sz="1200" b="0" lang="en-US">
                <a:solidFill>
                  <a:srgbClr val="68645E"/>
                </a:solidFill>
                <a:latin typeface="Manrope"/>
              </a:rPr>
              <a:t>A practical first step</a:t>
            </a:r>
          </a:p>
        </p:txBody>
      </p:sp>
      <p:sp>
        <p:nvSpPr>
          <p:cNvPr id="5" name="TextBox 4"/>
          <p:cNvSpPr txBox="1"/>
          <p:nvPr/>
        </p:nvSpPr>
        <p:spPr>
          <a:xfrm>
            <a:off x="457200" y="885825"/>
            <a:ext cx="11277600" cy="581025"/>
          </a:xfrm>
          <a:prstGeom prst="rect">
            <a:avLst/>
          </a:prstGeom>
          <a:noFill/>
          <a:effectLst/>
        </p:spPr>
        <p:txBody>
          <a:bodyPr wrap="square" lIns="0" rIns="0" tIns="0" bIns="0" anchor="t">
            <a:spAutoFit/>
          </a:bodyPr>
          <a:lstStyle/>
          <a:p>
            <a:pPr algn="l" rtl="0">
              <a:lnSpc>
                <a:spcPts val="3528"/>
              </a:lnSpc>
              <a:spcBef>
                <a:spcPts val="0"/>
              </a:spcBef>
              <a:spcAft>
                <a:spcPts val="0"/>
              </a:spcAft>
            </a:pPr>
            <a:r>
              <a:rPr sz="3150" b="1" lang="en-US">
                <a:solidFill>
                  <a:srgbClr val="262626"/>
                </a:solidFill>
                <a:latin typeface="Manrope"/>
              </a:rPr>
              <a:t>Start with what is already contracted.</a:t>
            </a:r>
          </a:p>
        </p:txBody>
      </p:sp>
      <p:cxnSp>
        <p:nvCxnSpPr>
          <p:cNvPr id="6" name="Connector 5"/>
          <p:cNvCxnSpPr/>
          <p:nvPr/>
        </p:nvCxnSpPr>
        <p:spPr>
          <a:xfrm>
            <a:off x="457200" y="6334125"/>
            <a:ext cx="112776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457200" y="6467475"/>
            <a:ext cx="10287000" cy="247650"/>
          </a:xfrm>
          <a:prstGeom prst="rect">
            <a:avLst/>
          </a:prstGeom>
          <a:noFill/>
          <a:effectLst/>
        </p:spPr>
        <p:txBody>
          <a:bodyPr wrap="square" lIns="0" rIns="0" tIns="0" bIns="0" anchor="t">
            <a:spAutoFit/>
          </a:bodyPr>
          <a:lstStyle/>
          <a:p>
            <a:pPr algn="l" rtl="0">
              <a:lnSpc>
                <a:spcPts val="1344"/>
              </a:lnSpc>
              <a:spcBef>
                <a:spcPts val="0"/>
              </a:spcBef>
              <a:spcAft>
                <a:spcPts val="0"/>
              </a:spcAft>
            </a:pPr>
            <a:r>
              <a:rPr sz="1200" b="0" lang="en-US">
                <a:solidFill>
                  <a:srgbClr val="68645E"/>
                </a:solidFill>
                <a:latin typeface="Manrope"/>
              </a:rPr>
              <a:t>Concrete · Proposed collaboration · Fictional records</a:t>
            </a:r>
          </a:p>
        </p:txBody>
      </p:sp>
      <p:sp>
        <p:nvSpPr>
          <p:cNvPr id="8" name="TextBox 7"/>
          <p:cNvSpPr txBox="1"/>
          <p:nvPr/>
        </p:nvSpPr>
        <p:spPr>
          <a:xfrm>
            <a:off x="11049000" y="6467475"/>
            <a:ext cx="685800" cy="247650"/>
          </a:xfrm>
          <a:prstGeom prst="rect">
            <a:avLst/>
          </a:prstGeom>
          <a:noFill/>
          <a:effectLst/>
        </p:spPr>
        <p:txBody>
          <a:bodyPr wrap="square" lIns="0" rIns="0" tIns="0" bIns="0" anchor="t">
            <a:spAutoFit/>
          </a:bodyPr>
          <a:lstStyle/>
          <a:p>
            <a:pPr algn="r" rtl="0">
              <a:lnSpc>
                <a:spcPts val="1344"/>
              </a:lnSpc>
              <a:spcBef>
                <a:spcPts val="0"/>
              </a:spcBef>
              <a:spcAft>
                <a:spcPts val="0"/>
              </a:spcAft>
            </a:pPr>
            <a:r>
              <a:rPr sz="1200" b="0" lang="en-US">
                <a:solidFill>
                  <a:srgbClr val="68645E"/>
                </a:solidFill>
                <a:latin typeface="Manrope"/>
              </a:rPr>
              <a:t>07 / 07</a:t>
            </a:r>
          </a:p>
        </p:txBody>
      </p:sp>
      <p:sp>
        <p:nvSpPr>
          <p:cNvPr id="9" name="Rounded Rectangle 8"/>
          <p:cNvSpPr/>
          <p:nvPr/>
        </p:nvSpPr>
        <p:spPr>
          <a:xfrm>
            <a:off x="457200" y="1866900"/>
            <a:ext cx="3390900" cy="3714750"/>
          </a:xfrm>
          <a:prstGeom prst="roundRect">
            <a:avLst>
              <a:gd name="adj" fmla="val 3370"/>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457200" y="1819275"/>
            <a:ext cx="3390900" cy="3714750"/>
          </a:xfrm>
          <a:prstGeom prst="roundRect">
            <a:avLst>
              <a:gd name="adj" fmla="val 3370"/>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1" name="Picture 10" descr="icon-file.png"/>
          <p:cNvPicPr>
            <a:picLocks noChangeAspect="1"/>
          </p:cNvPicPr>
          <p:nvPr/>
        </p:nvPicPr>
        <p:blipFill>
          <a:blip r:embed="rId3"/>
          <a:stretch>
            <a:fillRect/>
          </a:stretch>
        </p:blipFill>
        <p:spPr>
          <a:xfrm>
            <a:off x="723900" y="2066925"/>
            <a:ext cx="361950" cy="361950"/>
          </a:xfrm>
          <a:prstGeom prst="rect">
            <a:avLst/>
          </a:prstGeom>
          <a:effectLst/>
        </p:spPr>
      </p:pic>
      <p:sp>
        <p:nvSpPr>
          <p:cNvPr id="12" name="TextBox 11"/>
          <p:cNvSpPr txBox="1"/>
          <p:nvPr/>
        </p:nvSpPr>
        <p:spPr>
          <a:xfrm>
            <a:off x="1238250" y="2085975"/>
            <a:ext cx="2343150" cy="342900"/>
          </a:xfrm>
          <a:prstGeom prst="rect">
            <a:avLst/>
          </a:prstGeom>
          <a:noFill/>
          <a:effectLst/>
        </p:spPr>
        <p:txBody>
          <a:bodyPr wrap="square" lIns="0" rIns="0" tIns="0" bIns="0" anchor="t">
            <a:spAutoFit/>
          </a:bodyPr>
          <a:lstStyle/>
          <a:p>
            <a:pPr algn="l" rtl="0">
              <a:lnSpc>
                <a:spcPts val="2016"/>
              </a:lnSpc>
              <a:spcBef>
                <a:spcPts val="0"/>
              </a:spcBef>
              <a:spcAft>
                <a:spcPts val="0"/>
              </a:spcAft>
            </a:pPr>
            <a:r>
              <a:rPr sz="1800" b="1" lang="en-US">
                <a:solidFill>
                  <a:srgbClr val="262626"/>
                </a:solidFill>
                <a:latin typeface="Manrope"/>
              </a:rPr>
              <a:t>2023 contract</a:t>
            </a:r>
          </a:p>
        </p:txBody>
      </p:sp>
      <p:sp>
        <p:nvSpPr>
          <p:cNvPr id="13" name="Rectangle 12"/>
          <p:cNvSpPr/>
          <p:nvPr/>
        </p:nvSpPr>
        <p:spPr>
          <a:xfrm>
            <a:off x="723900" y="2743200"/>
            <a:ext cx="2628900" cy="38100"/>
          </a:xfrm>
          <a:prstGeom prst="rect">
            <a:avLst/>
          </a:prstGeom>
          <a:solidFill>
            <a:srgbClr val="E6E3DE"/>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723900" y="2905125"/>
            <a:ext cx="2343150" cy="38100"/>
          </a:xfrm>
          <a:prstGeom prst="rect">
            <a:avLst/>
          </a:prstGeom>
          <a:solidFill>
            <a:srgbClr val="E6E3DE"/>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723900" y="3067050"/>
            <a:ext cx="2524125" cy="38100"/>
          </a:xfrm>
          <a:prstGeom prst="rect">
            <a:avLst/>
          </a:prstGeom>
          <a:solidFill>
            <a:srgbClr val="E6E3DE"/>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ounded Rectangle 15"/>
          <p:cNvSpPr/>
          <p:nvPr/>
        </p:nvSpPr>
        <p:spPr>
          <a:xfrm>
            <a:off x="647700" y="3362325"/>
            <a:ext cx="3009900" cy="1219200"/>
          </a:xfrm>
          <a:prstGeom prst="roundRect">
            <a:avLst>
              <a:gd name="adj" fmla="val 6250"/>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38200" y="3533775"/>
            <a:ext cx="2590800" cy="819150"/>
          </a:xfrm>
          <a:prstGeom prst="rect">
            <a:avLst/>
          </a:prstGeom>
          <a:noFill/>
          <a:effectLst/>
        </p:spPr>
        <p:txBody>
          <a:bodyPr wrap="square" lIns="0" rIns="0" tIns="0" bIns="0" anchor="t">
            <a:spAutoFit/>
          </a:bodyPr>
          <a:lstStyle/>
          <a:p>
            <a:pPr algn="l" rtl="0">
              <a:lnSpc>
                <a:spcPts val="2268"/>
              </a:lnSpc>
              <a:spcBef>
                <a:spcPts val="0"/>
              </a:spcBef>
              <a:spcAft>
                <a:spcPts val="0"/>
              </a:spcAft>
            </a:pPr>
            <a:r>
              <a:rPr sz="2025" b="1" lang="en-US">
                <a:solidFill>
                  <a:srgbClr val="262626"/>
                </a:solidFill>
                <a:latin typeface="Manrope"/>
              </a:rPr>
              <a:t>“CRM URL pop up</a:t>
            </a:r>
          </a:p>
          <a:p>
            <a:pPr algn="l" rtl="0">
              <a:lnSpc>
                <a:spcPts val="2268"/>
              </a:lnSpc>
              <a:spcBef>
                <a:spcPts val="0"/>
              </a:spcBef>
              <a:spcAft>
                <a:spcPts val="0"/>
              </a:spcAft>
            </a:pPr>
            <a:r>
              <a:rPr sz="2025" b="1" lang="en-US">
                <a:solidFill>
                  <a:srgbClr val="262626"/>
                </a:solidFill>
                <a:latin typeface="Manrope"/>
              </a:rPr>
              <a:t>integration”</a:t>
            </a:r>
          </a:p>
        </p:txBody>
      </p:sp>
      <p:sp>
        <p:nvSpPr>
          <p:cNvPr id="18" name="TextBox 17"/>
          <p:cNvSpPr txBox="1"/>
          <p:nvPr/>
        </p:nvSpPr>
        <p:spPr>
          <a:xfrm>
            <a:off x="723900" y="4924425"/>
            <a:ext cx="2895600" cy="323850"/>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0" lang="en-US">
                <a:solidFill>
                  <a:srgbClr val="68645E"/>
                </a:solidFill>
                <a:latin typeface="Manrope"/>
              </a:rPr>
              <a:t>November 2023 · p. 4</a:t>
            </a:r>
          </a:p>
        </p:txBody>
      </p:sp>
      <p:cxnSp>
        <p:nvCxnSpPr>
          <p:cNvPr id="19" name="Connector 18"/>
          <p:cNvCxnSpPr/>
          <p:nvPr/>
        </p:nvCxnSpPr>
        <p:spPr>
          <a:xfrm>
            <a:off x="4019550" y="3448050"/>
            <a:ext cx="533400" cy="0"/>
          </a:xfrm>
          <a:prstGeom prst="line">
            <a:avLst/>
          </a:prstGeom>
          <a:ln w="19050">
            <a:solidFill>
              <a:srgbClr val="965318"/>
            </a:solidFill>
            <a:tailEnd type="triangle" w="sm" len="sm"/>
          </a:ln>
          <a:effectLst/>
        </p:spPr>
        <p:style>
          <a:lnRef idx="2">
            <a:schemeClr val="accent1"/>
          </a:lnRef>
          <a:fillRef idx="0">
            <a:schemeClr val="accent1"/>
          </a:fillRef>
          <a:effectRef idx="0">
            <a:schemeClr val="accent1"/>
          </a:effectRef>
          <a:fontRef idx="minor">
            <a:schemeClr val="tx1"/>
          </a:fontRef>
        </p:style>
      </p:cxnSp>
      <p:pic>
        <p:nvPicPr>
          <p:cNvPr id="20" name="Picture 19" descr="icon-settings.png"/>
          <p:cNvPicPr>
            <a:picLocks noChangeAspect="1"/>
          </p:cNvPicPr>
          <p:nvPr/>
        </p:nvPicPr>
        <p:blipFill>
          <a:blip r:embed="rId4"/>
          <a:stretch>
            <a:fillRect/>
          </a:stretch>
        </p:blipFill>
        <p:spPr>
          <a:xfrm>
            <a:off x="4933950" y="2286000"/>
            <a:ext cx="457200" cy="457200"/>
          </a:xfrm>
          <a:prstGeom prst="rect">
            <a:avLst/>
          </a:prstGeom>
          <a:effectLst/>
        </p:spPr>
      </p:pic>
      <p:sp>
        <p:nvSpPr>
          <p:cNvPr id="21" name="TextBox 20"/>
          <p:cNvSpPr txBox="1"/>
          <p:nvPr/>
        </p:nvSpPr>
        <p:spPr>
          <a:xfrm>
            <a:off x="4648200" y="2952750"/>
            <a:ext cx="2762250" cy="819150"/>
          </a:xfrm>
          <a:prstGeom prst="rect">
            <a:avLst/>
          </a:prstGeom>
          <a:noFill/>
          <a:effectLst/>
        </p:spPr>
        <p:txBody>
          <a:bodyPr wrap="square" lIns="0" rIns="0" tIns="0" bIns="0" anchor="t">
            <a:spAutoFit/>
          </a:bodyPr>
          <a:lstStyle/>
          <a:p>
            <a:pPr algn="l" rtl="0">
              <a:lnSpc>
                <a:spcPts val="2268"/>
              </a:lnSpc>
              <a:spcBef>
                <a:spcPts val="0"/>
              </a:spcBef>
              <a:spcAft>
                <a:spcPts val="0"/>
              </a:spcAft>
            </a:pPr>
            <a:r>
              <a:rPr sz="2025" b="1" lang="en-US">
                <a:solidFill>
                  <a:srgbClr val="262626"/>
                </a:solidFill>
                <a:latin typeface="Manrope"/>
              </a:rPr>
              <a:t>Inspect the</a:t>
            </a:r>
          </a:p>
          <a:p>
            <a:pPr algn="l" rtl="0">
              <a:lnSpc>
                <a:spcPts val="2268"/>
              </a:lnSpc>
              <a:spcBef>
                <a:spcPts val="0"/>
              </a:spcBef>
              <a:spcAft>
                <a:spcPts val="0"/>
              </a:spcAft>
            </a:pPr>
            <a:r>
              <a:rPr sz="2025" b="1" lang="en-US">
                <a:solidFill>
                  <a:srgbClr val="262626"/>
                </a:solidFill>
                <a:latin typeface="Manrope"/>
              </a:rPr>
              <a:t>existing pop-up</a:t>
            </a:r>
          </a:p>
        </p:txBody>
      </p:sp>
      <p:sp>
        <p:nvSpPr>
          <p:cNvPr id="22" name="TextBox 21"/>
          <p:cNvSpPr txBox="1"/>
          <p:nvPr/>
        </p:nvSpPr>
        <p:spPr>
          <a:xfrm>
            <a:off x="4648200" y="3981450"/>
            <a:ext cx="2762250" cy="857250"/>
          </a:xfrm>
          <a:prstGeom prst="rect">
            <a:avLst/>
          </a:prstGeom>
          <a:noFill/>
          <a:effectLst/>
        </p:spPr>
        <p:txBody>
          <a:bodyPr wrap="square" lIns="0" rIns="0" tIns="0" bIns="0" anchor="t">
            <a:spAutoFit/>
          </a:bodyPr>
          <a:lstStyle/>
          <a:p>
            <a:pPr algn="l" rtl="0">
              <a:lnSpc>
                <a:spcPts val="1848"/>
              </a:lnSpc>
              <a:spcBef>
                <a:spcPts val="0"/>
              </a:spcBef>
              <a:spcAft>
                <a:spcPts val="0"/>
              </a:spcAft>
            </a:pPr>
            <a:r>
              <a:rPr sz="1650" b="0" lang="en-US">
                <a:solidFill>
                  <a:srgbClr val="68645E"/>
                </a:solidFill>
                <a:latin typeface="Manrope"/>
              </a:rPr>
              <a:t>Choose the smallest</a:t>
            </a:r>
          </a:p>
          <a:p>
            <a:pPr algn="l" rtl="0">
              <a:lnSpc>
                <a:spcPts val="1848"/>
              </a:lnSpc>
              <a:spcBef>
                <a:spcPts val="0"/>
              </a:spcBef>
              <a:spcAft>
                <a:spcPts val="0"/>
              </a:spcAft>
            </a:pPr>
            <a:r>
              <a:rPr sz="1650" b="0" lang="en-US">
                <a:solidFill>
                  <a:srgbClr val="68645E"/>
                </a:solidFill>
                <a:latin typeface="Manrope"/>
              </a:rPr>
              <a:t>supported improvement</a:t>
            </a:r>
          </a:p>
        </p:txBody>
      </p:sp>
      <p:cxnSp>
        <p:nvCxnSpPr>
          <p:cNvPr id="23" name="Connector 22"/>
          <p:cNvCxnSpPr/>
          <p:nvPr/>
        </p:nvCxnSpPr>
        <p:spPr>
          <a:xfrm>
            <a:off x="7381875" y="3448050"/>
            <a:ext cx="485775" cy="0"/>
          </a:xfrm>
          <a:prstGeom prst="line">
            <a:avLst/>
          </a:prstGeom>
          <a:ln w="19050">
            <a:solidFill>
              <a:srgbClr val="965318"/>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4" name="Rounded Rectangle 23"/>
          <p:cNvSpPr/>
          <p:nvPr/>
        </p:nvSpPr>
        <p:spPr>
          <a:xfrm>
            <a:off x="8096250" y="2286000"/>
            <a:ext cx="3638550" cy="2733675"/>
          </a:xfrm>
          <a:prstGeom prst="roundRect">
            <a:avLst>
              <a:gd name="adj" fmla="val 4181"/>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ounded Rectangle 24"/>
          <p:cNvSpPr/>
          <p:nvPr/>
        </p:nvSpPr>
        <p:spPr>
          <a:xfrm>
            <a:off x="8096250" y="2238375"/>
            <a:ext cx="3638550" cy="2733675"/>
          </a:xfrm>
          <a:prstGeom prst="roundRect">
            <a:avLst>
              <a:gd name="adj" fmla="val 4181"/>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6" name="Picture 25" descr="icon-call.png"/>
          <p:cNvPicPr>
            <a:picLocks noChangeAspect="1"/>
          </p:cNvPicPr>
          <p:nvPr/>
        </p:nvPicPr>
        <p:blipFill>
          <a:blip r:embed="rId5"/>
          <a:stretch>
            <a:fillRect/>
          </a:stretch>
        </p:blipFill>
        <p:spPr>
          <a:xfrm>
            <a:off x="8315325" y="2438400"/>
            <a:ext cx="257175" cy="257175"/>
          </a:xfrm>
          <a:prstGeom prst="rect">
            <a:avLst/>
          </a:prstGeom>
          <a:effectLst/>
        </p:spPr>
      </p:pic>
      <p:sp>
        <p:nvSpPr>
          <p:cNvPr id="27" name="TextBox 26"/>
          <p:cNvSpPr txBox="1"/>
          <p:nvPr/>
        </p:nvSpPr>
        <p:spPr>
          <a:xfrm>
            <a:off x="8724900" y="2409825"/>
            <a:ext cx="2714625" cy="361950"/>
          </a:xfrm>
          <a:prstGeom prst="rect">
            <a:avLst/>
          </a:prstGeom>
          <a:noFill/>
          <a:effectLst/>
        </p:spPr>
        <p:txBody>
          <a:bodyPr wrap="square" lIns="0" rIns="0" tIns="0" bIns="0" anchor="t">
            <a:spAutoFit/>
          </a:bodyPr>
          <a:lstStyle/>
          <a:p>
            <a:pPr algn="l" rtl="0">
              <a:lnSpc>
                <a:spcPts val="2100"/>
              </a:lnSpc>
              <a:spcBef>
                <a:spcPts val="0"/>
              </a:spcBef>
              <a:spcAft>
                <a:spcPts val="0"/>
              </a:spcAft>
            </a:pPr>
            <a:r>
              <a:rPr sz="1875" b="1" lang="en-US">
                <a:solidFill>
                  <a:srgbClr val="262626"/>
                </a:solidFill>
                <a:latin typeface="Manrope"/>
              </a:rPr>
              <a:t>Test call</a:t>
            </a:r>
          </a:p>
        </p:txBody>
      </p:sp>
      <p:cxnSp>
        <p:nvCxnSpPr>
          <p:cNvPr id="28" name="Connector 27"/>
          <p:cNvCxnSpPr/>
          <p:nvPr/>
        </p:nvCxnSpPr>
        <p:spPr>
          <a:xfrm>
            <a:off x="8096250" y="2933700"/>
            <a:ext cx="363855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pic>
        <p:nvPicPr>
          <p:cNvPr id="29" name="Picture 28" descr="zoho.png"/>
          <p:cNvPicPr>
            <a:picLocks noChangeAspect="1"/>
          </p:cNvPicPr>
          <p:nvPr/>
        </p:nvPicPr>
        <p:blipFill>
          <a:blip r:embed="rId6"/>
          <a:stretch>
            <a:fillRect/>
          </a:stretch>
        </p:blipFill>
        <p:spPr>
          <a:xfrm>
            <a:off x="8371609" y="3152775"/>
            <a:ext cx="554182" cy="238125"/>
          </a:xfrm>
          <a:prstGeom prst="rect">
            <a:avLst/>
          </a:prstGeom>
          <a:effectLst/>
        </p:spPr>
      </p:pic>
      <p:sp>
        <p:nvSpPr>
          <p:cNvPr id="30" name="TextBox 29"/>
          <p:cNvSpPr txBox="1"/>
          <p:nvPr/>
        </p:nvSpPr>
        <p:spPr>
          <a:xfrm>
            <a:off x="9201150" y="3124200"/>
            <a:ext cx="2200275" cy="352425"/>
          </a:xfrm>
          <a:prstGeom prst="rect">
            <a:avLst/>
          </a:prstGeom>
          <a:noFill/>
          <a:effectLst/>
        </p:spPr>
        <p:txBody>
          <a:bodyPr wrap="square" lIns="0" rIns="0" tIns="0" bIns="0" anchor="t">
            <a:spAutoFit/>
          </a:bodyPr>
          <a:lstStyle/>
          <a:p>
            <a:pPr algn="l" rtl="0">
              <a:lnSpc>
                <a:spcPts val="2100"/>
              </a:lnSpc>
              <a:spcBef>
                <a:spcPts val="0"/>
              </a:spcBef>
              <a:spcAft>
                <a:spcPts val="0"/>
              </a:spcAft>
            </a:pPr>
            <a:r>
              <a:rPr sz="1875" b="1" lang="en-US">
                <a:solidFill>
                  <a:srgbClr val="262626"/>
                </a:solidFill>
                <a:latin typeface="Manrope"/>
              </a:rPr>
              <a:t>T101</a:t>
            </a:r>
          </a:p>
        </p:txBody>
      </p:sp>
      <p:sp>
        <p:nvSpPr>
          <p:cNvPr id="31" name="Rounded Rectangle 30"/>
          <p:cNvSpPr/>
          <p:nvPr/>
        </p:nvSpPr>
        <p:spPr>
          <a:xfrm>
            <a:off x="8305800" y="3686175"/>
            <a:ext cx="3219450" cy="952500"/>
          </a:xfrm>
          <a:prstGeom prst="roundRect">
            <a:avLst>
              <a:gd name="adj" fmla="val 8000"/>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2" name="Picture 31" descr="icon-file.png"/>
          <p:cNvPicPr>
            <a:picLocks noChangeAspect="1"/>
          </p:cNvPicPr>
          <p:nvPr/>
        </p:nvPicPr>
        <p:blipFill>
          <a:blip r:embed="rId3"/>
          <a:stretch>
            <a:fillRect/>
          </a:stretch>
        </p:blipFill>
        <p:spPr>
          <a:xfrm>
            <a:off x="8486775" y="3867150"/>
            <a:ext cx="238125" cy="238125"/>
          </a:xfrm>
          <a:prstGeom prst="rect">
            <a:avLst/>
          </a:prstGeom>
          <a:effectLst/>
        </p:spPr>
      </p:pic>
      <p:sp>
        <p:nvSpPr>
          <p:cNvPr id="33" name="TextBox 32"/>
          <p:cNvSpPr txBox="1"/>
          <p:nvPr/>
        </p:nvSpPr>
        <p:spPr>
          <a:xfrm>
            <a:off x="8905875" y="3857625"/>
            <a:ext cx="2390775" cy="619125"/>
          </a:xfrm>
          <a:prstGeom prst="rect">
            <a:avLst/>
          </a:prstGeom>
          <a:noFill/>
          <a:effectLst/>
        </p:spPr>
        <p:txBody>
          <a:bodyPr wrap="square" lIns="0" rIns="0" tIns="0" bIns="0" anchor="t">
            <a:spAutoFit/>
          </a:bodyPr>
          <a:lstStyle/>
          <a:p>
            <a:pPr algn="l" rtl="0">
              <a:lnSpc>
                <a:spcPts val="2016"/>
              </a:lnSpc>
              <a:spcBef>
                <a:spcPts val="0"/>
              </a:spcBef>
              <a:spcAft>
                <a:spcPts val="0"/>
              </a:spcAft>
            </a:pPr>
            <a:r>
              <a:rPr sz="1800" b="1" lang="en-US">
                <a:solidFill>
                  <a:srgbClr val="262626"/>
                </a:solidFill>
                <a:latin typeface="Manrope"/>
              </a:rPr>
              <a:t>Latest note</a:t>
            </a:r>
          </a:p>
          <a:p>
            <a:pPr algn="l" rtl="0">
              <a:lnSpc>
                <a:spcPts val="2016"/>
              </a:lnSpc>
              <a:spcBef>
                <a:spcPts val="0"/>
              </a:spcBef>
              <a:spcAft>
                <a:spcPts val="0"/>
              </a:spcAft>
            </a:pPr>
            <a:r>
              <a:rPr sz="1800" b="1" lang="en-US">
                <a:solidFill>
                  <a:srgbClr val="262626"/>
                </a:solidFill>
                <a:latin typeface="Manrope"/>
              </a:rPr>
              <a:t>in view</a:t>
            </a:r>
          </a:p>
        </p:txBody>
      </p:sp>
      <p:sp>
        <p:nvSpPr>
          <p:cNvPr id="34" name="TextBox 33"/>
          <p:cNvSpPr txBox="1"/>
          <p:nvPr/>
        </p:nvSpPr>
        <p:spPr>
          <a:xfrm>
            <a:off x="4648200" y="5610225"/>
            <a:ext cx="6896100" cy="409575"/>
          </a:xfrm>
          <a:prstGeom prst="rect">
            <a:avLst/>
          </a:prstGeom>
          <a:noFill/>
          <a:effectLst/>
        </p:spPr>
        <p:txBody>
          <a:bodyPr wrap="square" lIns="0" rIns="0" tIns="0" bIns="0" anchor="t">
            <a:spAutoFit/>
          </a:bodyPr>
          <a:lstStyle/>
          <a:p>
            <a:pPr algn="l" rtl="0">
              <a:lnSpc>
                <a:spcPts val="2016"/>
              </a:lnSpc>
              <a:spcBef>
                <a:spcPts val="0"/>
              </a:spcBef>
              <a:spcAft>
                <a:spcPts val="0"/>
              </a:spcAft>
            </a:pPr>
            <a:r>
              <a:rPr sz="1800" b="1" lang="en-US">
                <a:solidFill>
                  <a:srgbClr val="262626"/>
                </a:solidFill>
                <a:latin typeface="Manrope"/>
              </a:rPr>
              <a:t>Next: review the setup + authorized test calls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set>
                                <p:cBhvr>
                                  <p:cTn id="5" dur="1" fill="hold"/>
                                  <p:tgtEl>
                                    <p:spTgt spid="19"/>
                                  </p:tgtEl>
                                  <p:attrNameLst>
                                    <p:attrName>style.visibility</p:attrName>
                                  </p:attrNameLst>
                                </p:cBhvr>
                                <p:to>
                                  <p:strVal val="visible"/>
                                </p:to>
                              </p:set>
                              <p:animEffect transition="in" filter="fade">
                                <p:cBhvr>
                                  <p:cTn id="6" dur="520"/>
                                  <p:tgtEl>
                                    <p:spTgt spid="19"/>
                                  </p:tgtEl>
                                </p:cBhvr>
                              </p:animEffect>
                            </p:childTnLst>
                          </p:cTn>
                        </p:par>
                        <p:par>
                          <p:cTn id="7" presetID="10" presetClass="entr" presetSubtype="0" fill="hold" nodeType="withEffect">
                            <p:stCondLst>
                              <p:cond delay="0"/>
                            </p:stCondLst>
                            <p:childTnLst>
                              <p:set>
                                <p:cBhvr>
                                  <p:cTn id="8" dur="1" fill="hold"/>
                                  <p:tgtEl>
                                    <p:spTgt spid="20"/>
                                  </p:tgtEl>
                                  <p:attrNameLst>
                                    <p:attrName>style.visibility</p:attrName>
                                  </p:attrNameLst>
                                </p:cBhvr>
                                <p:to>
                                  <p:strVal val="visible"/>
                                </p:to>
                              </p:set>
                              <p:animEffect transition="in" filter="fade">
                                <p:cBhvr>
                                  <p:cTn id="9" dur="520"/>
                                  <p:tgtEl>
                                    <p:spTgt spid="20"/>
                                  </p:tgtEl>
                                </p:cBhvr>
                              </p:animEffect>
                            </p:childTnLst>
                          </p:cTn>
                        </p:par>
                        <p:par>
                          <p:cTn id="10" presetID="10" presetClass="entr" presetSubtype="0" fill="hold" nodeType="withEffect">
                            <p:stCondLst>
                              <p:cond delay="0"/>
                            </p:stCondLst>
                            <p:childTnLst>
                              <p:set>
                                <p:cBhvr>
                                  <p:cTn id="11" dur="1" fill="hold"/>
                                  <p:tgtEl>
                                    <p:spTgt spid="21"/>
                                  </p:tgtEl>
                                  <p:attrNameLst>
                                    <p:attrName>style.visibility</p:attrName>
                                  </p:attrNameLst>
                                </p:cBhvr>
                                <p:to>
                                  <p:strVal val="visible"/>
                                </p:to>
                              </p:set>
                              <p:animEffect transition="in" filter="fade">
                                <p:cBhvr>
                                  <p:cTn id="12" dur="520"/>
                                  <p:tgtEl>
                                    <p:spTgt spid="21"/>
                                  </p:tgtEl>
                                </p:cBhvr>
                              </p:animEffect>
                            </p:childTnLst>
                          </p:cTn>
                        </p:par>
                        <p:par>
                          <p:cTn id="13" presetID="10" presetClass="entr" presetSubtype="0" fill="hold" nodeType="withEffect">
                            <p:stCondLst>
                              <p:cond delay="1400"/>
                            </p:stCondLst>
                            <p:childTnLst>
                              <p:set>
                                <p:cBhvr>
                                  <p:cTn id="14" dur="1" fill="hold"/>
                                  <p:tgtEl>
                                    <p:spTgt spid="22"/>
                                  </p:tgtEl>
                                  <p:attrNameLst>
                                    <p:attrName>style.visibility</p:attrName>
                                  </p:attrNameLst>
                                </p:cBhvr>
                                <p:to>
                                  <p:strVal val="visible"/>
                                </p:to>
                              </p:set>
                              <p:animEffect transition="in" filter="fade">
                                <p:cBhvr>
                                  <p:cTn id="15" dur="520"/>
                                  <p:tgtEl>
                                    <p:spTgt spid="22"/>
                                  </p:tgtEl>
                                </p:cBhvr>
                              </p:animEffect>
                            </p:childTnLst>
                          </p:cTn>
                        </p:par>
                        <p:par>
                          <p:cTn id="16" presetID="10" presetClass="entr" presetSubtype="0" fill="hold" nodeType="withEffect">
                            <p:stCondLst>
                              <p:cond delay="2800"/>
                            </p:stCondLst>
                            <p:childTnLst>
                              <p:set>
                                <p:cBhvr>
                                  <p:cTn id="17" dur="1" fill="hold"/>
                                  <p:tgtEl>
                                    <p:spTgt spid="23"/>
                                  </p:tgtEl>
                                  <p:attrNameLst>
                                    <p:attrName>style.visibility</p:attrName>
                                  </p:attrNameLst>
                                </p:cBhvr>
                                <p:to>
                                  <p:strVal val="visible"/>
                                </p:to>
                              </p:set>
                              <p:animEffect transition="in" filter="fade">
                                <p:cBhvr>
                                  <p:cTn id="18" dur="520"/>
                                  <p:tgtEl>
                                    <p:spTgt spid="23"/>
                                  </p:tgtEl>
                                </p:cBhvr>
                              </p:animEffect>
                            </p:childTnLst>
                          </p:cTn>
                        </p:par>
                        <p:par>
                          <p:cTn id="19" presetID="10" presetClass="entr" presetSubtype="0" fill="hold" nodeType="withEffect">
                            <p:stCondLst>
                              <p:cond delay="2800"/>
                            </p:stCondLst>
                            <p:childTnLst>
                              <p:set>
                                <p:cBhvr>
                                  <p:cTn id="20" dur="1" fill="hold"/>
                                  <p:tgtEl>
                                    <p:spTgt spid="24"/>
                                  </p:tgtEl>
                                  <p:attrNameLst>
                                    <p:attrName>style.visibility</p:attrName>
                                  </p:attrNameLst>
                                </p:cBhvr>
                                <p:to>
                                  <p:strVal val="visible"/>
                                </p:to>
                              </p:set>
                              <p:animEffect transition="in" filter="fade">
                                <p:cBhvr>
                                  <p:cTn id="21" dur="520"/>
                                  <p:tgtEl>
                                    <p:spTgt spid="24"/>
                                  </p:tgtEl>
                                </p:cBhvr>
                              </p:animEffect>
                            </p:childTnLst>
                          </p:cTn>
                        </p:par>
                        <p:par>
                          <p:cTn id="22" presetID="10" presetClass="entr" presetSubtype="0" fill="hold" nodeType="withEffect">
                            <p:stCondLst>
                              <p:cond delay="2800"/>
                            </p:stCondLst>
                            <p:childTnLst>
                              <p:set>
                                <p:cBhvr>
                                  <p:cTn id="23" dur="1" fill="hold"/>
                                  <p:tgtEl>
                                    <p:spTgt spid="25"/>
                                  </p:tgtEl>
                                  <p:attrNameLst>
                                    <p:attrName>style.visibility</p:attrName>
                                  </p:attrNameLst>
                                </p:cBhvr>
                                <p:to>
                                  <p:strVal val="visible"/>
                                </p:to>
                              </p:set>
                              <p:animEffect transition="in" filter="fade">
                                <p:cBhvr>
                                  <p:cTn id="24" dur="520"/>
                                  <p:tgtEl>
                                    <p:spTgt spid="25"/>
                                  </p:tgtEl>
                                </p:cBhvr>
                              </p:animEffect>
                            </p:childTnLst>
                          </p:cTn>
                        </p:par>
                        <p:par>
                          <p:cTn id="25" presetID="10" presetClass="entr" presetSubtype="0" fill="hold" nodeType="withEffect">
                            <p:stCondLst>
                              <p:cond delay="2800"/>
                            </p:stCondLst>
                            <p:childTnLst>
                              <p:set>
                                <p:cBhvr>
                                  <p:cTn id="26" dur="1" fill="hold"/>
                                  <p:tgtEl>
                                    <p:spTgt spid="26"/>
                                  </p:tgtEl>
                                  <p:attrNameLst>
                                    <p:attrName>style.visibility</p:attrName>
                                  </p:attrNameLst>
                                </p:cBhvr>
                                <p:to>
                                  <p:strVal val="visible"/>
                                </p:to>
                              </p:set>
                              <p:animEffect transition="in" filter="fade">
                                <p:cBhvr>
                                  <p:cTn id="27" dur="520"/>
                                  <p:tgtEl>
                                    <p:spTgt spid="26"/>
                                  </p:tgtEl>
                                </p:cBhvr>
                              </p:animEffect>
                            </p:childTnLst>
                          </p:cTn>
                        </p:par>
                        <p:par>
                          <p:cTn id="28" presetID="10" presetClass="entr" presetSubtype="0" fill="hold" nodeType="withEffect">
                            <p:stCondLst>
                              <p:cond delay="2800"/>
                            </p:stCondLst>
                            <p:childTnLst>
                              <p:set>
                                <p:cBhvr>
                                  <p:cTn id="29" dur="1" fill="hold"/>
                                  <p:tgtEl>
                                    <p:spTgt spid="27"/>
                                  </p:tgtEl>
                                  <p:attrNameLst>
                                    <p:attrName>style.visibility</p:attrName>
                                  </p:attrNameLst>
                                </p:cBhvr>
                                <p:to>
                                  <p:strVal val="visible"/>
                                </p:to>
                              </p:set>
                              <p:animEffect transition="in" filter="fade">
                                <p:cBhvr>
                                  <p:cTn id="30" dur="520"/>
                                  <p:tgtEl>
                                    <p:spTgt spid="27"/>
                                  </p:tgtEl>
                                </p:cBhvr>
                              </p:animEffect>
                            </p:childTnLst>
                          </p:cTn>
                        </p:par>
                        <p:par>
                          <p:cTn id="31" presetID="10" presetClass="entr" presetSubtype="0" fill="hold" nodeType="withEffect">
                            <p:stCondLst>
                              <p:cond delay="2800"/>
                            </p:stCondLst>
                            <p:childTnLst>
                              <p:set>
                                <p:cBhvr>
                                  <p:cTn id="32" dur="1" fill="hold"/>
                                  <p:tgtEl>
                                    <p:spTgt spid="28"/>
                                  </p:tgtEl>
                                  <p:attrNameLst>
                                    <p:attrName>style.visibility</p:attrName>
                                  </p:attrNameLst>
                                </p:cBhvr>
                                <p:to>
                                  <p:strVal val="visible"/>
                                </p:to>
                              </p:set>
                              <p:animEffect transition="in" filter="fade">
                                <p:cBhvr>
                                  <p:cTn id="33" dur="520"/>
                                  <p:tgtEl>
                                    <p:spTgt spid="28"/>
                                  </p:tgtEl>
                                </p:cBhvr>
                              </p:animEffect>
                            </p:childTnLst>
                          </p:cTn>
                        </p:par>
                        <p:par>
                          <p:cTn id="34" presetID="10" presetClass="entr" presetSubtype="0" fill="hold" nodeType="withEffect">
                            <p:stCondLst>
                              <p:cond delay="2800"/>
                            </p:stCondLst>
                            <p:childTnLst>
                              <p:set>
                                <p:cBhvr>
                                  <p:cTn id="35" dur="1" fill="hold"/>
                                  <p:tgtEl>
                                    <p:spTgt spid="29"/>
                                  </p:tgtEl>
                                  <p:attrNameLst>
                                    <p:attrName>style.visibility</p:attrName>
                                  </p:attrNameLst>
                                </p:cBhvr>
                                <p:to>
                                  <p:strVal val="visible"/>
                                </p:to>
                              </p:set>
                              <p:animEffect transition="in" filter="fade">
                                <p:cBhvr>
                                  <p:cTn id="36" dur="520"/>
                                  <p:tgtEl>
                                    <p:spTgt spid="29"/>
                                  </p:tgtEl>
                                </p:cBhvr>
                              </p:animEffect>
                            </p:childTnLst>
                          </p:cTn>
                        </p:par>
                        <p:par>
                          <p:cTn id="37" presetID="10" presetClass="entr" presetSubtype="0" fill="hold" nodeType="withEffect">
                            <p:stCondLst>
                              <p:cond delay="2800"/>
                            </p:stCondLst>
                            <p:childTnLst>
                              <p:set>
                                <p:cBhvr>
                                  <p:cTn id="38" dur="1" fill="hold"/>
                                  <p:tgtEl>
                                    <p:spTgt spid="30"/>
                                  </p:tgtEl>
                                  <p:attrNameLst>
                                    <p:attrName>style.visibility</p:attrName>
                                  </p:attrNameLst>
                                </p:cBhvr>
                                <p:to>
                                  <p:strVal val="visible"/>
                                </p:to>
                              </p:set>
                              <p:animEffect transition="in" filter="fade">
                                <p:cBhvr>
                                  <p:cTn id="39" dur="520"/>
                                  <p:tgtEl>
                                    <p:spTgt spid="30"/>
                                  </p:tgtEl>
                                </p:cBhvr>
                              </p:animEffect>
                            </p:childTnLst>
                          </p:cTn>
                        </p:par>
                        <p:par>
                          <p:cTn id="40" presetID="10" presetClass="entr" presetSubtype="0" fill="hold" nodeType="withEffect">
                            <p:stCondLst>
                              <p:cond delay="2800"/>
                            </p:stCondLst>
                            <p:childTnLst>
                              <p:set>
                                <p:cBhvr>
                                  <p:cTn id="41" dur="1" fill="hold"/>
                                  <p:tgtEl>
                                    <p:spTgt spid="31"/>
                                  </p:tgtEl>
                                  <p:attrNameLst>
                                    <p:attrName>style.visibility</p:attrName>
                                  </p:attrNameLst>
                                </p:cBhvr>
                                <p:to>
                                  <p:strVal val="visible"/>
                                </p:to>
                              </p:set>
                              <p:animEffect transition="in" filter="fade">
                                <p:cBhvr>
                                  <p:cTn id="42" dur="520"/>
                                  <p:tgtEl>
                                    <p:spTgt spid="31"/>
                                  </p:tgtEl>
                                </p:cBhvr>
                              </p:animEffect>
                            </p:childTnLst>
                          </p:cTn>
                        </p:par>
                        <p:par>
                          <p:cTn id="43" presetID="10" presetClass="entr" presetSubtype="0" fill="hold" nodeType="withEffect">
                            <p:stCondLst>
                              <p:cond delay="2800"/>
                            </p:stCondLst>
                            <p:childTnLst>
                              <p:set>
                                <p:cBhvr>
                                  <p:cTn id="44" dur="1" fill="hold"/>
                                  <p:tgtEl>
                                    <p:spTgt spid="32"/>
                                  </p:tgtEl>
                                  <p:attrNameLst>
                                    <p:attrName>style.visibility</p:attrName>
                                  </p:attrNameLst>
                                </p:cBhvr>
                                <p:to>
                                  <p:strVal val="visible"/>
                                </p:to>
                              </p:set>
                              <p:animEffect transition="in" filter="fade">
                                <p:cBhvr>
                                  <p:cTn id="45" dur="520"/>
                                  <p:tgtEl>
                                    <p:spTgt spid="32"/>
                                  </p:tgtEl>
                                </p:cBhvr>
                              </p:animEffect>
                            </p:childTnLst>
                          </p:cTn>
                        </p:par>
                        <p:par>
                          <p:cTn id="46" presetID="10" presetClass="entr" presetSubtype="0" fill="hold" nodeType="withEffect">
                            <p:stCondLst>
                              <p:cond delay="2800"/>
                            </p:stCondLst>
                            <p:childTnLst>
                              <p:set>
                                <p:cBhvr>
                                  <p:cTn id="47" dur="1" fill="hold"/>
                                  <p:tgtEl>
                                    <p:spTgt spid="33"/>
                                  </p:tgtEl>
                                  <p:attrNameLst>
                                    <p:attrName>style.visibility</p:attrName>
                                  </p:attrNameLst>
                                </p:cBhvr>
                                <p:to>
                                  <p:strVal val="visible"/>
                                </p:to>
                              </p:set>
                              <p:animEffect transition="in" filter="fade">
                                <p:cBhvr>
                                  <p:cTn id="48" dur="520"/>
                                  <p:tgtEl>
                                    <p:spTgt spid="33"/>
                                  </p:tgtEl>
                                </p:cBhvr>
                              </p:animEffect>
                            </p:childTnLst>
                          </p:cTn>
                        </p:par>
                        <p:par>
                          <p:cTn id="49" presetID="10" presetClass="entr" presetSubtype="0" fill="hold" nodeType="withEffect">
                            <p:stCondLst>
                              <p:cond delay="2800"/>
                            </p:stCondLst>
                            <p:childTnLst>
                              <p:set>
                                <p:cBhvr>
                                  <p:cTn id="50" dur="1" fill="hold"/>
                                  <p:tgtEl>
                                    <p:spTgt spid="34"/>
                                  </p:tgtEl>
                                  <p:attrNameLst>
                                    <p:attrName>style.visibility</p:attrName>
                                  </p:attrNameLst>
                                </p:cBhvr>
                                <p:to>
                                  <p:strVal val="visible"/>
                                </p:to>
                              </p:set>
                              <p:animEffect transition="in" filter="fade">
                                <p:cBhvr>
                                  <p:cTn id="51" dur="520"/>
                                  <p:tgtEl>
                                    <p:spTgt spid="34"/>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GRINDCTRL × Concrete · The call and its context</dc:title>
  <dc:subject>Reported caller-context gap: Genesys call assignment and Zoho Desk ticket lookup. Proposed workflow; fictional records.</dc:subject>
  <dc:creator>GRINDCTRL</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