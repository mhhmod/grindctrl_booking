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grindctrl_voiceover_ar.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جديد لـGRINDCTRL؛ لا يوجد تنفيذ سابق أو علاقة حالية بكونكريت أو Centro. طريقة العمل بحسب إفادة المستخدم ولم تُختبر مستقلًا. النسخة والواجهة والـpop-up والصلاحيات وشكل الشاشات الفعلية غير متحقق منها. كل البيانات والواجهات توضيحية.</a:t>
            </a:r>
          </a:p>
          <a:p/>
          <a:p>
            <a:r>
              <a:t>ربط رقم المتصل لا يثبت هويته. تظل إجراءات التحقق والصلاحيات مطلوبة. لا يوجد AI أو تعديل تذكرة أو قرار استرداد أو ربط حي أو نتائج توفير مقاسة. البداية التقنية فحص بند CRM URL pop up integration في عقد نوفمبر ٢٠٢٣، صفحة PDF رقم ٤.</a:t>
            </a:r>
          </a:p>
          <a:p/>
          <a:p>
            <a:r>
              <a:t>توقيتات التعليق الصوتي للمشهد:</a:t>
            </a:r>
          </a:p>
          <a:p/>
          <a:p>
            <a:r>
              <a:t>C01 · 0.000–2.660 ثانية · تخيلوا معايا موظف Customer Service في Concrete،</a:t>
            </a:r>
          </a:p>
          <a:p/>
          <a:p>
            <a:r>
              <a:t>C02 · 2.906–3.857 ثانية · جاله Call من عميل.</a:t>
            </a:r>
          </a:p>
          <a:p/>
          <a:p>
            <a:r>
              <a:t>C03 · 4.417–6.450 ثانية · بدل ما يبدأ يدور على بياناته من الأول،</a:t>
            </a:r>
          </a:p>
          <a:p/>
          <a:p>
            <a:r>
              <a:t>C04 · 6.900–8.521 ثانية · تخيلوا لو الـTickets السابقة،</a:t>
            </a:r>
          </a:p>
          <a:p/>
          <a:p>
            <a:r>
              <a:t>C05 · 8.704–12.844 ثانية · والـStatus بتاع كل Ticket، والـLatest Update، ظهروا قدامه مع المكالمة.</a:t>
            </a:r>
          </a:p>
          <a:p/>
          <a:p>
            <a:r>
              <a:t>C06 · 13.184–15.860 ثانية · دي ببساطة التجربة اللي GRINDCTRL بتقترحها.</a:t>
            </a:r>
          </a:p>
          <a:p/>
          <a:p>
            <a:r>
              <a:t>SOURCES (PDF pages):</a:t>
            </a:r>
          </a:p>
          <a:p/>
          <a:p>
            <a:r>
              <a:t>User report in this session —  — البحث اليدوي بالرقم يعمل، والمعلومات لا تظهر تلقائيًا بحسب الإفادة. لم يُختبر مستقلًا.</a:t>
            </a:r>
          </a:p>
          <a:p/>
          <a:p>
            <a:r>
              <a:t>Concrete contract (29-11-2023).pdf — 4 — البند: CRM URL pop up integration. التشغيل الحالي غير متحقق منه.</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جديد لـGRINDCTRL؛ لا يوجد تنفيذ سابق أو علاقة حالية بكونكريت أو Centro. طريقة العمل بحسب إفادة المستخدم ولم تُختبر مستقلًا. النسخة والواجهة والـpop-up والصلاحيات وشكل الشاشات الفعلية غير متحقق منها. كل البيانات والواجهات توضيحية.</a:t>
            </a:r>
          </a:p>
          <a:p/>
          <a:p>
            <a:r>
              <a:t>ربط رقم المتصل لا يثبت هويته. تظل إجراءات التحقق والصلاحيات مطلوبة. لا يوجد AI أو تعديل تذكرة أو قرار استرداد أو ربط حي أو نتائج توفير مقاسة. البداية التقنية فحص بند CRM URL pop up integration في عقد نوفمبر ٢٠٢٣، صفحة PDF رقم ٤.</a:t>
            </a:r>
          </a:p>
          <a:p/>
          <a:p>
            <a:r>
              <a:t>توقيتات التعليق الصوتي للمشهد:</a:t>
            </a:r>
          </a:p>
          <a:p/>
          <a:p>
            <a:r>
              <a:t>C07 · 16.395–18.951 ثانية · النهارده، حسب الـWorkflow الحالي اللي اتشرح لنا،</a:t>
            </a:r>
          </a:p>
          <a:p/>
          <a:p>
            <a:r>
              <a:t>C08 · 19.179–21.271 ثانية · الموظف بيستقبل الـCall على Genesys.</a:t>
            </a:r>
          </a:p>
          <a:p/>
          <a:p>
            <a:r>
              <a:t>C09 · 21.546–24.179 ثانية · ولو محتاج يعرف العميل كان عنده Tickets إيه قبل كده،</a:t>
            </a:r>
          </a:p>
          <a:p/>
          <a:p>
            <a:r>
              <a:t>C10 · 24.621–27.677 ثانية · بيضطر يعمل Manual Search برقم التليفون على Zoho Desk.</a:t>
            </a:r>
          </a:p>
          <a:p/>
          <a:p>
            <a:r>
              <a:t>C11 · 28.108–29.292 ثانية · البيانات موجودة بالفعل،</a:t>
            </a:r>
          </a:p>
          <a:p/>
          <a:p>
            <a:r>
              <a:t>C12 · 29.636–33.316 ثانية · لكن الموظف محتاج يعمل كذا خطوة عشان يوصل للـCustomer History.</a:t>
            </a:r>
          </a:p>
          <a:p/>
          <a:p>
            <a:r>
              <a:t>SOURCES (PDF pages):</a:t>
            </a:r>
          </a:p>
          <a:p/>
          <a:p>
            <a:r>
              <a:t>User report in this session —  — البحث اليدوي بالرقم يعمل، والمعلومات لا تظهر تلقائيًا بحسب الإفادة. لم يُختبر مستقلًا.</a:t>
            </a:r>
          </a:p>
          <a:p/>
          <a:p>
            <a:r>
              <a:t>Concrete contract (29-11-2023).pdf — 4 — البند: CRM URL pop up integration. التشغيل الحالي غير متحقق منه.</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جديد لـGRINDCTRL؛ لا يوجد تنفيذ سابق أو علاقة حالية بكونكريت أو Centro. طريقة العمل بحسب إفادة المستخدم ولم تُختبر مستقلًا. النسخة والواجهة والـpop-up والصلاحيات وشكل الشاشات الفعلية غير متحقق منها. كل البيانات والواجهات توضيحية.</a:t>
            </a:r>
          </a:p>
          <a:p/>
          <a:p>
            <a:r>
              <a:t>ربط رقم المتصل لا يثبت هويته. تظل إجراءات التحقق والصلاحيات مطلوبة. لا يوجد AI أو تعديل تذكرة أو قرار استرداد أو ربط حي أو نتائج توفير مقاسة. البداية التقنية فحص بند CRM URL pop up integration في عقد نوفمبر ٢٠٢٣، صفحة PDF رقم ٤.</a:t>
            </a:r>
          </a:p>
          <a:p/>
          <a:p>
            <a:r>
              <a:t>توقيتات التعليق الصوتي للمشهد:</a:t>
            </a:r>
          </a:p>
          <a:p/>
          <a:p>
            <a:r>
              <a:t>C13 · 33.780–35.048 ثانية · في الـSolution اللي بنقترحه،</a:t>
            </a:r>
          </a:p>
          <a:p/>
          <a:p>
            <a:r>
              <a:t>C14 · 35.311–36.352 ثانية · أول ما الـCall توصل،</a:t>
            </a:r>
          </a:p>
          <a:p/>
          <a:p>
            <a:r>
              <a:t>C15 · 36.585–40.510 ثانية · النظام يستخدم رقم المتصل عشان يعمل Automatic Lookup في Zoho Desk.</a:t>
            </a:r>
          </a:p>
          <a:p/>
          <a:p>
            <a:r>
              <a:t>C16 · 40.905–42.801 ثانية · ولما يلاقي الـCustomer Record المناسب،</a:t>
            </a:r>
          </a:p>
          <a:p/>
          <a:p>
            <a:r>
              <a:t>C17 · 43.056–47.687 ثانية · الـTicket History والـLatest Updates يظهروا للـAgent، من غير ما يضطر يعمل Search بنفسه.</a:t>
            </a:r>
          </a:p>
          <a:p/>
          <a:p>
            <a:r>
              <a:t>C18 · 48.104–50.083 ثانية · ولو الرقم مرتبط بأكتر من Customer،</a:t>
            </a:r>
          </a:p>
          <a:p/>
          <a:p>
            <a:r>
              <a:t>C19 · 50.294–51.957 ثانية · الموظف بيختار الـRecord الصحيح.</a:t>
            </a:r>
          </a:p>
          <a:p/>
          <a:p>
            <a:r>
              <a:t>SOURCES (PDF pages):</a:t>
            </a:r>
          </a:p>
          <a:p/>
          <a:p>
            <a:r>
              <a:t>User report in this session —  — البحث اليدوي بالرقم يعمل، والمعلومات لا تظهر تلقائيًا بحسب الإفادة. لم يُختبر مستقلًا.</a:t>
            </a:r>
          </a:p>
          <a:p/>
          <a:p>
            <a:r>
              <a:t>Concrete contract (29-11-2023).pdf — 4 — البند: CRM URL pop up integration. التشغيل الحالي غير متحقق منه.</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جديد لـGRINDCTRL؛ لا يوجد تنفيذ سابق أو علاقة حالية بكونكريت أو Centro. طريقة العمل بحسب إفادة المستخدم ولم تُختبر مستقلًا. النسخة والواجهة والـpop-up والصلاحيات وشكل الشاشات الفعلية غير متحقق منها. كل البيانات والواجهات توضيحية.</a:t>
            </a:r>
          </a:p>
          <a:p/>
          <a:p>
            <a:r>
              <a:t>ربط رقم المتصل لا يثبت هويته. تظل إجراءات التحقق والصلاحيات مطلوبة. لا يوجد AI أو تعديل تذكرة أو قرار استرداد أو ربط حي أو نتائج توفير مقاسة. البداية التقنية فحص بند CRM URL pop up integration في عقد نوفمبر ٢٠٢٣، صفحة PDF رقم ٤.</a:t>
            </a:r>
          </a:p>
          <a:p/>
          <a:p>
            <a:r>
              <a:t>توقيتات التعليق الصوتي للمشهد:</a:t>
            </a:r>
          </a:p>
          <a:p/>
          <a:p>
            <a:r>
              <a:t>C20 · 52.546–53.671 ثانية · خلينا ناخد مثال عملي.</a:t>
            </a:r>
          </a:p>
          <a:p/>
          <a:p>
            <a:r>
              <a:t>C21 · 54.089–57.999 ثانية · Customer بيتصل عشان يعمل Follow-up على Exchange Request كان قدمه قبل كده.</a:t>
            </a:r>
          </a:p>
          <a:p/>
          <a:p>
            <a:r>
              <a:t>C22 · 58.420–61.209 ثانية · الـAgent بيشوف الـTicket السابقة، والـStatus بتاعها،</a:t>
            </a:r>
          </a:p>
          <a:p/>
          <a:p>
            <a:r>
              <a:t>C23 · 61.437–64.518 ثانية · ويلاقي في الـLatest Note إن الطلب لسه Pending Branch Review.</a:t>
            </a:r>
          </a:p>
          <a:p/>
          <a:p>
            <a:r>
              <a:t>C24 · 64.869–68.112 ثانية · بدل ما يبدأ من الصفر ويسأل العميل عن كل التفاصيل تاني،</a:t>
            </a:r>
          </a:p>
          <a:p/>
          <a:p>
            <a:r>
              <a:t>C25 · 68.416–72.613 ثانية · يقدر يشوف آخر Update، ويفهم الـCase، ويكمل الـFollow-up من نفس النقطة.</a:t>
            </a:r>
          </a:p>
          <a:p/>
          <a:p>
            <a:r>
              <a:t>SOURCES (PDF pages):</a:t>
            </a:r>
          </a:p>
          <a:p/>
          <a:p>
            <a:r>
              <a:t>User report in this session —  — البحث اليدوي بالرقم يعمل، والمعلومات لا تظهر تلقائيًا بحسب الإفادة. لم يُختبر مستقلًا.</a:t>
            </a:r>
          </a:p>
          <a:p/>
          <a:p>
            <a:r>
              <a:t>Concrete contract (29-11-2023).pdf — 4 — البند: CRM URL pop up integration. التشغيل الحالي غير متحقق منه.</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جديد لـGRINDCTRL؛ لا يوجد تنفيذ سابق أو علاقة حالية بكونكريت أو Centro. طريقة العمل بحسب إفادة المستخدم ولم تُختبر مستقلًا. النسخة والواجهة والـpop-up والصلاحيات وشكل الشاشات الفعلية غير متحقق منها. كل البيانات والواجهات توضيحية.</a:t>
            </a:r>
          </a:p>
          <a:p/>
          <a:p>
            <a:r>
              <a:t>ربط رقم المتصل لا يثبت هويته. تظل إجراءات التحقق والصلاحيات مطلوبة. لا يوجد AI أو تعديل تذكرة أو قرار استرداد أو ربط حي أو نتائج توفير مقاسة. البداية التقنية فحص بند CRM URL pop up integration في عقد نوفمبر ٢٠٢٣، صفحة PDF رقم ٤.</a:t>
            </a:r>
          </a:p>
          <a:p/>
          <a:p>
            <a:r>
              <a:t>توقيتات التعليق الصوتي للمشهد:</a:t>
            </a:r>
          </a:p>
          <a:p/>
          <a:p>
            <a:r>
              <a:t>C26 · 73.020–74.870 ثانية · نفس الـCustomer، ونفس الـTickets،</a:t>
            </a:r>
          </a:p>
          <a:p/>
          <a:p>
            <a:r>
              <a:t>C27 · 75.025–76.716 ثانية · لكن الـWorkflow اختلف تمامًا.</a:t>
            </a:r>
          </a:p>
          <a:p/>
          <a:p>
            <a:r>
              <a:t>C28 · 77.147–77.903 ثانية · قبل التحسين،</a:t>
            </a:r>
          </a:p>
          <a:p/>
          <a:p>
            <a:r>
              <a:t>C29 · 78.106–82.363 ثانية · الـAgent محتاج يعمل Manual Search، ويفتح الـTicket، ويدور على آخر Update.</a:t>
            </a:r>
          </a:p>
          <a:p/>
          <a:p>
            <a:r>
              <a:t>C30 · 82.654–84.058 ثانية · بعد الـIntegration المقترح،</a:t>
            </a:r>
          </a:p>
          <a:p/>
          <a:p>
            <a:r>
              <a:t>C31 · 84.277–86.150 ثانية · الـCustomer Context بيظهر مع الـCall.</a:t>
            </a:r>
          </a:p>
          <a:p/>
          <a:p>
            <a:r>
              <a:t>C32 · 86.581–88.485 ثانية · الفرق مش إننا بنضيف بيانات جديدة.</a:t>
            </a:r>
          </a:p>
          <a:p/>
          <a:p>
            <a:r>
              <a:t>C33 · 88.871–91.500 ثانية · الفرق إننا بنخلي البيانات الموجودة بالفعل</a:t>
            </a:r>
          </a:p>
          <a:p/>
          <a:p>
            <a:r>
              <a:t>C34 · 91.656–93.764 ثانية · متاحة للموظف في الوقت اللي محتاجها فيه.</a:t>
            </a:r>
          </a:p>
          <a:p/>
          <a:p>
            <a:r>
              <a:t>SOURCES (PDF pages):</a:t>
            </a:r>
          </a:p>
          <a:p/>
          <a:p>
            <a:r>
              <a:t>User report in this session —  — البحث اليدوي بالرقم يعمل، والمعلومات لا تظهر تلقائيًا بحسب الإفادة. لم يُختبر مستقلًا.</a:t>
            </a:r>
          </a:p>
          <a:p/>
          <a:p>
            <a:r>
              <a:t>Concrete contract (29-11-2023).pdf — 4 — البند: CRM URL pop up integration. التشغيل الحالي غير متحقق منه.</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جديد لـGRINDCTRL؛ لا يوجد تنفيذ سابق أو علاقة حالية بكونكريت أو Centro. طريقة العمل بحسب إفادة المستخدم ولم تُختبر مستقلًا. النسخة والواجهة والـpop-up والصلاحيات وشكل الشاشات الفعلية غير متحقق منها. كل البيانات والواجهات توضيحية.</a:t>
            </a:r>
          </a:p>
          <a:p/>
          <a:p>
            <a:r>
              <a:t>ربط رقم المتصل لا يثبت هويته. تظل إجراءات التحقق والصلاحيات مطلوبة. لا يوجد AI أو تعديل تذكرة أو قرار استرداد أو ربط حي أو نتائج توفير مقاسة. البداية التقنية فحص بند CRM URL pop up integration في عقد نوفمبر ٢٠٢٣، صفحة PDF رقم ٤.</a:t>
            </a:r>
          </a:p>
          <a:p/>
          <a:p>
            <a:r>
              <a:t>توقيتات التعليق الصوتي للمشهد:</a:t>
            </a:r>
          </a:p>
          <a:p/>
          <a:p>
            <a:r>
              <a:t>C35 · 94.163–101.396 ثانية · بالنسبة لـConcrete، ده ممكن يقلل خطوات الـManual Search، ويسهّل الـFollow-up، ويساعد الـAgents يفهموا الـCustomer Cases بشكل أسرع.</a:t>
            </a:r>
          </a:p>
          <a:p/>
          <a:p>
            <a:r>
              <a:t>C36 · 101.750–105.876 ثانية · وده ينعكس على الـAgent Experience، وممكن يحسّن الـCustomer Experience كمان.</a:t>
            </a:r>
          </a:p>
          <a:p/>
          <a:p>
            <a:r>
              <a:t>C37 · 106.294–107.977 ثانية · وطبعًا دي Expected Benefits،</a:t>
            </a:r>
          </a:p>
          <a:p/>
          <a:p>
            <a:r>
              <a:t>C38 · 108.229–111.094 ثانية · هنحتاج نقيسها ونتأكد منها من خلال Pilot حقيقي،</a:t>
            </a:r>
          </a:p>
          <a:p/>
          <a:p>
            <a:r>
              <a:t>C39 · 111.326–112.850 ثانية · مش مجرد أرقام أو وعود.</a:t>
            </a:r>
          </a:p>
          <a:p/>
          <a:p>
            <a:r>
              <a:t>SOURCES (PDF pages):</a:t>
            </a:r>
          </a:p>
          <a:p/>
          <a:p>
            <a:r>
              <a:t>User report in this session —  — البحث اليدوي بالرقم يعمل، والمعلومات لا تظهر تلقائيًا بحسب الإفادة. لم يُختبر مستقلًا.</a:t>
            </a:r>
          </a:p>
          <a:p/>
          <a:p>
            <a:r>
              <a:t>Concrete contract (29-11-2023).pdf — 4 — البند: CRM URL pop up integration. التشغيل الحالي غير متحقق منه.</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جديد لـGRINDCTRL؛ لا يوجد تنفيذ سابق أو علاقة حالية بكونكريت أو Centro. طريقة العمل بحسب إفادة المستخدم ولم تُختبر مستقلًا. النسخة والواجهة والـpop-up والصلاحيات وشكل الشاشات الفعلية غير متحقق منها. كل البيانات والواجهات توضيحية.</a:t>
            </a:r>
          </a:p>
          <a:p/>
          <a:p>
            <a:r>
              <a:t>ربط رقم المتصل لا يثبت هويته. تظل إجراءات التحقق والصلاحيات مطلوبة. لا يوجد AI أو تعديل تذكرة أو قرار استرداد أو ربط حي أو نتائج توفير مقاسة. البداية التقنية فحص بند CRM URL pop up integration في عقد نوفمبر ٢٠٢٣، صفحة PDF رقم ٤.</a:t>
            </a:r>
          </a:p>
          <a:p/>
          <a:p>
            <a:r>
              <a:t>توقيتات التعليق الصوتي للمشهد:</a:t>
            </a:r>
          </a:p>
          <a:p/>
          <a:p>
            <a:r>
              <a:t>C40 · 113.196–115.921 ثانية · وأول خطوة مش إننا نبني System جديد من الصفر.</a:t>
            </a:r>
          </a:p>
          <a:p/>
          <a:p>
            <a:r>
              <a:t>C41 · 116.272–120.288 ثانية · هنبدأ نراجع الـIntegration والـPop-up الموجودين بالفعل بين Genesys وZoho،</a:t>
            </a:r>
          </a:p>
          <a:p/>
          <a:p>
            <a:r>
              <a:t>C42 · 120.490–122.802 ثانية · ونشوف إيه اللي شغال وإيه اللي محتاج يتظبط.</a:t>
            </a:r>
          </a:p>
          <a:p/>
          <a:p>
            <a:r>
              <a:t>C43 · 123.098–127.510 ثانية · بعدها نحدد أنسب Solution، ونجرّبه مع فريق Concrete من خلال Test Calls.</a:t>
            </a:r>
          </a:p>
          <a:p/>
          <a:p>
            <a:r>
              <a:t>C44 · 127.842–129.135 ثانية · هدفنا بسيط وواضح:</a:t>
            </a:r>
          </a:p>
          <a:p/>
          <a:p>
            <a:r>
              <a:t>C45 · 129.462–130.561 ثانية · نخلي الـAgent يبدأ</a:t>
            </a:r>
          </a:p>
          <a:p/>
          <a:p>
            <a:r>
              <a:t>C46 · 130.713–134.563 ثانية · كل Call وهو عنده الـCustomer Context اللي يساعده يقدم Service أفضل،</a:t>
            </a:r>
          </a:p>
          <a:p/>
          <a:p>
            <a:r>
              <a:t>C47 · 134.819–136.836 ثانية · من غير خطوات يدوية مش ضرورية.</a:t>
            </a:r>
          </a:p>
          <a:p/>
          <a:p>
            <a:r>
              <a:t>SOURCES (PDF pages):</a:t>
            </a:r>
          </a:p>
          <a:p/>
          <a:p>
            <a:r>
              <a:t>User report in this session —  — البحث اليدوي بالرقم يعمل، والمعلومات لا تظهر تلقائيًا بحسب الإفادة. لم يُختبر مستقلًا.</a:t>
            </a:r>
          </a:p>
          <a:p/>
          <a:p>
            <a:r>
              <a:t>Concrete contract (29-11-2023).pdf — 4 — البند: CRM URL pop up integration. التشغيل الحالي غير متحقق منه.</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جديد لـGRINDCTRL؛ لا يوجد تنفيذ سابق أو علاقة حالية بكونكريت أو Centro. طريقة العمل بحسب إفادة المستخدم ولم تُختبر مستقلًا. النسخة والواجهة والـpop-up والصلاحيات وشكل الشاشات الفعلية غير متحقق منها. كل البيانات والواجهات توضيحية.</a:t>
            </a:r>
          </a:p>
          <a:p/>
          <a:p>
            <a:r>
              <a:t>ربط رقم المتصل لا يثبت هويته. تظل إجراءات التحقق والصلاحيات مطلوبة. لا يوجد AI أو تعديل تذكرة أو قرار استرداد أو ربط حي أو نتائج توفير مقاسة. البداية التقنية فحص بند CRM URL pop up integration في عقد نوفمبر ٢٠٢٣، صفحة PDF رقم ٤.</a:t>
            </a:r>
          </a:p>
          <a:p/>
          <a:p>
            <a:r>
              <a:t>توقيتات التعليق الصوتي للمشهد:</a:t>
            </a:r>
          </a:p>
          <a:p/>
          <a:p>
            <a:r>
              <a:t>C13 · 33.780–35.048 ثانية · في الـSolution اللي بنقترحه،</a:t>
            </a:r>
          </a:p>
          <a:p/>
          <a:p>
            <a:r>
              <a:t>C14 · 35.311–36.352 ثانية · أول ما الـCall توصل،</a:t>
            </a:r>
          </a:p>
          <a:p/>
          <a:p>
            <a:r>
              <a:t>C15 · 36.585–40.510 ثانية · النظام يستخدم رقم المتصل عشان يعمل Automatic Lookup في Zoho Desk.</a:t>
            </a:r>
          </a:p>
          <a:p/>
          <a:p>
            <a:r>
              <a:t>C16 · 40.905–42.801 ثانية · ولما يلاقي الـCustomer Record المناسب،</a:t>
            </a:r>
          </a:p>
          <a:p/>
          <a:p>
            <a:r>
              <a:t>C17 · 43.056–47.687 ثانية · الـTicket History والـLatest Updates يظهروا للـAgent، من غير ما يضطر يعمل Search بنفسه.</a:t>
            </a:r>
          </a:p>
          <a:p/>
          <a:p>
            <a:r>
              <a:t>C18 · 48.104–50.083 ثانية · ولو الرقم مرتبط بأكتر من Customer،</a:t>
            </a:r>
          </a:p>
          <a:p/>
          <a:p>
            <a:r>
              <a:t>C19 · 50.294–51.957 ثانية · الموظف بيختار الـRecord الصحيح.</a:t>
            </a:r>
          </a:p>
          <a:p/>
          <a:p>
            <a:r>
              <a:t>ملحق: اختيار السجل موجود داخل HTML والفيديو من ٤٨٫١٠٤ إلى ٥١٫٩٥٧ ثانية. مطابقة الرقم لا تثبت الهوية. الملحق لا يطيل التسجيل.</a:t>
            </a:r>
          </a:p>
          <a:p/>
          <a:p>
            <a:r>
              <a:t>SOURCES (PDF pages):</a:t>
            </a:r>
          </a:p>
          <a:p/>
          <a:p>
            <a:r>
              <a:t>User report in this session —  — البحث اليدوي بالرقم يعمل، والمعلومات لا تظهر تلقائيًا بحسب الإفادة. لم يُختبر مستقلًا.</a:t>
            </a:r>
          </a:p>
          <a:p/>
          <a:p>
            <a:r>
              <a:t>Concrete contract (29-11-2023).pdf — 4 — البند: CRM URL pop up integration. التشغيل الحالي غير متحقق منه.</a:t>
            </a:r>
          </a:p>
          <a:p/>
          <a:p>
            <a:r>
              <a:t>No existing Concrete/Centro relationship. All sample records are fictional. No live connector. Reported workflow has not been independently tested.</a:t>
            </a:r>
          </a:p>
          <a:p/>
          <a:p>
            <a:r>
              <a:t>HTML and MP4 are the verified audiovisual masters. This PPTX contains the unchanged original MP3 and native timed fade entrances plus automatic chapter advances. PowerPoint audio continuity and seek/pause behavior have not been verified in Microsoft PowerPoint. The shared-number branch is a separate editable appendix; transient focus traces are simplified. Install the bundled Manrope and IBM Plex Sans Arabic fonts for native layout fidelity.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audio" Target="../media/grindctrl_voiceover_ar.mp3"/><Relationship Id="rId14" Type="http://schemas.microsoft.com/office/2007/relationships/media" Target="../media/grindctrl_voiceover_ar.mp3"/><Relationship Id="rId1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8.png"/><Relationship Id="rId9" Type="http://schemas.openxmlformats.org/officeDocument/2006/relationships/image" Target="../media/image14.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1.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3.png"/><Relationship Id="rId14"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105900" y="276225"/>
            <a:ext cx="2095500"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76225"/>
            <a:ext cx="516255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التجربة المقترحة للموظف</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المكالمة ومعاها تاريخ الخدمة.</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8645E"/>
                </a:solidFill>
                <a:latin typeface="Manrope"/>
                <a:cs typeface="IBM Plex Sans Arabic Medium"/>
              </a:rPr>
              <a:t>كونكريت · تعاون مقترح · واجهات توضيحية وسجلات خيالية</a:t>
            </a:r>
          </a:p>
        </p:txBody>
      </p:sp>
      <p:sp>
        <p:nvSpPr>
          <p:cNvPr id="8" name="TextBox 7"/>
          <p:cNvSpPr txBox="1"/>
          <p:nvPr/>
        </p:nvSpPr>
        <p:spPr>
          <a:xfrm>
            <a:off x="457200" y="6505575"/>
            <a:ext cx="781050" cy="238125"/>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8645E"/>
                </a:solidFill>
                <a:latin typeface="Manrope"/>
                <a:cs typeface="IBM Plex Sans Arabic Medium"/>
              </a:rPr>
              <a:t>01 / 07</a:t>
            </a:r>
          </a:p>
        </p:txBody>
      </p:sp>
      <p:sp>
        <p:nvSpPr>
          <p:cNvPr id="9" name="Rounded Rectangle 8"/>
          <p:cNvSpPr/>
          <p:nvPr/>
        </p:nvSpPr>
        <p:spPr>
          <a:xfrm>
            <a:off x="8667750" y="1724025"/>
            <a:ext cx="3067050" cy="4495800"/>
          </a:xfrm>
          <a:prstGeom prst="roundRect">
            <a:avLst>
              <a:gd name="adj" fmla="val 372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667750" y="1676400"/>
            <a:ext cx="3067050" cy="4495800"/>
          </a:xfrm>
          <a:prstGeom prst="roundRect">
            <a:avLst>
              <a:gd name="adj" fmla="val 372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191750" y="1881744"/>
            <a:ext cx="1314450" cy="256062"/>
          </a:xfrm>
          <a:prstGeom prst="rect">
            <a:avLst/>
          </a:prstGeom>
          <a:effectLst/>
        </p:spPr>
      </p:pic>
      <p:sp>
        <p:nvSpPr>
          <p:cNvPr id="12" name="TextBox 11"/>
          <p:cNvSpPr txBox="1"/>
          <p:nvPr/>
        </p:nvSpPr>
        <p:spPr>
          <a:xfrm>
            <a:off x="8896350" y="1885950"/>
            <a:ext cx="1123950" cy="304800"/>
          </a:xfrm>
          <a:prstGeom prst="rect">
            <a:avLst/>
          </a:prstGeom>
          <a:noFill/>
          <a:effectLst/>
        </p:spPr>
        <p:txBody>
          <a:bodyPr wrap="square" lIns="0" rIns="0" tIns="0" bIns="0" anchor="t">
            <a:spAutoFit/>
          </a:bodyPr>
          <a:lstStyle/>
          <a:p>
            <a:pPr algn="l" rtl="1">
              <a:lnSpc>
                <a:spcPts val="1512"/>
              </a:lnSpc>
              <a:spcBef>
                <a:spcPts val="0"/>
              </a:spcBef>
              <a:spcAft>
                <a:spcPts val="0"/>
              </a:spcAft>
            </a:pPr>
            <a:r>
              <a:rPr sz="1350" b="0" lang="ar-EG">
                <a:solidFill>
                  <a:srgbClr val="68645E"/>
                </a:solidFill>
                <a:latin typeface="Manrope"/>
                <a:cs typeface="IBM Plex Sans Arabic Medium"/>
              </a:rPr>
              <a:t>المكالمة</a:t>
            </a:r>
          </a:p>
        </p:txBody>
      </p:sp>
      <p:cxnSp>
        <p:nvCxnSpPr>
          <p:cNvPr id="13" name="Connector 12"/>
          <p:cNvCxnSpPr/>
          <p:nvPr/>
        </p:nvCxnSpPr>
        <p:spPr>
          <a:xfrm flipH="1">
            <a:off x="8667750" y="2362200"/>
            <a:ext cx="3067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706100" y="2667000"/>
            <a:ext cx="781050" cy="7810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0915650" y="2876550"/>
            <a:ext cx="361950" cy="361950"/>
          </a:xfrm>
          <a:prstGeom prst="rect">
            <a:avLst/>
          </a:prstGeom>
          <a:effectLst/>
        </p:spPr>
      </p:pic>
      <p:sp>
        <p:nvSpPr>
          <p:cNvPr id="16" name="TextBox 15"/>
          <p:cNvSpPr txBox="1"/>
          <p:nvPr/>
        </p:nvSpPr>
        <p:spPr>
          <a:xfrm>
            <a:off x="8915400" y="3686175"/>
            <a:ext cx="2571750" cy="40957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62626"/>
                </a:solidFill>
                <a:latin typeface="Manrope"/>
                <a:cs typeface="IBM Plex Sans Arabic Medium"/>
              </a:rPr>
              <a:t>متصل وارد</a:t>
            </a:r>
          </a:p>
        </p:txBody>
      </p:sp>
      <p:sp>
        <p:nvSpPr>
          <p:cNvPr id="17" name="TextBox 16"/>
          <p:cNvSpPr txBox="1"/>
          <p:nvPr/>
        </p:nvSpPr>
        <p:spPr>
          <a:xfrm>
            <a:off x="8915400" y="4219575"/>
            <a:ext cx="2571750" cy="409575"/>
          </a:xfrm>
          <a:prstGeom prst="rect">
            <a:avLst/>
          </a:prstGeom>
          <a:noFill/>
          <a:effectLst/>
        </p:spPr>
        <p:txBody>
          <a:bodyPr wrap="square" lIns="0" rIns="0" tIns="0" bIns="0" anchor="t">
            <a:spAutoFit/>
          </a:bodyPr>
          <a:lstStyle/>
          <a:p>
            <a:pPr algn="r" rtl="0">
              <a:lnSpc>
                <a:spcPts val="2436"/>
              </a:lnSpc>
              <a:spcBef>
                <a:spcPts val="0"/>
              </a:spcBef>
              <a:spcAft>
                <a:spcPts val="0"/>
              </a:spcAft>
            </a:pPr>
            <a:r>
              <a:rPr sz="2175" b="1" lang="ar-EG">
                <a:solidFill>
                  <a:srgbClr val="262626"/>
                </a:solidFill>
                <a:latin typeface="Manrope"/>
                <a:cs typeface="IBM Plex Sans Arabic Medium"/>
              </a:rPr>
              <a:t>+20 ••• 410</a:t>
            </a:r>
          </a:p>
        </p:txBody>
      </p:sp>
      <p:sp>
        <p:nvSpPr>
          <p:cNvPr id="18" name="TextBox 17"/>
          <p:cNvSpPr txBox="1"/>
          <p:nvPr/>
        </p:nvSpPr>
        <p:spPr>
          <a:xfrm>
            <a:off x="8915400" y="4695825"/>
            <a:ext cx="25717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49654E"/>
                </a:solidFill>
                <a:latin typeface="Manrope"/>
                <a:cs typeface="IBM Plex Sans Arabic Medium"/>
              </a:rPr>
              <a:t>مكالمة جارية</a:t>
            </a:r>
          </a:p>
        </p:txBody>
      </p:sp>
      <p:sp>
        <p:nvSpPr>
          <p:cNvPr id="19" name="Oval 18"/>
          <p:cNvSpPr/>
          <p:nvPr/>
        </p:nvSpPr>
        <p:spPr>
          <a:xfrm>
            <a:off x="1104900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mic.png"/>
          <p:cNvPicPr>
            <a:picLocks noChangeAspect="1"/>
          </p:cNvPicPr>
          <p:nvPr/>
        </p:nvPicPr>
        <p:blipFill>
          <a:blip r:embed="rId5"/>
          <a:stretch>
            <a:fillRect/>
          </a:stretch>
        </p:blipFill>
        <p:spPr>
          <a:xfrm>
            <a:off x="11163300" y="5467350"/>
            <a:ext cx="209550" cy="209550"/>
          </a:xfrm>
          <a:prstGeom prst="rect">
            <a:avLst/>
          </a:prstGeom>
          <a:effectLst/>
        </p:spPr>
      </p:pic>
      <p:sp>
        <p:nvSpPr>
          <p:cNvPr id="21" name="Oval 20"/>
          <p:cNvSpPr/>
          <p:nvPr/>
        </p:nvSpPr>
        <p:spPr>
          <a:xfrm>
            <a:off x="1042035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pause.png"/>
          <p:cNvPicPr>
            <a:picLocks noChangeAspect="1"/>
          </p:cNvPicPr>
          <p:nvPr/>
        </p:nvPicPr>
        <p:blipFill>
          <a:blip r:embed="rId6"/>
          <a:stretch>
            <a:fillRect/>
          </a:stretch>
        </p:blipFill>
        <p:spPr>
          <a:xfrm>
            <a:off x="10534650" y="5467350"/>
            <a:ext cx="209550" cy="209550"/>
          </a:xfrm>
          <a:prstGeom prst="rect">
            <a:avLst/>
          </a:prstGeom>
          <a:effectLst/>
        </p:spPr>
      </p:pic>
      <p:sp>
        <p:nvSpPr>
          <p:cNvPr id="23" name="Oval 22"/>
          <p:cNvSpPr/>
          <p:nvPr/>
        </p:nvSpPr>
        <p:spPr>
          <a:xfrm>
            <a:off x="979170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end.png"/>
          <p:cNvPicPr>
            <a:picLocks noChangeAspect="1"/>
          </p:cNvPicPr>
          <p:nvPr/>
        </p:nvPicPr>
        <p:blipFill>
          <a:blip r:embed="rId7"/>
          <a:stretch>
            <a:fillRect/>
          </a:stretch>
        </p:blipFill>
        <p:spPr>
          <a:xfrm>
            <a:off x="9906000" y="5467350"/>
            <a:ext cx="209550" cy="209550"/>
          </a:xfrm>
          <a:prstGeom prst="rect">
            <a:avLst/>
          </a:prstGeom>
          <a:effectLst/>
        </p:spPr>
      </p:pic>
      <p:sp>
        <p:nvSpPr>
          <p:cNvPr id="25" name="Rounded Rectangle 24"/>
          <p:cNvSpPr/>
          <p:nvPr/>
        </p:nvSpPr>
        <p:spPr>
          <a:xfrm>
            <a:off x="457200" y="1724025"/>
            <a:ext cx="7924800" cy="4495800"/>
          </a:xfrm>
          <a:prstGeom prst="roundRect">
            <a:avLst>
              <a:gd name="adj" fmla="val 254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457200" y="1676400"/>
            <a:ext cx="7924800" cy="4495800"/>
          </a:xfrm>
          <a:prstGeom prst="roundRect">
            <a:avLst>
              <a:gd name="adj" fmla="val 254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zoho.png"/>
          <p:cNvPicPr>
            <a:picLocks noChangeAspect="1"/>
          </p:cNvPicPr>
          <p:nvPr/>
        </p:nvPicPr>
        <p:blipFill>
          <a:blip r:embed="rId8"/>
          <a:stretch>
            <a:fillRect/>
          </a:stretch>
        </p:blipFill>
        <p:spPr>
          <a:xfrm>
            <a:off x="7436774" y="1857375"/>
            <a:ext cx="709353" cy="304800"/>
          </a:xfrm>
          <a:prstGeom prst="rect">
            <a:avLst/>
          </a:prstGeom>
          <a:effectLst/>
        </p:spPr>
      </p:pic>
      <p:sp>
        <p:nvSpPr>
          <p:cNvPr id="28" name="TextBox 27"/>
          <p:cNvSpPr txBox="1"/>
          <p:nvPr/>
        </p:nvSpPr>
        <p:spPr>
          <a:xfrm>
            <a:off x="771525" y="1857375"/>
            <a:ext cx="6496050" cy="3714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 · معلومات العميل</a:t>
            </a:r>
          </a:p>
        </p:txBody>
      </p:sp>
      <p:cxnSp>
        <p:nvCxnSpPr>
          <p:cNvPr id="29" name="Connector 28"/>
          <p:cNvCxnSpPr/>
          <p:nvPr/>
        </p:nvCxnSpPr>
        <p:spPr>
          <a:xfrm flipH="1">
            <a:off x="457200" y="2362200"/>
            <a:ext cx="79248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0" name="Oval 29"/>
          <p:cNvSpPr/>
          <p:nvPr/>
        </p:nvSpPr>
        <p:spPr>
          <a:xfrm>
            <a:off x="7705725" y="2590800"/>
            <a:ext cx="447675" cy="4476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actor.png"/>
          <p:cNvPicPr>
            <a:picLocks noChangeAspect="1"/>
          </p:cNvPicPr>
          <p:nvPr/>
        </p:nvPicPr>
        <p:blipFill>
          <a:blip r:embed="rId9"/>
          <a:stretch>
            <a:fillRect/>
          </a:stretch>
        </p:blipFill>
        <p:spPr>
          <a:xfrm>
            <a:off x="7804214" y="2689288"/>
            <a:ext cx="250698" cy="250698"/>
          </a:xfrm>
          <a:prstGeom prst="rect">
            <a:avLst/>
          </a:prstGeom>
          <a:effectLst/>
        </p:spPr>
      </p:pic>
      <p:sp>
        <p:nvSpPr>
          <p:cNvPr id="32" name="TextBox 31"/>
          <p:cNvSpPr txBox="1"/>
          <p:nvPr/>
        </p:nvSpPr>
        <p:spPr>
          <a:xfrm>
            <a:off x="876300" y="2581275"/>
            <a:ext cx="6667500" cy="38100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العميل A</a:t>
            </a:r>
          </a:p>
        </p:txBody>
      </p:sp>
      <p:sp>
        <p:nvSpPr>
          <p:cNvPr id="33" name="TextBox 32"/>
          <p:cNvSpPr txBox="1"/>
          <p:nvPr/>
        </p:nvSpPr>
        <p:spPr>
          <a:xfrm>
            <a:off x="5400675" y="3038475"/>
            <a:ext cx="2143125" cy="3048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645E"/>
                </a:solidFill>
                <a:latin typeface="Manrope"/>
                <a:cs typeface="IBM Plex Sans Arabic Medium"/>
              </a:rPr>
              <a:t>سجل مرتبط</a:t>
            </a:r>
          </a:p>
        </p:txBody>
      </p:sp>
      <p:sp>
        <p:nvSpPr>
          <p:cNvPr id="34" name="TextBox 33"/>
          <p:cNvSpPr txBox="1"/>
          <p:nvPr/>
        </p:nvSpPr>
        <p:spPr>
          <a:xfrm>
            <a:off x="2695575" y="3028950"/>
            <a:ext cx="2524125" cy="314325"/>
          </a:xfrm>
          <a:prstGeom prst="rect">
            <a:avLst/>
          </a:prstGeom>
          <a:noFill/>
          <a:effectLst/>
        </p:spPr>
        <p:txBody>
          <a:bodyPr wrap="square" lIns="0" rIns="0" tIns="0" bIns="0" anchor="t">
            <a:spAutoFit/>
          </a:bodyPr>
          <a:lstStyle/>
          <a:p>
            <a:pPr algn="r" rtl="0">
              <a:lnSpc>
                <a:spcPts val="1680"/>
              </a:lnSpc>
              <a:spcBef>
                <a:spcPts val="0"/>
              </a:spcBef>
              <a:spcAft>
                <a:spcPts val="0"/>
              </a:spcAft>
            </a:pPr>
            <a:r>
              <a:rPr sz="1500" b="0" lang="ar-EG">
                <a:solidFill>
                  <a:srgbClr val="68645E"/>
                </a:solidFill>
                <a:latin typeface="Manrope"/>
                <a:cs typeface="IBM Plex Sans Arabic Medium"/>
              </a:rPr>
              <a:t>+20 ••• 410</a:t>
            </a:r>
          </a:p>
        </p:txBody>
      </p:sp>
      <p:cxnSp>
        <p:nvCxnSpPr>
          <p:cNvPr id="35" name="Connector 34"/>
          <p:cNvCxnSpPr/>
          <p:nvPr/>
        </p:nvCxnSpPr>
        <p:spPr>
          <a:xfrm flipH="1">
            <a:off x="685800" y="3457575"/>
            <a:ext cx="746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5838825" y="3648075"/>
            <a:ext cx="2314575" cy="3429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التذاكر السابقة</a:t>
            </a:r>
          </a:p>
        </p:txBody>
      </p:sp>
      <p:sp>
        <p:nvSpPr>
          <p:cNvPr id="37" name="Rounded Rectangle 36"/>
          <p:cNvSpPr/>
          <p:nvPr/>
        </p:nvSpPr>
        <p:spPr>
          <a:xfrm>
            <a:off x="5724525" y="4076700"/>
            <a:ext cx="2505075" cy="1152525"/>
          </a:xfrm>
          <a:prstGeom prst="roundRect">
            <a:avLst>
              <a:gd name="adj" fmla="val 6611"/>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con-case.png"/>
          <p:cNvPicPr>
            <a:picLocks noChangeAspect="1"/>
          </p:cNvPicPr>
          <p:nvPr/>
        </p:nvPicPr>
        <p:blipFill>
          <a:blip r:embed="rId10"/>
          <a:stretch>
            <a:fillRect/>
          </a:stretch>
        </p:blipFill>
        <p:spPr>
          <a:xfrm>
            <a:off x="7839075" y="4248150"/>
            <a:ext cx="257175" cy="257175"/>
          </a:xfrm>
          <a:prstGeom prst="rect">
            <a:avLst/>
          </a:prstGeom>
          <a:effectLst/>
        </p:spPr>
      </p:pic>
      <p:sp>
        <p:nvSpPr>
          <p:cNvPr id="39" name="TextBox 38"/>
          <p:cNvSpPr txBox="1"/>
          <p:nvPr/>
        </p:nvSpPr>
        <p:spPr>
          <a:xfrm>
            <a:off x="5934075" y="4229100"/>
            <a:ext cx="1752600" cy="3238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T101 · استبدال</a:t>
            </a:r>
          </a:p>
        </p:txBody>
      </p:sp>
      <p:sp>
        <p:nvSpPr>
          <p:cNvPr id="40" name="TextBox 39"/>
          <p:cNvSpPr txBox="1"/>
          <p:nvPr/>
        </p:nvSpPr>
        <p:spPr>
          <a:xfrm>
            <a:off x="5924550" y="4676775"/>
            <a:ext cx="2171700" cy="50482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بانتظار</a:t>
            </a:r>
          </a:p>
          <a:p>
            <a:pPr algn="r" rtl="1">
              <a:lnSpc>
                <a:spcPts val="1680"/>
              </a:lnSpc>
              <a:spcBef>
                <a:spcPts val="0"/>
              </a:spcBef>
              <a:spcAft>
                <a:spcPts val="0"/>
              </a:spcAft>
            </a:pPr>
            <a:r>
              <a:rPr sz="1500" b="0" lang="ar-EG">
                <a:solidFill>
                  <a:srgbClr val="965318"/>
                </a:solidFill>
                <a:latin typeface="Manrope"/>
                <a:cs typeface="IBM Plex Sans Arabic Medium"/>
              </a:rPr>
              <a:t>مراجعة الفرع</a:t>
            </a:r>
          </a:p>
        </p:txBody>
      </p:sp>
      <p:pic>
        <p:nvPicPr>
          <p:cNvPr id="41" name="Picture 40" descr="icon-case.png"/>
          <p:cNvPicPr>
            <a:picLocks noChangeAspect="1"/>
          </p:cNvPicPr>
          <p:nvPr/>
        </p:nvPicPr>
        <p:blipFill>
          <a:blip r:embed="rId10"/>
          <a:stretch>
            <a:fillRect/>
          </a:stretch>
        </p:blipFill>
        <p:spPr>
          <a:xfrm>
            <a:off x="7858125" y="5514975"/>
            <a:ext cx="238125" cy="238125"/>
          </a:xfrm>
          <a:prstGeom prst="rect">
            <a:avLst/>
          </a:prstGeom>
          <a:effectLst/>
        </p:spPr>
      </p:pic>
      <p:sp>
        <p:nvSpPr>
          <p:cNvPr id="42" name="TextBox 41"/>
          <p:cNvSpPr txBox="1"/>
          <p:nvPr/>
        </p:nvSpPr>
        <p:spPr>
          <a:xfrm>
            <a:off x="5876925" y="5448300"/>
            <a:ext cx="1809750" cy="333375"/>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262626"/>
                </a:solidFill>
                <a:latin typeface="Manrope"/>
                <a:cs typeface="IBM Plex Sans Arabic Medium"/>
              </a:rPr>
              <a:t>T098 · سؤال مقاس</a:t>
            </a:r>
          </a:p>
        </p:txBody>
      </p:sp>
      <p:sp>
        <p:nvSpPr>
          <p:cNvPr id="43" name="TextBox 42"/>
          <p:cNvSpPr txBox="1"/>
          <p:nvPr/>
        </p:nvSpPr>
        <p:spPr>
          <a:xfrm>
            <a:off x="5895975" y="5781675"/>
            <a:ext cx="1790700" cy="266700"/>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645E"/>
                </a:solidFill>
                <a:latin typeface="Manrope"/>
                <a:cs typeface="IBM Plex Sans Arabic Medium"/>
              </a:rPr>
              <a:t>مغلقة</a:t>
            </a:r>
          </a:p>
        </p:txBody>
      </p:sp>
      <p:cxnSp>
        <p:nvCxnSpPr>
          <p:cNvPr id="44" name="Connector 43"/>
          <p:cNvCxnSpPr/>
          <p:nvPr/>
        </p:nvCxnSpPr>
        <p:spPr>
          <a:xfrm>
            <a:off x="5505450" y="3714750"/>
            <a:ext cx="0" cy="84772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a:off x="5505450" y="4876800"/>
            <a:ext cx="0" cy="104775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flipH="1">
            <a:off x="5343525" y="4724400"/>
            <a:ext cx="304800" cy="0"/>
          </a:xfrm>
          <a:prstGeom prst="line">
            <a:avLst/>
          </a:prstGeom>
          <a:ln w="16192">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7" name="TextBox 46"/>
          <p:cNvSpPr txBox="1"/>
          <p:nvPr/>
        </p:nvSpPr>
        <p:spPr>
          <a:xfrm>
            <a:off x="704850" y="3629025"/>
            <a:ext cx="4552950" cy="3810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T101 · متابعة استبدال</a:t>
            </a:r>
          </a:p>
        </p:txBody>
      </p:sp>
      <p:pic>
        <p:nvPicPr>
          <p:cNvPr id="48" name="Picture 47" descr="icon-clock.png"/>
          <p:cNvPicPr>
            <a:picLocks noChangeAspect="1"/>
          </p:cNvPicPr>
          <p:nvPr/>
        </p:nvPicPr>
        <p:blipFill>
          <a:blip r:embed="rId11"/>
          <a:stretch>
            <a:fillRect/>
          </a:stretch>
        </p:blipFill>
        <p:spPr>
          <a:xfrm>
            <a:off x="5048250" y="4152900"/>
            <a:ext cx="209550" cy="209550"/>
          </a:xfrm>
          <a:prstGeom prst="rect">
            <a:avLst/>
          </a:prstGeom>
          <a:effectLst/>
        </p:spPr>
      </p:pic>
      <p:sp>
        <p:nvSpPr>
          <p:cNvPr id="49" name="TextBox 48"/>
          <p:cNvSpPr txBox="1"/>
          <p:nvPr/>
        </p:nvSpPr>
        <p:spPr>
          <a:xfrm>
            <a:off x="676275" y="4133850"/>
            <a:ext cx="4257675" cy="3333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965318"/>
                </a:solidFill>
                <a:latin typeface="Manrope"/>
                <a:cs typeface="IBM Plex Sans Arabic Medium"/>
              </a:rPr>
              <a:t>بانتظار الفرع</a:t>
            </a:r>
          </a:p>
        </p:txBody>
      </p:sp>
      <p:sp>
        <p:nvSpPr>
          <p:cNvPr id="50" name="Rounded Rectangle 49"/>
          <p:cNvSpPr/>
          <p:nvPr/>
        </p:nvSpPr>
        <p:spPr>
          <a:xfrm>
            <a:off x="685800" y="4648200"/>
            <a:ext cx="4610100" cy="1257300"/>
          </a:xfrm>
          <a:prstGeom prst="roundRect">
            <a:avLst>
              <a:gd name="adj" fmla="val 606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1" name="Picture 50" descr="icon-file.png"/>
          <p:cNvPicPr>
            <a:picLocks noChangeAspect="1"/>
          </p:cNvPicPr>
          <p:nvPr/>
        </p:nvPicPr>
        <p:blipFill>
          <a:blip r:embed="rId12"/>
          <a:stretch>
            <a:fillRect/>
          </a:stretch>
        </p:blipFill>
        <p:spPr>
          <a:xfrm>
            <a:off x="4867275" y="4810125"/>
            <a:ext cx="238125" cy="238125"/>
          </a:xfrm>
          <a:prstGeom prst="rect">
            <a:avLst/>
          </a:prstGeom>
          <a:effectLst/>
        </p:spPr>
      </p:pic>
      <p:sp>
        <p:nvSpPr>
          <p:cNvPr id="52" name="TextBox 51"/>
          <p:cNvSpPr txBox="1"/>
          <p:nvPr/>
        </p:nvSpPr>
        <p:spPr>
          <a:xfrm>
            <a:off x="685800" y="4791075"/>
            <a:ext cx="4057650" cy="31432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آخر ملاحظة مسجلة</a:t>
            </a:r>
          </a:p>
        </p:txBody>
      </p:sp>
      <p:sp>
        <p:nvSpPr>
          <p:cNvPr id="53" name="TextBox 52"/>
          <p:cNvSpPr txBox="1"/>
          <p:nvPr/>
        </p:nvSpPr>
        <p:spPr>
          <a:xfrm>
            <a:off x="914400" y="5238750"/>
            <a:ext cx="4191000" cy="62865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مراجعة الفرع</a:t>
            </a:r>
          </a:p>
          <a:p>
            <a:pPr algn="r" rtl="1">
              <a:lnSpc>
                <a:spcPts val="2268"/>
              </a:lnSpc>
              <a:spcBef>
                <a:spcPts val="0"/>
              </a:spcBef>
              <a:spcAft>
                <a:spcPts val="0"/>
              </a:spcAft>
            </a:pPr>
            <a:r>
              <a:rPr sz="2025" b="1" lang="ar-EG">
                <a:solidFill>
                  <a:srgbClr val="262626"/>
                </a:solidFill>
                <a:latin typeface="Manrope"/>
                <a:cs typeface="IBM Plex Sans Arabic Medium"/>
              </a:rPr>
              <a:t>لسه مطلوبة.</a:t>
            </a:r>
          </a:p>
        </p:txBody>
      </p:sp>
      <p:pic>
        <p:nvPicPr>
          <p:cNvPr id="54" name="Original Arabic narration — 137 seconds" descr="icon-mic.png">
            <a:hlinkClick action="ppaction://media" r:id=""/>
          </p:cNvPr>
          <p:cNvPicPr>
            <a:picLocks noChangeAspect="1"/>
          </p:cNvPicPr>
          <p:nvPr>
            <a:audioFile r:link="rId13"/>
            <p:extLst>
              <p:ext uri="{DAA4B4D4-6D71-4841-9C94-3DE7FCFB45AD}">
                <p14:media xmlns:p14="http://schemas.microsoft.com/office/powerpoint/2010/main" r:embed="rId14"/>
              </p:ext>
            </p:extLst>
          </p:nvPr>
        </p:nvPicPr>
        <p:blipFill>
          <a:blip r:embed="rId5"/>
          <a:stretch>
            <a:fillRect/>
          </a:stretch>
        </p:blipFill>
        <p:spPr>
          <a:xfrm>
            <a:off x="1409700" y="6486525"/>
            <a:ext cx="209550" cy="209550"/>
          </a:xfrm>
          <a:prstGeom prst="rect">
            <a:avLst/>
          </a:prstGeom>
        </p:spPr>
      </p:pic>
    </p:spTree>
  </p:cSld>
  <p:clrMapOvr>
    <a:masterClrMapping/>
  </p:clrMapOvr>
  <p:transition spd="med" advClick="0" advTm="16395"/>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audio isNarration="1">
              <p:cMediaNode vol="100000" numSld="7" showWhenStopped="1">
                <p:cTn id="4" dur="137091" fill="hold" nodeType="withEffect">
                  <p:stCondLst>
                    <p:cond delay="0"/>
                  </p:stCondLst>
                </p:cTn>
                <p:tgtEl>
                  <p:spTgt spid="54"/>
                </p:tgtEl>
              </p:cMediaNode>
            </p:audi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105900" y="276225"/>
            <a:ext cx="2095500"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76225"/>
            <a:ext cx="516255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طريقة العمل الحالية بحسب الإفادة</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التاريخ موجود. الموظف بيدور عليه.</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8645E"/>
                </a:solidFill>
                <a:latin typeface="Manrope"/>
                <a:cs typeface="IBM Plex Sans Arabic Medium"/>
              </a:rPr>
              <a:t>كونكريت · تعاون مقترح · واجهات توضيحية وسجلات خيالية</a:t>
            </a:r>
          </a:p>
        </p:txBody>
      </p:sp>
      <p:sp>
        <p:nvSpPr>
          <p:cNvPr id="8" name="TextBox 7"/>
          <p:cNvSpPr txBox="1"/>
          <p:nvPr/>
        </p:nvSpPr>
        <p:spPr>
          <a:xfrm>
            <a:off x="457200" y="6505575"/>
            <a:ext cx="781050" cy="238125"/>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8645E"/>
                </a:solidFill>
                <a:latin typeface="Manrope"/>
                <a:cs typeface="IBM Plex Sans Arabic Medium"/>
              </a:rPr>
              <a:t>02 / 07</a:t>
            </a:r>
          </a:p>
        </p:txBody>
      </p:sp>
      <p:sp>
        <p:nvSpPr>
          <p:cNvPr id="9" name="Rounded Rectangle 8"/>
          <p:cNvSpPr/>
          <p:nvPr/>
        </p:nvSpPr>
        <p:spPr>
          <a:xfrm>
            <a:off x="8667750" y="1724025"/>
            <a:ext cx="3067050" cy="4495800"/>
          </a:xfrm>
          <a:prstGeom prst="roundRect">
            <a:avLst>
              <a:gd name="adj" fmla="val 372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667750" y="1676400"/>
            <a:ext cx="3067050" cy="4495800"/>
          </a:xfrm>
          <a:prstGeom prst="roundRect">
            <a:avLst>
              <a:gd name="adj" fmla="val 372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191750" y="1881744"/>
            <a:ext cx="1314450" cy="256062"/>
          </a:xfrm>
          <a:prstGeom prst="rect">
            <a:avLst/>
          </a:prstGeom>
          <a:effectLst/>
        </p:spPr>
      </p:pic>
      <p:sp>
        <p:nvSpPr>
          <p:cNvPr id="12" name="TextBox 11"/>
          <p:cNvSpPr txBox="1"/>
          <p:nvPr/>
        </p:nvSpPr>
        <p:spPr>
          <a:xfrm>
            <a:off x="8896350" y="1885950"/>
            <a:ext cx="1123950" cy="304800"/>
          </a:xfrm>
          <a:prstGeom prst="rect">
            <a:avLst/>
          </a:prstGeom>
          <a:noFill/>
          <a:effectLst/>
        </p:spPr>
        <p:txBody>
          <a:bodyPr wrap="square" lIns="0" rIns="0" tIns="0" bIns="0" anchor="t">
            <a:spAutoFit/>
          </a:bodyPr>
          <a:lstStyle/>
          <a:p>
            <a:pPr algn="l" rtl="1">
              <a:lnSpc>
                <a:spcPts val="1512"/>
              </a:lnSpc>
              <a:spcBef>
                <a:spcPts val="0"/>
              </a:spcBef>
              <a:spcAft>
                <a:spcPts val="0"/>
              </a:spcAft>
            </a:pPr>
            <a:r>
              <a:rPr sz="1350" b="0" lang="ar-EG">
                <a:solidFill>
                  <a:srgbClr val="68645E"/>
                </a:solidFill>
                <a:latin typeface="Manrope"/>
                <a:cs typeface="IBM Plex Sans Arabic Medium"/>
              </a:rPr>
              <a:t>المكالمة</a:t>
            </a:r>
          </a:p>
        </p:txBody>
      </p:sp>
      <p:cxnSp>
        <p:nvCxnSpPr>
          <p:cNvPr id="13" name="Connector 12"/>
          <p:cNvCxnSpPr/>
          <p:nvPr/>
        </p:nvCxnSpPr>
        <p:spPr>
          <a:xfrm flipH="1">
            <a:off x="8667750" y="2362200"/>
            <a:ext cx="3067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706100" y="2667000"/>
            <a:ext cx="781050" cy="7810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0915650" y="2876550"/>
            <a:ext cx="361950" cy="361950"/>
          </a:xfrm>
          <a:prstGeom prst="rect">
            <a:avLst/>
          </a:prstGeom>
          <a:effectLst/>
        </p:spPr>
      </p:pic>
      <p:sp>
        <p:nvSpPr>
          <p:cNvPr id="16" name="TextBox 15"/>
          <p:cNvSpPr txBox="1"/>
          <p:nvPr/>
        </p:nvSpPr>
        <p:spPr>
          <a:xfrm>
            <a:off x="8915400" y="3686175"/>
            <a:ext cx="2571750" cy="40957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62626"/>
                </a:solidFill>
                <a:latin typeface="Manrope"/>
                <a:cs typeface="IBM Plex Sans Arabic Medium"/>
              </a:rPr>
              <a:t>متصل وارد</a:t>
            </a:r>
          </a:p>
        </p:txBody>
      </p:sp>
      <p:sp>
        <p:nvSpPr>
          <p:cNvPr id="17" name="TextBox 16"/>
          <p:cNvSpPr txBox="1"/>
          <p:nvPr/>
        </p:nvSpPr>
        <p:spPr>
          <a:xfrm>
            <a:off x="8915400" y="4219575"/>
            <a:ext cx="2571750" cy="409575"/>
          </a:xfrm>
          <a:prstGeom prst="rect">
            <a:avLst/>
          </a:prstGeom>
          <a:noFill/>
          <a:effectLst/>
        </p:spPr>
        <p:txBody>
          <a:bodyPr wrap="square" lIns="0" rIns="0" tIns="0" bIns="0" anchor="t">
            <a:spAutoFit/>
          </a:bodyPr>
          <a:lstStyle/>
          <a:p>
            <a:pPr algn="r" rtl="0">
              <a:lnSpc>
                <a:spcPts val="2436"/>
              </a:lnSpc>
              <a:spcBef>
                <a:spcPts val="0"/>
              </a:spcBef>
              <a:spcAft>
                <a:spcPts val="0"/>
              </a:spcAft>
            </a:pPr>
            <a:r>
              <a:rPr sz="2175" b="1" lang="ar-EG">
                <a:solidFill>
                  <a:srgbClr val="262626"/>
                </a:solidFill>
                <a:latin typeface="Manrope"/>
                <a:cs typeface="IBM Plex Sans Arabic Medium"/>
              </a:rPr>
              <a:t>+20 ••• 410</a:t>
            </a:r>
          </a:p>
        </p:txBody>
      </p:sp>
      <p:sp>
        <p:nvSpPr>
          <p:cNvPr id="18" name="TextBox 17"/>
          <p:cNvSpPr txBox="1"/>
          <p:nvPr/>
        </p:nvSpPr>
        <p:spPr>
          <a:xfrm>
            <a:off x="8915400" y="4695825"/>
            <a:ext cx="25717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49654E"/>
                </a:solidFill>
                <a:latin typeface="Manrope"/>
                <a:cs typeface="IBM Plex Sans Arabic Medium"/>
              </a:rPr>
              <a:t>مكالمة جارية</a:t>
            </a:r>
          </a:p>
        </p:txBody>
      </p:sp>
      <p:sp>
        <p:nvSpPr>
          <p:cNvPr id="19" name="Oval 18"/>
          <p:cNvSpPr/>
          <p:nvPr/>
        </p:nvSpPr>
        <p:spPr>
          <a:xfrm>
            <a:off x="1104900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mic.png"/>
          <p:cNvPicPr>
            <a:picLocks noChangeAspect="1"/>
          </p:cNvPicPr>
          <p:nvPr/>
        </p:nvPicPr>
        <p:blipFill>
          <a:blip r:embed="rId5"/>
          <a:stretch>
            <a:fillRect/>
          </a:stretch>
        </p:blipFill>
        <p:spPr>
          <a:xfrm>
            <a:off x="11163300" y="5467350"/>
            <a:ext cx="209550" cy="209550"/>
          </a:xfrm>
          <a:prstGeom prst="rect">
            <a:avLst/>
          </a:prstGeom>
          <a:effectLst/>
        </p:spPr>
      </p:pic>
      <p:sp>
        <p:nvSpPr>
          <p:cNvPr id="21" name="Oval 20"/>
          <p:cNvSpPr/>
          <p:nvPr/>
        </p:nvSpPr>
        <p:spPr>
          <a:xfrm>
            <a:off x="1042035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pause.png"/>
          <p:cNvPicPr>
            <a:picLocks noChangeAspect="1"/>
          </p:cNvPicPr>
          <p:nvPr/>
        </p:nvPicPr>
        <p:blipFill>
          <a:blip r:embed="rId6"/>
          <a:stretch>
            <a:fillRect/>
          </a:stretch>
        </p:blipFill>
        <p:spPr>
          <a:xfrm>
            <a:off x="10534650" y="5467350"/>
            <a:ext cx="209550" cy="209550"/>
          </a:xfrm>
          <a:prstGeom prst="rect">
            <a:avLst/>
          </a:prstGeom>
          <a:effectLst/>
        </p:spPr>
      </p:pic>
      <p:sp>
        <p:nvSpPr>
          <p:cNvPr id="23" name="Oval 22"/>
          <p:cNvSpPr/>
          <p:nvPr/>
        </p:nvSpPr>
        <p:spPr>
          <a:xfrm>
            <a:off x="979170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end.png"/>
          <p:cNvPicPr>
            <a:picLocks noChangeAspect="1"/>
          </p:cNvPicPr>
          <p:nvPr/>
        </p:nvPicPr>
        <p:blipFill>
          <a:blip r:embed="rId7"/>
          <a:stretch>
            <a:fillRect/>
          </a:stretch>
        </p:blipFill>
        <p:spPr>
          <a:xfrm>
            <a:off x="9906000" y="5467350"/>
            <a:ext cx="209550" cy="209550"/>
          </a:xfrm>
          <a:prstGeom prst="rect">
            <a:avLst/>
          </a:prstGeom>
          <a:effectLst/>
        </p:spPr>
      </p:pic>
      <p:sp>
        <p:nvSpPr>
          <p:cNvPr id="25" name="Rounded Rectangle 24"/>
          <p:cNvSpPr/>
          <p:nvPr/>
        </p:nvSpPr>
        <p:spPr>
          <a:xfrm>
            <a:off x="457200" y="2028825"/>
            <a:ext cx="7924800" cy="3848100"/>
          </a:xfrm>
          <a:prstGeom prst="roundRect">
            <a:avLst>
              <a:gd name="adj" fmla="val 2970"/>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457200" y="1981200"/>
            <a:ext cx="7924800" cy="3848100"/>
          </a:xfrm>
          <a:prstGeom prst="roundRect">
            <a:avLst>
              <a:gd name="adj" fmla="val 2970"/>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zoho.png"/>
          <p:cNvPicPr>
            <a:picLocks noChangeAspect="1"/>
          </p:cNvPicPr>
          <p:nvPr/>
        </p:nvPicPr>
        <p:blipFill>
          <a:blip r:embed="rId8"/>
          <a:stretch>
            <a:fillRect/>
          </a:stretch>
        </p:blipFill>
        <p:spPr>
          <a:xfrm>
            <a:off x="7436774" y="2162175"/>
            <a:ext cx="709353" cy="304800"/>
          </a:xfrm>
          <a:prstGeom prst="rect">
            <a:avLst/>
          </a:prstGeom>
          <a:effectLst/>
        </p:spPr>
      </p:pic>
      <p:sp>
        <p:nvSpPr>
          <p:cNvPr id="28" name="TextBox 27"/>
          <p:cNvSpPr txBox="1"/>
          <p:nvPr/>
        </p:nvSpPr>
        <p:spPr>
          <a:xfrm>
            <a:off x="771525" y="2162175"/>
            <a:ext cx="6496050" cy="3714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 · بحث التذاكر</a:t>
            </a:r>
          </a:p>
        </p:txBody>
      </p:sp>
      <p:cxnSp>
        <p:nvCxnSpPr>
          <p:cNvPr id="29" name="Connector 28"/>
          <p:cNvCxnSpPr/>
          <p:nvPr/>
        </p:nvCxnSpPr>
        <p:spPr>
          <a:xfrm flipH="1">
            <a:off x="457200" y="2667000"/>
            <a:ext cx="79248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0" name="Rounded Rectangle 29"/>
          <p:cNvSpPr/>
          <p:nvPr/>
        </p:nvSpPr>
        <p:spPr>
          <a:xfrm>
            <a:off x="685800" y="2857500"/>
            <a:ext cx="7467600" cy="657225"/>
          </a:xfrm>
          <a:prstGeom prst="roundRect">
            <a:avLst>
              <a:gd name="adj" fmla="val 11594"/>
            </a:avLst>
          </a:prstGeom>
          <a:solidFill>
            <a:srgbClr val="FFFFFF"/>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search.png"/>
          <p:cNvPicPr>
            <a:picLocks noChangeAspect="1"/>
          </p:cNvPicPr>
          <p:nvPr/>
        </p:nvPicPr>
        <p:blipFill>
          <a:blip r:embed="rId9"/>
          <a:stretch>
            <a:fillRect/>
          </a:stretch>
        </p:blipFill>
        <p:spPr>
          <a:xfrm>
            <a:off x="7696200" y="3057525"/>
            <a:ext cx="266700" cy="266700"/>
          </a:xfrm>
          <a:prstGeom prst="rect">
            <a:avLst/>
          </a:prstGeom>
          <a:effectLst/>
        </p:spPr>
      </p:pic>
      <p:sp>
        <p:nvSpPr>
          <p:cNvPr id="32" name="TextBox 31"/>
          <p:cNvSpPr txBox="1"/>
          <p:nvPr/>
        </p:nvSpPr>
        <p:spPr>
          <a:xfrm>
            <a:off x="3305175" y="3019425"/>
            <a:ext cx="4219575" cy="419100"/>
          </a:xfrm>
          <a:prstGeom prst="rect">
            <a:avLst/>
          </a:prstGeom>
          <a:noFill/>
          <a:effectLst/>
        </p:spPr>
        <p:txBody>
          <a:bodyPr wrap="square" lIns="0" rIns="0" tIns="0" bIns="0" anchor="t">
            <a:spAutoFit/>
          </a:bodyPr>
          <a:lstStyle/>
          <a:p>
            <a:pPr algn="r" rtl="0">
              <a:lnSpc>
                <a:spcPts val="2352"/>
              </a:lnSpc>
              <a:spcBef>
                <a:spcPts val="0"/>
              </a:spcBef>
              <a:spcAft>
                <a:spcPts val="0"/>
              </a:spcAft>
            </a:pPr>
            <a:r>
              <a:rPr sz="2100" b="1" lang="ar-EG">
                <a:solidFill>
                  <a:srgbClr val="262626"/>
                </a:solidFill>
                <a:latin typeface="Manrope"/>
                <a:cs typeface="IBM Plex Sans Arabic Medium"/>
              </a:rPr>
              <a:t>+20 ••• 410</a:t>
            </a:r>
          </a:p>
        </p:txBody>
      </p:sp>
      <p:sp>
        <p:nvSpPr>
          <p:cNvPr id="33" name="Rounded Rectangle 32"/>
          <p:cNvSpPr/>
          <p:nvPr/>
        </p:nvSpPr>
        <p:spPr>
          <a:xfrm>
            <a:off x="828675" y="2952750"/>
            <a:ext cx="1533525" cy="466725"/>
          </a:xfrm>
          <a:prstGeom prst="roundRect">
            <a:avLst>
              <a:gd name="adj" fmla="val 1200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62025" y="3028950"/>
            <a:ext cx="1276350" cy="323850"/>
          </a:xfrm>
          <a:prstGeom prst="rect">
            <a:avLst/>
          </a:prstGeom>
          <a:noFill/>
          <a:effectLst/>
        </p:spPr>
        <p:txBody>
          <a:bodyPr wrap="square" lIns="0" rIns="0" tIns="0" bIns="0" anchor="t">
            <a:spAutoFit/>
          </a:bodyPr>
          <a:lstStyle/>
          <a:p>
            <a:pPr algn="ctr" rtl="1">
              <a:lnSpc>
                <a:spcPts val="1932"/>
              </a:lnSpc>
              <a:spcBef>
                <a:spcPts val="0"/>
              </a:spcBef>
              <a:spcAft>
                <a:spcPts val="0"/>
              </a:spcAft>
            </a:pPr>
            <a:r>
              <a:rPr sz="1725" b="1" lang="ar-EG">
                <a:solidFill>
                  <a:srgbClr val="262626"/>
                </a:solidFill>
                <a:latin typeface="Manrope"/>
                <a:cs typeface="IBM Plex Sans Arabic Medium"/>
              </a:rPr>
              <a:t>بحث</a:t>
            </a:r>
          </a:p>
        </p:txBody>
      </p:sp>
      <p:pic>
        <p:nvPicPr>
          <p:cNvPr id="35" name="Picture 34" descr="icon-pointer.png"/>
          <p:cNvPicPr>
            <a:picLocks noChangeAspect="1"/>
          </p:cNvPicPr>
          <p:nvPr/>
        </p:nvPicPr>
        <p:blipFill>
          <a:blip r:embed="rId10"/>
          <a:stretch>
            <a:fillRect/>
          </a:stretch>
        </p:blipFill>
        <p:spPr>
          <a:xfrm>
            <a:off x="790575" y="3286125"/>
            <a:ext cx="390525" cy="390525"/>
          </a:xfrm>
          <a:prstGeom prst="rect">
            <a:avLst/>
          </a:prstGeom>
          <a:effectLst/>
        </p:spPr>
      </p:pic>
      <p:cxnSp>
        <p:nvCxnSpPr>
          <p:cNvPr id="36" name="Connector 35"/>
          <p:cNvCxnSpPr/>
          <p:nvPr/>
        </p:nvCxnSpPr>
        <p:spPr>
          <a:xfrm flipH="1">
            <a:off x="8543925" y="4419600"/>
            <a:ext cx="409575"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flipV="1">
            <a:off x="8543925" y="3190875"/>
            <a:ext cx="0" cy="1228725"/>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cxnSp>
        <p:nvCxnSpPr>
          <p:cNvPr id="38" name="Connector 37"/>
          <p:cNvCxnSpPr/>
          <p:nvPr/>
        </p:nvCxnSpPr>
        <p:spPr>
          <a:xfrm flipH="1">
            <a:off x="8210550" y="3190875"/>
            <a:ext cx="333375"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047750" y="3752850"/>
            <a:ext cx="7105650" cy="3429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العميل A · تذكرة موجودة</a:t>
            </a:r>
          </a:p>
        </p:txBody>
      </p:sp>
      <p:sp>
        <p:nvSpPr>
          <p:cNvPr id="40" name="Rounded Rectangle 39"/>
          <p:cNvSpPr/>
          <p:nvPr/>
        </p:nvSpPr>
        <p:spPr>
          <a:xfrm>
            <a:off x="685800" y="4257675"/>
            <a:ext cx="7467600" cy="1285875"/>
          </a:xfrm>
          <a:prstGeom prst="roundRect">
            <a:avLst>
              <a:gd name="adj" fmla="val 5925"/>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1" name="Picture 40" descr="icon-case.png"/>
          <p:cNvPicPr>
            <a:picLocks noChangeAspect="1"/>
          </p:cNvPicPr>
          <p:nvPr/>
        </p:nvPicPr>
        <p:blipFill>
          <a:blip r:embed="rId11"/>
          <a:stretch>
            <a:fillRect/>
          </a:stretch>
        </p:blipFill>
        <p:spPr>
          <a:xfrm>
            <a:off x="7696200" y="4419600"/>
            <a:ext cx="266700" cy="266700"/>
          </a:xfrm>
          <a:prstGeom prst="rect">
            <a:avLst/>
          </a:prstGeom>
          <a:effectLst/>
        </p:spPr>
      </p:pic>
      <p:sp>
        <p:nvSpPr>
          <p:cNvPr id="42" name="TextBox 41"/>
          <p:cNvSpPr txBox="1"/>
          <p:nvPr/>
        </p:nvSpPr>
        <p:spPr>
          <a:xfrm>
            <a:off x="1085850" y="4362450"/>
            <a:ext cx="6467475" cy="400050"/>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262626"/>
                </a:solidFill>
                <a:latin typeface="Manrope"/>
                <a:cs typeface="IBM Plex Sans Arabic Medium"/>
              </a:rPr>
              <a:t>T101 · متابعة استبدال</a:t>
            </a:r>
          </a:p>
        </p:txBody>
      </p:sp>
      <p:pic>
        <p:nvPicPr>
          <p:cNvPr id="43" name="Picture 42" descr="icon-clock.png"/>
          <p:cNvPicPr>
            <a:picLocks noChangeAspect="1"/>
          </p:cNvPicPr>
          <p:nvPr/>
        </p:nvPicPr>
        <p:blipFill>
          <a:blip r:embed="rId12"/>
          <a:stretch>
            <a:fillRect/>
          </a:stretch>
        </p:blipFill>
        <p:spPr>
          <a:xfrm>
            <a:off x="7753350" y="4848225"/>
            <a:ext cx="209550" cy="209550"/>
          </a:xfrm>
          <a:prstGeom prst="rect">
            <a:avLst/>
          </a:prstGeom>
          <a:effectLst/>
        </p:spPr>
      </p:pic>
      <p:sp>
        <p:nvSpPr>
          <p:cNvPr id="44" name="TextBox 43"/>
          <p:cNvSpPr txBox="1"/>
          <p:nvPr/>
        </p:nvSpPr>
        <p:spPr>
          <a:xfrm>
            <a:off x="1066800" y="4829175"/>
            <a:ext cx="6572250" cy="3333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965318"/>
                </a:solidFill>
                <a:latin typeface="Manrope"/>
                <a:cs typeface="IBM Plex Sans Arabic Medium"/>
              </a:rPr>
              <a:t>بانتظار مراجعة الفرع</a:t>
            </a:r>
          </a:p>
        </p:txBody>
      </p:sp>
      <p:sp>
        <p:nvSpPr>
          <p:cNvPr id="45" name="TextBox 44"/>
          <p:cNvSpPr txBox="1"/>
          <p:nvPr/>
        </p:nvSpPr>
        <p:spPr>
          <a:xfrm>
            <a:off x="1066800" y="5229225"/>
            <a:ext cx="6896100" cy="31432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262626"/>
                </a:solidFill>
                <a:latin typeface="Manrope"/>
                <a:cs typeface="IBM Plex Sans Arabic Medium"/>
              </a:rPr>
              <a:t>آخر ملاحظة: مراجعة الفرع لسه مطلوبة.</a:t>
            </a:r>
          </a:p>
        </p:txBody>
      </p:sp>
    </p:spTree>
  </p:cSld>
  <p:clrMapOvr>
    <a:masterClrMapping/>
  </p:clrMapOvr>
  <p:transition spd="med" advClick="0" advTm="17385"/>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8226"/>
                            </p:stCondLst>
                            <p:childTnLst>
                              <p:set>
                                <p:cBhvr>
                                  <p:cTn id="5" dur="1" fill="hold"/>
                                  <p:tgtEl>
                                    <p:spTgt spid="32"/>
                                  </p:tgtEl>
                                  <p:attrNameLst>
                                    <p:attrName>style.visibility</p:attrName>
                                  </p:attrNameLst>
                                </p:cBhvr>
                                <p:to>
                                  <p:strVal val="visible"/>
                                </p:to>
                              </p:set>
                              <p:animEffect transition="in" filter="fade">
                                <p:cBhvr>
                                  <p:cTn id="6" dur="350"/>
                                  <p:tgtEl>
                                    <p:spTgt spid="32"/>
                                  </p:tgtEl>
                                </p:cBhvr>
                              </p:animEffect>
                            </p:childTnLst>
                          </p:cTn>
                        </p:par>
                        <p:par>
                          <p:cTn id="7" presetID="10" presetClass="entr" presetSubtype="0" fill="hold" nodeType="withEffect">
                            <p:stCondLst>
                              <p:cond delay="8226"/>
                            </p:stCondLst>
                            <p:childTnLst>
                              <p:set>
                                <p:cBhvr>
                                  <p:cTn id="8" dur="1" fill="hold"/>
                                  <p:tgtEl>
                                    <p:spTgt spid="33"/>
                                  </p:tgtEl>
                                  <p:attrNameLst>
                                    <p:attrName>style.visibility</p:attrName>
                                  </p:attrNameLst>
                                </p:cBhvr>
                                <p:to>
                                  <p:strVal val="visible"/>
                                </p:to>
                              </p:set>
                              <p:animEffect transition="in" filter="fade">
                                <p:cBhvr>
                                  <p:cTn id="9" dur="350"/>
                                  <p:tgtEl>
                                    <p:spTgt spid="33"/>
                                  </p:tgtEl>
                                </p:cBhvr>
                              </p:animEffect>
                            </p:childTnLst>
                          </p:cTn>
                        </p:par>
                        <p:par>
                          <p:cTn id="10" presetID="10" presetClass="entr" presetSubtype="0" fill="hold" nodeType="withEffect">
                            <p:stCondLst>
                              <p:cond delay="8226"/>
                            </p:stCondLst>
                            <p:childTnLst>
                              <p:set>
                                <p:cBhvr>
                                  <p:cTn id="11" dur="1" fill="hold"/>
                                  <p:tgtEl>
                                    <p:spTgt spid="34"/>
                                  </p:tgtEl>
                                  <p:attrNameLst>
                                    <p:attrName>style.visibility</p:attrName>
                                  </p:attrNameLst>
                                </p:cBhvr>
                                <p:to>
                                  <p:strVal val="visible"/>
                                </p:to>
                              </p:set>
                              <p:animEffect transition="in" filter="fade">
                                <p:cBhvr>
                                  <p:cTn id="12" dur="350"/>
                                  <p:tgtEl>
                                    <p:spTgt spid="34"/>
                                  </p:tgtEl>
                                </p:cBhvr>
                              </p:animEffect>
                            </p:childTnLst>
                          </p:cTn>
                        </p:par>
                        <p:par>
                          <p:cTn id="13" presetID="10" presetClass="entr" presetSubtype="0" fill="hold" nodeType="withEffect">
                            <p:stCondLst>
                              <p:cond delay="8226"/>
                            </p:stCondLst>
                            <p:childTnLst>
                              <p:set>
                                <p:cBhvr>
                                  <p:cTn id="14" dur="1" fill="hold"/>
                                  <p:tgtEl>
                                    <p:spTgt spid="35"/>
                                  </p:tgtEl>
                                  <p:attrNameLst>
                                    <p:attrName>style.visibility</p:attrName>
                                  </p:attrNameLst>
                                </p:cBhvr>
                                <p:to>
                                  <p:strVal val="visible"/>
                                </p:to>
                              </p:set>
                              <p:animEffect transition="in" filter="fade">
                                <p:cBhvr>
                                  <p:cTn id="15" dur="350"/>
                                  <p:tgtEl>
                                    <p:spTgt spid="35"/>
                                  </p:tgtEl>
                                </p:cBhvr>
                              </p:animEffect>
                            </p:childTnLst>
                          </p:cTn>
                        </p:par>
                        <p:par>
                          <p:cTn id="16" presetID="10" presetClass="entr" presetSubtype="0" fill="hold" nodeType="withEffect">
                            <p:stCondLst>
                              <p:cond delay="8226"/>
                            </p:stCondLst>
                            <p:childTnLst>
                              <p:set>
                                <p:cBhvr>
                                  <p:cTn id="17" dur="1" fill="hold"/>
                                  <p:tgtEl>
                                    <p:spTgt spid="36"/>
                                  </p:tgtEl>
                                  <p:attrNameLst>
                                    <p:attrName>style.visibility</p:attrName>
                                  </p:attrNameLst>
                                </p:cBhvr>
                                <p:to>
                                  <p:strVal val="visible"/>
                                </p:to>
                              </p:set>
                              <p:animEffect transition="in" filter="fade">
                                <p:cBhvr>
                                  <p:cTn id="18" dur="350"/>
                                  <p:tgtEl>
                                    <p:spTgt spid="36"/>
                                  </p:tgtEl>
                                </p:cBhvr>
                              </p:animEffect>
                            </p:childTnLst>
                          </p:cTn>
                        </p:par>
                        <p:par>
                          <p:cTn id="19" presetID="10" presetClass="entr" presetSubtype="0" fill="hold" nodeType="withEffect">
                            <p:stCondLst>
                              <p:cond delay="8226"/>
                            </p:stCondLst>
                            <p:childTnLst>
                              <p:set>
                                <p:cBhvr>
                                  <p:cTn id="20" dur="1" fill="hold"/>
                                  <p:tgtEl>
                                    <p:spTgt spid="37"/>
                                  </p:tgtEl>
                                  <p:attrNameLst>
                                    <p:attrName>style.visibility</p:attrName>
                                  </p:attrNameLst>
                                </p:cBhvr>
                                <p:to>
                                  <p:strVal val="visible"/>
                                </p:to>
                              </p:set>
                              <p:animEffect transition="in" filter="fade">
                                <p:cBhvr>
                                  <p:cTn id="21" dur="350"/>
                                  <p:tgtEl>
                                    <p:spTgt spid="37"/>
                                  </p:tgtEl>
                                </p:cBhvr>
                              </p:animEffect>
                            </p:childTnLst>
                          </p:cTn>
                        </p:par>
                        <p:par>
                          <p:cTn id="22" presetID="10" presetClass="entr" presetSubtype="0" fill="hold" nodeType="withEffect">
                            <p:stCondLst>
                              <p:cond delay="8226"/>
                            </p:stCondLst>
                            <p:childTnLst>
                              <p:set>
                                <p:cBhvr>
                                  <p:cTn id="23" dur="1" fill="hold"/>
                                  <p:tgtEl>
                                    <p:spTgt spid="38"/>
                                  </p:tgtEl>
                                  <p:attrNameLst>
                                    <p:attrName>style.visibility</p:attrName>
                                  </p:attrNameLst>
                                </p:cBhvr>
                                <p:to>
                                  <p:strVal val="visible"/>
                                </p:to>
                              </p:set>
                              <p:animEffect transition="in" filter="fade">
                                <p:cBhvr>
                                  <p:cTn id="24" dur="350"/>
                                  <p:tgtEl>
                                    <p:spTgt spid="38"/>
                                  </p:tgtEl>
                                </p:cBhvr>
                              </p:animEffect>
                            </p:childTnLst>
                          </p:cTn>
                        </p:par>
                        <p:par>
                          <p:cTn id="25" presetID="10" presetClass="entr" presetSubtype="0" fill="hold" nodeType="withEffect">
                            <p:stCondLst>
                              <p:cond delay="11713"/>
                            </p:stCondLst>
                            <p:childTnLst>
                              <p:set>
                                <p:cBhvr>
                                  <p:cTn id="26" dur="1" fill="hold"/>
                                  <p:tgtEl>
                                    <p:spTgt spid="39"/>
                                  </p:tgtEl>
                                  <p:attrNameLst>
                                    <p:attrName>style.visibility</p:attrName>
                                  </p:attrNameLst>
                                </p:cBhvr>
                                <p:to>
                                  <p:strVal val="visible"/>
                                </p:to>
                              </p:set>
                              <p:animEffect transition="in" filter="fade">
                                <p:cBhvr>
                                  <p:cTn id="27" dur="350"/>
                                  <p:tgtEl>
                                    <p:spTgt spid="39"/>
                                  </p:tgtEl>
                                </p:cBhvr>
                              </p:animEffect>
                            </p:childTnLst>
                          </p:cTn>
                        </p:par>
                        <p:par>
                          <p:cTn id="28" presetID="10" presetClass="entr" presetSubtype="0" fill="hold" nodeType="withEffect">
                            <p:stCondLst>
                              <p:cond delay="11713"/>
                            </p:stCondLst>
                            <p:childTnLst>
                              <p:set>
                                <p:cBhvr>
                                  <p:cTn id="29" dur="1" fill="hold"/>
                                  <p:tgtEl>
                                    <p:spTgt spid="40"/>
                                  </p:tgtEl>
                                  <p:attrNameLst>
                                    <p:attrName>style.visibility</p:attrName>
                                  </p:attrNameLst>
                                </p:cBhvr>
                                <p:to>
                                  <p:strVal val="visible"/>
                                </p:to>
                              </p:set>
                              <p:animEffect transition="in" filter="fade">
                                <p:cBhvr>
                                  <p:cTn id="30" dur="350"/>
                                  <p:tgtEl>
                                    <p:spTgt spid="40"/>
                                  </p:tgtEl>
                                </p:cBhvr>
                              </p:animEffect>
                            </p:childTnLst>
                          </p:cTn>
                        </p:par>
                        <p:par>
                          <p:cTn id="31" presetID="10" presetClass="entr" presetSubtype="0" fill="hold" nodeType="withEffect">
                            <p:stCondLst>
                              <p:cond delay="11713"/>
                            </p:stCondLst>
                            <p:childTnLst>
                              <p:set>
                                <p:cBhvr>
                                  <p:cTn id="32" dur="1" fill="hold"/>
                                  <p:tgtEl>
                                    <p:spTgt spid="41"/>
                                  </p:tgtEl>
                                  <p:attrNameLst>
                                    <p:attrName>style.visibility</p:attrName>
                                  </p:attrNameLst>
                                </p:cBhvr>
                                <p:to>
                                  <p:strVal val="visible"/>
                                </p:to>
                              </p:set>
                              <p:animEffect transition="in" filter="fade">
                                <p:cBhvr>
                                  <p:cTn id="33" dur="350"/>
                                  <p:tgtEl>
                                    <p:spTgt spid="41"/>
                                  </p:tgtEl>
                                </p:cBhvr>
                              </p:animEffect>
                            </p:childTnLst>
                          </p:cTn>
                        </p:par>
                        <p:par>
                          <p:cTn id="34" presetID="10" presetClass="entr" presetSubtype="0" fill="hold" nodeType="withEffect">
                            <p:stCondLst>
                              <p:cond delay="11713"/>
                            </p:stCondLst>
                            <p:childTnLst>
                              <p:set>
                                <p:cBhvr>
                                  <p:cTn id="35" dur="1" fill="hold"/>
                                  <p:tgtEl>
                                    <p:spTgt spid="42"/>
                                  </p:tgtEl>
                                  <p:attrNameLst>
                                    <p:attrName>style.visibility</p:attrName>
                                  </p:attrNameLst>
                                </p:cBhvr>
                                <p:to>
                                  <p:strVal val="visible"/>
                                </p:to>
                              </p:set>
                              <p:animEffect transition="in" filter="fade">
                                <p:cBhvr>
                                  <p:cTn id="36" dur="350"/>
                                  <p:tgtEl>
                                    <p:spTgt spid="42"/>
                                  </p:tgtEl>
                                </p:cBhvr>
                              </p:animEffect>
                            </p:childTnLst>
                          </p:cTn>
                        </p:par>
                        <p:par>
                          <p:cTn id="37" presetID="10" presetClass="entr" presetSubtype="0" fill="hold" nodeType="withEffect">
                            <p:stCondLst>
                              <p:cond delay="11713"/>
                            </p:stCondLst>
                            <p:childTnLst>
                              <p:set>
                                <p:cBhvr>
                                  <p:cTn id="38" dur="1" fill="hold"/>
                                  <p:tgtEl>
                                    <p:spTgt spid="43"/>
                                  </p:tgtEl>
                                  <p:attrNameLst>
                                    <p:attrName>style.visibility</p:attrName>
                                  </p:attrNameLst>
                                </p:cBhvr>
                                <p:to>
                                  <p:strVal val="visible"/>
                                </p:to>
                              </p:set>
                              <p:animEffect transition="in" filter="fade">
                                <p:cBhvr>
                                  <p:cTn id="39" dur="350"/>
                                  <p:tgtEl>
                                    <p:spTgt spid="43"/>
                                  </p:tgtEl>
                                </p:cBhvr>
                              </p:animEffect>
                            </p:childTnLst>
                          </p:cTn>
                        </p:par>
                        <p:par>
                          <p:cTn id="40" presetID="10" presetClass="entr" presetSubtype="0" fill="hold" nodeType="withEffect">
                            <p:stCondLst>
                              <p:cond delay="11713"/>
                            </p:stCondLst>
                            <p:childTnLst>
                              <p:set>
                                <p:cBhvr>
                                  <p:cTn id="41" dur="1" fill="hold"/>
                                  <p:tgtEl>
                                    <p:spTgt spid="44"/>
                                  </p:tgtEl>
                                  <p:attrNameLst>
                                    <p:attrName>style.visibility</p:attrName>
                                  </p:attrNameLst>
                                </p:cBhvr>
                                <p:to>
                                  <p:strVal val="visible"/>
                                </p:to>
                              </p:set>
                              <p:animEffect transition="in" filter="fade">
                                <p:cBhvr>
                                  <p:cTn id="42" dur="350"/>
                                  <p:tgtEl>
                                    <p:spTgt spid="44"/>
                                  </p:tgtEl>
                                </p:cBhvr>
                              </p:animEffect>
                            </p:childTnLst>
                          </p:cTn>
                        </p:par>
                        <p:par>
                          <p:cTn id="43" presetID="10" presetClass="entr" presetSubtype="0" fill="hold" nodeType="withEffect">
                            <p:stCondLst>
                              <p:cond delay="13241"/>
                            </p:stCondLst>
                            <p:childTnLst>
                              <p:set>
                                <p:cBhvr>
                                  <p:cTn id="44" dur="1" fill="hold"/>
                                  <p:tgtEl>
                                    <p:spTgt spid="45"/>
                                  </p:tgtEl>
                                  <p:attrNameLst>
                                    <p:attrName>style.visibility</p:attrName>
                                  </p:attrNameLst>
                                </p:cBhvr>
                                <p:to>
                                  <p:strVal val="visible"/>
                                </p:to>
                              </p:set>
                              <p:animEffect transition="in" filter="fade">
                                <p:cBhvr>
                                  <p:cTn id="45" dur="350"/>
                                  <p:tgtEl>
                                    <p:spTgt spid="4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105900" y="276225"/>
            <a:ext cx="2095500"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76225"/>
            <a:ext cx="516255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البحث المقترح واختيار السجل</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المكالمة ظاهرة. ومعلومات العميل بتظهر جنبها.</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8645E"/>
                </a:solidFill>
                <a:latin typeface="Manrope"/>
                <a:cs typeface="IBM Plex Sans Arabic Medium"/>
              </a:rPr>
              <a:t>كونكريت · تعاون مقترح · واجهات توضيحية وسجلات خيالية</a:t>
            </a:r>
          </a:p>
        </p:txBody>
      </p:sp>
      <p:sp>
        <p:nvSpPr>
          <p:cNvPr id="8" name="TextBox 7"/>
          <p:cNvSpPr txBox="1"/>
          <p:nvPr/>
        </p:nvSpPr>
        <p:spPr>
          <a:xfrm>
            <a:off x="457200" y="6505575"/>
            <a:ext cx="781050" cy="238125"/>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8645E"/>
                </a:solidFill>
                <a:latin typeface="Manrope"/>
                <a:cs typeface="IBM Plex Sans Arabic Medium"/>
              </a:rPr>
              <a:t>03 / 07</a:t>
            </a:r>
          </a:p>
        </p:txBody>
      </p:sp>
      <p:sp>
        <p:nvSpPr>
          <p:cNvPr id="9" name="Rounded Rectangle 8"/>
          <p:cNvSpPr/>
          <p:nvPr/>
        </p:nvSpPr>
        <p:spPr>
          <a:xfrm>
            <a:off x="8667750" y="1724025"/>
            <a:ext cx="3067050" cy="4495800"/>
          </a:xfrm>
          <a:prstGeom prst="roundRect">
            <a:avLst>
              <a:gd name="adj" fmla="val 372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667750" y="1676400"/>
            <a:ext cx="3067050" cy="4495800"/>
          </a:xfrm>
          <a:prstGeom prst="roundRect">
            <a:avLst>
              <a:gd name="adj" fmla="val 372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191750" y="1881744"/>
            <a:ext cx="1314450" cy="256062"/>
          </a:xfrm>
          <a:prstGeom prst="rect">
            <a:avLst/>
          </a:prstGeom>
          <a:effectLst/>
        </p:spPr>
      </p:pic>
      <p:sp>
        <p:nvSpPr>
          <p:cNvPr id="12" name="TextBox 11"/>
          <p:cNvSpPr txBox="1"/>
          <p:nvPr/>
        </p:nvSpPr>
        <p:spPr>
          <a:xfrm>
            <a:off x="8896350" y="1885950"/>
            <a:ext cx="1123950" cy="304800"/>
          </a:xfrm>
          <a:prstGeom prst="rect">
            <a:avLst/>
          </a:prstGeom>
          <a:noFill/>
          <a:effectLst/>
        </p:spPr>
        <p:txBody>
          <a:bodyPr wrap="square" lIns="0" rIns="0" tIns="0" bIns="0" anchor="t">
            <a:spAutoFit/>
          </a:bodyPr>
          <a:lstStyle/>
          <a:p>
            <a:pPr algn="l" rtl="1">
              <a:lnSpc>
                <a:spcPts val="1512"/>
              </a:lnSpc>
              <a:spcBef>
                <a:spcPts val="0"/>
              </a:spcBef>
              <a:spcAft>
                <a:spcPts val="0"/>
              </a:spcAft>
            </a:pPr>
            <a:r>
              <a:rPr sz="1350" b="0" lang="ar-EG">
                <a:solidFill>
                  <a:srgbClr val="68645E"/>
                </a:solidFill>
                <a:latin typeface="Manrope"/>
                <a:cs typeface="IBM Plex Sans Arabic Medium"/>
              </a:rPr>
              <a:t>المكالمة</a:t>
            </a:r>
          </a:p>
        </p:txBody>
      </p:sp>
      <p:cxnSp>
        <p:nvCxnSpPr>
          <p:cNvPr id="13" name="Connector 12"/>
          <p:cNvCxnSpPr/>
          <p:nvPr/>
        </p:nvCxnSpPr>
        <p:spPr>
          <a:xfrm flipH="1">
            <a:off x="8667750" y="2362200"/>
            <a:ext cx="3067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706100" y="2667000"/>
            <a:ext cx="781050" cy="7810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0915650" y="2876550"/>
            <a:ext cx="361950" cy="361950"/>
          </a:xfrm>
          <a:prstGeom prst="rect">
            <a:avLst/>
          </a:prstGeom>
          <a:effectLst/>
        </p:spPr>
      </p:pic>
      <p:sp>
        <p:nvSpPr>
          <p:cNvPr id="16" name="TextBox 15"/>
          <p:cNvSpPr txBox="1"/>
          <p:nvPr/>
        </p:nvSpPr>
        <p:spPr>
          <a:xfrm>
            <a:off x="8915400" y="3686175"/>
            <a:ext cx="2571750" cy="40957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62626"/>
                </a:solidFill>
                <a:latin typeface="Manrope"/>
                <a:cs typeface="IBM Plex Sans Arabic Medium"/>
              </a:rPr>
              <a:t>متصل وارد</a:t>
            </a:r>
          </a:p>
        </p:txBody>
      </p:sp>
      <p:sp>
        <p:nvSpPr>
          <p:cNvPr id="17" name="TextBox 16"/>
          <p:cNvSpPr txBox="1"/>
          <p:nvPr/>
        </p:nvSpPr>
        <p:spPr>
          <a:xfrm>
            <a:off x="8915400" y="4219575"/>
            <a:ext cx="2571750" cy="409575"/>
          </a:xfrm>
          <a:prstGeom prst="rect">
            <a:avLst/>
          </a:prstGeom>
          <a:noFill/>
          <a:effectLst/>
        </p:spPr>
        <p:txBody>
          <a:bodyPr wrap="square" lIns="0" rIns="0" tIns="0" bIns="0" anchor="t">
            <a:spAutoFit/>
          </a:bodyPr>
          <a:lstStyle/>
          <a:p>
            <a:pPr algn="r" rtl="0">
              <a:lnSpc>
                <a:spcPts val="2436"/>
              </a:lnSpc>
              <a:spcBef>
                <a:spcPts val="0"/>
              </a:spcBef>
              <a:spcAft>
                <a:spcPts val="0"/>
              </a:spcAft>
            </a:pPr>
            <a:r>
              <a:rPr sz="2175" b="1" lang="ar-EG">
                <a:solidFill>
                  <a:srgbClr val="262626"/>
                </a:solidFill>
                <a:latin typeface="Manrope"/>
                <a:cs typeface="IBM Plex Sans Arabic Medium"/>
              </a:rPr>
              <a:t>+20 ••• 410</a:t>
            </a:r>
          </a:p>
        </p:txBody>
      </p:sp>
      <p:sp>
        <p:nvSpPr>
          <p:cNvPr id="18" name="TextBox 17"/>
          <p:cNvSpPr txBox="1"/>
          <p:nvPr/>
        </p:nvSpPr>
        <p:spPr>
          <a:xfrm>
            <a:off x="8915400" y="4695825"/>
            <a:ext cx="25717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49654E"/>
                </a:solidFill>
                <a:latin typeface="Manrope"/>
                <a:cs typeface="IBM Plex Sans Arabic Medium"/>
              </a:rPr>
              <a:t>مكالمة جارية</a:t>
            </a:r>
          </a:p>
        </p:txBody>
      </p:sp>
      <p:sp>
        <p:nvSpPr>
          <p:cNvPr id="19" name="Oval 18"/>
          <p:cNvSpPr/>
          <p:nvPr/>
        </p:nvSpPr>
        <p:spPr>
          <a:xfrm>
            <a:off x="1104900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mic.png"/>
          <p:cNvPicPr>
            <a:picLocks noChangeAspect="1"/>
          </p:cNvPicPr>
          <p:nvPr/>
        </p:nvPicPr>
        <p:blipFill>
          <a:blip r:embed="rId5"/>
          <a:stretch>
            <a:fillRect/>
          </a:stretch>
        </p:blipFill>
        <p:spPr>
          <a:xfrm>
            <a:off x="11163300" y="5467350"/>
            <a:ext cx="209550" cy="209550"/>
          </a:xfrm>
          <a:prstGeom prst="rect">
            <a:avLst/>
          </a:prstGeom>
          <a:effectLst/>
        </p:spPr>
      </p:pic>
      <p:sp>
        <p:nvSpPr>
          <p:cNvPr id="21" name="Oval 20"/>
          <p:cNvSpPr/>
          <p:nvPr/>
        </p:nvSpPr>
        <p:spPr>
          <a:xfrm>
            <a:off x="1042035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pause.png"/>
          <p:cNvPicPr>
            <a:picLocks noChangeAspect="1"/>
          </p:cNvPicPr>
          <p:nvPr/>
        </p:nvPicPr>
        <p:blipFill>
          <a:blip r:embed="rId6"/>
          <a:stretch>
            <a:fillRect/>
          </a:stretch>
        </p:blipFill>
        <p:spPr>
          <a:xfrm>
            <a:off x="10534650" y="5467350"/>
            <a:ext cx="209550" cy="209550"/>
          </a:xfrm>
          <a:prstGeom prst="rect">
            <a:avLst/>
          </a:prstGeom>
          <a:effectLst/>
        </p:spPr>
      </p:pic>
      <p:sp>
        <p:nvSpPr>
          <p:cNvPr id="23" name="Oval 22"/>
          <p:cNvSpPr/>
          <p:nvPr/>
        </p:nvSpPr>
        <p:spPr>
          <a:xfrm>
            <a:off x="979170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end.png"/>
          <p:cNvPicPr>
            <a:picLocks noChangeAspect="1"/>
          </p:cNvPicPr>
          <p:nvPr/>
        </p:nvPicPr>
        <p:blipFill>
          <a:blip r:embed="rId7"/>
          <a:stretch>
            <a:fillRect/>
          </a:stretch>
        </p:blipFill>
        <p:spPr>
          <a:xfrm>
            <a:off x="9906000" y="5467350"/>
            <a:ext cx="209550" cy="209550"/>
          </a:xfrm>
          <a:prstGeom prst="rect">
            <a:avLst/>
          </a:prstGeom>
          <a:effectLst/>
        </p:spPr>
      </p:pic>
      <p:sp>
        <p:nvSpPr>
          <p:cNvPr id="25" name="Rounded Rectangle 24"/>
          <p:cNvSpPr/>
          <p:nvPr/>
        </p:nvSpPr>
        <p:spPr>
          <a:xfrm>
            <a:off x="457200" y="1724025"/>
            <a:ext cx="7924800" cy="4495800"/>
          </a:xfrm>
          <a:prstGeom prst="roundRect">
            <a:avLst>
              <a:gd name="adj" fmla="val 254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457200" y="1676400"/>
            <a:ext cx="7924800" cy="4495800"/>
          </a:xfrm>
          <a:prstGeom prst="roundRect">
            <a:avLst>
              <a:gd name="adj" fmla="val 254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zoho.png"/>
          <p:cNvPicPr>
            <a:picLocks noChangeAspect="1"/>
          </p:cNvPicPr>
          <p:nvPr/>
        </p:nvPicPr>
        <p:blipFill>
          <a:blip r:embed="rId8"/>
          <a:stretch>
            <a:fillRect/>
          </a:stretch>
        </p:blipFill>
        <p:spPr>
          <a:xfrm>
            <a:off x="7436774" y="1857375"/>
            <a:ext cx="709353" cy="304800"/>
          </a:xfrm>
          <a:prstGeom prst="rect">
            <a:avLst/>
          </a:prstGeom>
          <a:effectLst/>
        </p:spPr>
      </p:pic>
      <p:sp>
        <p:nvSpPr>
          <p:cNvPr id="28" name="TextBox 27"/>
          <p:cNvSpPr txBox="1"/>
          <p:nvPr/>
        </p:nvSpPr>
        <p:spPr>
          <a:xfrm>
            <a:off x="771525" y="1857375"/>
            <a:ext cx="6496050" cy="3714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 · معلومات العميل</a:t>
            </a:r>
          </a:p>
        </p:txBody>
      </p:sp>
      <p:cxnSp>
        <p:nvCxnSpPr>
          <p:cNvPr id="29" name="Connector 28"/>
          <p:cNvCxnSpPr/>
          <p:nvPr/>
        </p:nvCxnSpPr>
        <p:spPr>
          <a:xfrm flipH="1">
            <a:off x="457200" y="2362200"/>
            <a:ext cx="79248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0" name="Oval 29"/>
          <p:cNvSpPr/>
          <p:nvPr/>
        </p:nvSpPr>
        <p:spPr>
          <a:xfrm>
            <a:off x="7705725" y="2590800"/>
            <a:ext cx="447675" cy="4476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actor.png"/>
          <p:cNvPicPr>
            <a:picLocks noChangeAspect="1"/>
          </p:cNvPicPr>
          <p:nvPr/>
        </p:nvPicPr>
        <p:blipFill>
          <a:blip r:embed="rId9"/>
          <a:stretch>
            <a:fillRect/>
          </a:stretch>
        </p:blipFill>
        <p:spPr>
          <a:xfrm>
            <a:off x="7804214" y="2689288"/>
            <a:ext cx="250698" cy="250698"/>
          </a:xfrm>
          <a:prstGeom prst="rect">
            <a:avLst/>
          </a:prstGeom>
          <a:effectLst/>
        </p:spPr>
      </p:pic>
      <p:sp>
        <p:nvSpPr>
          <p:cNvPr id="32" name="TextBox 31"/>
          <p:cNvSpPr txBox="1"/>
          <p:nvPr/>
        </p:nvSpPr>
        <p:spPr>
          <a:xfrm>
            <a:off x="876300" y="2581275"/>
            <a:ext cx="6667500" cy="38100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العميل A</a:t>
            </a:r>
          </a:p>
        </p:txBody>
      </p:sp>
      <p:sp>
        <p:nvSpPr>
          <p:cNvPr id="33" name="TextBox 32"/>
          <p:cNvSpPr txBox="1"/>
          <p:nvPr/>
        </p:nvSpPr>
        <p:spPr>
          <a:xfrm>
            <a:off x="5400675" y="3038475"/>
            <a:ext cx="2143125" cy="3048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645E"/>
                </a:solidFill>
                <a:latin typeface="Manrope"/>
                <a:cs typeface="IBM Plex Sans Arabic Medium"/>
              </a:rPr>
              <a:t>سجل مرتبط</a:t>
            </a:r>
          </a:p>
        </p:txBody>
      </p:sp>
      <p:sp>
        <p:nvSpPr>
          <p:cNvPr id="34" name="TextBox 33"/>
          <p:cNvSpPr txBox="1"/>
          <p:nvPr/>
        </p:nvSpPr>
        <p:spPr>
          <a:xfrm>
            <a:off x="2695575" y="3028950"/>
            <a:ext cx="2524125" cy="314325"/>
          </a:xfrm>
          <a:prstGeom prst="rect">
            <a:avLst/>
          </a:prstGeom>
          <a:noFill/>
          <a:effectLst/>
        </p:spPr>
        <p:txBody>
          <a:bodyPr wrap="square" lIns="0" rIns="0" tIns="0" bIns="0" anchor="t">
            <a:spAutoFit/>
          </a:bodyPr>
          <a:lstStyle/>
          <a:p>
            <a:pPr algn="r" rtl="0">
              <a:lnSpc>
                <a:spcPts val="1680"/>
              </a:lnSpc>
              <a:spcBef>
                <a:spcPts val="0"/>
              </a:spcBef>
              <a:spcAft>
                <a:spcPts val="0"/>
              </a:spcAft>
            </a:pPr>
            <a:r>
              <a:rPr sz="1500" b="0" lang="ar-EG">
                <a:solidFill>
                  <a:srgbClr val="68645E"/>
                </a:solidFill>
                <a:latin typeface="Manrope"/>
                <a:cs typeface="IBM Plex Sans Arabic Medium"/>
              </a:rPr>
              <a:t>+20 ••• 410</a:t>
            </a:r>
          </a:p>
        </p:txBody>
      </p:sp>
      <p:cxnSp>
        <p:nvCxnSpPr>
          <p:cNvPr id="35" name="Connector 34"/>
          <p:cNvCxnSpPr/>
          <p:nvPr/>
        </p:nvCxnSpPr>
        <p:spPr>
          <a:xfrm flipH="1">
            <a:off x="685800" y="3457575"/>
            <a:ext cx="746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5838825" y="3648075"/>
            <a:ext cx="2314575" cy="3429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التذاكر السابقة</a:t>
            </a:r>
          </a:p>
        </p:txBody>
      </p:sp>
      <p:sp>
        <p:nvSpPr>
          <p:cNvPr id="37" name="Rounded Rectangle 36"/>
          <p:cNvSpPr/>
          <p:nvPr/>
        </p:nvSpPr>
        <p:spPr>
          <a:xfrm>
            <a:off x="5724525" y="4076700"/>
            <a:ext cx="2505075" cy="1152525"/>
          </a:xfrm>
          <a:prstGeom prst="roundRect">
            <a:avLst>
              <a:gd name="adj" fmla="val 6611"/>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con-case.png"/>
          <p:cNvPicPr>
            <a:picLocks noChangeAspect="1"/>
          </p:cNvPicPr>
          <p:nvPr/>
        </p:nvPicPr>
        <p:blipFill>
          <a:blip r:embed="rId10"/>
          <a:stretch>
            <a:fillRect/>
          </a:stretch>
        </p:blipFill>
        <p:spPr>
          <a:xfrm>
            <a:off x="7839075" y="4248150"/>
            <a:ext cx="257175" cy="257175"/>
          </a:xfrm>
          <a:prstGeom prst="rect">
            <a:avLst/>
          </a:prstGeom>
          <a:effectLst/>
        </p:spPr>
      </p:pic>
      <p:sp>
        <p:nvSpPr>
          <p:cNvPr id="39" name="TextBox 38"/>
          <p:cNvSpPr txBox="1"/>
          <p:nvPr/>
        </p:nvSpPr>
        <p:spPr>
          <a:xfrm>
            <a:off x="5934075" y="4229100"/>
            <a:ext cx="1752600" cy="3238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T101 · استبدال</a:t>
            </a:r>
          </a:p>
        </p:txBody>
      </p:sp>
      <p:sp>
        <p:nvSpPr>
          <p:cNvPr id="40" name="TextBox 39"/>
          <p:cNvSpPr txBox="1"/>
          <p:nvPr/>
        </p:nvSpPr>
        <p:spPr>
          <a:xfrm>
            <a:off x="5924550" y="4676775"/>
            <a:ext cx="2171700" cy="50482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بانتظار</a:t>
            </a:r>
          </a:p>
          <a:p>
            <a:pPr algn="r" rtl="1">
              <a:lnSpc>
                <a:spcPts val="1680"/>
              </a:lnSpc>
              <a:spcBef>
                <a:spcPts val="0"/>
              </a:spcBef>
              <a:spcAft>
                <a:spcPts val="0"/>
              </a:spcAft>
            </a:pPr>
            <a:r>
              <a:rPr sz="1500" b="0" lang="ar-EG">
                <a:solidFill>
                  <a:srgbClr val="965318"/>
                </a:solidFill>
                <a:latin typeface="Manrope"/>
                <a:cs typeface="IBM Plex Sans Arabic Medium"/>
              </a:rPr>
              <a:t>مراجعة الفرع</a:t>
            </a:r>
          </a:p>
        </p:txBody>
      </p:sp>
      <p:pic>
        <p:nvPicPr>
          <p:cNvPr id="41" name="Picture 40" descr="icon-case.png"/>
          <p:cNvPicPr>
            <a:picLocks noChangeAspect="1"/>
          </p:cNvPicPr>
          <p:nvPr/>
        </p:nvPicPr>
        <p:blipFill>
          <a:blip r:embed="rId10"/>
          <a:stretch>
            <a:fillRect/>
          </a:stretch>
        </p:blipFill>
        <p:spPr>
          <a:xfrm>
            <a:off x="7858125" y="5514975"/>
            <a:ext cx="238125" cy="238125"/>
          </a:xfrm>
          <a:prstGeom prst="rect">
            <a:avLst/>
          </a:prstGeom>
          <a:effectLst/>
        </p:spPr>
      </p:pic>
      <p:sp>
        <p:nvSpPr>
          <p:cNvPr id="42" name="TextBox 41"/>
          <p:cNvSpPr txBox="1"/>
          <p:nvPr/>
        </p:nvSpPr>
        <p:spPr>
          <a:xfrm>
            <a:off x="5876925" y="5448300"/>
            <a:ext cx="1809750" cy="333375"/>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262626"/>
                </a:solidFill>
                <a:latin typeface="Manrope"/>
                <a:cs typeface="IBM Plex Sans Arabic Medium"/>
              </a:rPr>
              <a:t>T098 · سؤال مقاس</a:t>
            </a:r>
          </a:p>
        </p:txBody>
      </p:sp>
      <p:sp>
        <p:nvSpPr>
          <p:cNvPr id="43" name="TextBox 42"/>
          <p:cNvSpPr txBox="1"/>
          <p:nvPr/>
        </p:nvSpPr>
        <p:spPr>
          <a:xfrm>
            <a:off x="5895975" y="5781675"/>
            <a:ext cx="1790700" cy="266700"/>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645E"/>
                </a:solidFill>
                <a:latin typeface="Manrope"/>
                <a:cs typeface="IBM Plex Sans Arabic Medium"/>
              </a:rPr>
              <a:t>مغلقة</a:t>
            </a:r>
          </a:p>
        </p:txBody>
      </p:sp>
      <p:cxnSp>
        <p:nvCxnSpPr>
          <p:cNvPr id="44" name="Connector 43"/>
          <p:cNvCxnSpPr/>
          <p:nvPr/>
        </p:nvCxnSpPr>
        <p:spPr>
          <a:xfrm>
            <a:off x="5505450" y="3714750"/>
            <a:ext cx="0" cy="84772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a:off x="5505450" y="4876800"/>
            <a:ext cx="0" cy="104775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flipH="1">
            <a:off x="5343525" y="4724400"/>
            <a:ext cx="304800" cy="0"/>
          </a:xfrm>
          <a:prstGeom prst="line">
            <a:avLst/>
          </a:prstGeom>
          <a:ln w="16192">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7" name="TextBox 46"/>
          <p:cNvSpPr txBox="1"/>
          <p:nvPr/>
        </p:nvSpPr>
        <p:spPr>
          <a:xfrm>
            <a:off x="704850" y="3629025"/>
            <a:ext cx="4552950" cy="3810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T101 · متابعة استبدال</a:t>
            </a:r>
          </a:p>
        </p:txBody>
      </p:sp>
      <p:pic>
        <p:nvPicPr>
          <p:cNvPr id="48" name="Picture 47" descr="icon-clock.png"/>
          <p:cNvPicPr>
            <a:picLocks noChangeAspect="1"/>
          </p:cNvPicPr>
          <p:nvPr/>
        </p:nvPicPr>
        <p:blipFill>
          <a:blip r:embed="rId11"/>
          <a:stretch>
            <a:fillRect/>
          </a:stretch>
        </p:blipFill>
        <p:spPr>
          <a:xfrm>
            <a:off x="5048250" y="4152900"/>
            <a:ext cx="209550" cy="209550"/>
          </a:xfrm>
          <a:prstGeom prst="rect">
            <a:avLst/>
          </a:prstGeom>
          <a:effectLst/>
        </p:spPr>
      </p:pic>
      <p:sp>
        <p:nvSpPr>
          <p:cNvPr id="49" name="TextBox 48"/>
          <p:cNvSpPr txBox="1"/>
          <p:nvPr/>
        </p:nvSpPr>
        <p:spPr>
          <a:xfrm>
            <a:off x="676275" y="4133850"/>
            <a:ext cx="4257675" cy="3333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965318"/>
                </a:solidFill>
                <a:latin typeface="Manrope"/>
                <a:cs typeface="IBM Plex Sans Arabic Medium"/>
              </a:rPr>
              <a:t>بانتظار الفرع</a:t>
            </a:r>
          </a:p>
        </p:txBody>
      </p:sp>
      <p:sp>
        <p:nvSpPr>
          <p:cNvPr id="50" name="Rounded Rectangle 49"/>
          <p:cNvSpPr/>
          <p:nvPr/>
        </p:nvSpPr>
        <p:spPr>
          <a:xfrm>
            <a:off x="685800" y="4648200"/>
            <a:ext cx="4610100" cy="1257300"/>
          </a:xfrm>
          <a:prstGeom prst="roundRect">
            <a:avLst>
              <a:gd name="adj" fmla="val 606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1" name="Picture 50" descr="icon-file.png"/>
          <p:cNvPicPr>
            <a:picLocks noChangeAspect="1"/>
          </p:cNvPicPr>
          <p:nvPr/>
        </p:nvPicPr>
        <p:blipFill>
          <a:blip r:embed="rId12"/>
          <a:stretch>
            <a:fillRect/>
          </a:stretch>
        </p:blipFill>
        <p:spPr>
          <a:xfrm>
            <a:off x="4867275" y="4810125"/>
            <a:ext cx="238125" cy="238125"/>
          </a:xfrm>
          <a:prstGeom prst="rect">
            <a:avLst/>
          </a:prstGeom>
          <a:effectLst/>
        </p:spPr>
      </p:pic>
      <p:sp>
        <p:nvSpPr>
          <p:cNvPr id="52" name="TextBox 51"/>
          <p:cNvSpPr txBox="1"/>
          <p:nvPr/>
        </p:nvSpPr>
        <p:spPr>
          <a:xfrm>
            <a:off x="685800" y="4791075"/>
            <a:ext cx="4057650" cy="31432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آخر ملاحظة مسجلة</a:t>
            </a:r>
          </a:p>
        </p:txBody>
      </p:sp>
      <p:sp>
        <p:nvSpPr>
          <p:cNvPr id="53" name="TextBox 52"/>
          <p:cNvSpPr txBox="1"/>
          <p:nvPr/>
        </p:nvSpPr>
        <p:spPr>
          <a:xfrm>
            <a:off x="914400" y="5238750"/>
            <a:ext cx="4191000" cy="62865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مراجعة الفرع</a:t>
            </a:r>
          </a:p>
          <a:p>
            <a:pPr algn="r" rtl="1">
              <a:lnSpc>
                <a:spcPts val="2268"/>
              </a:lnSpc>
              <a:spcBef>
                <a:spcPts val="0"/>
              </a:spcBef>
              <a:spcAft>
                <a:spcPts val="0"/>
              </a:spcAft>
            </a:pPr>
            <a:r>
              <a:rPr sz="2025" b="1" lang="ar-EG">
                <a:solidFill>
                  <a:srgbClr val="262626"/>
                </a:solidFill>
                <a:latin typeface="Manrope"/>
                <a:cs typeface="IBM Plex Sans Arabic Medium"/>
              </a:rPr>
              <a:t>لسه مطلوبة.</a:t>
            </a:r>
          </a:p>
        </p:txBody>
      </p:sp>
      <p:cxnSp>
        <p:nvCxnSpPr>
          <p:cNvPr id="54" name="Connector 53"/>
          <p:cNvCxnSpPr/>
          <p:nvPr/>
        </p:nvCxnSpPr>
        <p:spPr>
          <a:xfrm flipH="1">
            <a:off x="8458200" y="4419600"/>
            <a:ext cx="361950"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Tree>
  </p:cSld>
  <p:clrMapOvr>
    <a:masterClrMapping/>
  </p:clrMapOvr>
  <p:transition spd="med" advClick="0" advTm="18766"/>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531"/>
                            </p:stCondLst>
                            <p:childTnLst>
                              <p:set>
                                <p:cBhvr>
                                  <p:cTn id="5" dur="1" fill="hold"/>
                                  <p:tgtEl>
                                    <p:spTgt spid="14"/>
                                  </p:tgtEl>
                                  <p:attrNameLst>
                                    <p:attrName>style.visibility</p:attrName>
                                  </p:attrNameLst>
                                </p:cBhvr>
                                <p:to>
                                  <p:strVal val="visible"/>
                                </p:to>
                              </p:set>
                              <p:animEffect transition="in" filter="fade">
                                <p:cBhvr>
                                  <p:cTn id="6" dur="350"/>
                                  <p:tgtEl>
                                    <p:spTgt spid="14"/>
                                  </p:tgtEl>
                                </p:cBhvr>
                              </p:animEffect>
                            </p:childTnLst>
                          </p:cTn>
                        </p:par>
                        <p:par>
                          <p:cTn id="7" presetID="10" presetClass="entr" presetSubtype="0" fill="hold" nodeType="withEffect">
                            <p:stCondLst>
                              <p:cond delay="1531"/>
                            </p:stCondLst>
                            <p:childTnLst>
                              <p:set>
                                <p:cBhvr>
                                  <p:cTn id="8" dur="1" fill="hold"/>
                                  <p:tgtEl>
                                    <p:spTgt spid="15"/>
                                  </p:tgtEl>
                                  <p:attrNameLst>
                                    <p:attrName>style.visibility</p:attrName>
                                  </p:attrNameLst>
                                </p:cBhvr>
                                <p:to>
                                  <p:strVal val="visible"/>
                                </p:to>
                              </p:set>
                              <p:animEffect transition="in" filter="fade">
                                <p:cBhvr>
                                  <p:cTn id="9" dur="350"/>
                                  <p:tgtEl>
                                    <p:spTgt spid="15"/>
                                  </p:tgtEl>
                                </p:cBhvr>
                              </p:animEffect>
                            </p:childTnLst>
                          </p:cTn>
                        </p:par>
                        <p:par>
                          <p:cTn id="10" presetID="10" presetClass="entr" presetSubtype="0" fill="hold" nodeType="withEffect">
                            <p:stCondLst>
                              <p:cond delay="1531"/>
                            </p:stCondLst>
                            <p:childTnLst>
                              <p:set>
                                <p:cBhvr>
                                  <p:cTn id="11" dur="1" fill="hold"/>
                                  <p:tgtEl>
                                    <p:spTgt spid="16"/>
                                  </p:tgtEl>
                                  <p:attrNameLst>
                                    <p:attrName>style.visibility</p:attrName>
                                  </p:attrNameLst>
                                </p:cBhvr>
                                <p:to>
                                  <p:strVal val="visible"/>
                                </p:to>
                              </p:set>
                              <p:animEffect transition="in" filter="fade">
                                <p:cBhvr>
                                  <p:cTn id="12" dur="350"/>
                                  <p:tgtEl>
                                    <p:spTgt spid="16"/>
                                  </p:tgtEl>
                                </p:cBhvr>
                              </p:animEffect>
                            </p:childTnLst>
                          </p:cTn>
                        </p:par>
                        <p:par>
                          <p:cTn id="13" presetID="10" presetClass="entr" presetSubtype="0" fill="hold" nodeType="withEffect">
                            <p:stCondLst>
                              <p:cond delay="1531"/>
                            </p:stCondLst>
                            <p:childTnLst>
                              <p:set>
                                <p:cBhvr>
                                  <p:cTn id="14" dur="1" fill="hold"/>
                                  <p:tgtEl>
                                    <p:spTgt spid="17"/>
                                  </p:tgtEl>
                                  <p:attrNameLst>
                                    <p:attrName>style.visibility</p:attrName>
                                  </p:attrNameLst>
                                </p:cBhvr>
                                <p:to>
                                  <p:strVal val="visible"/>
                                </p:to>
                              </p:set>
                              <p:animEffect transition="in" filter="fade">
                                <p:cBhvr>
                                  <p:cTn id="15" dur="350"/>
                                  <p:tgtEl>
                                    <p:spTgt spid="17"/>
                                  </p:tgtEl>
                                </p:cBhvr>
                              </p:animEffect>
                            </p:childTnLst>
                          </p:cTn>
                        </p:par>
                        <p:par>
                          <p:cTn id="16" presetID="10" presetClass="entr" presetSubtype="0" fill="hold" nodeType="withEffect">
                            <p:stCondLst>
                              <p:cond delay="1531"/>
                            </p:stCondLst>
                            <p:childTnLst>
                              <p:set>
                                <p:cBhvr>
                                  <p:cTn id="17" dur="1" fill="hold"/>
                                  <p:tgtEl>
                                    <p:spTgt spid="18"/>
                                  </p:tgtEl>
                                  <p:attrNameLst>
                                    <p:attrName>style.visibility</p:attrName>
                                  </p:attrNameLst>
                                </p:cBhvr>
                                <p:to>
                                  <p:strVal val="visible"/>
                                </p:to>
                              </p:set>
                              <p:animEffect transition="in" filter="fade">
                                <p:cBhvr>
                                  <p:cTn id="18" dur="350"/>
                                  <p:tgtEl>
                                    <p:spTgt spid="18"/>
                                  </p:tgtEl>
                                </p:cBhvr>
                              </p:animEffect>
                            </p:childTnLst>
                          </p:cTn>
                        </p:par>
                        <p:par>
                          <p:cTn id="19" presetID="10" presetClass="entr" presetSubtype="0" fill="hold" nodeType="withEffect">
                            <p:stCondLst>
                              <p:cond delay="1531"/>
                            </p:stCondLst>
                            <p:childTnLst>
                              <p:set>
                                <p:cBhvr>
                                  <p:cTn id="20" dur="1" fill="hold"/>
                                  <p:tgtEl>
                                    <p:spTgt spid="19"/>
                                  </p:tgtEl>
                                  <p:attrNameLst>
                                    <p:attrName>style.visibility</p:attrName>
                                  </p:attrNameLst>
                                </p:cBhvr>
                                <p:to>
                                  <p:strVal val="visible"/>
                                </p:to>
                              </p:set>
                              <p:animEffect transition="in" filter="fade">
                                <p:cBhvr>
                                  <p:cTn id="21" dur="350"/>
                                  <p:tgtEl>
                                    <p:spTgt spid="19"/>
                                  </p:tgtEl>
                                </p:cBhvr>
                              </p:animEffect>
                            </p:childTnLst>
                          </p:cTn>
                        </p:par>
                        <p:par>
                          <p:cTn id="22" presetID="10" presetClass="entr" presetSubtype="0" fill="hold" nodeType="withEffect">
                            <p:stCondLst>
                              <p:cond delay="1531"/>
                            </p:stCondLst>
                            <p:childTnLst>
                              <p:set>
                                <p:cBhvr>
                                  <p:cTn id="23" dur="1" fill="hold"/>
                                  <p:tgtEl>
                                    <p:spTgt spid="20"/>
                                  </p:tgtEl>
                                  <p:attrNameLst>
                                    <p:attrName>style.visibility</p:attrName>
                                  </p:attrNameLst>
                                </p:cBhvr>
                                <p:to>
                                  <p:strVal val="visible"/>
                                </p:to>
                              </p:set>
                              <p:animEffect transition="in" filter="fade">
                                <p:cBhvr>
                                  <p:cTn id="24" dur="350"/>
                                  <p:tgtEl>
                                    <p:spTgt spid="20"/>
                                  </p:tgtEl>
                                </p:cBhvr>
                              </p:animEffect>
                            </p:childTnLst>
                          </p:cTn>
                        </p:par>
                        <p:par>
                          <p:cTn id="25" presetID="10" presetClass="entr" presetSubtype="0" fill="hold" nodeType="withEffect">
                            <p:stCondLst>
                              <p:cond delay="1531"/>
                            </p:stCondLst>
                            <p:childTnLst>
                              <p:set>
                                <p:cBhvr>
                                  <p:cTn id="26" dur="1" fill="hold"/>
                                  <p:tgtEl>
                                    <p:spTgt spid="21"/>
                                  </p:tgtEl>
                                  <p:attrNameLst>
                                    <p:attrName>style.visibility</p:attrName>
                                  </p:attrNameLst>
                                </p:cBhvr>
                                <p:to>
                                  <p:strVal val="visible"/>
                                </p:to>
                              </p:set>
                              <p:animEffect transition="in" filter="fade">
                                <p:cBhvr>
                                  <p:cTn id="27" dur="350"/>
                                  <p:tgtEl>
                                    <p:spTgt spid="21"/>
                                  </p:tgtEl>
                                </p:cBhvr>
                              </p:animEffect>
                            </p:childTnLst>
                          </p:cTn>
                        </p:par>
                        <p:par>
                          <p:cTn id="28" presetID="10" presetClass="entr" presetSubtype="0" fill="hold" nodeType="withEffect">
                            <p:stCondLst>
                              <p:cond delay="1531"/>
                            </p:stCondLst>
                            <p:childTnLst>
                              <p:set>
                                <p:cBhvr>
                                  <p:cTn id="29" dur="1" fill="hold"/>
                                  <p:tgtEl>
                                    <p:spTgt spid="22"/>
                                  </p:tgtEl>
                                  <p:attrNameLst>
                                    <p:attrName>style.visibility</p:attrName>
                                  </p:attrNameLst>
                                </p:cBhvr>
                                <p:to>
                                  <p:strVal val="visible"/>
                                </p:to>
                              </p:set>
                              <p:animEffect transition="in" filter="fade">
                                <p:cBhvr>
                                  <p:cTn id="30" dur="350"/>
                                  <p:tgtEl>
                                    <p:spTgt spid="22"/>
                                  </p:tgtEl>
                                </p:cBhvr>
                              </p:animEffect>
                            </p:childTnLst>
                          </p:cTn>
                        </p:par>
                        <p:par>
                          <p:cTn id="31" presetID="10" presetClass="entr" presetSubtype="0" fill="hold" nodeType="withEffect">
                            <p:stCondLst>
                              <p:cond delay="1531"/>
                            </p:stCondLst>
                            <p:childTnLst>
                              <p:set>
                                <p:cBhvr>
                                  <p:cTn id="32" dur="1" fill="hold"/>
                                  <p:tgtEl>
                                    <p:spTgt spid="23"/>
                                  </p:tgtEl>
                                  <p:attrNameLst>
                                    <p:attrName>style.visibility</p:attrName>
                                  </p:attrNameLst>
                                </p:cBhvr>
                                <p:to>
                                  <p:strVal val="visible"/>
                                </p:to>
                              </p:set>
                              <p:animEffect transition="in" filter="fade">
                                <p:cBhvr>
                                  <p:cTn id="33" dur="350"/>
                                  <p:tgtEl>
                                    <p:spTgt spid="23"/>
                                  </p:tgtEl>
                                </p:cBhvr>
                              </p:animEffect>
                            </p:childTnLst>
                          </p:cTn>
                        </p:par>
                        <p:par>
                          <p:cTn id="34" presetID="10" presetClass="entr" presetSubtype="0" fill="hold" nodeType="withEffect">
                            <p:stCondLst>
                              <p:cond delay="1531"/>
                            </p:stCondLst>
                            <p:childTnLst>
                              <p:set>
                                <p:cBhvr>
                                  <p:cTn id="35" dur="1" fill="hold"/>
                                  <p:tgtEl>
                                    <p:spTgt spid="24"/>
                                  </p:tgtEl>
                                  <p:attrNameLst>
                                    <p:attrName>style.visibility</p:attrName>
                                  </p:attrNameLst>
                                </p:cBhvr>
                                <p:to>
                                  <p:strVal val="visible"/>
                                </p:to>
                              </p:set>
                              <p:animEffect transition="in" filter="fade">
                                <p:cBhvr>
                                  <p:cTn id="36" dur="350"/>
                                  <p:tgtEl>
                                    <p:spTgt spid="24"/>
                                  </p:tgtEl>
                                </p:cBhvr>
                              </p:animEffect>
                            </p:childTnLst>
                          </p:cTn>
                        </p:par>
                        <p:par>
                          <p:cTn id="37" presetID="10" presetClass="entr" presetSubtype="0" fill="hold" nodeType="withEffect">
                            <p:stCondLst>
                              <p:cond delay="7125"/>
                            </p:stCondLst>
                            <p:childTnLst>
                              <p:set>
                                <p:cBhvr>
                                  <p:cTn id="38" dur="1" fill="hold"/>
                                  <p:tgtEl>
                                    <p:spTgt spid="30"/>
                                  </p:tgtEl>
                                  <p:attrNameLst>
                                    <p:attrName>style.visibility</p:attrName>
                                  </p:attrNameLst>
                                </p:cBhvr>
                                <p:to>
                                  <p:strVal val="visible"/>
                                </p:to>
                              </p:set>
                              <p:animEffect transition="in" filter="fade">
                                <p:cBhvr>
                                  <p:cTn id="39" dur="350"/>
                                  <p:tgtEl>
                                    <p:spTgt spid="30"/>
                                  </p:tgtEl>
                                </p:cBhvr>
                              </p:animEffect>
                            </p:childTnLst>
                          </p:cTn>
                        </p:par>
                        <p:par>
                          <p:cTn id="40" presetID="10" presetClass="entr" presetSubtype="0" fill="hold" nodeType="withEffect">
                            <p:stCondLst>
                              <p:cond delay="7125"/>
                            </p:stCondLst>
                            <p:childTnLst>
                              <p:set>
                                <p:cBhvr>
                                  <p:cTn id="41" dur="1" fill="hold"/>
                                  <p:tgtEl>
                                    <p:spTgt spid="31"/>
                                  </p:tgtEl>
                                  <p:attrNameLst>
                                    <p:attrName>style.visibility</p:attrName>
                                  </p:attrNameLst>
                                </p:cBhvr>
                                <p:to>
                                  <p:strVal val="visible"/>
                                </p:to>
                              </p:set>
                              <p:animEffect transition="in" filter="fade">
                                <p:cBhvr>
                                  <p:cTn id="42" dur="350"/>
                                  <p:tgtEl>
                                    <p:spTgt spid="31"/>
                                  </p:tgtEl>
                                </p:cBhvr>
                              </p:animEffect>
                            </p:childTnLst>
                          </p:cTn>
                        </p:par>
                        <p:par>
                          <p:cTn id="43" presetID="10" presetClass="entr" presetSubtype="0" fill="hold" nodeType="withEffect">
                            <p:stCondLst>
                              <p:cond delay="7125"/>
                            </p:stCondLst>
                            <p:childTnLst>
                              <p:set>
                                <p:cBhvr>
                                  <p:cTn id="44" dur="1" fill="hold"/>
                                  <p:tgtEl>
                                    <p:spTgt spid="32"/>
                                  </p:tgtEl>
                                  <p:attrNameLst>
                                    <p:attrName>style.visibility</p:attrName>
                                  </p:attrNameLst>
                                </p:cBhvr>
                                <p:to>
                                  <p:strVal val="visible"/>
                                </p:to>
                              </p:set>
                              <p:animEffect transition="in" filter="fade">
                                <p:cBhvr>
                                  <p:cTn id="45" dur="350"/>
                                  <p:tgtEl>
                                    <p:spTgt spid="32"/>
                                  </p:tgtEl>
                                </p:cBhvr>
                              </p:animEffect>
                            </p:childTnLst>
                          </p:cTn>
                        </p:par>
                        <p:par>
                          <p:cTn id="46" presetID="10" presetClass="entr" presetSubtype="0" fill="hold" nodeType="withEffect">
                            <p:stCondLst>
                              <p:cond delay="7125"/>
                            </p:stCondLst>
                            <p:childTnLst>
                              <p:set>
                                <p:cBhvr>
                                  <p:cTn id="47" dur="1" fill="hold"/>
                                  <p:tgtEl>
                                    <p:spTgt spid="33"/>
                                  </p:tgtEl>
                                  <p:attrNameLst>
                                    <p:attrName>style.visibility</p:attrName>
                                  </p:attrNameLst>
                                </p:cBhvr>
                                <p:to>
                                  <p:strVal val="visible"/>
                                </p:to>
                              </p:set>
                              <p:animEffect transition="in" filter="fade">
                                <p:cBhvr>
                                  <p:cTn id="48" dur="350"/>
                                  <p:tgtEl>
                                    <p:spTgt spid="33"/>
                                  </p:tgtEl>
                                </p:cBhvr>
                              </p:animEffect>
                            </p:childTnLst>
                          </p:cTn>
                        </p:par>
                        <p:par>
                          <p:cTn id="49" presetID="10" presetClass="entr" presetSubtype="0" fill="hold" nodeType="withEffect">
                            <p:stCondLst>
                              <p:cond delay="7125"/>
                            </p:stCondLst>
                            <p:childTnLst>
                              <p:set>
                                <p:cBhvr>
                                  <p:cTn id="50" dur="1" fill="hold"/>
                                  <p:tgtEl>
                                    <p:spTgt spid="34"/>
                                  </p:tgtEl>
                                  <p:attrNameLst>
                                    <p:attrName>style.visibility</p:attrName>
                                  </p:attrNameLst>
                                </p:cBhvr>
                                <p:to>
                                  <p:strVal val="visible"/>
                                </p:to>
                              </p:set>
                              <p:animEffect transition="in" filter="fade">
                                <p:cBhvr>
                                  <p:cTn id="51" dur="350"/>
                                  <p:tgtEl>
                                    <p:spTgt spid="34"/>
                                  </p:tgtEl>
                                </p:cBhvr>
                              </p:animEffect>
                            </p:childTnLst>
                          </p:cTn>
                        </p:par>
                        <p:par>
                          <p:cTn id="52" presetID="10" presetClass="entr" presetSubtype="0" fill="hold" nodeType="withEffect">
                            <p:stCondLst>
                              <p:cond delay="7125"/>
                            </p:stCondLst>
                            <p:childTnLst>
                              <p:set>
                                <p:cBhvr>
                                  <p:cTn id="53" dur="1" fill="hold"/>
                                  <p:tgtEl>
                                    <p:spTgt spid="35"/>
                                  </p:tgtEl>
                                  <p:attrNameLst>
                                    <p:attrName>style.visibility</p:attrName>
                                  </p:attrNameLst>
                                </p:cBhvr>
                                <p:to>
                                  <p:strVal val="visible"/>
                                </p:to>
                              </p:set>
                              <p:animEffect transition="in" filter="fade">
                                <p:cBhvr>
                                  <p:cTn id="54" dur="350"/>
                                  <p:tgtEl>
                                    <p:spTgt spid="35"/>
                                  </p:tgtEl>
                                </p:cBhvr>
                              </p:animEffect>
                            </p:childTnLst>
                          </p:cTn>
                        </p:par>
                        <p:par>
                          <p:cTn id="55" presetID="10" presetClass="entr" presetSubtype="0" fill="hold" nodeType="withEffect">
                            <p:stCondLst>
                              <p:cond delay="9276"/>
                            </p:stCondLst>
                            <p:childTnLst>
                              <p:set>
                                <p:cBhvr>
                                  <p:cTn id="56" dur="1" fill="hold"/>
                                  <p:tgtEl>
                                    <p:spTgt spid="36"/>
                                  </p:tgtEl>
                                  <p:attrNameLst>
                                    <p:attrName>style.visibility</p:attrName>
                                  </p:attrNameLst>
                                </p:cBhvr>
                                <p:to>
                                  <p:strVal val="visible"/>
                                </p:to>
                              </p:set>
                              <p:animEffect transition="in" filter="fade">
                                <p:cBhvr>
                                  <p:cTn id="57" dur="350"/>
                                  <p:tgtEl>
                                    <p:spTgt spid="36"/>
                                  </p:tgtEl>
                                </p:cBhvr>
                              </p:animEffect>
                            </p:childTnLst>
                          </p:cTn>
                        </p:par>
                        <p:par>
                          <p:cTn id="58" presetID="10" presetClass="entr" presetSubtype="0" fill="hold" nodeType="withEffect">
                            <p:stCondLst>
                              <p:cond delay="9276"/>
                            </p:stCondLst>
                            <p:childTnLst>
                              <p:set>
                                <p:cBhvr>
                                  <p:cTn id="59" dur="1" fill="hold"/>
                                  <p:tgtEl>
                                    <p:spTgt spid="37"/>
                                  </p:tgtEl>
                                  <p:attrNameLst>
                                    <p:attrName>style.visibility</p:attrName>
                                  </p:attrNameLst>
                                </p:cBhvr>
                                <p:to>
                                  <p:strVal val="visible"/>
                                </p:to>
                              </p:set>
                              <p:animEffect transition="in" filter="fade">
                                <p:cBhvr>
                                  <p:cTn id="60" dur="350"/>
                                  <p:tgtEl>
                                    <p:spTgt spid="37"/>
                                  </p:tgtEl>
                                </p:cBhvr>
                              </p:animEffect>
                            </p:childTnLst>
                          </p:cTn>
                        </p:par>
                        <p:par>
                          <p:cTn id="61" presetID="10" presetClass="entr" presetSubtype="0" fill="hold" nodeType="withEffect">
                            <p:stCondLst>
                              <p:cond delay="9276"/>
                            </p:stCondLst>
                            <p:childTnLst>
                              <p:set>
                                <p:cBhvr>
                                  <p:cTn id="62" dur="1" fill="hold"/>
                                  <p:tgtEl>
                                    <p:spTgt spid="38"/>
                                  </p:tgtEl>
                                  <p:attrNameLst>
                                    <p:attrName>style.visibility</p:attrName>
                                  </p:attrNameLst>
                                </p:cBhvr>
                                <p:to>
                                  <p:strVal val="visible"/>
                                </p:to>
                              </p:set>
                              <p:animEffect transition="in" filter="fade">
                                <p:cBhvr>
                                  <p:cTn id="63" dur="350"/>
                                  <p:tgtEl>
                                    <p:spTgt spid="38"/>
                                  </p:tgtEl>
                                </p:cBhvr>
                              </p:animEffect>
                            </p:childTnLst>
                          </p:cTn>
                        </p:par>
                        <p:par>
                          <p:cTn id="64" presetID="10" presetClass="entr" presetSubtype="0" fill="hold" nodeType="withEffect">
                            <p:stCondLst>
                              <p:cond delay="9276"/>
                            </p:stCondLst>
                            <p:childTnLst>
                              <p:set>
                                <p:cBhvr>
                                  <p:cTn id="65" dur="1" fill="hold"/>
                                  <p:tgtEl>
                                    <p:spTgt spid="39"/>
                                  </p:tgtEl>
                                  <p:attrNameLst>
                                    <p:attrName>style.visibility</p:attrName>
                                  </p:attrNameLst>
                                </p:cBhvr>
                                <p:to>
                                  <p:strVal val="visible"/>
                                </p:to>
                              </p:set>
                              <p:animEffect transition="in" filter="fade">
                                <p:cBhvr>
                                  <p:cTn id="66" dur="350"/>
                                  <p:tgtEl>
                                    <p:spTgt spid="39"/>
                                  </p:tgtEl>
                                </p:cBhvr>
                              </p:animEffect>
                            </p:childTnLst>
                          </p:cTn>
                        </p:par>
                        <p:par>
                          <p:cTn id="67" presetID="10" presetClass="entr" presetSubtype="0" fill="hold" nodeType="withEffect">
                            <p:stCondLst>
                              <p:cond delay="9276"/>
                            </p:stCondLst>
                            <p:childTnLst>
                              <p:set>
                                <p:cBhvr>
                                  <p:cTn id="68" dur="1" fill="hold"/>
                                  <p:tgtEl>
                                    <p:spTgt spid="40"/>
                                  </p:tgtEl>
                                  <p:attrNameLst>
                                    <p:attrName>style.visibility</p:attrName>
                                  </p:attrNameLst>
                                </p:cBhvr>
                                <p:to>
                                  <p:strVal val="visible"/>
                                </p:to>
                              </p:set>
                              <p:animEffect transition="in" filter="fade">
                                <p:cBhvr>
                                  <p:cTn id="69" dur="350"/>
                                  <p:tgtEl>
                                    <p:spTgt spid="40"/>
                                  </p:tgtEl>
                                </p:cBhvr>
                              </p:animEffect>
                            </p:childTnLst>
                          </p:cTn>
                        </p:par>
                        <p:par>
                          <p:cTn id="70" presetID="10" presetClass="entr" presetSubtype="0" fill="hold" nodeType="withEffect">
                            <p:stCondLst>
                              <p:cond delay="9276"/>
                            </p:stCondLst>
                            <p:childTnLst>
                              <p:set>
                                <p:cBhvr>
                                  <p:cTn id="71" dur="1" fill="hold"/>
                                  <p:tgtEl>
                                    <p:spTgt spid="41"/>
                                  </p:tgtEl>
                                  <p:attrNameLst>
                                    <p:attrName>style.visibility</p:attrName>
                                  </p:attrNameLst>
                                </p:cBhvr>
                                <p:to>
                                  <p:strVal val="visible"/>
                                </p:to>
                              </p:set>
                              <p:animEffect transition="in" filter="fade">
                                <p:cBhvr>
                                  <p:cTn id="72" dur="350"/>
                                  <p:tgtEl>
                                    <p:spTgt spid="41"/>
                                  </p:tgtEl>
                                </p:cBhvr>
                              </p:animEffect>
                            </p:childTnLst>
                          </p:cTn>
                        </p:par>
                        <p:par>
                          <p:cTn id="73" presetID="10" presetClass="entr" presetSubtype="0" fill="hold" nodeType="withEffect">
                            <p:stCondLst>
                              <p:cond delay="9276"/>
                            </p:stCondLst>
                            <p:childTnLst>
                              <p:set>
                                <p:cBhvr>
                                  <p:cTn id="74" dur="1" fill="hold"/>
                                  <p:tgtEl>
                                    <p:spTgt spid="42"/>
                                  </p:tgtEl>
                                  <p:attrNameLst>
                                    <p:attrName>style.visibility</p:attrName>
                                  </p:attrNameLst>
                                </p:cBhvr>
                                <p:to>
                                  <p:strVal val="visible"/>
                                </p:to>
                              </p:set>
                              <p:animEffect transition="in" filter="fade">
                                <p:cBhvr>
                                  <p:cTn id="75" dur="350"/>
                                  <p:tgtEl>
                                    <p:spTgt spid="42"/>
                                  </p:tgtEl>
                                </p:cBhvr>
                              </p:animEffect>
                            </p:childTnLst>
                          </p:cTn>
                        </p:par>
                        <p:par>
                          <p:cTn id="76" presetID="10" presetClass="entr" presetSubtype="0" fill="hold" nodeType="withEffect">
                            <p:stCondLst>
                              <p:cond delay="9276"/>
                            </p:stCondLst>
                            <p:childTnLst>
                              <p:set>
                                <p:cBhvr>
                                  <p:cTn id="77" dur="1" fill="hold"/>
                                  <p:tgtEl>
                                    <p:spTgt spid="43"/>
                                  </p:tgtEl>
                                  <p:attrNameLst>
                                    <p:attrName>style.visibility</p:attrName>
                                  </p:attrNameLst>
                                </p:cBhvr>
                                <p:to>
                                  <p:strVal val="visible"/>
                                </p:to>
                              </p:set>
                              <p:animEffect transition="in" filter="fade">
                                <p:cBhvr>
                                  <p:cTn id="78" dur="350"/>
                                  <p:tgtEl>
                                    <p:spTgt spid="43"/>
                                  </p:tgtEl>
                                </p:cBhvr>
                              </p:animEffect>
                            </p:childTnLst>
                          </p:cTn>
                        </p:par>
                        <p:par>
                          <p:cTn id="79" presetID="10" presetClass="entr" presetSubtype="0" fill="hold" nodeType="withEffect">
                            <p:stCondLst>
                              <p:cond delay="9276"/>
                            </p:stCondLst>
                            <p:childTnLst>
                              <p:set>
                                <p:cBhvr>
                                  <p:cTn id="80" dur="1" fill="hold"/>
                                  <p:tgtEl>
                                    <p:spTgt spid="44"/>
                                  </p:tgtEl>
                                  <p:attrNameLst>
                                    <p:attrName>style.visibility</p:attrName>
                                  </p:attrNameLst>
                                </p:cBhvr>
                                <p:to>
                                  <p:strVal val="visible"/>
                                </p:to>
                              </p:set>
                              <p:animEffect transition="in" filter="fade">
                                <p:cBhvr>
                                  <p:cTn id="81" dur="350"/>
                                  <p:tgtEl>
                                    <p:spTgt spid="44"/>
                                  </p:tgtEl>
                                </p:cBhvr>
                              </p:animEffect>
                            </p:childTnLst>
                          </p:cTn>
                        </p:par>
                        <p:par>
                          <p:cTn id="82" presetID="10" presetClass="entr" presetSubtype="0" fill="hold" nodeType="withEffect">
                            <p:stCondLst>
                              <p:cond delay="9276"/>
                            </p:stCondLst>
                            <p:childTnLst>
                              <p:set>
                                <p:cBhvr>
                                  <p:cTn id="83" dur="1" fill="hold"/>
                                  <p:tgtEl>
                                    <p:spTgt spid="45"/>
                                  </p:tgtEl>
                                  <p:attrNameLst>
                                    <p:attrName>style.visibility</p:attrName>
                                  </p:attrNameLst>
                                </p:cBhvr>
                                <p:to>
                                  <p:strVal val="visible"/>
                                </p:to>
                              </p:set>
                              <p:animEffect transition="in" filter="fade">
                                <p:cBhvr>
                                  <p:cTn id="84" dur="350"/>
                                  <p:tgtEl>
                                    <p:spTgt spid="45"/>
                                  </p:tgtEl>
                                </p:cBhvr>
                              </p:animEffect>
                            </p:childTnLst>
                          </p:cTn>
                        </p:par>
                        <p:par>
                          <p:cTn id="85" presetID="10" presetClass="entr" presetSubtype="0" fill="hold" nodeType="withEffect">
                            <p:stCondLst>
                              <p:cond delay="9276"/>
                            </p:stCondLst>
                            <p:childTnLst>
                              <p:set>
                                <p:cBhvr>
                                  <p:cTn id="86" dur="1" fill="hold"/>
                                  <p:tgtEl>
                                    <p:spTgt spid="46"/>
                                  </p:tgtEl>
                                  <p:attrNameLst>
                                    <p:attrName>style.visibility</p:attrName>
                                  </p:attrNameLst>
                                </p:cBhvr>
                                <p:to>
                                  <p:strVal val="visible"/>
                                </p:to>
                              </p:set>
                              <p:animEffect transition="in" filter="fade">
                                <p:cBhvr>
                                  <p:cTn id="87" dur="350"/>
                                  <p:tgtEl>
                                    <p:spTgt spid="46"/>
                                  </p:tgtEl>
                                </p:cBhvr>
                              </p:animEffect>
                            </p:childTnLst>
                          </p:cTn>
                        </p:par>
                        <p:par>
                          <p:cTn id="88" presetID="10" presetClass="entr" presetSubtype="0" fill="hold" nodeType="withEffect">
                            <p:stCondLst>
                              <p:cond delay="9276"/>
                            </p:stCondLst>
                            <p:childTnLst>
                              <p:set>
                                <p:cBhvr>
                                  <p:cTn id="89" dur="1" fill="hold"/>
                                  <p:tgtEl>
                                    <p:spTgt spid="47"/>
                                  </p:tgtEl>
                                  <p:attrNameLst>
                                    <p:attrName>style.visibility</p:attrName>
                                  </p:attrNameLst>
                                </p:cBhvr>
                                <p:to>
                                  <p:strVal val="visible"/>
                                </p:to>
                              </p:set>
                              <p:animEffect transition="in" filter="fade">
                                <p:cBhvr>
                                  <p:cTn id="90" dur="350"/>
                                  <p:tgtEl>
                                    <p:spTgt spid="47"/>
                                  </p:tgtEl>
                                </p:cBhvr>
                              </p:animEffect>
                            </p:childTnLst>
                          </p:cTn>
                        </p:par>
                        <p:par>
                          <p:cTn id="91" presetID="10" presetClass="entr" presetSubtype="0" fill="hold" nodeType="withEffect">
                            <p:stCondLst>
                              <p:cond delay="9276"/>
                            </p:stCondLst>
                            <p:childTnLst>
                              <p:set>
                                <p:cBhvr>
                                  <p:cTn id="92" dur="1" fill="hold"/>
                                  <p:tgtEl>
                                    <p:spTgt spid="48"/>
                                  </p:tgtEl>
                                  <p:attrNameLst>
                                    <p:attrName>style.visibility</p:attrName>
                                  </p:attrNameLst>
                                </p:cBhvr>
                                <p:to>
                                  <p:strVal val="visible"/>
                                </p:to>
                              </p:set>
                              <p:animEffect transition="in" filter="fade">
                                <p:cBhvr>
                                  <p:cTn id="93" dur="350"/>
                                  <p:tgtEl>
                                    <p:spTgt spid="48"/>
                                  </p:tgtEl>
                                </p:cBhvr>
                              </p:animEffect>
                            </p:childTnLst>
                          </p:cTn>
                        </p:par>
                        <p:par>
                          <p:cTn id="94" presetID="10" presetClass="entr" presetSubtype="0" fill="hold" nodeType="withEffect">
                            <p:stCondLst>
                              <p:cond delay="9276"/>
                            </p:stCondLst>
                            <p:childTnLst>
                              <p:set>
                                <p:cBhvr>
                                  <p:cTn id="95" dur="1" fill="hold"/>
                                  <p:tgtEl>
                                    <p:spTgt spid="49"/>
                                  </p:tgtEl>
                                  <p:attrNameLst>
                                    <p:attrName>style.visibility</p:attrName>
                                  </p:attrNameLst>
                                </p:cBhvr>
                                <p:to>
                                  <p:strVal val="visible"/>
                                </p:to>
                              </p:set>
                              <p:animEffect transition="in" filter="fade">
                                <p:cBhvr>
                                  <p:cTn id="96" dur="350"/>
                                  <p:tgtEl>
                                    <p:spTgt spid="49"/>
                                  </p:tgtEl>
                                </p:cBhvr>
                              </p:animEffect>
                            </p:childTnLst>
                          </p:cTn>
                        </p:par>
                        <p:par>
                          <p:cTn id="97" presetID="10" presetClass="entr" presetSubtype="0" fill="hold" nodeType="withEffect">
                            <p:stCondLst>
                              <p:cond delay="9276"/>
                            </p:stCondLst>
                            <p:childTnLst>
                              <p:set>
                                <p:cBhvr>
                                  <p:cTn id="98" dur="1" fill="hold"/>
                                  <p:tgtEl>
                                    <p:spTgt spid="50"/>
                                  </p:tgtEl>
                                  <p:attrNameLst>
                                    <p:attrName>style.visibility</p:attrName>
                                  </p:attrNameLst>
                                </p:cBhvr>
                                <p:to>
                                  <p:strVal val="visible"/>
                                </p:to>
                              </p:set>
                              <p:animEffect transition="in" filter="fade">
                                <p:cBhvr>
                                  <p:cTn id="99" dur="350"/>
                                  <p:tgtEl>
                                    <p:spTgt spid="50"/>
                                  </p:tgtEl>
                                </p:cBhvr>
                              </p:animEffect>
                            </p:childTnLst>
                          </p:cTn>
                        </p:par>
                        <p:par>
                          <p:cTn id="100" presetID="10" presetClass="entr" presetSubtype="0" fill="hold" nodeType="withEffect">
                            <p:stCondLst>
                              <p:cond delay="9276"/>
                            </p:stCondLst>
                            <p:childTnLst>
                              <p:set>
                                <p:cBhvr>
                                  <p:cTn id="101" dur="1" fill="hold"/>
                                  <p:tgtEl>
                                    <p:spTgt spid="51"/>
                                  </p:tgtEl>
                                  <p:attrNameLst>
                                    <p:attrName>style.visibility</p:attrName>
                                  </p:attrNameLst>
                                </p:cBhvr>
                                <p:to>
                                  <p:strVal val="visible"/>
                                </p:to>
                              </p:set>
                              <p:animEffect transition="in" filter="fade">
                                <p:cBhvr>
                                  <p:cTn id="102" dur="350"/>
                                  <p:tgtEl>
                                    <p:spTgt spid="51"/>
                                  </p:tgtEl>
                                </p:cBhvr>
                              </p:animEffect>
                            </p:childTnLst>
                          </p:cTn>
                        </p:par>
                        <p:par>
                          <p:cTn id="103" presetID="10" presetClass="entr" presetSubtype="0" fill="hold" nodeType="withEffect">
                            <p:stCondLst>
                              <p:cond delay="9276"/>
                            </p:stCondLst>
                            <p:childTnLst>
                              <p:set>
                                <p:cBhvr>
                                  <p:cTn id="104" dur="1" fill="hold"/>
                                  <p:tgtEl>
                                    <p:spTgt spid="52"/>
                                  </p:tgtEl>
                                  <p:attrNameLst>
                                    <p:attrName>style.visibility</p:attrName>
                                  </p:attrNameLst>
                                </p:cBhvr>
                                <p:to>
                                  <p:strVal val="visible"/>
                                </p:to>
                              </p:set>
                              <p:animEffect transition="in" filter="fade">
                                <p:cBhvr>
                                  <p:cTn id="105" dur="350"/>
                                  <p:tgtEl>
                                    <p:spTgt spid="52"/>
                                  </p:tgtEl>
                                </p:cBhvr>
                              </p:animEffect>
                            </p:childTnLst>
                          </p:cTn>
                        </p:par>
                        <p:par>
                          <p:cTn id="106" presetID="10" presetClass="entr" presetSubtype="0" fill="hold" nodeType="withEffect">
                            <p:stCondLst>
                              <p:cond delay="9276"/>
                            </p:stCondLst>
                            <p:childTnLst>
                              <p:set>
                                <p:cBhvr>
                                  <p:cTn id="107" dur="1" fill="hold"/>
                                  <p:tgtEl>
                                    <p:spTgt spid="53"/>
                                  </p:tgtEl>
                                  <p:attrNameLst>
                                    <p:attrName>style.visibility</p:attrName>
                                  </p:attrNameLst>
                                </p:cBhvr>
                                <p:to>
                                  <p:strVal val="visible"/>
                                </p:to>
                              </p:set>
                              <p:animEffect transition="in" filter="fade">
                                <p:cBhvr>
                                  <p:cTn id="108" dur="350"/>
                                  <p:tgtEl>
                                    <p:spTgt spid="53"/>
                                  </p:tgtEl>
                                </p:cBhvr>
                              </p:animEffect>
                            </p:childTnLst>
                          </p:cTn>
                        </p:par>
                        <p:par>
                          <p:cTn id="109" presetID="10" presetClass="entr" presetSubtype="0" fill="hold" nodeType="withEffect">
                            <p:stCondLst>
                              <p:cond delay="2805"/>
                            </p:stCondLst>
                            <p:childTnLst>
                              <p:set>
                                <p:cBhvr>
                                  <p:cTn id="110" dur="1" fill="hold"/>
                                  <p:tgtEl>
                                    <p:spTgt spid="54"/>
                                  </p:tgtEl>
                                  <p:attrNameLst>
                                    <p:attrName>style.visibility</p:attrName>
                                  </p:attrNameLst>
                                </p:cBhvr>
                                <p:to>
                                  <p:strVal val="visible"/>
                                </p:to>
                              </p:set>
                              <p:animEffect transition="in" filter="fade">
                                <p:cBhvr>
                                  <p:cTn id="111" dur="350"/>
                                  <p:tgtEl>
                                    <p:spTgt spid="5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105900" y="276225"/>
            <a:ext cx="2095500"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76225"/>
            <a:ext cx="516255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مثال خيالي لمتابعة استبدال</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نكمل من آخر تحديث مسجل.</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8645E"/>
                </a:solidFill>
                <a:latin typeface="Manrope"/>
                <a:cs typeface="IBM Plex Sans Arabic Medium"/>
              </a:rPr>
              <a:t>كونكريت · تعاون مقترح · واجهات توضيحية وسجلات خيالية</a:t>
            </a:r>
          </a:p>
        </p:txBody>
      </p:sp>
      <p:sp>
        <p:nvSpPr>
          <p:cNvPr id="8" name="TextBox 7"/>
          <p:cNvSpPr txBox="1"/>
          <p:nvPr/>
        </p:nvSpPr>
        <p:spPr>
          <a:xfrm>
            <a:off x="457200" y="6505575"/>
            <a:ext cx="781050" cy="238125"/>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8645E"/>
                </a:solidFill>
                <a:latin typeface="Manrope"/>
                <a:cs typeface="IBM Plex Sans Arabic Medium"/>
              </a:rPr>
              <a:t>04 / 07</a:t>
            </a:r>
          </a:p>
        </p:txBody>
      </p:sp>
      <p:sp>
        <p:nvSpPr>
          <p:cNvPr id="9" name="Rounded Rectangle 8"/>
          <p:cNvSpPr/>
          <p:nvPr/>
        </p:nvSpPr>
        <p:spPr>
          <a:xfrm>
            <a:off x="457200" y="1724025"/>
            <a:ext cx="11277600" cy="3333750"/>
          </a:xfrm>
          <a:prstGeom prst="roundRect">
            <a:avLst>
              <a:gd name="adj" fmla="val 3428"/>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676400"/>
            <a:ext cx="11277600" cy="3333750"/>
          </a:xfrm>
          <a:prstGeom prst="roundRect">
            <a:avLst>
              <a:gd name="adj" fmla="val 3428"/>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zoho.png"/>
          <p:cNvPicPr>
            <a:picLocks noChangeAspect="1"/>
          </p:cNvPicPr>
          <p:nvPr/>
        </p:nvPicPr>
        <p:blipFill>
          <a:blip r:embed="rId3"/>
          <a:stretch>
            <a:fillRect/>
          </a:stretch>
        </p:blipFill>
        <p:spPr>
          <a:xfrm>
            <a:off x="10789574" y="1857375"/>
            <a:ext cx="709353" cy="304800"/>
          </a:xfrm>
          <a:prstGeom prst="rect">
            <a:avLst/>
          </a:prstGeom>
          <a:effectLst/>
        </p:spPr>
      </p:pic>
      <p:sp>
        <p:nvSpPr>
          <p:cNvPr id="12" name="TextBox 11"/>
          <p:cNvSpPr txBox="1"/>
          <p:nvPr/>
        </p:nvSpPr>
        <p:spPr>
          <a:xfrm>
            <a:off x="771525" y="1857375"/>
            <a:ext cx="9848850" cy="3714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 · متابعة استبدال</a:t>
            </a:r>
          </a:p>
        </p:txBody>
      </p:sp>
      <p:cxnSp>
        <p:nvCxnSpPr>
          <p:cNvPr id="13" name="Connector 12"/>
          <p:cNvCxnSpPr/>
          <p:nvPr/>
        </p:nvCxnSpPr>
        <p:spPr>
          <a:xfrm flipH="1">
            <a:off x="457200" y="236220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4" name="Picture 13" descr="icon-call.png"/>
          <p:cNvPicPr>
            <a:picLocks noChangeAspect="1"/>
          </p:cNvPicPr>
          <p:nvPr/>
        </p:nvPicPr>
        <p:blipFill>
          <a:blip r:embed="rId4"/>
          <a:stretch>
            <a:fillRect/>
          </a:stretch>
        </p:blipFill>
        <p:spPr>
          <a:xfrm>
            <a:off x="10982325" y="2647950"/>
            <a:ext cx="466725" cy="466725"/>
          </a:xfrm>
          <a:prstGeom prst="rect">
            <a:avLst/>
          </a:prstGeom>
          <a:effectLst/>
        </p:spPr>
      </p:pic>
      <p:sp>
        <p:nvSpPr>
          <p:cNvPr id="15" name="TextBox 14"/>
          <p:cNvSpPr txBox="1"/>
          <p:nvPr/>
        </p:nvSpPr>
        <p:spPr>
          <a:xfrm>
            <a:off x="7858125" y="2667000"/>
            <a:ext cx="2857500" cy="381000"/>
          </a:xfrm>
          <a:prstGeom prst="rect">
            <a:avLst/>
          </a:prstGeom>
          <a:noFill/>
          <a:effectLst/>
        </p:spPr>
        <p:txBody>
          <a:bodyPr wrap="square" lIns="0" rIns="0" tIns="0" bIns="0" anchor="t">
            <a:spAutoFit/>
          </a:bodyPr>
          <a:lstStyle/>
          <a:p>
            <a:pPr algn="r" rtl="1">
              <a:lnSpc>
                <a:spcPts val="2352"/>
              </a:lnSpc>
              <a:spcBef>
                <a:spcPts val="0"/>
              </a:spcBef>
              <a:spcAft>
                <a:spcPts val="0"/>
              </a:spcAft>
            </a:pPr>
            <a:r>
              <a:rPr sz="2100" b="1" lang="ar-EG">
                <a:solidFill>
                  <a:srgbClr val="262626"/>
                </a:solidFill>
                <a:latin typeface="Manrope"/>
                <a:cs typeface="IBM Plex Sans Arabic Medium"/>
              </a:rPr>
              <a:t>العميل A</a:t>
            </a:r>
          </a:p>
        </p:txBody>
      </p:sp>
      <p:sp>
        <p:nvSpPr>
          <p:cNvPr id="16" name="TextBox 15"/>
          <p:cNvSpPr txBox="1"/>
          <p:nvPr/>
        </p:nvSpPr>
        <p:spPr>
          <a:xfrm>
            <a:off x="8210550" y="3371850"/>
            <a:ext cx="3238500" cy="400050"/>
          </a:xfrm>
          <a:prstGeom prst="rect">
            <a:avLst/>
          </a:prstGeom>
          <a:noFill/>
          <a:effectLst/>
        </p:spPr>
        <p:txBody>
          <a:bodyPr wrap="square" lIns="0" rIns="0" tIns="0" bIns="0" anchor="t">
            <a:spAutoFit/>
          </a:bodyPr>
          <a:lstStyle/>
          <a:p>
            <a:pPr algn="r" rtl="0">
              <a:lnSpc>
                <a:spcPts val="2352"/>
              </a:lnSpc>
              <a:spcBef>
                <a:spcPts val="0"/>
              </a:spcBef>
              <a:spcAft>
                <a:spcPts val="0"/>
              </a:spcAft>
            </a:pPr>
            <a:r>
              <a:rPr sz="2100" b="0" lang="ar-EG">
                <a:solidFill>
                  <a:srgbClr val="262626"/>
                </a:solidFill>
                <a:latin typeface="Manrope"/>
                <a:cs typeface="IBM Plex Sans Arabic Medium"/>
              </a:rPr>
              <a:t>+20 ••• 410</a:t>
            </a:r>
          </a:p>
        </p:txBody>
      </p:sp>
      <p:cxnSp>
        <p:nvCxnSpPr>
          <p:cNvPr id="17" name="Connector 16"/>
          <p:cNvCxnSpPr/>
          <p:nvPr/>
        </p:nvCxnSpPr>
        <p:spPr>
          <a:xfrm>
            <a:off x="7886700" y="2600325"/>
            <a:ext cx="0" cy="218122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8" name="Picture 17" descr="icon-case.png"/>
          <p:cNvPicPr>
            <a:picLocks noChangeAspect="1"/>
          </p:cNvPicPr>
          <p:nvPr/>
        </p:nvPicPr>
        <p:blipFill>
          <a:blip r:embed="rId5"/>
          <a:stretch>
            <a:fillRect/>
          </a:stretch>
        </p:blipFill>
        <p:spPr>
          <a:xfrm>
            <a:off x="7296150" y="2628900"/>
            <a:ext cx="285750" cy="285750"/>
          </a:xfrm>
          <a:prstGeom prst="rect">
            <a:avLst/>
          </a:prstGeom>
          <a:effectLst/>
        </p:spPr>
      </p:pic>
      <p:sp>
        <p:nvSpPr>
          <p:cNvPr id="19" name="TextBox 18"/>
          <p:cNvSpPr txBox="1"/>
          <p:nvPr/>
        </p:nvSpPr>
        <p:spPr>
          <a:xfrm>
            <a:off x="952500" y="2562225"/>
            <a:ext cx="6191250" cy="40005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T101 · طلب استبدال</a:t>
            </a:r>
          </a:p>
        </p:txBody>
      </p:sp>
      <p:pic>
        <p:nvPicPr>
          <p:cNvPr id="20" name="Picture 19" descr="icon-clock.png"/>
          <p:cNvPicPr>
            <a:picLocks noChangeAspect="1"/>
          </p:cNvPicPr>
          <p:nvPr/>
        </p:nvPicPr>
        <p:blipFill>
          <a:blip r:embed="rId6"/>
          <a:stretch>
            <a:fillRect/>
          </a:stretch>
        </p:blipFill>
        <p:spPr>
          <a:xfrm>
            <a:off x="7372350" y="3095625"/>
            <a:ext cx="209550" cy="209550"/>
          </a:xfrm>
          <a:prstGeom prst="rect">
            <a:avLst/>
          </a:prstGeom>
          <a:effectLst/>
        </p:spPr>
      </p:pic>
      <p:sp>
        <p:nvSpPr>
          <p:cNvPr id="21" name="TextBox 20"/>
          <p:cNvSpPr txBox="1"/>
          <p:nvPr/>
        </p:nvSpPr>
        <p:spPr>
          <a:xfrm>
            <a:off x="838200" y="3076575"/>
            <a:ext cx="6419850" cy="3333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965318"/>
                </a:solidFill>
                <a:latin typeface="Manrope"/>
                <a:cs typeface="IBM Plex Sans Arabic Medium"/>
              </a:rPr>
              <a:t>بانتظار الفرع</a:t>
            </a:r>
          </a:p>
        </p:txBody>
      </p:sp>
      <p:sp>
        <p:nvSpPr>
          <p:cNvPr id="22" name="Rounded Rectangle 21"/>
          <p:cNvSpPr/>
          <p:nvPr/>
        </p:nvSpPr>
        <p:spPr>
          <a:xfrm>
            <a:off x="752475" y="3638550"/>
            <a:ext cx="6848475" cy="1066800"/>
          </a:xfrm>
          <a:prstGeom prst="roundRect">
            <a:avLst>
              <a:gd name="adj" fmla="val 7142"/>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file.png"/>
          <p:cNvPicPr>
            <a:picLocks noChangeAspect="1"/>
          </p:cNvPicPr>
          <p:nvPr/>
        </p:nvPicPr>
        <p:blipFill>
          <a:blip r:embed="rId7"/>
          <a:stretch>
            <a:fillRect/>
          </a:stretch>
        </p:blipFill>
        <p:spPr>
          <a:xfrm>
            <a:off x="7115175" y="3829050"/>
            <a:ext cx="276225" cy="276225"/>
          </a:xfrm>
          <a:prstGeom prst="rect">
            <a:avLst/>
          </a:prstGeom>
          <a:effectLst/>
        </p:spPr>
      </p:pic>
      <p:sp>
        <p:nvSpPr>
          <p:cNvPr id="24" name="TextBox 23"/>
          <p:cNvSpPr txBox="1"/>
          <p:nvPr/>
        </p:nvSpPr>
        <p:spPr>
          <a:xfrm>
            <a:off x="1019175" y="3790950"/>
            <a:ext cx="5953125" cy="29527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آخر ملاحظة مسجلة</a:t>
            </a:r>
          </a:p>
        </p:txBody>
      </p:sp>
      <p:sp>
        <p:nvSpPr>
          <p:cNvPr id="25" name="TextBox 24"/>
          <p:cNvSpPr txBox="1"/>
          <p:nvPr/>
        </p:nvSpPr>
        <p:spPr>
          <a:xfrm>
            <a:off x="1047750" y="4229100"/>
            <a:ext cx="6343650" cy="39052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1" lang="ar-EG">
                <a:solidFill>
                  <a:srgbClr val="262626"/>
                </a:solidFill>
                <a:latin typeface="Manrope"/>
                <a:cs typeface="IBM Plex Sans Arabic Medium"/>
              </a:rPr>
              <a:t>مراجعة الفرع لسه مطلوبة.</a:t>
            </a:r>
          </a:p>
        </p:txBody>
      </p:sp>
      <p:sp>
        <p:nvSpPr>
          <p:cNvPr id="26" name="Oval 25"/>
          <p:cNvSpPr/>
          <p:nvPr/>
        </p:nvSpPr>
        <p:spPr>
          <a:xfrm>
            <a:off x="10991850" y="5391150"/>
            <a:ext cx="552450" cy="552450"/>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actor.png"/>
          <p:cNvPicPr>
            <a:picLocks noChangeAspect="1"/>
          </p:cNvPicPr>
          <p:nvPr/>
        </p:nvPicPr>
        <p:blipFill>
          <a:blip r:embed="rId8"/>
          <a:stretch>
            <a:fillRect/>
          </a:stretch>
        </p:blipFill>
        <p:spPr>
          <a:xfrm>
            <a:off x="11113389" y="5512689"/>
            <a:ext cx="309372" cy="309372"/>
          </a:xfrm>
          <a:prstGeom prst="rect">
            <a:avLst/>
          </a:prstGeom>
          <a:effectLst/>
        </p:spPr>
      </p:pic>
      <p:pic>
        <p:nvPicPr>
          <p:cNvPr id="28" name="Picture 27" descr="icon-speech.png"/>
          <p:cNvPicPr>
            <a:picLocks noChangeAspect="1"/>
          </p:cNvPicPr>
          <p:nvPr/>
        </p:nvPicPr>
        <p:blipFill>
          <a:blip r:embed="rId9"/>
          <a:stretch>
            <a:fillRect/>
          </a:stretch>
        </p:blipFill>
        <p:spPr>
          <a:xfrm>
            <a:off x="10487025" y="5467350"/>
            <a:ext cx="333375" cy="333375"/>
          </a:xfrm>
          <a:prstGeom prst="rect">
            <a:avLst/>
          </a:prstGeom>
          <a:effectLst/>
        </p:spPr>
      </p:pic>
      <p:sp>
        <p:nvSpPr>
          <p:cNvPr id="29" name="TextBox 28"/>
          <p:cNvSpPr txBox="1"/>
          <p:nvPr/>
        </p:nvSpPr>
        <p:spPr>
          <a:xfrm>
            <a:off x="752475" y="5324475"/>
            <a:ext cx="9525000" cy="419100"/>
          </a:xfrm>
          <a:prstGeom prst="rect">
            <a:avLst/>
          </a:prstGeom>
          <a:noFill/>
          <a:effectLst/>
        </p:spPr>
        <p:txBody>
          <a:bodyPr wrap="square" lIns="0" rIns="0" tIns="0" bIns="0" anchor="t">
            <a:spAutoFit/>
          </a:bodyPr>
          <a:lstStyle/>
          <a:p>
            <a:pPr algn="r" rtl="1">
              <a:lnSpc>
                <a:spcPts val="2352"/>
              </a:lnSpc>
              <a:spcBef>
                <a:spcPts val="0"/>
              </a:spcBef>
              <a:spcAft>
                <a:spcPts val="0"/>
              </a:spcAft>
            </a:pPr>
            <a:r>
              <a:rPr sz="2100" b="1" lang="ar-EG">
                <a:solidFill>
                  <a:srgbClr val="262626"/>
                </a:solidFill>
                <a:latin typeface="Manrope"/>
                <a:cs typeface="IBM Plex Sans Arabic Medium"/>
              </a:rPr>
              <a:t>نكمل الحديث من الملاحظة دي.</a:t>
            </a:r>
          </a:p>
        </p:txBody>
      </p:sp>
      <p:sp>
        <p:nvSpPr>
          <p:cNvPr id="30" name="TextBox 29"/>
          <p:cNvSpPr txBox="1"/>
          <p:nvPr/>
        </p:nvSpPr>
        <p:spPr>
          <a:xfrm>
            <a:off x="752475" y="5800725"/>
            <a:ext cx="9525000" cy="28575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68645E"/>
                </a:solidFill>
                <a:latin typeface="Manrope"/>
                <a:cs typeface="IBM Plex Sans Arabic Medium"/>
              </a:rPr>
              <a:t>الموظف بيقرأ المعلومات الموجودة؛ التذكرة لم تتغير.</a:t>
            </a:r>
          </a:p>
        </p:txBody>
      </p:sp>
    </p:spTree>
  </p:cSld>
  <p:clrMapOvr>
    <a:masterClrMapping/>
  </p:clrMapOvr>
  <p:transition spd="med" advClick="0" advTm="20474"/>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543"/>
                            </p:stCondLst>
                            <p:childTnLst>
                              <p:set>
                                <p:cBhvr>
                                  <p:cTn id="5" dur="1" fill="hold"/>
                                  <p:tgtEl>
                                    <p:spTgt spid="14"/>
                                  </p:tgtEl>
                                  <p:attrNameLst>
                                    <p:attrName>style.visibility</p:attrName>
                                  </p:attrNameLst>
                                </p:cBhvr>
                                <p:to>
                                  <p:strVal val="visible"/>
                                </p:to>
                              </p:set>
                              <p:animEffect transition="in" filter="fade">
                                <p:cBhvr>
                                  <p:cTn id="6" dur="350"/>
                                  <p:tgtEl>
                                    <p:spTgt spid="14"/>
                                  </p:tgtEl>
                                </p:cBhvr>
                              </p:animEffect>
                            </p:childTnLst>
                          </p:cTn>
                        </p:par>
                        <p:par>
                          <p:cTn id="7" presetID="10" presetClass="entr" presetSubtype="0" fill="hold" nodeType="withEffect">
                            <p:stCondLst>
                              <p:cond delay="1543"/>
                            </p:stCondLst>
                            <p:childTnLst>
                              <p:set>
                                <p:cBhvr>
                                  <p:cTn id="8" dur="1" fill="hold"/>
                                  <p:tgtEl>
                                    <p:spTgt spid="15"/>
                                  </p:tgtEl>
                                  <p:attrNameLst>
                                    <p:attrName>style.visibility</p:attrName>
                                  </p:attrNameLst>
                                </p:cBhvr>
                                <p:to>
                                  <p:strVal val="visible"/>
                                </p:to>
                              </p:set>
                              <p:animEffect transition="in" filter="fade">
                                <p:cBhvr>
                                  <p:cTn id="9" dur="350"/>
                                  <p:tgtEl>
                                    <p:spTgt spid="15"/>
                                  </p:tgtEl>
                                </p:cBhvr>
                              </p:animEffect>
                            </p:childTnLst>
                          </p:cTn>
                        </p:par>
                        <p:par>
                          <p:cTn id="10" presetID="10" presetClass="entr" presetSubtype="0" fill="hold" nodeType="withEffect">
                            <p:stCondLst>
                              <p:cond delay="1543"/>
                            </p:stCondLst>
                            <p:childTnLst>
                              <p:set>
                                <p:cBhvr>
                                  <p:cTn id="11" dur="1" fill="hold"/>
                                  <p:tgtEl>
                                    <p:spTgt spid="16"/>
                                  </p:tgtEl>
                                  <p:attrNameLst>
                                    <p:attrName>style.visibility</p:attrName>
                                  </p:attrNameLst>
                                </p:cBhvr>
                                <p:to>
                                  <p:strVal val="visible"/>
                                </p:to>
                              </p:set>
                              <p:animEffect transition="in" filter="fade">
                                <p:cBhvr>
                                  <p:cTn id="12" dur="350"/>
                                  <p:tgtEl>
                                    <p:spTgt spid="16"/>
                                  </p:tgtEl>
                                </p:cBhvr>
                              </p:animEffect>
                            </p:childTnLst>
                          </p:cTn>
                        </p:par>
                        <p:par>
                          <p:cTn id="13" presetID="10" presetClass="entr" presetSubtype="0" fill="hold" nodeType="withEffect">
                            <p:stCondLst>
                              <p:cond delay="1543"/>
                            </p:stCondLst>
                            <p:childTnLst>
                              <p:set>
                                <p:cBhvr>
                                  <p:cTn id="14" dur="1" fill="hold"/>
                                  <p:tgtEl>
                                    <p:spTgt spid="18"/>
                                  </p:tgtEl>
                                  <p:attrNameLst>
                                    <p:attrName>style.visibility</p:attrName>
                                  </p:attrNameLst>
                                </p:cBhvr>
                                <p:to>
                                  <p:strVal val="visible"/>
                                </p:to>
                              </p:set>
                              <p:animEffect transition="in" filter="fade">
                                <p:cBhvr>
                                  <p:cTn id="15" dur="350"/>
                                  <p:tgtEl>
                                    <p:spTgt spid="18"/>
                                  </p:tgtEl>
                                </p:cBhvr>
                              </p:animEffect>
                            </p:childTnLst>
                          </p:cTn>
                        </p:par>
                        <p:par>
                          <p:cTn id="16" presetID="10" presetClass="entr" presetSubtype="0" fill="hold" nodeType="withEffect">
                            <p:stCondLst>
                              <p:cond delay="1543"/>
                            </p:stCondLst>
                            <p:childTnLst>
                              <p:set>
                                <p:cBhvr>
                                  <p:cTn id="17" dur="1" fill="hold"/>
                                  <p:tgtEl>
                                    <p:spTgt spid="19"/>
                                  </p:tgtEl>
                                  <p:attrNameLst>
                                    <p:attrName>style.visibility</p:attrName>
                                  </p:attrNameLst>
                                </p:cBhvr>
                                <p:to>
                                  <p:strVal val="visible"/>
                                </p:to>
                              </p:set>
                              <p:animEffect transition="in" filter="fade">
                                <p:cBhvr>
                                  <p:cTn id="18" dur="350"/>
                                  <p:tgtEl>
                                    <p:spTgt spid="19"/>
                                  </p:tgtEl>
                                </p:cBhvr>
                              </p:animEffect>
                            </p:childTnLst>
                          </p:cTn>
                        </p:par>
                        <p:par>
                          <p:cTn id="19" presetID="10" presetClass="entr" presetSubtype="0" fill="hold" nodeType="withEffect">
                            <p:stCondLst>
                              <p:cond delay="5874"/>
                            </p:stCondLst>
                            <p:childTnLst>
                              <p:set>
                                <p:cBhvr>
                                  <p:cTn id="20" dur="1" fill="hold"/>
                                  <p:tgtEl>
                                    <p:spTgt spid="20"/>
                                  </p:tgtEl>
                                  <p:attrNameLst>
                                    <p:attrName>style.visibility</p:attrName>
                                  </p:attrNameLst>
                                </p:cBhvr>
                                <p:to>
                                  <p:strVal val="visible"/>
                                </p:to>
                              </p:set>
                              <p:animEffect transition="in" filter="fade">
                                <p:cBhvr>
                                  <p:cTn id="21" dur="350"/>
                                  <p:tgtEl>
                                    <p:spTgt spid="20"/>
                                  </p:tgtEl>
                                </p:cBhvr>
                              </p:animEffect>
                            </p:childTnLst>
                          </p:cTn>
                        </p:par>
                        <p:par>
                          <p:cTn id="22" presetID="10" presetClass="entr" presetSubtype="0" fill="hold" nodeType="withEffect">
                            <p:stCondLst>
                              <p:cond delay="5874"/>
                            </p:stCondLst>
                            <p:childTnLst>
                              <p:set>
                                <p:cBhvr>
                                  <p:cTn id="23" dur="1" fill="hold"/>
                                  <p:tgtEl>
                                    <p:spTgt spid="21"/>
                                  </p:tgtEl>
                                  <p:attrNameLst>
                                    <p:attrName>style.visibility</p:attrName>
                                  </p:attrNameLst>
                                </p:cBhvr>
                                <p:to>
                                  <p:strVal val="visible"/>
                                </p:to>
                              </p:set>
                              <p:animEffect transition="in" filter="fade">
                                <p:cBhvr>
                                  <p:cTn id="24" dur="350"/>
                                  <p:tgtEl>
                                    <p:spTgt spid="21"/>
                                  </p:tgtEl>
                                </p:cBhvr>
                              </p:animEffect>
                            </p:childTnLst>
                          </p:cTn>
                        </p:par>
                        <p:par>
                          <p:cTn id="25" presetID="10" presetClass="entr" presetSubtype="0" fill="hold" nodeType="withEffect">
                            <p:stCondLst>
                              <p:cond delay="8891"/>
                            </p:stCondLst>
                            <p:childTnLst>
                              <p:set>
                                <p:cBhvr>
                                  <p:cTn id="26" dur="1" fill="hold"/>
                                  <p:tgtEl>
                                    <p:spTgt spid="22"/>
                                  </p:tgtEl>
                                  <p:attrNameLst>
                                    <p:attrName>style.visibility</p:attrName>
                                  </p:attrNameLst>
                                </p:cBhvr>
                                <p:to>
                                  <p:strVal val="visible"/>
                                </p:to>
                              </p:set>
                              <p:animEffect transition="in" filter="fade">
                                <p:cBhvr>
                                  <p:cTn id="27" dur="350"/>
                                  <p:tgtEl>
                                    <p:spTgt spid="22"/>
                                  </p:tgtEl>
                                </p:cBhvr>
                              </p:animEffect>
                            </p:childTnLst>
                          </p:cTn>
                        </p:par>
                        <p:par>
                          <p:cTn id="28" presetID="10" presetClass="entr" presetSubtype="0" fill="hold" nodeType="withEffect">
                            <p:stCondLst>
                              <p:cond delay="8891"/>
                            </p:stCondLst>
                            <p:childTnLst>
                              <p:set>
                                <p:cBhvr>
                                  <p:cTn id="29" dur="1" fill="hold"/>
                                  <p:tgtEl>
                                    <p:spTgt spid="23"/>
                                  </p:tgtEl>
                                  <p:attrNameLst>
                                    <p:attrName>style.visibility</p:attrName>
                                  </p:attrNameLst>
                                </p:cBhvr>
                                <p:to>
                                  <p:strVal val="visible"/>
                                </p:to>
                              </p:set>
                              <p:animEffect transition="in" filter="fade">
                                <p:cBhvr>
                                  <p:cTn id="30" dur="350"/>
                                  <p:tgtEl>
                                    <p:spTgt spid="23"/>
                                  </p:tgtEl>
                                </p:cBhvr>
                              </p:animEffect>
                            </p:childTnLst>
                          </p:cTn>
                        </p:par>
                        <p:par>
                          <p:cTn id="31" presetID="10" presetClass="entr" presetSubtype="0" fill="hold" nodeType="withEffect">
                            <p:stCondLst>
                              <p:cond delay="8891"/>
                            </p:stCondLst>
                            <p:childTnLst>
                              <p:set>
                                <p:cBhvr>
                                  <p:cTn id="32" dur="1" fill="hold"/>
                                  <p:tgtEl>
                                    <p:spTgt spid="24"/>
                                  </p:tgtEl>
                                  <p:attrNameLst>
                                    <p:attrName>style.visibility</p:attrName>
                                  </p:attrNameLst>
                                </p:cBhvr>
                                <p:to>
                                  <p:strVal val="visible"/>
                                </p:to>
                              </p:set>
                              <p:animEffect transition="in" filter="fade">
                                <p:cBhvr>
                                  <p:cTn id="33" dur="350"/>
                                  <p:tgtEl>
                                    <p:spTgt spid="24"/>
                                  </p:tgtEl>
                                </p:cBhvr>
                              </p:animEffect>
                            </p:childTnLst>
                          </p:cTn>
                        </p:par>
                        <p:par>
                          <p:cTn id="34" presetID="10" presetClass="entr" presetSubtype="0" fill="hold" nodeType="withEffect">
                            <p:stCondLst>
                              <p:cond delay="8891"/>
                            </p:stCondLst>
                            <p:childTnLst>
                              <p:set>
                                <p:cBhvr>
                                  <p:cTn id="35" dur="1" fill="hold"/>
                                  <p:tgtEl>
                                    <p:spTgt spid="25"/>
                                  </p:tgtEl>
                                  <p:attrNameLst>
                                    <p:attrName>style.visibility</p:attrName>
                                  </p:attrNameLst>
                                </p:cBhvr>
                                <p:to>
                                  <p:strVal val="visible"/>
                                </p:to>
                              </p:set>
                              <p:animEffect transition="in" filter="fade">
                                <p:cBhvr>
                                  <p:cTn id="36" dur="350"/>
                                  <p:tgtEl>
                                    <p:spTgt spid="25"/>
                                  </p:tgtEl>
                                </p:cBhvr>
                              </p:animEffect>
                            </p:childTnLst>
                          </p:cTn>
                        </p:par>
                        <p:par>
                          <p:cTn id="37" presetID="10" presetClass="entr" presetSubtype="0" fill="hold" nodeType="withEffect">
                            <p:stCondLst>
                              <p:cond delay="15870"/>
                            </p:stCondLst>
                            <p:childTnLst>
                              <p:set>
                                <p:cBhvr>
                                  <p:cTn id="38" dur="1" fill="hold"/>
                                  <p:tgtEl>
                                    <p:spTgt spid="26"/>
                                  </p:tgtEl>
                                  <p:attrNameLst>
                                    <p:attrName>style.visibility</p:attrName>
                                  </p:attrNameLst>
                                </p:cBhvr>
                                <p:to>
                                  <p:strVal val="visible"/>
                                </p:to>
                              </p:set>
                              <p:animEffect transition="in" filter="fade">
                                <p:cBhvr>
                                  <p:cTn id="39" dur="350"/>
                                  <p:tgtEl>
                                    <p:spTgt spid="26"/>
                                  </p:tgtEl>
                                </p:cBhvr>
                              </p:animEffect>
                            </p:childTnLst>
                          </p:cTn>
                        </p:par>
                        <p:par>
                          <p:cTn id="40" presetID="10" presetClass="entr" presetSubtype="0" fill="hold" nodeType="withEffect">
                            <p:stCondLst>
                              <p:cond delay="15870"/>
                            </p:stCondLst>
                            <p:childTnLst>
                              <p:set>
                                <p:cBhvr>
                                  <p:cTn id="41" dur="1" fill="hold"/>
                                  <p:tgtEl>
                                    <p:spTgt spid="27"/>
                                  </p:tgtEl>
                                  <p:attrNameLst>
                                    <p:attrName>style.visibility</p:attrName>
                                  </p:attrNameLst>
                                </p:cBhvr>
                                <p:to>
                                  <p:strVal val="visible"/>
                                </p:to>
                              </p:set>
                              <p:animEffect transition="in" filter="fade">
                                <p:cBhvr>
                                  <p:cTn id="42" dur="350"/>
                                  <p:tgtEl>
                                    <p:spTgt spid="27"/>
                                  </p:tgtEl>
                                </p:cBhvr>
                              </p:animEffect>
                            </p:childTnLst>
                          </p:cTn>
                        </p:par>
                        <p:par>
                          <p:cTn id="43" presetID="10" presetClass="entr" presetSubtype="0" fill="hold" nodeType="withEffect">
                            <p:stCondLst>
                              <p:cond delay="15870"/>
                            </p:stCondLst>
                            <p:childTnLst>
                              <p:set>
                                <p:cBhvr>
                                  <p:cTn id="44" dur="1" fill="hold"/>
                                  <p:tgtEl>
                                    <p:spTgt spid="28"/>
                                  </p:tgtEl>
                                  <p:attrNameLst>
                                    <p:attrName>style.visibility</p:attrName>
                                  </p:attrNameLst>
                                </p:cBhvr>
                                <p:to>
                                  <p:strVal val="visible"/>
                                </p:to>
                              </p:set>
                              <p:animEffect transition="in" filter="fade">
                                <p:cBhvr>
                                  <p:cTn id="45" dur="350"/>
                                  <p:tgtEl>
                                    <p:spTgt spid="28"/>
                                  </p:tgtEl>
                                </p:cBhvr>
                              </p:animEffect>
                            </p:childTnLst>
                          </p:cTn>
                        </p:par>
                        <p:par>
                          <p:cTn id="46" presetID="10" presetClass="entr" presetSubtype="0" fill="hold" nodeType="withEffect">
                            <p:stCondLst>
                              <p:cond delay="15870"/>
                            </p:stCondLst>
                            <p:childTnLst>
                              <p:set>
                                <p:cBhvr>
                                  <p:cTn id="47" dur="1" fill="hold"/>
                                  <p:tgtEl>
                                    <p:spTgt spid="29"/>
                                  </p:tgtEl>
                                  <p:attrNameLst>
                                    <p:attrName>style.visibility</p:attrName>
                                  </p:attrNameLst>
                                </p:cBhvr>
                                <p:to>
                                  <p:strVal val="visible"/>
                                </p:to>
                              </p:set>
                              <p:animEffect transition="in" filter="fade">
                                <p:cBhvr>
                                  <p:cTn id="48" dur="350"/>
                                  <p:tgtEl>
                                    <p:spTgt spid="29"/>
                                  </p:tgtEl>
                                </p:cBhvr>
                              </p:animEffect>
                            </p:childTnLst>
                          </p:cTn>
                        </p:par>
                        <p:par>
                          <p:cTn id="49" presetID="10" presetClass="entr" presetSubtype="0" fill="hold" nodeType="withEffect">
                            <p:stCondLst>
                              <p:cond delay="15870"/>
                            </p:stCondLst>
                            <p:childTnLst>
                              <p:set>
                                <p:cBhvr>
                                  <p:cTn id="50" dur="1" fill="hold"/>
                                  <p:tgtEl>
                                    <p:spTgt spid="30"/>
                                  </p:tgtEl>
                                  <p:attrNameLst>
                                    <p:attrName>style.visibility</p:attrName>
                                  </p:attrNameLst>
                                </p:cBhvr>
                                <p:to>
                                  <p:strVal val="visible"/>
                                </p:to>
                              </p:set>
                              <p:animEffect transition="in" filter="fade">
                                <p:cBhvr>
                                  <p:cTn id="51" dur="350"/>
                                  <p:tgtEl>
                                    <p:spTgt spid="3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105900" y="276225"/>
            <a:ext cx="2095500"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76225"/>
            <a:ext cx="516255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الحالي والمقترح جنب بعض</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نفس العميل. نفس التذكرة. وبداية أوضح.</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8645E"/>
                </a:solidFill>
                <a:latin typeface="Manrope"/>
                <a:cs typeface="IBM Plex Sans Arabic Medium"/>
              </a:rPr>
              <a:t>كونكريت · تعاون مقترح · واجهات توضيحية وسجلات خيالية</a:t>
            </a:r>
          </a:p>
        </p:txBody>
      </p:sp>
      <p:sp>
        <p:nvSpPr>
          <p:cNvPr id="8" name="TextBox 7"/>
          <p:cNvSpPr txBox="1"/>
          <p:nvPr/>
        </p:nvSpPr>
        <p:spPr>
          <a:xfrm>
            <a:off x="457200" y="6505575"/>
            <a:ext cx="781050" cy="238125"/>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8645E"/>
                </a:solidFill>
                <a:latin typeface="Manrope"/>
                <a:cs typeface="IBM Plex Sans Arabic Medium"/>
              </a:rPr>
              <a:t>05 / 07</a:t>
            </a:r>
          </a:p>
        </p:txBody>
      </p:sp>
      <p:sp>
        <p:nvSpPr>
          <p:cNvPr id="9" name="TextBox 8"/>
          <p:cNvSpPr txBox="1"/>
          <p:nvPr/>
        </p:nvSpPr>
        <p:spPr>
          <a:xfrm>
            <a:off x="6400800" y="1695450"/>
            <a:ext cx="5334000" cy="390525"/>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68645E"/>
                </a:solidFill>
                <a:latin typeface="Manrope"/>
                <a:cs typeface="IBM Plex Sans Arabic Medium"/>
              </a:rPr>
              <a:t>الحالي</a:t>
            </a:r>
          </a:p>
        </p:txBody>
      </p:sp>
      <p:sp>
        <p:nvSpPr>
          <p:cNvPr id="10" name="Rounded Rectangle 9"/>
          <p:cNvSpPr/>
          <p:nvPr/>
        </p:nvSpPr>
        <p:spPr>
          <a:xfrm>
            <a:off x="6400800" y="2286000"/>
            <a:ext cx="5334000" cy="3609975"/>
          </a:xfrm>
          <a:prstGeom prst="roundRect">
            <a:avLst>
              <a:gd name="adj" fmla="val 316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315575" y="2506312"/>
            <a:ext cx="1209675" cy="235651"/>
          </a:xfrm>
          <a:prstGeom prst="rect">
            <a:avLst/>
          </a:prstGeom>
          <a:effectLst/>
        </p:spPr>
      </p:pic>
      <p:pic>
        <p:nvPicPr>
          <p:cNvPr id="12" name="Picture 11" descr="icon-call.png"/>
          <p:cNvPicPr>
            <a:picLocks noChangeAspect="1"/>
          </p:cNvPicPr>
          <p:nvPr/>
        </p:nvPicPr>
        <p:blipFill>
          <a:blip r:embed="rId4"/>
          <a:stretch>
            <a:fillRect/>
          </a:stretch>
        </p:blipFill>
        <p:spPr>
          <a:xfrm>
            <a:off x="11182350" y="3114675"/>
            <a:ext cx="342900" cy="342900"/>
          </a:xfrm>
          <a:prstGeom prst="rect">
            <a:avLst/>
          </a:prstGeom>
          <a:effectLst/>
        </p:spPr>
      </p:pic>
      <p:sp>
        <p:nvSpPr>
          <p:cNvPr id="13" name="TextBox 12"/>
          <p:cNvSpPr txBox="1"/>
          <p:nvPr/>
        </p:nvSpPr>
        <p:spPr>
          <a:xfrm>
            <a:off x="6772275" y="3143250"/>
            <a:ext cx="4191000" cy="400050"/>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+20 ••• 410</a:t>
            </a:r>
          </a:p>
        </p:txBody>
      </p:sp>
      <p:sp>
        <p:nvSpPr>
          <p:cNvPr id="14" name="Rounded Rectangle 13"/>
          <p:cNvSpPr/>
          <p:nvPr/>
        </p:nvSpPr>
        <p:spPr>
          <a:xfrm>
            <a:off x="6591300" y="3771900"/>
            <a:ext cx="4438650" cy="1943100"/>
          </a:xfrm>
          <a:prstGeom prst="roundRect">
            <a:avLst>
              <a:gd name="adj" fmla="val 4901"/>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zoho.png"/>
          <p:cNvPicPr>
            <a:picLocks noChangeAspect="1"/>
          </p:cNvPicPr>
          <p:nvPr/>
        </p:nvPicPr>
        <p:blipFill>
          <a:blip r:embed="rId5"/>
          <a:stretch>
            <a:fillRect/>
          </a:stretch>
        </p:blipFill>
        <p:spPr>
          <a:xfrm>
            <a:off x="10222663" y="3924300"/>
            <a:ext cx="576349" cy="247650"/>
          </a:xfrm>
          <a:prstGeom prst="rect">
            <a:avLst/>
          </a:prstGeom>
          <a:effectLst/>
        </p:spPr>
      </p:pic>
      <p:sp>
        <p:nvSpPr>
          <p:cNvPr id="16" name="Rounded Rectangle 15"/>
          <p:cNvSpPr/>
          <p:nvPr/>
        </p:nvSpPr>
        <p:spPr>
          <a:xfrm>
            <a:off x="6772275" y="4314825"/>
            <a:ext cx="4076700" cy="533400"/>
          </a:xfrm>
          <a:prstGeom prst="roundRect">
            <a:avLst>
              <a:gd name="adj" fmla="val 12000"/>
            </a:avLst>
          </a:prstGeom>
          <a:solidFill>
            <a:srgbClr val="FFFFFF"/>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search.png"/>
          <p:cNvPicPr>
            <a:picLocks noChangeAspect="1"/>
          </p:cNvPicPr>
          <p:nvPr/>
        </p:nvPicPr>
        <p:blipFill>
          <a:blip r:embed="rId6"/>
          <a:stretch>
            <a:fillRect/>
          </a:stretch>
        </p:blipFill>
        <p:spPr>
          <a:xfrm>
            <a:off x="10477500" y="4457700"/>
            <a:ext cx="228600" cy="228600"/>
          </a:xfrm>
          <a:prstGeom prst="rect">
            <a:avLst/>
          </a:prstGeom>
          <a:effectLst/>
        </p:spPr>
      </p:pic>
      <p:sp>
        <p:nvSpPr>
          <p:cNvPr id="18" name="TextBox 17"/>
          <p:cNvSpPr txBox="1"/>
          <p:nvPr/>
        </p:nvSpPr>
        <p:spPr>
          <a:xfrm>
            <a:off x="7324725" y="4410075"/>
            <a:ext cx="2981325" cy="361950"/>
          </a:xfrm>
          <a:prstGeom prst="rect">
            <a:avLst/>
          </a:prstGeom>
          <a:noFill/>
          <a:effectLst/>
        </p:spPr>
        <p:txBody>
          <a:bodyPr wrap="square" lIns="0" rIns="0" tIns="0" bIns="0" anchor="t">
            <a:spAutoFit/>
          </a:bodyPr>
          <a:lstStyle/>
          <a:p>
            <a:pPr algn="r" rtl="0">
              <a:lnSpc>
                <a:spcPts val="2184"/>
              </a:lnSpc>
              <a:spcBef>
                <a:spcPts val="0"/>
              </a:spcBef>
              <a:spcAft>
                <a:spcPts val="0"/>
              </a:spcAft>
            </a:pPr>
            <a:r>
              <a:rPr sz="1950" b="0" lang="ar-EG">
                <a:solidFill>
                  <a:srgbClr val="262626"/>
                </a:solidFill>
                <a:latin typeface="Manrope"/>
                <a:cs typeface="IBM Plex Sans Arabic Medium"/>
              </a:rPr>
              <a:t>+20 ••• 410</a:t>
            </a:r>
          </a:p>
        </p:txBody>
      </p:sp>
      <p:pic>
        <p:nvPicPr>
          <p:cNvPr id="19" name="Picture 18" descr="icon-pointer.png"/>
          <p:cNvPicPr>
            <a:picLocks noChangeAspect="1"/>
          </p:cNvPicPr>
          <p:nvPr/>
        </p:nvPicPr>
        <p:blipFill>
          <a:blip r:embed="rId7"/>
          <a:stretch>
            <a:fillRect/>
          </a:stretch>
        </p:blipFill>
        <p:spPr>
          <a:xfrm>
            <a:off x="6991350" y="4629150"/>
            <a:ext cx="342900" cy="342900"/>
          </a:xfrm>
          <a:prstGeom prst="rect">
            <a:avLst/>
          </a:prstGeom>
          <a:effectLst/>
        </p:spPr>
      </p:pic>
      <p:sp>
        <p:nvSpPr>
          <p:cNvPr id="20" name="TextBox 19"/>
          <p:cNvSpPr txBox="1"/>
          <p:nvPr/>
        </p:nvSpPr>
        <p:spPr>
          <a:xfrm>
            <a:off x="6848475" y="5019675"/>
            <a:ext cx="4000500"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62626"/>
                </a:solidFill>
                <a:latin typeface="Manrope"/>
                <a:cs typeface="IBM Plex Sans Arabic Medium"/>
              </a:rPr>
              <a:t>T101 · متابعة استبدال</a:t>
            </a:r>
          </a:p>
        </p:txBody>
      </p:sp>
      <p:sp>
        <p:nvSpPr>
          <p:cNvPr id="21" name="TextBox 20"/>
          <p:cNvSpPr txBox="1"/>
          <p:nvPr/>
        </p:nvSpPr>
        <p:spPr>
          <a:xfrm>
            <a:off x="6848475" y="5400675"/>
            <a:ext cx="4000500" cy="2667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ملاحظة: بانتظار مراجعة الفرع.</a:t>
            </a:r>
          </a:p>
        </p:txBody>
      </p:sp>
      <p:sp>
        <p:nvSpPr>
          <p:cNvPr id="22" name="TextBox 21"/>
          <p:cNvSpPr txBox="1"/>
          <p:nvPr/>
        </p:nvSpPr>
        <p:spPr>
          <a:xfrm>
            <a:off x="457200" y="1695450"/>
            <a:ext cx="5334000" cy="390525"/>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49654E"/>
                </a:solidFill>
                <a:latin typeface="Manrope"/>
                <a:cs typeface="IBM Plex Sans Arabic Medium"/>
              </a:rPr>
              <a:t>المقترح</a:t>
            </a:r>
          </a:p>
        </p:txBody>
      </p:sp>
      <p:sp>
        <p:nvSpPr>
          <p:cNvPr id="23" name="Rounded Rectangle 22"/>
          <p:cNvSpPr/>
          <p:nvPr/>
        </p:nvSpPr>
        <p:spPr>
          <a:xfrm>
            <a:off x="457200" y="2286000"/>
            <a:ext cx="5334000" cy="3609975"/>
          </a:xfrm>
          <a:prstGeom prst="roundRect">
            <a:avLst>
              <a:gd name="adj" fmla="val 316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genesys.png"/>
          <p:cNvPicPr>
            <a:picLocks noChangeAspect="1"/>
          </p:cNvPicPr>
          <p:nvPr/>
        </p:nvPicPr>
        <p:blipFill>
          <a:blip r:embed="rId3"/>
          <a:stretch>
            <a:fillRect/>
          </a:stretch>
        </p:blipFill>
        <p:spPr>
          <a:xfrm>
            <a:off x="4371975" y="2506312"/>
            <a:ext cx="1209675" cy="235651"/>
          </a:xfrm>
          <a:prstGeom prst="rect">
            <a:avLst/>
          </a:prstGeom>
          <a:effectLst/>
        </p:spPr>
      </p:pic>
      <p:pic>
        <p:nvPicPr>
          <p:cNvPr id="25" name="Picture 24" descr="icon-call.png"/>
          <p:cNvPicPr>
            <a:picLocks noChangeAspect="1"/>
          </p:cNvPicPr>
          <p:nvPr/>
        </p:nvPicPr>
        <p:blipFill>
          <a:blip r:embed="rId4"/>
          <a:stretch>
            <a:fillRect/>
          </a:stretch>
        </p:blipFill>
        <p:spPr>
          <a:xfrm>
            <a:off x="5238750" y="3114675"/>
            <a:ext cx="342900" cy="342900"/>
          </a:xfrm>
          <a:prstGeom prst="rect">
            <a:avLst/>
          </a:prstGeom>
          <a:effectLst/>
        </p:spPr>
      </p:pic>
      <p:sp>
        <p:nvSpPr>
          <p:cNvPr id="26" name="TextBox 25"/>
          <p:cNvSpPr txBox="1"/>
          <p:nvPr/>
        </p:nvSpPr>
        <p:spPr>
          <a:xfrm>
            <a:off x="828675" y="3143250"/>
            <a:ext cx="4191000" cy="400050"/>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+20 ••• 410</a:t>
            </a:r>
          </a:p>
        </p:txBody>
      </p:sp>
      <p:cxnSp>
        <p:nvCxnSpPr>
          <p:cNvPr id="27" name="Connector 26"/>
          <p:cNvCxnSpPr/>
          <p:nvPr/>
        </p:nvCxnSpPr>
        <p:spPr>
          <a:xfrm flipH="1">
            <a:off x="666750" y="3790950"/>
            <a:ext cx="49149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28" name="Picture 27" descr="zoho.png"/>
          <p:cNvPicPr>
            <a:picLocks noChangeAspect="1"/>
          </p:cNvPicPr>
          <p:nvPr/>
        </p:nvPicPr>
        <p:blipFill>
          <a:blip r:embed="rId5"/>
          <a:stretch>
            <a:fillRect/>
          </a:stretch>
        </p:blipFill>
        <p:spPr>
          <a:xfrm>
            <a:off x="4950575" y="3971925"/>
            <a:ext cx="576349" cy="247650"/>
          </a:xfrm>
          <a:prstGeom prst="rect">
            <a:avLst/>
          </a:prstGeom>
          <a:effectLst/>
        </p:spPr>
      </p:pic>
      <p:sp>
        <p:nvSpPr>
          <p:cNvPr id="29" name="TextBox 28"/>
          <p:cNvSpPr txBox="1"/>
          <p:nvPr/>
        </p:nvSpPr>
        <p:spPr>
          <a:xfrm>
            <a:off x="666750" y="3933825"/>
            <a:ext cx="4067175" cy="352425"/>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62626"/>
                </a:solidFill>
                <a:latin typeface="Manrope"/>
                <a:cs typeface="IBM Plex Sans Arabic Medium"/>
              </a:rPr>
              <a:t>T101 · متابعة استبدال</a:t>
            </a:r>
          </a:p>
        </p:txBody>
      </p:sp>
      <p:sp>
        <p:nvSpPr>
          <p:cNvPr id="30" name="Rounded Rectangle 29"/>
          <p:cNvSpPr/>
          <p:nvPr/>
        </p:nvSpPr>
        <p:spPr>
          <a:xfrm>
            <a:off x="666750" y="4495800"/>
            <a:ext cx="4914900" cy="1114425"/>
          </a:xfrm>
          <a:prstGeom prst="roundRect">
            <a:avLst>
              <a:gd name="adj" fmla="val 6837"/>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file.png"/>
          <p:cNvPicPr>
            <a:picLocks noChangeAspect="1"/>
          </p:cNvPicPr>
          <p:nvPr/>
        </p:nvPicPr>
        <p:blipFill>
          <a:blip r:embed="rId8"/>
          <a:stretch>
            <a:fillRect/>
          </a:stretch>
        </p:blipFill>
        <p:spPr>
          <a:xfrm>
            <a:off x="5153025" y="4657725"/>
            <a:ext cx="247650" cy="247650"/>
          </a:xfrm>
          <a:prstGeom prst="rect">
            <a:avLst/>
          </a:prstGeom>
          <a:effectLst/>
        </p:spPr>
      </p:pic>
      <p:sp>
        <p:nvSpPr>
          <p:cNvPr id="32" name="TextBox 31"/>
          <p:cNvSpPr txBox="1"/>
          <p:nvPr/>
        </p:nvSpPr>
        <p:spPr>
          <a:xfrm>
            <a:off x="1123950" y="4629150"/>
            <a:ext cx="3876675"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آخر ملاحظة مسجلة</a:t>
            </a:r>
          </a:p>
        </p:txBody>
      </p:sp>
      <p:sp>
        <p:nvSpPr>
          <p:cNvPr id="33" name="TextBox 32"/>
          <p:cNvSpPr txBox="1"/>
          <p:nvPr/>
        </p:nvSpPr>
        <p:spPr>
          <a:xfrm>
            <a:off x="933450" y="5095875"/>
            <a:ext cx="4467225" cy="361950"/>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62626"/>
                </a:solidFill>
                <a:latin typeface="Manrope"/>
                <a:cs typeface="IBM Plex Sans Arabic Medium"/>
              </a:rPr>
              <a:t>بانتظار مراجعة الفرع.</a:t>
            </a:r>
          </a:p>
        </p:txBody>
      </p:sp>
      <p:sp>
        <p:nvSpPr>
          <p:cNvPr id="34" name="Rounded Rectangle 33"/>
          <p:cNvSpPr/>
          <p:nvPr/>
        </p:nvSpPr>
        <p:spPr>
          <a:xfrm>
            <a:off x="657225" y="4486275"/>
            <a:ext cx="4933950" cy="1133475"/>
          </a:xfrm>
          <a:prstGeom prst="roundRect">
            <a:avLst>
              <a:gd name="adj" fmla="val 10000"/>
            </a:avLst>
          </a:prstGeom>
          <a:noFill/>
          <a:ln w="19050">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57200" y="6048375"/>
            <a:ext cx="11277600" cy="295275"/>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965318"/>
                </a:solidFill>
                <a:latin typeface="Manrope"/>
                <a:cs typeface="IBM Plex Sans Arabic Medium"/>
              </a:rPr>
              <a:t>السجلات الموجودة، متاحة وقت المكالمة.</a:t>
            </a:r>
          </a:p>
        </p:txBody>
      </p:sp>
    </p:spTree>
  </p:cSld>
  <p:clrMapOvr>
    <a:masterClrMapping/>
  </p:clrMapOvr>
  <p:transition spd="med" advClick="0" advTm="21143"/>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5086"/>
                            </p:stCondLst>
                            <p:childTnLst>
                              <p:set>
                                <p:cBhvr>
                                  <p:cTn id="5" dur="1" fill="hold"/>
                                  <p:tgtEl>
                                    <p:spTgt spid="16"/>
                                  </p:tgtEl>
                                  <p:attrNameLst>
                                    <p:attrName>style.visibility</p:attrName>
                                  </p:attrNameLst>
                                </p:cBhvr>
                                <p:to>
                                  <p:strVal val="visible"/>
                                </p:to>
                              </p:set>
                              <p:animEffect transition="in" filter="fade">
                                <p:cBhvr>
                                  <p:cTn id="6" dur="350"/>
                                  <p:tgtEl>
                                    <p:spTgt spid="16"/>
                                  </p:tgtEl>
                                </p:cBhvr>
                              </p:animEffect>
                            </p:childTnLst>
                          </p:cTn>
                        </p:par>
                        <p:par>
                          <p:cTn id="7" presetID="10" presetClass="entr" presetSubtype="0" fill="hold" nodeType="withEffect">
                            <p:stCondLst>
                              <p:cond delay="5086"/>
                            </p:stCondLst>
                            <p:childTnLst>
                              <p:set>
                                <p:cBhvr>
                                  <p:cTn id="8" dur="1" fill="hold"/>
                                  <p:tgtEl>
                                    <p:spTgt spid="17"/>
                                  </p:tgtEl>
                                  <p:attrNameLst>
                                    <p:attrName>style.visibility</p:attrName>
                                  </p:attrNameLst>
                                </p:cBhvr>
                                <p:to>
                                  <p:strVal val="visible"/>
                                </p:to>
                              </p:set>
                              <p:animEffect transition="in" filter="fade">
                                <p:cBhvr>
                                  <p:cTn id="9" dur="350"/>
                                  <p:tgtEl>
                                    <p:spTgt spid="17"/>
                                  </p:tgtEl>
                                </p:cBhvr>
                              </p:animEffect>
                            </p:childTnLst>
                          </p:cTn>
                        </p:par>
                        <p:par>
                          <p:cTn id="10" presetID="10" presetClass="entr" presetSubtype="0" fill="hold" nodeType="withEffect">
                            <p:stCondLst>
                              <p:cond delay="5086"/>
                            </p:stCondLst>
                            <p:childTnLst>
                              <p:set>
                                <p:cBhvr>
                                  <p:cTn id="11" dur="1" fill="hold"/>
                                  <p:tgtEl>
                                    <p:spTgt spid="18"/>
                                  </p:tgtEl>
                                  <p:attrNameLst>
                                    <p:attrName>style.visibility</p:attrName>
                                  </p:attrNameLst>
                                </p:cBhvr>
                                <p:to>
                                  <p:strVal val="visible"/>
                                </p:to>
                              </p:set>
                              <p:animEffect transition="in" filter="fade">
                                <p:cBhvr>
                                  <p:cTn id="12" dur="350"/>
                                  <p:tgtEl>
                                    <p:spTgt spid="18"/>
                                  </p:tgtEl>
                                </p:cBhvr>
                              </p:animEffect>
                            </p:childTnLst>
                          </p:cTn>
                        </p:par>
                        <p:par>
                          <p:cTn id="13" presetID="10" presetClass="entr" presetSubtype="0" fill="hold" nodeType="withEffect">
                            <p:stCondLst>
                              <p:cond delay="5086"/>
                            </p:stCondLst>
                            <p:childTnLst>
                              <p:set>
                                <p:cBhvr>
                                  <p:cTn id="14" dur="1" fill="hold"/>
                                  <p:tgtEl>
                                    <p:spTgt spid="19"/>
                                  </p:tgtEl>
                                  <p:attrNameLst>
                                    <p:attrName>style.visibility</p:attrName>
                                  </p:attrNameLst>
                                </p:cBhvr>
                                <p:to>
                                  <p:strVal val="visible"/>
                                </p:to>
                              </p:set>
                              <p:animEffect transition="in" filter="fade">
                                <p:cBhvr>
                                  <p:cTn id="15" dur="350"/>
                                  <p:tgtEl>
                                    <p:spTgt spid="19"/>
                                  </p:tgtEl>
                                </p:cBhvr>
                              </p:animEffect>
                            </p:childTnLst>
                          </p:cTn>
                        </p:par>
                        <p:par>
                          <p:cTn id="16" presetID="10" presetClass="entr" presetSubtype="0" fill="hold" nodeType="withEffect">
                            <p:stCondLst>
                              <p:cond delay="5086"/>
                            </p:stCondLst>
                            <p:childTnLst>
                              <p:set>
                                <p:cBhvr>
                                  <p:cTn id="17" dur="1" fill="hold"/>
                                  <p:tgtEl>
                                    <p:spTgt spid="20"/>
                                  </p:tgtEl>
                                  <p:attrNameLst>
                                    <p:attrName>style.visibility</p:attrName>
                                  </p:attrNameLst>
                                </p:cBhvr>
                                <p:to>
                                  <p:strVal val="visible"/>
                                </p:to>
                              </p:set>
                              <p:animEffect transition="in" filter="fade">
                                <p:cBhvr>
                                  <p:cTn id="18" dur="350"/>
                                  <p:tgtEl>
                                    <p:spTgt spid="20"/>
                                  </p:tgtEl>
                                </p:cBhvr>
                              </p:animEffect>
                            </p:childTnLst>
                          </p:cTn>
                        </p:par>
                        <p:par>
                          <p:cTn id="19" presetID="10" presetClass="entr" presetSubtype="0" fill="hold" nodeType="withEffect">
                            <p:stCondLst>
                              <p:cond delay="5086"/>
                            </p:stCondLst>
                            <p:childTnLst>
                              <p:set>
                                <p:cBhvr>
                                  <p:cTn id="20" dur="1" fill="hold"/>
                                  <p:tgtEl>
                                    <p:spTgt spid="21"/>
                                  </p:tgtEl>
                                  <p:attrNameLst>
                                    <p:attrName>style.visibility</p:attrName>
                                  </p:attrNameLst>
                                </p:cBhvr>
                                <p:to>
                                  <p:strVal val="visible"/>
                                </p:to>
                              </p:set>
                              <p:animEffect transition="in" filter="fade">
                                <p:cBhvr>
                                  <p:cTn id="21" dur="350"/>
                                  <p:tgtEl>
                                    <p:spTgt spid="21"/>
                                  </p:tgtEl>
                                </p:cBhvr>
                              </p:animEffect>
                            </p:childTnLst>
                          </p:cTn>
                        </p:par>
                        <p:par>
                          <p:cTn id="22" presetID="10" presetClass="entr" presetSubtype="0" fill="hold" nodeType="withEffect">
                            <p:stCondLst>
                              <p:cond delay="11257"/>
                            </p:stCondLst>
                            <p:childTnLst>
                              <p:set>
                                <p:cBhvr>
                                  <p:cTn id="23" dur="1" fill="hold"/>
                                  <p:tgtEl>
                                    <p:spTgt spid="28"/>
                                  </p:tgtEl>
                                  <p:attrNameLst>
                                    <p:attrName>style.visibility</p:attrName>
                                  </p:attrNameLst>
                                </p:cBhvr>
                                <p:to>
                                  <p:strVal val="visible"/>
                                </p:to>
                              </p:set>
                              <p:animEffect transition="in" filter="fade">
                                <p:cBhvr>
                                  <p:cTn id="24" dur="350"/>
                                  <p:tgtEl>
                                    <p:spTgt spid="28"/>
                                  </p:tgtEl>
                                </p:cBhvr>
                              </p:animEffect>
                            </p:childTnLst>
                          </p:cTn>
                        </p:par>
                        <p:par>
                          <p:cTn id="25" presetID="10" presetClass="entr" presetSubtype="0" fill="hold" nodeType="withEffect">
                            <p:stCondLst>
                              <p:cond delay="11257"/>
                            </p:stCondLst>
                            <p:childTnLst>
                              <p:set>
                                <p:cBhvr>
                                  <p:cTn id="26" dur="1" fill="hold"/>
                                  <p:tgtEl>
                                    <p:spTgt spid="29"/>
                                  </p:tgtEl>
                                  <p:attrNameLst>
                                    <p:attrName>style.visibility</p:attrName>
                                  </p:attrNameLst>
                                </p:cBhvr>
                                <p:to>
                                  <p:strVal val="visible"/>
                                </p:to>
                              </p:set>
                              <p:animEffect transition="in" filter="fade">
                                <p:cBhvr>
                                  <p:cTn id="27" dur="350"/>
                                  <p:tgtEl>
                                    <p:spTgt spid="29"/>
                                  </p:tgtEl>
                                </p:cBhvr>
                              </p:animEffect>
                            </p:childTnLst>
                          </p:cTn>
                        </p:par>
                        <p:par>
                          <p:cTn id="28" presetID="10" presetClass="entr" presetSubtype="0" fill="hold" nodeType="withEffect">
                            <p:stCondLst>
                              <p:cond delay="11257"/>
                            </p:stCondLst>
                            <p:childTnLst>
                              <p:set>
                                <p:cBhvr>
                                  <p:cTn id="29" dur="1" fill="hold"/>
                                  <p:tgtEl>
                                    <p:spTgt spid="30"/>
                                  </p:tgtEl>
                                  <p:attrNameLst>
                                    <p:attrName>style.visibility</p:attrName>
                                  </p:attrNameLst>
                                </p:cBhvr>
                                <p:to>
                                  <p:strVal val="visible"/>
                                </p:to>
                              </p:set>
                              <p:animEffect transition="in" filter="fade">
                                <p:cBhvr>
                                  <p:cTn id="30" dur="350"/>
                                  <p:tgtEl>
                                    <p:spTgt spid="30"/>
                                  </p:tgtEl>
                                </p:cBhvr>
                              </p:animEffect>
                            </p:childTnLst>
                          </p:cTn>
                        </p:par>
                        <p:par>
                          <p:cTn id="31" presetID="10" presetClass="entr" presetSubtype="0" fill="hold" nodeType="withEffect">
                            <p:stCondLst>
                              <p:cond delay="11257"/>
                            </p:stCondLst>
                            <p:childTnLst>
                              <p:set>
                                <p:cBhvr>
                                  <p:cTn id="32" dur="1" fill="hold"/>
                                  <p:tgtEl>
                                    <p:spTgt spid="31"/>
                                  </p:tgtEl>
                                  <p:attrNameLst>
                                    <p:attrName>style.visibility</p:attrName>
                                  </p:attrNameLst>
                                </p:cBhvr>
                                <p:to>
                                  <p:strVal val="visible"/>
                                </p:to>
                              </p:set>
                              <p:animEffect transition="in" filter="fade">
                                <p:cBhvr>
                                  <p:cTn id="33" dur="350"/>
                                  <p:tgtEl>
                                    <p:spTgt spid="31"/>
                                  </p:tgtEl>
                                </p:cBhvr>
                              </p:animEffect>
                            </p:childTnLst>
                          </p:cTn>
                        </p:par>
                        <p:par>
                          <p:cTn id="34" presetID="10" presetClass="entr" presetSubtype="0" fill="hold" nodeType="withEffect">
                            <p:stCondLst>
                              <p:cond delay="11257"/>
                            </p:stCondLst>
                            <p:childTnLst>
                              <p:set>
                                <p:cBhvr>
                                  <p:cTn id="35" dur="1" fill="hold"/>
                                  <p:tgtEl>
                                    <p:spTgt spid="32"/>
                                  </p:tgtEl>
                                  <p:attrNameLst>
                                    <p:attrName>style.visibility</p:attrName>
                                  </p:attrNameLst>
                                </p:cBhvr>
                                <p:to>
                                  <p:strVal val="visible"/>
                                </p:to>
                              </p:set>
                              <p:animEffect transition="in" filter="fade">
                                <p:cBhvr>
                                  <p:cTn id="36" dur="350"/>
                                  <p:tgtEl>
                                    <p:spTgt spid="32"/>
                                  </p:tgtEl>
                                </p:cBhvr>
                              </p:animEffect>
                            </p:childTnLst>
                          </p:cTn>
                        </p:par>
                        <p:par>
                          <p:cTn id="37" presetID="10" presetClass="entr" presetSubtype="0" fill="hold" nodeType="withEffect">
                            <p:stCondLst>
                              <p:cond delay="11257"/>
                            </p:stCondLst>
                            <p:childTnLst>
                              <p:set>
                                <p:cBhvr>
                                  <p:cTn id="38" dur="1" fill="hold"/>
                                  <p:tgtEl>
                                    <p:spTgt spid="33"/>
                                  </p:tgtEl>
                                  <p:attrNameLst>
                                    <p:attrName>style.visibility</p:attrName>
                                  </p:attrNameLst>
                                </p:cBhvr>
                                <p:to>
                                  <p:strVal val="visible"/>
                                </p:to>
                              </p:set>
                              <p:animEffect transition="in" filter="fade">
                                <p:cBhvr>
                                  <p:cTn id="39" dur="350"/>
                                  <p:tgtEl>
                                    <p:spTgt spid="33"/>
                                  </p:tgtEl>
                                </p:cBhvr>
                              </p:animEffect>
                            </p:childTnLst>
                          </p:cTn>
                        </p:par>
                        <p:par>
                          <p:cTn id="40" presetID="10" presetClass="entr" presetSubtype="0" fill="hold" nodeType="withEffect">
                            <p:stCondLst>
                              <p:cond delay="18636"/>
                            </p:stCondLst>
                            <p:childTnLst>
                              <p:set>
                                <p:cBhvr>
                                  <p:cTn id="41" dur="1" fill="hold"/>
                                  <p:tgtEl>
                                    <p:spTgt spid="34"/>
                                  </p:tgtEl>
                                  <p:attrNameLst>
                                    <p:attrName>style.visibility</p:attrName>
                                  </p:attrNameLst>
                                </p:cBhvr>
                                <p:to>
                                  <p:strVal val="visible"/>
                                </p:to>
                              </p:set>
                              <p:animEffect transition="in" filter="fade">
                                <p:cBhvr>
                                  <p:cTn id="42" dur="350"/>
                                  <p:tgtEl>
                                    <p:spTgt spid="34"/>
                                  </p:tgtEl>
                                </p:cBhvr>
                              </p:animEffect>
                            </p:childTnLst>
                          </p:cTn>
                        </p:par>
                        <p:par>
                          <p:cTn id="43" presetID="10" presetClass="entr" presetSubtype="0" fill="hold" nodeType="withEffect">
                            <p:stCondLst>
                              <p:cond delay="13561"/>
                            </p:stCondLst>
                            <p:childTnLst>
                              <p:set>
                                <p:cBhvr>
                                  <p:cTn id="44" dur="1" fill="hold"/>
                                  <p:tgtEl>
                                    <p:spTgt spid="35"/>
                                  </p:tgtEl>
                                  <p:attrNameLst>
                                    <p:attrName>style.visibility</p:attrName>
                                  </p:attrNameLst>
                                </p:cBhvr>
                                <p:to>
                                  <p:strVal val="visible"/>
                                </p:to>
                              </p:set>
                              <p:animEffect transition="in" filter="fade">
                                <p:cBhvr>
                                  <p:cTn id="45" dur="350"/>
                                  <p:tgtEl>
                                    <p:spTgt spid="3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105900" y="276225"/>
            <a:ext cx="2095500"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76225"/>
            <a:ext cx="516255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فوائد متوقعة نحتاج نختبرها</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بحث أقل. وتركيز أكبر مع العميل.</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8645E"/>
                </a:solidFill>
                <a:latin typeface="Manrope"/>
                <a:cs typeface="IBM Plex Sans Arabic Medium"/>
              </a:rPr>
              <a:t>كونكريت · تعاون مقترح · واجهات توضيحية وسجلات خيالية</a:t>
            </a:r>
          </a:p>
        </p:txBody>
      </p:sp>
      <p:sp>
        <p:nvSpPr>
          <p:cNvPr id="8" name="TextBox 7"/>
          <p:cNvSpPr txBox="1"/>
          <p:nvPr/>
        </p:nvSpPr>
        <p:spPr>
          <a:xfrm>
            <a:off x="457200" y="6505575"/>
            <a:ext cx="781050" cy="238125"/>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8645E"/>
                </a:solidFill>
                <a:latin typeface="Manrope"/>
                <a:cs typeface="IBM Plex Sans Arabic Medium"/>
              </a:rPr>
              <a:t>06 / 07</a:t>
            </a:r>
          </a:p>
        </p:txBody>
      </p:sp>
      <p:sp>
        <p:nvSpPr>
          <p:cNvPr id="9" name="Rounded Rectangle 8"/>
          <p:cNvSpPr/>
          <p:nvPr/>
        </p:nvSpPr>
        <p:spPr>
          <a:xfrm>
            <a:off x="3390900" y="1695450"/>
            <a:ext cx="8343900" cy="4305300"/>
          </a:xfrm>
          <a:prstGeom prst="roundRect">
            <a:avLst>
              <a:gd name="adj" fmla="val 2654"/>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genesys.png"/>
          <p:cNvPicPr>
            <a:picLocks noChangeAspect="1"/>
          </p:cNvPicPr>
          <p:nvPr/>
        </p:nvPicPr>
        <p:blipFill>
          <a:blip r:embed="rId3"/>
          <a:stretch>
            <a:fillRect/>
          </a:stretch>
        </p:blipFill>
        <p:spPr>
          <a:xfrm>
            <a:off x="10191750" y="1919844"/>
            <a:ext cx="1314450" cy="256062"/>
          </a:xfrm>
          <a:prstGeom prst="rect">
            <a:avLst/>
          </a:prstGeom>
          <a:effectLst/>
        </p:spPr>
      </p:pic>
      <p:pic>
        <p:nvPicPr>
          <p:cNvPr id="11" name="Picture 10" descr="icon-call.png"/>
          <p:cNvPicPr>
            <a:picLocks noChangeAspect="1"/>
          </p:cNvPicPr>
          <p:nvPr/>
        </p:nvPicPr>
        <p:blipFill>
          <a:blip r:embed="rId4"/>
          <a:stretch>
            <a:fillRect/>
          </a:stretch>
        </p:blipFill>
        <p:spPr>
          <a:xfrm>
            <a:off x="9667875" y="1952625"/>
            <a:ext cx="276225" cy="276225"/>
          </a:xfrm>
          <a:prstGeom prst="rect">
            <a:avLst/>
          </a:prstGeom>
          <a:effectLst/>
        </p:spPr>
      </p:pic>
      <p:sp>
        <p:nvSpPr>
          <p:cNvPr id="12" name="TextBox 11"/>
          <p:cNvSpPr txBox="1"/>
          <p:nvPr/>
        </p:nvSpPr>
        <p:spPr>
          <a:xfrm>
            <a:off x="4324350" y="1905000"/>
            <a:ext cx="5143500" cy="419100"/>
          </a:xfrm>
          <a:prstGeom prst="rect">
            <a:avLst/>
          </a:prstGeom>
          <a:noFill/>
          <a:effectLst/>
        </p:spPr>
        <p:txBody>
          <a:bodyPr wrap="square" lIns="0" rIns="0" tIns="0" bIns="0" anchor="t">
            <a:spAutoFit/>
          </a:bodyPr>
          <a:lstStyle/>
          <a:p>
            <a:pPr algn="r" rtl="0">
              <a:lnSpc>
                <a:spcPts val="2352"/>
              </a:lnSpc>
              <a:spcBef>
                <a:spcPts val="0"/>
              </a:spcBef>
              <a:spcAft>
                <a:spcPts val="0"/>
              </a:spcAft>
            </a:pPr>
            <a:r>
              <a:rPr sz="2100" b="1" lang="ar-EG">
                <a:solidFill>
                  <a:srgbClr val="262626"/>
                </a:solidFill>
                <a:latin typeface="Manrope"/>
                <a:cs typeface="IBM Plex Sans Arabic Medium"/>
              </a:rPr>
              <a:t>+20 ••• 410</a:t>
            </a:r>
          </a:p>
        </p:txBody>
      </p:sp>
      <p:cxnSp>
        <p:nvCxnSpPr>
          <p:cNvPr id="13" name="Connector 12"/>
          <p:cNvCxnSpPr/>
          <p:nvPr/>
        </p:nvCxnSpPr>
        <p:spPr>
          <a:xfrm flipH="1">
            <a:off x="3390900" y="2495550"/>
            <a:ext cx="83439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1039475" y="2771775"/>
            <a:ext cx="466725" cy="46672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actor.png"/>
          <p:cNvPicPr>
            <a:picLocks noChangeAspect="1"/>
          </p:cNvPicPr>
          <p:nvPr/>
        </p:nvPicPr>
        <p:blipFill>
          <a:blip r:embed="rId5"/>
          <a:stretch>
            <a:fillRect/>
          </a:stretch>
        </p:blipFill>
        <p:spPr>
          <a:xfrm>
            <a:off x="11142154" y="2874454"/>
            <a:ext cx="261366" cy="261366"/>
          </a:xfrm>
          <a:prstGeom prst="rect">
            <a:avLst/>
          </a:prstGeom>
          <a:effectLst/>
        </p:spPr>
      </p:pic>
      <p:sp>
        <p:nvSpPr>
          <p:cNvPr id="16" name="TextBox 15"/>
          <p:cNvSpPr txBox="1"/>
          <p:nvPr/>
        </p:nvSpPr>
        <p:spPr>
          <a:xfrm>
            <a:off x="5629275" y="2781300"/>
            <a:ext cx="5219700" cy="381000"/>
          </a:xfrm>
          <a:prstGeom prst="rect">
            <a:avLst/>
          </a:prstGeom>
          <a:noFill/>
          <a:effectLst/>
        </p:spPr>
        <p:txBody>
          <a:bodyPr wrap="square" lIns="0" rIns="0" tIns="0" bIns="0" anchor="t">
            <a:spAutoFit/>
          </a:bodyPr>
          <a:lstStyle/>
          <a:p>
            <a:pPr algn="r" rtl="1">
              <a:lnSpc>
                <a:spcPts val="2352"/>
              </a:lnSpc>
              <a:spcBef>
                <a:spcPts val="0"/>
              </a:spcBef>
              <a:spcAft>
                <a:spcPts val="0"/>
              </a:spcAft>
            </a:pPr>
            <a:r>
              <a:rPr sz="2100" b="1" lang="ar-EG">
                <a:solidFill>
                  <a:srgbClr val="262626"/>
                </a:solidFill>
                <a:latin typeface="Manrope"/>
                <a:cs typeface="IBM Plex Sans Arabic Medium"/>
              </a:rPr>
              <a:t>العميل A</a:t>
            </a:r>
          </a:p>
        </p:txBody>
      </p:sp>
      <p:pic>
        <p:nvPicPr>
          <p:cNvPr id="17" name="Picture 16" descr="zoho.png"/>
          <p:cNvPicPr>
            <a:picLocks noChangeAspect="1"/>
          </p:cNvPicPr>
          <p:nvPr/>
        </p:nvPicPr>
        <p:blipFill>
          <a:blip r:embed="rId6"/>
          <a:stretch>
            <a:fillRect/>
          </a:stretch>
        </p:blipFill>
        <p:spPr>
          <a:xfrm>
            <a:off x="3869575" y="2809875"/>
            <a:ext cx="642851" cy="276225"/>
          </a:xfrm>
          <a:prstGeom prst="rect">
            <a:avLst/>
          </a:prstGeom>
          <a:effectLst/>
        </p:spPr>
      </p:pic>
      <p:sp>
        <p:nvSpPr>
          <p:cNvPr id="18" name="TextBox 17"/>
          <p:cNvSpPr txBox="1"/>
          <p:nvPr/>
        </p:nvSpPr>
        <p:spPr>
          <a:xfrm>
            <a:off x="4152900" y="3257550"/>
            <a:ext cx="6696075" cy="30480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68645E"/>
                </a:solidFill>
                <a:latin typeface="Manrope"/>
                <a:cs typeface="IBM Plex Sans Arabic Medium"/>
              </a:rPr>
              <a:t>سجل مرتبط · تاريخ التذاكر الموجود</a:t>
            </a:r>
          </a:p>
        </p:txBody>
      </p:sp>
      <p:cxnSp>
        <p:nvCxnSpPr>
          <p:cNvPr id="19" name="Connector 18"/>
          <p:cNvCxnSpPr/>
          <p:nvPr/>
        </p:nvCxnSpPr>
        <p:spPr>
          <a:xfrm flipH="1">
            <a:off x="3619500" y="3762375"/>
            <a:ext cx="78867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20" name="Picture 19" descr="icon-case.png"/>
          <p:cNvPicPr>
            <a:picLocks noChangeAspect="1"/>
          </p:cNvPicPr>
          <p:nvPr/>
        </p:nvPicPr>
        <p:blipFill>
          <a:blip r:embed="rId7"/>
          <a:stretch>
            <a:fillRect/>
          </a:stretch>
        </p:blipFill>
        <p:spPr>
          <a:xfrm>
            <a:off x="11229975" y="3943350"/>
            <a:ext cx="266700" cy="266700"/>
          </a:xfrm>
          <a:prstGeom prst="rect">
            <a:avLst/>
          </a:prstGeom>
          <a:effectLst/>
        </p:spPr>
      </p:pic>
      <p:sp>
        <p:nvSpPr>
          <p:cNvPr id="21" name="TextBox 20"/>
          <p:cNvSpPr txBox="1"/>
          <p:nvPr/>
        </p:nvSpPr>
        <p:spPr>
          <a:xfrm>
            <a:off x="4067175" y="3895725"/>
            <a:ext cx="7000875" cy="41910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T101 · متابعة استبدال</a:t>
            </a:r>
          </a:p>
        </p:txBody>
      </p:sp>
      <p:pic>
        <p:nvPicPr>
          <p:cNvPr id="22" name="Picture 21" descr="icon-clock.png"/>
          <p:cNvPicPr>
            <a:picLocks noChangeAspect="1"/>
          </p:cNvPicPr>
          <p:nvPr/>
        </p:nvPicPr>
        <p:blipFill>
          <a:blip r:embed="rId8"/>
          <a:stretch>
            <a:fillRect/>
          </a:stretch>
        </p:blipFill>
        <p:spPr>
          <a:xfrm>
            <a:off x="11287125" y="4476750"/>
            <a:ext cx="209550" cy="209550"/>
          </a:xfrm>
          <a:prstGeom prst="rect">
            <a:avLst/>
          </a:prstGeom>
          <a:effectLst/>
        </p:spPr>
      </p:pic>
      <p:sp>
        <p:nvSpPr>
          <p:cNvPr id="23" name="TextBox 22"/>
          <p:cNvSpPr txBox="1"/>
          <p:nvPr/>
        </p:nvSpPr>
        <p:spPr>
          <a:xfrm>
            <a:off x="4829175" y="4457700"/>
            <a:ext cx="6343650" cy="3333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965318"/>
                </a:solidFill>
                <a:latin typeface="Manrope"/>
                <a:cs typeface="IBM Plex Sans Arabic Medium"/>
              </a:rPr>
              <a:t>بانتظار الفرع</a:t>
            </a:r>
          </a:p>
        </p:txBody>
      </p:sp>
      <p:sp>
        <p:nvSpPr>
          <p:cNvPr id="24" name="Rounded Rectangle 23"/>
          <p:cNvSpPr/>
          <p:nvPr/>
        </p:nvSpPr>
        <p:spPr>
          <a:xfrm>
            <a:off x="3619500" y="5000625"/>
            <a:ext cx="7886700" cy="771525"/>
          </a:xfrm>
          <a:prstGeom prst="roundRect">
            <a:avLst>
              <a:gd name="adj" fmla="val 9876"/>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file.png"/>
          <p:cNvPicPr>
            <a:picLocks noChangeAspect="1"/>
          </p:cNvPicPr>
          <p:nvPr/>
        </p:nvPicPr>
        <p:blipFill>
          <a:blip r:embed="rId9"/>
          <a:stretch>
            <a:fillRect/>
          </a:stretch>
        </p:blipFill>
        <p:spPr>
          <a:xfrm>
            <a:off x="11039475" y="5219700"/>
            <a:ext cx="276225" cy="276225"/>
          </a:xfrm>
          <a:prstGeom prst="rect">
            <a:avLst/>
          </a:prstGeom>
          <a:effectLst/>
        </p:spPr>
      </p:pic>
      <p:sp>
        <p:nvSpPr>
          <p:cNvPr id="26" name="TextBox 25"/>
          <p:cNvSpPr txBox="1"/>
          <p:nvPr/>
        </p:nvSpPr>
        <p:spPr>
          <a:xfrm>
            <a:off x="3838575" y="5181600"/>
            <a:ext cx="7000875" cy="400050"/>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1" lang="ar-EG">
                <a:solidFill>
                  <a:srgbClr val="262626"/>
                </a:solidFill>
                <a:latin typeface="Manrope"/>
                <a:cs typeface="IBM Plex Sans Arabic Medium"/>
              </a:rPr>
              <a:t>مراجعة الفرع لسه مطلوبة.</a:t>
            </a:r>
          </a:p>
        </p:txBody>
      </p:sp>
      <p:cxnSp>
        <p:nvCxnSpPr>
          <p:cNvPr id="27" name="Connector 26"/>
          <p:cNvCxnSpPr/>
          <p:nvPr/>
        </p:nvCxnSpPr>
        <p:spPr>
          <a:xfrm flipH="1">
            <a:off x="3086100" y="3028950"/>
            <a:ext cx="24765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sp>
        <p:nvSpPr>
          <p:cNvPr id="28" name="Oval 27"/>
          <p:cNvSpPr/>
          <p:nvPr/>
        </p:nvSpPr>
        <p:spPr>
          <a:xfrm>
            <a:off x="3343275" y="2990850"/>
            <a:ext cx="76200" cy="76200"/>
          </a:xfrm>
          <a:prstGeom prst="ellipse">
            <a:avLst/>
          </a:prstGeom>
          <a:solidFill>
            <a:srgbClr val="965318"/>
          </a:solidFill>
          <a:ln w="9525">
            <a:solidFill>
              <a:srgbClr val="965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33400" y="2857500"/>
            <a:ext cx="2343150" cy="75247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خطوات بحث يدوي</a:t>
            </a:r>
          </a:p>
          <a:p>
            <a:pPr algn="r" rtl="1">
              <a:lnSpc>
                <a:spcPts val="2016"/>
              </a:lnSpc>
              <a:spcBef>
                <a:spcPts val="0"/>
              </a:spcBef>
              <a:spcAft>
                <a:spcPts val="0"/>
              </a:spcAft>
            </a:pPr>
            <a:r>
              <a:rPr sz="1800" b="1" lang="ar-EG">
                <a:solidFill>
                  <a:srgbClr val="262626"/>
                </a:solidFill>
                <a:latin typeface="Manrope"/>
                <a:cs typeface="IBM Plex Sans Arabic Medium"/>
              </a:rPr>
              <a:t>أقل</a:t>
            </a:r>
          </a:p>
        </p:txBody>
      </p:sp>
      <p:cxnSp>
        <p:nvCxnSpPr>
          <p:cNvPr id="30" name="Connector 29"/>
          <p:cNvCxnSpPr/>
          <p:nvPr/>
        </p:nvCxnSpPr>
        <p:spPr>
          <a:xfrm flipH="1">
            <a:off x="3086100" y="4124325"/>
            <a:ext cx="24765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sp>
        <p:nvSpPr>
          <p:cNvPr id="31" name="Oval 30"/>
          <p:cNvSpPr/>
          <p:nvPr/>
        </p:nvSpPr>
        <p:spPr>
          <a:xfrm>
            <a:off x="3343275" y="4086225"/>
            <a:ext cx="76200" cy="76200"/>
          </a:xfrm>
          <a:prstGeom prst="ellipse">
            <a:avLst/>
          </a:prstGeom>
          <a:solidFill>
            <a:srgbClr val="965318"/>
          </a:solidFill>
          <a:ln w="9525">
            <a:solidFill>
              <a:srgbClr val="965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33400" y="4010025"/>
            <a:ext cx="2343150" cy="75247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متابعة</a:t>
            </a:r>
          </a:p>
          <a:p>
            <a:pPr algn="r" rtl="1">
              <a:lnSpc>
                <a:spcPts val="2016"/>
              </a:lnSpc>
              <a:spcBef>
                <a:spcPts val="0"/>
              </a:spcBef>
              <a:spcAft>
                <a:spcPts val="0"/>
              </a:spcAft>
            </a:pPr>
            <a:r>
              <a:rPr sz="1800" b="1" lang="ar-EG">
                <a:solidFill>
                  <a:srgbClr val="262626"/>
                </a:solidFill>
                <a:latin typeface="Manrope"/>
                <a:cs typeface="IBM Plex Sans Arabic Medium"/>
              </a:rPr>
              <a:t>أوضح</a:t>
            </a:r>
          </a:p>
        </p:txBody>
      </p:sp>
      <p:cxnSp>
        <p:nvCxnSpPr>
          <p:cNvPr id="33" name="Connector 32"/>
          <p:cNvCxnSpPr/>
          <p:nvPr/>
        </p:nvCxnSpPr>
        <p:spPr>
          <a:xfrm flipH="1">
            <a:off x="3086100" y="5391150"/>
            <a:ext cx="24765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sp>
        <p:nvSpPr>
          <p:cNvPr id="34" name="Oval 33"/>
          <p:cNvSpPr/>
          <p:nvPr/>
        </p:nvSpPr>
        <p:spPr>
          <a:xfrm>
            <a:off x="3343275" y="5353050"/>
            <a:ext cx="76200" cy="76200"/>
          </a:xfrm>
          <a:prstGeom prst="ellipse">
            <a:avLst/>
          </a:prstGeom>
          <a:solidFill>
            <a:srgbClr val="965318"/>
          </a:solidFill>
          <a:ln w="9525">
            <a:solidFill>
              <a:srgbClr val="965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33400" y="5133975"/>
            <a:ext cx="2343150" cy="75247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محادثات بمعلومات</a:t>
            </a:r>
          </a:p>
          <a:p>
            <a:pPr algn="r" rtl="1">
              <a:lnSpc>
                <a:spcPts val="2016"/>
              </a:lnSpc>
              <a:spcBef>
                <a:spcPts val="0"/>
              </a:spcBef>
              <a:spcAft>
                <a:spcPts val="0"/>
              </a:spcAft>
            </a:pPr>
            <a:r>
              <a:rPr sz="1800" b="1" lang="ar-EG">
                <a:solidFill>
                  <a:srgbClr val="262626"/>
                </a:solidFill>
                <a:latin typeface="Manrope"/>
                <a:cs typeface="IBM Plex Sans Arabic Medium"/>
              </a:rPr>
              <a:t>أوضح</a:t>
            </a:r>
          </a:p>
        </p:txBody>
      </p:sp>
      <p:sp>
        <p:nvSpPr>
          <p:cNvPr id="36" name="TextBox 35"/>
          <p:cNvSpPr txBox="1"/>
          <p:nvPr/>
        </p:nvSpPr>
        <p:spPr>
          <a:xfrm>
            <a:off x="1257300" y="6096000"/>
            <a:ext cx="10477500" cy="257175"/>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965318"/>
                </a:solidFill>
                <a:latin typeface="Manrope"/>
                <a:cs typeface="IBM Plex Sans Arabic Medium"/>
              </a:rPr>
              <a:t>فوائد متوقعة · نقيسها في تجربة أولية مصرح بها</a:t>
            </a:r>
          </a:p>
        </p:txBody>
      </p:sp>
    </p:spTree>
  </p:cSld>
  <p:clrMapOvr>
    <a:masterClrMapping/>
  </p:clrMapOvr>
  <p:transition spd="med" advClick="0" advTm="19033"/>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3160"/>
                            </p:stCondLst>
                            <p:childTnLst>
                              <p:set>
                                <p:cBhvr>
                                  <p:cTn id="5" dur="1" fill="hold"/>
                                  <p:tgtEl>
                                    <p:spTgt spid="30"/>
                                  </p:tgtEl>
                                  <p:attrNameLst>
                                    <p:attrName>style.visibility</p:attrName>
                                  </p:attrNameLst>
                                </p:cBhvr>
                                <p:to>
                                  <p:strVal val="visible"/>
                                </p:to>
                              </p:set>
                              <p:animEffect transition="in" filter="fade">
                                <p:cBhvr>
                                  <p:cTn id="6" dur="350"/>
                                  <p:tgtEl>
                                    <p:spTgt spid="30"/>
                                  </p:tgtEl>
                                </p:cBhvr>
                              </p:animEffect>
                            </p:childTnLst>
                          </p:cTn>
                        </p:par>
                        <p:par>
                          <p:cTn id="7" presetID="10" presetClass="entr" presetSubtype="0" fill="hold" nodeType="withEffect">
                            <p:stCondLst>
                              <p:cond delay="3160"/>
                            </p:stCondLst>
                            <p:childTnLst>
                              <p:set>
                                <p:cBhvr>
                                  <p:cTn id="8" dur="1" fill="hold"/>
                                  <p:tgtEl>
                                    <p:spTgt spid="31"/>
                                  </p:tgtEl>
                                  <p:attrNameLst>
                                    <p:attrName>style.visibility</p:attrName>
                                  </p:attrNameLst>
                                </p:cBhvr>
                                <p:to>
                                  <p:strVal val="visible"/>
                                </p:to>
                              </p:set>
                              <p:animEffect transition="in" filter="fade">
                                <p:cBhvr>
                                  <p:cTn id="9" dur="350"/>
                                  <p:tgtEl>
                                    <p:spTgt spid="31"/>
                                  </p:tgtEl>
                                </p:cBhvr>
                              </p:animEffect>
                            </p:childTnLst>
                          </p:cTn>
                        </p:par>
                        <p:par>
                          <p:cTn id="10" presetID="10" presetClass="entr" presetSubtype="0" fill="hold" nodeType="withEffect">
                            <p:stCondLst>
                              <p:cond delay="3160"/>
                            </p:stCondLst>
                            <p:childTnLst>
                              <p:set>
                                <p:cBhvr>
                                  <p:cTn id="11" dur="1" fill="hold"/>
                                  <p:tgtEl>
                                    <p:spTgt spid="32"/>
                                  </p:tgtEl>
                                  <p:attrNameLst>
                                    <p:attrName>style.visibility</p:attrName>
                                  </p:attrNameLst>
                                </p:cBhvr>
                                <p:to>
                                  <p:strVal val="visible"/>
                                </p:to>
                              </p:set>
                              <p:animEffect transition="in" filter="fade">
                                <p:cBhvr>
                                  <p:cTn id="12" dur="350"/>
                                  <p:tgtEl>
                                    <p:spTgt spid="32"/>
                                  </p:tgtEl>
                                </p:cBhvr>
                              </p:animEffect>
                            </p:childTnLst>
                          </p:cTn>
                        </p:par>
                        <p:par>
                          <p:cTn id="13" presetID="10" presetClass="entr" presetSubtype="0" fill="hold" nodeType="withEffect">
                            <p:stCondLst>
                              <p:cond delay="3160"/>
                            </p:stCondLst>
                            <p:childTnLst>
                              <p:set>
                                <p:cBhvr>
                                  <p:cTn id="14" dur="1" fill="hold"/>
                                  <p:tgtEl>
                                    <p:spTgt spid="33"/>
                                  </p:tgtEl>
                                  <p:attrNameLst>
                                    <p:attrName>style.visibility</p:attrName>
                                  </p:attrNameLst>
                                </p:cBhvr>
                                <p:to>
                                  <p:strVal val="visible"/>
                                </p:to>
                              </p:set>
                              <p:animEffect transition="in" filter="fade">
                                <p:cBhvr>
                                  <p:cTn id="15" dur="350"/>
                                  <p:tgtEl>
                                    <p:spTgt spid="33"/>
                                  </p:tgtEl>
                                </p:cBhvr>
                              </p:animEffect>
                            </p:childTnLst>
                          </p:cTn>
                        </p:par>
                        <p:par>
                          <p:cTn id="16" presetID="10" presetClass="entr" presetSubtype="0" fill="hold" nodeType="withEffect">
                            <p:stCondLst>
                              <p:cond delay="3160"/>
                            </p:stCondLst>
                            <p:childTnLst>
                              <p:set>
                                <p:cBhvr>
                                  <p:cTn id="17" dur="1" fill="hold"/>
                                  <p:tgtEl>
                                    <p:spTgt spid="34"/>
                                  </p:tgtEl>
                                  <p:attrNameLst>
                                    <p:attrName>style.visibility</p:attrName>
                                  </p:attrNameLst>
                                </p:cBhvr>
                                <p:to>
                                  <p:strVal val="visible"/>
                                </p:to>
                              </p:set>
                              <p:animEffect transition="in" filter="fade">
                                <p:cBhvr>
                                  <p:cTn id="18" dur="350"/>
                                  <p:tgtEl>
                                    <p:spTgt spid="34"/>
                                  </p:tgtEl>
                                </p:cBhvr>
                              </p:animEffect>
                            </p:childTnLst>
                          </p:cTn>
                        </p:par>
                        <p:par>
                          <p:cTn id="19" presetID="10" presetClass="entr" presetSubtype="0" fill="hold" nodeType="withEffect">
                            <p:stCondLst>
                              <p:cond delay="3160"/>
                            </p:stCondLst>
                            <p:childTnLst>
                              <p:set>
                                <p:cBhvr>
                                  <p:cTn id="20" dur="1" fill="hold"/>
                                  <p:tgtEl>
                                    <p:spTgt spid="35"/>
                                  </p:tgtEl>
                                  <p:attrNameLst>
                                    <p:attrName>style.visibility</p:attrName>
                                  </p:attrNameLst>
                                </p:cBhvr>
                                <p:to>
                                  <p:strVal val="visible"/>
                                </p:to>
                              </p:set>
                              <p:animEffect transition="in" filter="fade">
                                <p:cBhvr>
                                  <p:cTn id="21" dur="350"/>
                                  <p:tgtEl>
                                    <p:spTgt spid="35"/>
                                  </p:tgtEl>
                                </p:cBhvr>
                              </p:animEffect>
                            </p:childTnLst>
                          </p:cTn>
                        </p:par>
                        <p:par>
                          <p:cTn id="22" presetID="10" presetClass="entr" presetSubtype="0" fill="hold" nodeType="withEffect">
                            <p:stCondLst>
                              <p:cond delay="12131"/>
                            </p:stCondLst>
                            <p:childTnLst>
                              <p:set>
                                <p:cBhvr>
                                  <p:cTn id="23" dur="1" fill="hold"/>
                                  <p:tgtEl>
                                    <p:spTgt spid="36"/>
                                  </p:tgtEl>
                                  <p:attrNameLst>
                                    <p:attrName>style.visibility</p:attrName>
                                  </p:attrNameLst>
                                </p:cBhvr>
                                <p:to>
                                  <p:strVal val="visible"/>
                                </p:to>
                              </p:set>
                              <p:animEffect transition="in" filter="fade">
                                <p:cBhvr>
                                  <p:cTn id="24" dur="350"/>
                                  <p:tgtEl>
                                    <p:spTgt spid="3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105900" y="276225"/>
            <a:ext cx="2095500"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76225"/>
            <a:ext cx="516255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خطوة عملية لأول تعاون</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نفحص الإعدادات الحالية. وبعدها نختبر التجربة.</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8645E"/>
                </a:solidFill>
                <a:latin typeface="Manrope"/>
                <a:cs typeface="IBM Plex Sans Arabic Medium"/>
              </a:rPr>
              <a:t>كونكريت · تعاون مقترح · واجهات توضيحية وسجلات خيالية</a:t>
            </a:r>
          </a:p>
        </p:txBody>
      </p:sp>
      <p:sp>
        <p:nvSpPr>
          <p:cNvPr id="8" name="TextBox 7"/>
          <p:cNvSpPr txBox="1"/>
          <p:nvPr/>
        </p:nvSpPr>
        <p:spPr>
          <a:xfrm>
            <a:off x="457200" y="6505575"/>
            <a:ext cx="781050" cy="238125"/>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8645E"/>
                </a:solidFill>
                <a:latin typeface="Manrope"/>
                <a:cs typeface="IBM Plex Sans Arabic Medium"/>
              </a:rPr>
              <a:t>07 / 07</a:t>
            </a:r>
          </a:p>
        </p:txBody>
      </p:sp>
      <p:sp>
        <p:nvSpPr>
          <p:cNvPr id="9" name="Rounded Rectangle 8"/>
          <p:cNvSpPr/>
          <p:nvPr/>
        </p:nvSpPr>
        <p:spPr>
          <a:xfrm>
            <a:off x="8220075" y="1809750"/>
            <a:ext cx="3514725" cy="3752850"/>
          </a:xfrm>
          <a:prstGeom prst="roundRect">
            <a:avLst>
              <a:gd name="adj" fmla="val 325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con-file.png"/>
          <p:cNvPicPr>
            <a:picLocks noChangeAspect="1"/>
          </p:cNvPicPr>
          <p:nvPr/>
        </p:nvPicPr>
        <p:blipFill>
          <a:blip r:embed="rId3"/>
          <a:stretch>
            <a:fillRect/>
          </a:stretch>
        </p:blipFill>
        <p:spPr>
          <a:xfrm>
            <a:off x="11115675" y="2038350"/>
            <a:ext cx="361950" cy="361950"/>
          </a:xfrm>
          <a:prstGeom prst="rect">
            <a:avLst/>
          </a:prstGeom>
          <a:effectLst/>
        </p:spPr>
      </p:pic>
      <p:sp>
        <p:nvSpPr>
          <p:cNvPr id="11" name="TextBox 10"/>
          <p:cNvSpPr txBox="1"/>
          <p:nvPr/>
        </p:nvSpPr>
        <p:spPr>
          <a:xfrm>
            <a:off x="8534400" y="2047875"/>
            <a:ext cx="2400300" cy="381000"/>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62626"/>
                </a:solidFill>
                <a:latin typeface="Manrope"/>
                <a:cs typeface="IBM Plex Sans Arabic Medium"/>
              </a:rPr>
              <a:t>عقد ٢٠٢٣</a:t>
            </a:r>
          </a:p>
        </p:txBody>
      </p:sp>
      <p:sp>
        <p:nvSpPr>
          <p:cNvPr id="12" name="Rectangle 11"/>
          <p:cNvSpPr/>
          <p:nvPr/>
        </p:nvSpPr>
        <p:spPr>
          <a:xfrm>
            <a:off x="8763000" y="2714625"/>
            <a:ext cx="2705100" cy="38100"/>
          </a:xfrm>
          <a:prstGeom prst="rect">
            <a:avLst/>
          </a:prstGeom>
          <a:solidFill>
            <a:srgbClr val="E6E3D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9067800" y="2924175"/>
            <a:ext cx="2400300" cy="38100"/>
          </a:xfrm>
          <a:prstGeom prst="rect">
            <a:avLst/>
          </a:prstGeom>
          <a:solidFill>
            <a:srgbClr val="E6E3D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915400" y="3133725"/>
            <a:ext cx="2552700" cy="38100"/>
          </a:xfrm>
          <a:prstGeom prst="rect">
            <a:avLst/>
          </a:prstGeom>
          <a:solidFill>
            <a:srgbClr val="E6E3D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8429625" y="3476625"/>
            <a:ext cx="3095625" cy="1181100"/>
          </a:xfrm>
          <a:prstGeom prst="roundRect">
            <a:avLst>
              <a:gd name="adj" fmla="val 6451"/>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620125" y="3657600"/>
            <a:ext cx="2714625" cy="847725"/>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“CRM URL pop up</a:t>
            </a:r>
          </a:p>
          <a:p>
            <a:pPr algn="r" rtl="0">
              <a:lnSpc>
                <a:spcPts val="2268"/>
              </a:lnSpc>
              <a:spcBef>
                <a:spcPts val="0"/>
              </a:spcBef>
              <a:spcAft>
                <a:spcPts val="0"/>
              </a:spcAft>
            </a:pPr>
            <a:r>
              <a:rPr sz="2025" b="1" lang="ar-EG">
                <a:solidFill>
                  <a:srgbClr val="262626"/>
                </a:solidFill>
                <a:latin typeface="Manrope"/>
                <a:cs typeface="IBM Plex Sans Arabic Medium"/>
              </a:rPr>
              <a:t>integration”</a:t>
            </a:r>
          </a:p>
        </p:txBody>
      </p:sp>
      <p:sp>
        <p:nvSpPr>
          <p:cNvPr id="17" name="TextBox 16"/>
          <p:cNvSpPr txBox="1"/>
          <p:nvPr/>
        </p:nvSpPr>
        <p:spPr>
          <a:xfrm>
            <a:off x="8572500" y="5038725"/>
            <a:ext cx="2895600" cy="32385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68645E"/>
                </a:solidFill>
                <a:latin typeface="Manrope"/>
                <a:cs typeface="IBM Plex Sans Arabic Medium"/>
              </a:rPr>
              <a:t>نوفمبر ٢٠٢٣ · ص. ٤</a:t>
            </a:r>
          </a:p>
        </p:txBody>
      </p:sp>
      <p:sp>
        <p:nvSpPr>
          <p:cNvPr id="18" name="TextBox 17"/>
          <p:cNvSpPr txBox="1"/>
          <p:nvPr/>
        </p:nvSpPr>
        <p:spPr>
          <a:xfrm>
            <a:off x="8572500" y="4733925"/>
            <a:ext cx="2895600" cy="28575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التشغيل الحالي غير متحقق منه.</a:t>
            </a:r>
          </a:p>
        </p:txBody>
      </p:sp>
      <p:pic>
        <p:nvPicPr>
          <p:cNvPr id="19" name="Picture 18" descr="icon-settings.png"/>
          <p:cNvPicPr>
            <a:picLocks noChangeAspect="1"/>
          </p:cNvPicPr>
          <p:nvPr/>
        </p:nvPicPr>
        <p:blipFill>
          <a:blip r:embed="rId4"/>
          <a:stretch>
            <a:fillRect/>
          </a:stretch>
        </p:blipFill>
        <p:spPr>
          <a:xfrm>
            <a:off x="7324725" y="2438400"/>
            <a:ext cx="419100" cy="419100"/>
          </a:xfrm>
          <a:prstGeom prst="rect">
            <a:avLst/>
          </a:prstGeom>
          <a:effectLst/>
        </p:spPr>
      </p:pic>
      <p:sp>
        <p:nvSpPr>
          <p:cNvPr id="20" name="TextBox 19"/>
          <p:cNvSpPr txBox="1"/>
          <p:nvPr/>
        </p:nvSpPr>
        <p:spPr>
          <a:xfrm>
            <a:off x="5143500" y="3028950"/>
            <a:ext cx="2600325" cy="771525"/>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نفحص</a:t>
            </a:r>
          </a:p>
          <a:p>
            <a:pPr algn="r" rtl="1">
              <a:lnSpc>
                <a:spcPts val="2268"/>
              </a:lnSpc>
              <a:spcBef>
                <a:spcPts val="0"/>
              </a:spcBef>
              <a:spcAft>
                <a:spcPts val="0"/>
              </a:spcAft>
            </a:pPr>
            <a:r>
              <a:rPr sz="2025" b="1" lang="ar-EG">
                <a:solidFill>
                  <a:srgbClr val="262626"/>
                </a:solidFill>
                <a:latin typeface="Manrope"/>
                <a:cs typeface="IBM Plex Sans Arabic Medium"/>
              </a:rPr>
              <a:t>الإعدادات</a:t>
            </a:r>
          </a:p>
        </p:txBody>
      </p:sp>
      <p:sp>
        <p:nvSpPr>
          <p:cNvPr id="21" name="TextBox 20"/>
          <p:cNvSpPr txBox="1"/>
          <p:nvPr/>
        </p:nvSpPr>
        <p:spPr>
          <a:xfrm>
            <a:off x="5143500" y="4048125"/>
            <a:ext cx="2600325" cy="79057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0" lang="ar-EG">
                <a:solidFill>
                  <a:srgbClr val="68645E"/>
                </a:solidFill>
                <a:latin typeface="Manrope"/>
                <a:cs typeface="IBM Plex Sans Arabic Medium"/>
              </a:rPr>
              <a:t>أبسط تحسين</a:t>
            </a:r>
          </a:p>
          <a:p>
            <a:pPr algn="r" rtl="1">
              <a:lnSpc>
                <a:spcPts val="1932"/>
              </a:lnSpc>
              <a:spcBef>
                <a:spcPts val="0"/>
              </a:spcBef>
              <a:spcAft>
                <a:spcPts val="0"/>
              </a:spcAft>
            </a:pPr>
            <a:r>
              <a:rPr sz="1725" b="0" lang="ar-EG">
                <a:solidFill>
                  <a:srgbClr val="68645E"/>
                </a:solidFill>
                <a:latin typeface="Manrope"/>
                <a:cs typeface="IBM Plex Sans Arabic Medium"/>
              </a:rPr>
              <a:t>تدعمه الأنظمة</a:t>
            </a:r>
          </a:p>
        </p:txBody>
      </p:sp>
      <p:cxnSp>
        <p:nvCxnSpPr>
          <p:cNvPr id="22" name="Connector 21"/>
          <p:cNvCxnSpPr/>
          <p:nvPr/>
        </p:nvCxnSpPr>
        <p:spPr>
          <a:xfrm flipH="1">
            <a:off x="7896225" y="3800475"/>
            <a:ext cx="295275"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457200" y="2314575"/>
            <a:ext cx="4210050" cy="3286125"/>
          </a:xfrm>
          <a:prstGeom prst="roundRect">
            <a:avLst>
              <a:gd name="adj" fmla="val 3478"/>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call.png"/>
          <p:cNvPicPr>
            <a:picLocks noChangeAspect="1"/>
          </p:cNvPicPr>
          <p:nvPr/>
        </p:nvPicPr>
        <p:blipFill>
          <a:blip r:embed="rId5"/>
          <a:stretch>
            <a:fillRect/>
          </a:stretch>
        </p:blipFill>
        <p:spPr>
          <a:xfrm>
            <a:off x="4162425" y="2533650"/>
            <a:ext cx="276225" cy="276225"/>
          </a:xfrm>
          <a:prstGeom prst="rect">
            <a:avLst/>
          </a:prstGeom>
          <a:effectLst/>
        </p:spPr>
      </p:pic>
      <p:sp>
        <p:nvSpPr>
          <p:cNvPr id="25" name="TextBox 24"/>
          <p:cNvSpPr txBox="1"/>
          <p:nvPr/>
        </p:nvSpPr>
        <p:spPr>
          <a:xfrm>
            <a:off x="828675" y="2505075"/>
            <a:ext cx="3181350" cy="3905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مكالمة اختبار مصرح بها</a:t>
            </a:r>
          </a:p>
        </p:txBody>
      </p:sp>
      <p:cxnSp>
        <p:nvCxnSpPr>
          <p:cNvPr id="26" name="Connector 25"/>
          <p:cNvCxnSpPr/>
          <p:nvPr/>
        </p:nvCxnSpPr>
        <p:spPr>
          <a:xfrm flipH="1">
            <a:off x="457200" y="3095625"/>
            <a:ext cx="4210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752475" y="3305175"/>
            <a:ext cx="3686175" cy="390525"/>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+20 ••• 410</a:t>
            </a:r>
          </a:p>
        </p:txBody>
      </p:sp>
      <p:pic>
        <p:nvPicPr>
          <p:cNvPr id="28" name="Picture 27" descr="zoho.png"/>
          <p:cNvPicPr>
            <a:picLocks noChangeAspect="1"/>
          </p:cNvPicPr>
          <p:nvPr/>
        </p:nvPicPr>
        <p:blipFill>
          <a:blip r:embed="rId6"/>
          <a:stretch>
            <a:fillRect/>
          </a:stretch>
        </p:blipFill>
        <p:spPr>
          <a:xfrm>
            <a:off x="3802813" y="3886200"/>
            <a:ext cx="576349" cy="247650"/>
          </a:xfrm>
          <a:prstGeom prst="rect">
            <a:avLst/>
          </a:prstGeom>
          <a:effectLst/>
        </p:spPr>
      </p:pic>
      <p:sp>
        <p:nvSpPr>
          <p:cNvPr id="29" name="TextBox 28"/>
          <p:cNvSpPr txBox="1"/>
          <p:nvPr/>
        </p:nvSpPr>
        <p:spPr>
          <a:xfrm>
            <a:off x="752475" y="3857625"/>
            <a:ext cx="2790825" cy="36195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T101 · استبدال</a:t>
            </a:r>
          </a:p>
        </p:txBody>
      </p:sp>
      <p:sp>
        <p:nvSpPr>
          <p:cNvPr id="30" name="Rounded Rectangle 29"/>
          <p:cNvSpPr/>
          <p:nvPr/>
        </p:nvSpPr>
        <p:spPr>
          <a:xfrm>
            <a:off x="657225" y="4391025"/>
            <a:ext cx="3800475" cy="952500"/>
          </a:xfrm>
          <a:prstGeom prst="roundRect">
            <a:avLst>
              <a:gd name="adj" fmla="val 800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file.png"/>
          <p:cNvPicPr>
            <a:picLocks noChangeAspect="1"/>
          </p:cNvPicPr>
          <p:nvPr/>
        </p:nvPicPr>
        <p:blipFill>
          <a:blip r:embed="rId3"/>
          <a:stretch>
            <a:fillRect/>
          </a:stretch>
        </p:blipFill>
        <p:spPr>
          <a:xfrm>
            <a:off x="4029075" y="4562475"/>
            <a:ext cx="238125" cy="238125"/>
          </a:xfrm>
          <a:prstGeom prst="rect">
            <a:avLst/>
          </a:prstGeom>
          <a:effectLst/>
        </p:spPr>
      </p:pic>
      <p:sp>
        <p:nvSpPr>
          <p:cNvPr id="32" name="TextBox 31"/>
          <p:cNvSpPr txBox="1"/>
          <p:nvPr/>
        </p:nvSpPr>
        <p:spPr>
          <a:xfrm>
            <a:off x="914400" y="4533900"/>
            <a:ext cx="2971800" cy="314325"/>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965318"/>
                </a:solidFill>
                <a:latin typeface="Manrope"/>
                <a:cs typeface="IBM Plex Sans Arabic Medium"/>
              </a:rPr>
              <a:t>آخر ملاحظة مسجلة</a:t>
            </a:r>
          </a:p>
        </p:txBody>
      </p:sp>
      <p:sp>
        <p:nvSpPr>
          <p:cNvPr id="33" name="TextBox 32"/>
          <p:cNvSpPr txBox="1"/>
          <p:nvPr/>
        </p:nvSpPr>
        <p:spPr>
          <a:xfrm>
            <a:off x="942975" y="4953000"/>
            <a:ext cx="3324225" cy="33337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بانتظار مراجعة الفرع.</a:t>
            </a:r>
          </a:p>
        </p:txBody>
      </p:sp>
      <p:cxnSp>
        <p:nvCxnSpPr>
          <p:cNvPr id="34" name="Connector 33"/>
          <p:cNvCxnSpPr/>
          <p:nvPr/>
        </p:nvCxnSpPr>
        <p:spPr>
          <a:xfrm flipH="1">
            <a:off x="4762500" y="3800475"/>
            <a:ext cx="342900"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638175" y="5867400"/>
            <a:ext cx="7105650" cy="33337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نبدأ المكالمة بمعلومات العميل الموجودة.</a:t>
            </a:r>
          </a:p>
        </p:txBody>
      </p: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3076"/>
                            </p:stCondLst>
                            <p:childTnLst>
                              <p:set>
                                <p:cBhvr>
                                  <p:cTn id="5" dur="1" fill="hold"/>
                                  <p:tgtEl>
                                    <p:spTgt spid="15"/>
                                  </p:tgtEl>
                                  <p:attrNameLst>
                                    <p:attrName>style.visibility</p:attrName>
                                  </p:attrNameLst>
                                </p:cBhvr>
                                <p:to>
                                  <p:strVal val="visible"/>
                                </p:to>
                              </p:set>
                              <p:animEffect transition="in" filter="fade">
                                <p:cBhvr>
                                  <p:cTn id="6" dur="350"/>
                                  <p:tgtEl>
                                    <p:spTgt spid="15"/>
                                  </p:tgtEl>
                                </p:cBhvr>
                              </p:animEffect>
                            </p:childTnLst>
                          </p:cTn>
                        </p:par>
                        <p:par>
                          <p:cTn id="7" presetID="10" presetClass="entr" presetSubtype="0" fill="hold" nodeType="withEffect">
                            <p:stCondLst>
                              <p:cond delay="3076"/>
                            </p:stCondLst>
                            <p:childTnLst>
                              <p:set>
                                <p:cBhvr>
                                  <p:cTn id="8" dur="1" fill="hold"/>
                                  <p:tgtEl>
                                    <p:spTgt spid="16"/>
                                  </p:tgtEl>
                                  <p:attrNameLst>
                                    <p:attrName>style.visibility</p:attrName>
                                  </p:attrNameLst>
                                </p:cBhvr>
                                <p:to>
                                  <p:strVal val="visible"/>
                                </p:to>
                              </p:set>
                              <p:animEffect transition="in" filter="fade">
                                <p:cBhvr>
                                  <p:cTn id="9" dur="350"/>
                                  <p:tgtEl>
                                    <p:spTgt spid="16"/>
                                  </p:tgtEl>
                                </p:cBhvr>
                              </p:animEffect>
                            </p:childTnLst>
                          </p:cTn>
                        </p:par>
                        <p:par>
                          <p:cTn id="10" presetID="10" presetClass="entr" presetSubtype="0" fill="hold" nodeType="withEffect">
                            <p:stCondLst>
                              <p:cond delay="3076"/>
                            </p:stCondLst>
                            <p:childTnLst>
                              <p:set>
                                <p:cBhvr>
                                  <p:cTn id="11" dur="1" fill="hold"/>
                                  <p:tgtEl>
                                    <p:spTgt spid="18"/>
                                  </p:tgtEl>
                                  <p:attrNameLst>
                                    <p:attrName>style.visibility</p:attrName>
                                  </p:attrNameLst>
                                </p:cBhvr>
                                <p:to>
                                  <p:strVal val="visible"/>
                                </p:to>
                              </p:set>
                              <p:animEffect transition="in" filter="fade">
                                <p:cBhvr>
                                  <p:cTn id="12" dur="350"/>
                                  <p:tgtEl>
                                    <p:spTgt spid="18"/>
                                  </p:tgtEl>
                                </p:cBhvr>
                              </p:animEffect>
                            </p:childTnLst>
                          </p:cTn>
                        </p:par>
                        <p:par>
                          <p:cTn id="13" presetID="10" presetClass="entr" presetSubtype="0" fill="hold" nodeType="withEffect">
                            <p:stCondLst>
                              <p:cond delay="3076"/>
                            </p:stCondLst>
                            <p:childTnLst>
                              <p:set>
                                <p:cBhvr>
                                  <p:cTn id="14" dur="1" fill="hold"/>
                                  <p:tgtEl>
                                    <p:spTgt spid="19"/>
                                  </p:tgtEl>
                                  <p:attrNameLst>
                                    <p:attrName>style.visibility</p:attrName>
                                  </p:attrNameLst>
                                </p:cBhvr>
                                <p:to>
                                  <p:strVal val="visible"/>
                                </p:to>
                              </p:set>
                              <p:animEffect transition="in" filter="fade">
                                <p:cBhvr>
                                  <p:cTn id="15" dur="350"/>
                                  <p:tgtEl>
                                    <p:spTgt spid="19"/>
                                  </p:tgtEl>
                                </p:cBhvr>
                              </p:animEffect>
                            </p:childTnLst>
                          </p:cTn>
                        </p:par>
                        <p:par>
                          <p:cTn id="16" presetID="10" presetClass="entr" presetSubtype="0" fill="hold" nodeType="withEffect">
                            <p:stCondLst>
                              <p:cond delay="3076"/>
                            </p:stCondLst>
                            <p:childTnLst>
                              <p:set>
                                <p:cBhvr>
                                  <p:cTn id="17" dur="1" fill="hold"/>
                                  <p:tgtEl>
                                    <p:spTgt spid="20"/>
                                  </p:tgtEl>
                                  <p:attrNameLst>
                                    <p:attrName>style.visibility</p:attrName>
                                  </p:attrNameLst>
                                </p:cBhvr>
                                <p:to>
                                  <p:strVal val="visible"/>
                                </p:to>
                              </p:set>
                              <p:animEffect transition="in" filter="fade">
                                <p:cBhvr>
                                  <p:cTn id="18" dur="350"/>
                                  <p:tgtEl>
                                    <p:spTgt spid="20"/>
                                  </p:tgtEl>
                                </p:cBhvr>
                              </p:animEffect>
                            </p:childTnLst>
                          </p:cTn>
                        </p:par>
                        <p:par>
                          <p:cTn id="19" presetID="10" presetClass="entr" presetSubtype="0" fill="hold" nodeType="withEffect">
                            <p:stCondLst>
                              <p:cond delay="9902"/>
                            </p:stCondLst>
                            <p:childTnLst>
                              <p:set>
                                <p:cBhvr>
                                  <p:cTn id="20" dur="1" fill="hold"/>
                                  <p:tgtEl>
                                    <p:spTgt spid="21"/>
                                  </p:tgtEl>
                                  <p:attrNameLst>
                                    <p:attrName>style.visibility</p:attrName>
                                  </p:attrNameLst>
                                </p:cBhvr>
                                <p:to>
                                  <p:strVal val="visible"/>
                                </p:to>
                              </p:set>
                              <p:animEffect transition="in" filter="fade">
                                <p:cBhvr>
                                  <p:cTn id="21" dur="350"/>
                                  <p:tgtEl>
                                    <p:spTgt spid="21"/>
                                  </p:tgtEl>
                                </p:cBhvr>
                              </p:animEffect>
                            </p:childTnLst>
                          </p:cTn>
                        </p:par>
                        <p:par>
                          <p:cTn id="22" presetID="10" presetClass="entr" presetSubtype="0" fill="hold" nodeType="withEffect">
                            <p:stCondLst>
                              <p:cond delay="3076"/>
                            </p:stCondLst>
                            <p:childTnLst>
                              <p:set>
                                <p:cBhvr>
                                  <p:cTn id="23" dur="1" fill="hold"/>
                                  <p:tgtEl>
                                    <p:spTgt spid="22"/>
                                  </p:tgtEl>
                                  <p:attrNameLst>
                                    <p:attrName>style.visibility</p:attrName>
                                  </p:attrNameLst>
                                </p:cBhvr>
                                <p:to>
                                  <p:strVal val="visible"/>
                                </p:to>
                              </p:set>
                              <p:animEffect transition="in" filter="fade">
                                <p:cBhvr>
                                  <p:cTn id="24" dur="350"/>
                                  <p:tgtEl>
                                    <p:spTgt spid="22"/>
                                  </p:tgtEl>
                                </p:cBhvr>
                              </p:animEffect>
                            </p:childTnLst>
                          </p:cTn>
                        </p:par>
                        <p:par>
                          <p:cTn id="25" presetID="10" presetClass="entr" presetSubtype="0" fill="hold" nodeType="withEffect">
                            <p:stCondLst>
                              <p:cond delay="9902"/>
                            </p:stCondLst>
                            <p:childTnLst>
                              <p:set>
                                <p:cBhvr>
                                  <p:cTn id="26" dur="1" fill="hold"/>
                                  <p:tgtEl>
                                    <p:spTgt spid="23"/>
                                  </p:tgtEl>
                                  <p:attrNameLst>
                                    <p:attrName>style.visibility</p:attrName>
                                  </p:attrNameLst>
                                </p:cBhvr>
                                <p:to>
                                  <p:strVal val="visible"/>
                                </p:to>
                              </p:set>
                              <p:animEffect transition="in" filter="fade">
                                <p:cBhvr>
                                  <p:cTn id="27" dur="350"/>
                                  <p:tgtEl>
                                    <p:spTgt spid="23"/>
                                  </p:tgtEl>
                                </p:cBhvr>
                              </p:animEffect>
                            </p:childTnLst>
                          </p:cTn>
                        </p:par>
                        <p:par>
                          <p:cTn id="28" presetID="10" presetClass="entr" presetSubtype="0" fill="hold" nodeType="withEffect">
                            <p:stCondLst>
                              <p:cond delay="9902"/>
                            </p:stCondLst>
                            <p:childTnLst>
                              <p:set>
                                <p:cBhvr>
                                  <p:cTn id="29" dur="1" fill="hold"/>
                                  <p:tgtEl>
                                    <p:spTgt spid="24"/>
                                  </p:tgtEl>
                                  <p:attrNameLst>
                                    <p:attrName>style.visibility</p:attrName>
                                  </p:attrNameLst>
                                </p:cBhvr>
                                <p:to>
                                  <p:strVal val="visible"/>
                                </p:to>
                              </p:set>
                              <p:animEffect transition="in" filter="fade">
                                <p:cBhvr>
                                  <p:cTn id="30" dur="350"/>
                                  <p:tgtEl>
                                    <p:spTgt spid="24"/>
                                  </p:tgtEl>
                                </p:cBhvr>
                              </p:animEffect>
                            </p:childTnLst>
                          </p:cTn>
                        </p:par>
                        <p:par>
                          <p:cTn id="31" presetID="10" presetClass="entr" presetSubtype="0" fill="hold" nodeType="withEffect">
                            <p:stCondLst>
                              <p:cond delay="9902"/>
                            </p:stCondLst>
                            <p:childTnLst>
                              <p:set>
                                <p:cBhvr>
                                  <p:cTn id="32" dur="1" fill="hold"/>
                                  <p:tgtEl>
                                    <p:spTgt spid="25"/>
                                  </p:tgtEl>
                                  <p:attrNameLst>
                                    <p:attrName>style.visibility</p:attrName>
                                  </p:attrNameLst>
                                </p:cBhvr>
                                <p:to>
                                  <p:strVal val="visible"/>
                                </p:to>
                              </p:set>
                              <p:animEffect transition="in" filter="fade">
                                <p:cBhvr>
                                  <p:cTn id="33" dur="350"/>
                                  <p:tgtEl>
                                    <p:spTgt spid="25"/>
                                  </p:tgtEl>
                                </p:cBhvr>
                              </p:animEffect>
                            </p:childTnLst>
                          </p:cTn>
                        </p:par>
                        <p:par>
                          <p:cTn id="34" presetID="10" presetClass="entr" presetSubtype="0" fill="hold" nodeType="withEffect">
                            <p:stCondLst>
                              <p:cond delay="9902"/>
                            </p:stCondLst>
                            <p:childTnLst>
                              <p:set>
                                <p:cBhvr>
                                  <p:cTn id="35" dur="1" fill="hold"/>
                                  <p:tgtEl>
                                    <p:spTgt spid="26"/>
                                  </p:tgtEl>
                                  <p:attrNameLst>
                                    <p:attrName>style.visibility</p:attrName>
                                  </p:attrNameLst>
                                </p:cBhvr>
                                <p:to>
                                  <p:strVal val="visible"/>
                                </p:to>
                              </p:set>
                              <p:animEffect transition="in" filter="fade">
                                <p:cBhvr>
                                  <p:cTn id="36" dur="350"/>
                                  <p:tgtEl>
                                    <p:spTgt spid="26"/>
                                  </p:tgtEl>
                                </p:cBhvr>
                              </p:animEffect>
                            </p:childTnLst>
                          </p:cTn>
                        </p:par>
                        <p:par>
                          <p:cTn id="37" presetID="10" presetClass="entr" presetSubtype="0" fill="hold" nodeType="withEffect">
                            <p:stCondLst>
                              <p:cond delay="9902"/>
                            </p:stCondLst>
                            <p:childTnLst>
                              <p:set>
                                <p:cBhvr>
                                  <p:cTn id="38" dur="1" fill="hold"/>
                                  <p:tgtEl>
                                    <p:spTgt spid="27"/>
                                  </p:tgtEl>
                                  <p:attrNameLst>
                                    <p:attrName>style.visibility</p:attrName>
                                  </p:attrNameLst>
                                </p:cBhvr>
                                <p:to>
                                  <p:strVal val="visible"/>
                                </p:to>
                              </p:set>
                              <p:animEffect transition="in" filter="fade">
                                <p:cBhvr>
                                  <p:cTn id="39" dur="350"/>
                                  <p:tgtEl>
                                    <p:spTgt spid="27"/>
                                  </p:tgtEl>
                                </p:cBhvr>
                              </p:animEffect>
                            </p:childTnLst>
                          </p:cTn>
                        </p:par>
                        <p:par>
                          <p:cTn id="40" presetID="10" presetClass="entr" presetSubtype="0" fill="hold" nodeType="withEffect">
                            <p:stCondLst>
                              <p:cond delay="17517"/>
                            </p:stCondLst>
                            <p:childTnLst>
                              <p:set>
                                <p:cBhvr>
                                  <p:cTn id="41" dur="1" fill="hold"/>
                                  <p:tgtEl>
                                    <p:spTgt spid="28"/>
                                  </p:tgtEl>
                                  <p:attrNameLst>
                                    <p:attrName>style.visibility</p:attrName>
                                  </p:attrNameLst>
                                </p:cBhvr>
                                <p:to>
                                  <p:strVal val="visible"/>
                                </p:to>
                              </p:set>
                              <p:animEffect transition="in" filter="fade">
                                <p:cBhvr>
                                  <p:cTn id="42" dur="350"/>
                                  <p:tgtEl>
                                    <p:spTgt spid="28"/>
                                  </p:tgtEl>
                                </p:cBhvr>
                              </p:animEffect>
                            </p:childTnLst>
                          </p:cTn>
                        </p:par>
                        <p:par>
                          <p:cTn id="43" presetID="10" presetClass="entr" presetSubtype="0" fill="hold" nodeType="withEffect">
                            <p:stCondLst>
                              <p:cond delay="17517"/>
                            </p:stCondLst>
                            <p:childTnLst>
                              <p:set>
                                <p:cBhvr>
                                  <p:cTn id="44" dur="1" fill="hold"/>
                                  <p:tgtEl>
                                    <p:spTgt spid="29"/>
                                  </p:tgtEl>
                                  <p:attrNameLst>
                                    <p:attrName>style.visibility</p:attrName>
                                  </p:attrNameLst>
                                </p:cBhvr>
                                <p:to>
                                  <p:strVal val="visible"/>
                                </p:to>
                              </p:set>
                              <p:animEffect transition="in" filter="fade">
                                <p:cBhvr>
                                  <p:cTn id="45" dur="350"/>
                                  <p:tgtEl>
                                    <p:spTgt spid="29"/>
                                  </p:tgtEl>
                                </p:cBhvr>
                              </p:animEffect>
                            </p:childTnLst>
                          </p:cTn>
                        </p:par>
                        <p:par>
                          <p:cTn id="46" presetID="10" presetClass="entr" presetSubtype="0" fill="hold" nodeType="withEffect">
                            <p:stCondLst>
                              <p:cond delay="17517"/>
                            </p:stCondLst>
                            <p:childTnLst>
                              <p:set>
                                <p:cBhvr>
                                  <p:cTn id="47" dur="1" fill="hold"/>
                                  <p:tgtEl>
                                    <p:spTgt spid="30"/>
                                  </p:tgtEl>
                                  <p:attrNameLst>
                                    <p:attrName>style.visibility</p:attrName>
                                  </p:attrNameLst>
                                </p:cBhvr>
                                <p:to>
                                  <p:strVal val="visible"/>
                                </p:to>
                              </p:set>
                              <p:animEffect transition="in" filter="fade">
                                <p:cBhvr>
                                  <p:cTn id="48" dur="350"/>
                                  <p:tgtEl>
                                    <p:spTgt spid="30"/>
                                  </p:tgtEl>
                                </p:cBhvr>
                              </p:animEffect>
                            </p:childTnLst>
                          </p:cTn>
                        </p:par>
                        <p:par>
                          <p:cTn id="49" presetID="10" presetClass="entr" presetSubtype="0" fill="hold" nodeType="withEffect">
                            <p:stCondLst>
                              <p:cond delay="17517"/>
                            </p:stCondLst>
                            <p:childTnLst>
                              <p:set>
                                <p:cBhvr>
                                  <p:cTn id="50" dur="1" fill="hold"/>
                                  <p:tgtEl>
                                    <p:spTgt spid="31"/>
                                  </p:tgtEl>
                                  <p:attrNameLst>
                                    <p:attrName>style.visibility</p:attrName>
                                  </p:attrNameLst>
                                </p:cBhvr>
                                <p:to>
                                  <p:strVal val="visible"/>
                                </p:to>
                              </p:set>
                              <p:animEffect transition="in" filter="fade">
                                <p:cBhvr>
                                  <p:cTn id="51" dur="350"/>
                                  <p:tgtEl>
                                    <p:spTgt spid="31"/>
                                  </p:tgtEl>
                                </p:cBhvr>
                              </p:animEffect>
                            </p:childTnLst>
                          </p:cTn>
                        </p:par>
                        <p:par>
                          <p:cTn id="52" presetID="10" presetClass="entr" presetSubtype="0" fill="hold" nodeType="withEffect">
                            <p:stCondLst>
                              <p:cond delay="17517"/>
                            </p:stCondLst>
                            <p:childTnLst>
                              <p:set>
                                <p:cBhvr>
                                  <p:cTn id="53" dur="1" fill="hold"/>
                                  <p:tgtEl>
                                    <p:spTgt spid="32"/>
                                  </p:tgtEl>
                                  <p:attrNameLst>
                                    <p:attrName>style.visibility</p:attrName>
                                  </p:attrNameLst>
                                </p:cBhvr>
                                <p:to>
                                  <p:strVal val="visible"/>
                                </p:to>
                              </p:set>
                              <p:animEffect transition="in" filter="fade">
                                <p:cBhvr>
                                  <p:cTn id="54" dur="350"/>
                                  <p:tgtEl>
                                    <p:spTgt spid="32"/>
                                  </p:tgtEl>
                                </p:cBhvr>
                              </p:animEffect>
                            </p:childTnLst>
                          </p:cTn>
                        </p:par>
                        <p:par>
                          <p:cTn id="55" presetID="10" presetClass="entr" presetSubtype="0" fill="hold" nodeType="withEffect">
                            <p:stCondLst>
                              <p:cond delay="17517"/>
                            </p:stCondLst>
                            <p:childTnLst>
                              <p:set>
                                <p:cBhvr>
                                  <p:cTn id="56" dur="1" fill="hold"/>
                                  <p:tgtEl>
                                    <p:spTgt spid="33"/>
                                  </p:tgtEl>
                                  <p:attrNameLst>
                                    <p:attrName>style.visibility</p:attrName>
                                  </p:attrNameLst>
                                </p:cBhvr>
                                <p:to>
                                  <p:strVal val="visible"/>
                                </p:to>
                              </p:set>
                              <p:animEffect transition="in" filter="fade">
                                <p:cBhvr>
                                  <p:cTn id="57" dur="350"/>
                                  <p:tgtEl>
                                    <p:spTgt spid="33"/>
                                  </p:tgtEl>
                                </p:cBhvr>
                              </p:animEffect>
                            </p:childTnLst>
                          </p:cTn>
                        </p:par>
                        <p:par>
                          <p:cTn id="58" presetID="10" presetClass="entr" presetSubtype="0" fill="hold" nodeType="withEffect">
                            <p:stCondLst>
                              <p:cond delay="9902"/>
                            </p:stCondLst>
                            <p:childTnLst>
                              <p:set>
                                <p:cBhvr>
                                  <p:cTn id="59" dur="1" fill="hold"/>
                                  <p:tgtEl>
                                    <p:spTgt spid="34"/>
                                  </p:tgtEl>
                                  <p:attrNameLst>
                                    <p:attrName>style.visibility</p:attrName>
                                  </p:attrNameLst>
                                </p:cBhvr>
                                <p:to>
                                  <p:strVal val="visible"/>
                                </p:to>
                              </p:set>
                              <p:animEffect transition="in" filter="fade">
                                <p:cBhvr>
                                  <p:cTn id="60" dur="350"/>
                                  <p:tgtEl>
                                    <p:spTgt spid="34"/>
                                  </p:tgtEl>
                                </p:cBhvr>
                              </p:animEffect>
                            </p:childTnLst>
                          </p:cTn>
                        </p:par>
                        <p:par>
                          <p:cTn id="61" presetID="10" presetClass="entr" presetSubtype="0" fill="hold" nodeType="withEffect">
                            <p:stCondLst>
                              <p:cond delay="16266"/>
                            </p:stCondLst>
                            <p:childTnLst>
                              <p:set>
                                <p:cBhvr>
                                  <p:cTn id="62" dur="1" fill="hold"/>
                                  <p:tgtEl>
                                    <p:spTgt spid="35"/>
                                  </p:tgtEl>
                                  <p:attrNameLst>
                                    <p:attrName>style.visibility</p:attrName>
                                  </p:attrNameLst>
                                </p:cBhvr>
                                <p:to>
                                  <p:strVal val="visible"/>
                                </p:to>
                              </p:set>
                              <p:animEffect transition="in" filter="fade">
                                <p:cBhvr>
                                  <p:cTn id="63" dur="350"/>
                                  <p:tgtEl>
                                    <p:spTgt spid="3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105900" y="276225"/>
            <a:ext cx="2095500"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76225"/>
            <a:ext cx="516255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البحث المقترح واختيار السجل</a:t>
            </a:r>
          </a:p>
        </p:txBody>
      </p:sp>
      <p:sp>
        <p:nvSpPr>
          <p:cNvPr id="5" name="TextBox 4"/>
          <p:cNvSpPr txBox="1"/>
          <p:nvPr/>
        </p:nvSpPr>
        <p:spPr>
          <a:xfrm>
            <a:off x="457200" y="866775"/>
            <a:ext cx="11277600" cy="6191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لما نفس الرقم يرتبط بأكثر من عميل.</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8645E"/>
                </a:solidFill>
                <a:latin typeface="Manrope"/>
                <a:cs typeface="IBM Plex Sans Arabic Medium"/>
              </a:rPr>
              <a:t>كونكريت · تعاون مقترح · واجهات توضيحية وسجلات خيالية</a:t>
            </a:r>
          </a:p>
        </p:txBody>
      </p:sp>
      <p:sp>
        <p:nvSpPr>
          <p:cNvPr id="8" name="TextBox 7"/>
          <p:cNvSpPr txBox="1"/>
          <p:nvPr/>
        </p:nvSpPr>
        <p:spPr>
          <a:xfrm>
            <a:off x="457200" y="6505575"/>
            <a:ext cx="781050" cy="238125"/>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ar-EG">
                <a:solidFill>
                  <a:srgbClr val="68645E"/>
                </a:solidFill>
                <a:latin typeface="Manrope"/>
                <a:cs typeface="IBM Plex Sans Arabic Medium"/>
              </a:rPr>
              <a:t>ملحق</a:t>
            </a:r>
          </a:p>
        </p:txBody>
      </p:sp>
      <p:sp>
        <p:nvSpPr>
          <p:cNvPr id="9" name="Rounded Rectangle 8"/>
          <p:cNvSpPr/>
          <p:nvPr/>
        </p:nvSpPr>
        <p:spPr>
          <a:xfrm>
            <a:off x="8667750" y="1724025"/>
            <a:ext cx="3067050" cy="4495800"/>
          </a:xfrm>
          <a:prstGeom prst="roundRect">
            <a:avLst>
              <a:gd name="adj" fmla="val 372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667750" y="1676400"/>
            <a:ext cx="3067050" cy="4495800"/>
          </a:xfrm>
          <a:prstGeom prst="roundRect">
            <a:avLst>
              <a:gd name="adj" fmla="val 372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191750" y="1881744"/>
            <a:ext cx="1314450" cy="256062"/>
          </a:xfrm>
          <a:prstGeom prst="rect">
            <a:avLst/>
          </a:prstGeom>
          <a:effectLst/>
        </p:spPr>
      </p:pic>
      <p:sp>
        <p:nvSpPr>
          <p:cNvPr id="12" name="TextBox 11"/>
          <p:cNvSpPr txBox="1"/>
          <p:nvPr/>
        </p:nvSpPr>
        <p:spPr>
          <a:xfrm>
            <a:off x="8896350" y="1885950"/>
            <a:ext cx="1123950" cy="304800"/>
          </a:xfrm>
          <a:prstGeom prst="rect">
            <a:avLst/>
          </a:prstGeom>
          <a:noFill/>
          <a:effectLst/>
        </p:spPr>
        <p:txBody>
          <a:bodyPr wrap="square" lIns="0" rIns="0" tIns="0" bIns="0" anchor="t">
            <a:spAutoFit/>
          </a:bodyPr>
          <a:lstStyle/>
          <a:p>
            <a:pPr algn="l" rtl="1">
              <a:lnSpc>
                <a:spcPts val="1512"/>
              </a:lnSpc>
              <a:spcBef>
                <a:spcPts val="0"/>
              </a:spcBef>
              <a:spcAft>
                <a:spcPts val="0"/>
              </a:spcAft>
            </a:pPr>
            <a:r>
              <a:rPr sz="1350" b="0" lang="ar-EG">
                <a:solidFill>
                  <a:srgbClr val="68645E"/>
                </a:solidFill>
                <a:latin typeface="Manrope"/>
                <a:cs typeface="IBM Plex Sans Arabic Medium"/>
              </a:rPr>
              <a:t>المكالمة</a:t>
            </a:r>
          </a:p>
        </p:txBody>
      </p:sp>
      <p:cxnSp>
        <p:nvCxnSpPr>
          <p:cNvPr id="13" name="Connector 12"/>
          <p:cNvCxnSpPr/>
          <p:nvPr/>
        </p:nvCxnSpPr>
        <p:spPr>
          <a:xfrm flipH="1">
            <a:off x="8667750" y="2362200"/>
            <a:ext cx="3067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706100" y="2667000"/>
            <a:ext cx="781050" cy="7810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0915650" y="2876550"/>
            <a:ext cx="361950" cy="361950"/>
          </a:xfrm>
          <a:prstGeom prst="rect">
            <a:avLst/>
          </a:prstGeom>
          <a:effectLst/>
        </p:spPr>
      </p:pic>
      <p:sp>
        <p:nvSpPr>
          <p:cNvPr id="16" name="TextBox 15"/>
          <p:cNvSpPr txBox="1"/>
          <p:nvPr/>
        </p:nvSpPr>
        <p:spPr>
          <a:xfrm>
            <a:off x="8915400" y="3686175"/>
            <a:ext cx="2571750" cy="40957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62626"/>
                </a:solidFill>
                <a:latin typeface="Manrope"/>
                <a:cs typeface="IBM Plex Sans Arabic Medium"/>
              </a:rPr>
              <a:t>متصل وارد</a:t>
            </a:r>
          </a:p>
        </p:txBody>
      </p:sp>
      <p:sp>
        <p:nvSpPr>
          <p:cNvPr id="17" name="TextBox 16"/>
          <p:cNvSpPr txBox="1"/>
          <p:nvPr/>
        </p:nvSpPr>
        <p:spPr>
          <a:xfrm>
            <a:off x="8915400" y="4219575"/>
            <a:ext cx="2571750" cy="409575"/>
          </a:xfrm>
          <a:prstGeom prst="rect">
            <a:avLst/>
          </a:prstGeom>
          <a:noFill/>
          <a:effectLst/>
        </p:spPr>
        <p:txBody>
          <a:bodyPr wrap="square" lIns="0" rIns="0" tIns="0" bIns="0" anchor="t">
            <a:spAutoFit/>
          </a:bodyPr>
          <a:lstStyle/>
          <a:p>
            <a:pPr algn="r" rtl="0">
              <a:lnSpc>
                <a:spcPts val="2436"/>
              </a:lnSpc>
              <a:spcBef>
                <a:spcPts val="0"/>
              </a:spcBef>
              <a:spcAft>
                <a:spcPts val="0"/>
              </a:spcAft>
            </a:pPr>
            <a:r>
              <a:rPr sz="2175" b="1" lang="ar-EG">
                <a:solidFill>
                  <a:srgbClr val="262626"/>
                </a:solidFill>
                <a:latin typeface="Manrope"/>
                <a:cs typeface="IBM Plex Sans Arabic Medium"/>
              </a:rPr>
              <a:t>+20 ••• 410</a:t>
            </a:r>
          </a:p>
        </p:txBody>
      </p:sp>
      <p:sp>
        <p:nvSpPr>
          <p:cNvPr id="18" name="TextBox 17"/>
          <p:cNvSpPr txBox="1"/>
          <p:nvPr/>
        </p:nvSpPr>
        <p:spPr>
          <a:xfrm>
            <a:off x="8915400" y="4695825"/>
            <a:ext cx="25717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49654E"/>
                </a:solidFill>
                <a:latin typeface="Manrope"/>
                <a:cs typeface="IBM Plex Sans Arabic Medium"/>
              </a:rPr>
              <a:t>مكالمة جارية</a:t>
            </a:r>
          </a:p>
        </p:txBody>
      </p:sp>
      <p:sp>
        <p:nvSpPr>
          <p:cNvPr id="19" name="Oval 18"/>
          <p:cNvSpPr/>
          <p:nvPr/>
        </p:nvSpPr>
        <p:spPr>
          <a:xfrm>
            <a:off x="1104900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mic.png"/>
          <p:cNvPicPr>
            <a:picLocks noChangeAspect="1"/>
          </p:cNvPicPr>
          <p:nvPr/>
        </p:nvPicPr>
        <p:blipFill>
          <a:blip r:embed="rId5"/>
          <a:stretch>
            <a:fillRect/>
          </a:stretch>
        </p:blipFill>
        <p:spPr>
          <a:xfrm>
            <a:off x="11163300" y="5467350"/>
            <a:ext cx="209550" cy="209550"/>
          </a:xfrm>
          <a:prstGeom prst="rect">
            <a:avLst/>
          </a:prstGeom>
          <a:effectLst/>
        </p:spPr>
      </p:pic>
      <p:sp>
        <p:nvSpPr>
          <p:cNvPr id="21" name="Oval 20"/>
          <p:cNvSpPr/>
          <p:nvPr/>
        </p:nvSpPr>
        <p:spPr>
          <a:xfrm>
            <a:off x="1042035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pause.png"/>
          <p:cNvPicPr>
            <a:picLocks noChangeAspect="1"/>
          </p:cNvPicPr>
          <p:nvPr/>
        </p:nvPicPr>
        <p:blipFill>
          <a:blip r:embed="rId6"/>
          <a:stretch>
            <a:fillRect/>
          </a:stretch>
        </p:blipFill>
        <p:spPr>
          <a:xfrm>
            <a:off x="10534650" y="5467350"/>
            <a:ext cx="209550" cy="209550"/>
          </a:xfrm>
          <a:prstGeom prst="rect">
            <a:avLst/>
          </a:prstGeom>
          <a:effectLst/>
        </p:spPr>
      </p:pic>
      <p:sp>
        <p:nvSpPr>
          <p:cNvPr id="23" name="Oval 22"/>
          <p:cNvSpPr/>
          <p:nvPr/>
        </p:nvSpPr>
        <p:spPr>
          <a:xfrm>
            <a:off x="9791700" y="5353050"/>
            <a:ext cx="438150" cy="4381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end.png"/>
          <p:cNvPicPr>
            <a:picLocks noChangeAspect="1"/>
          </p:cNvPicPr>
          <p:nvPr/>
        </p:nvPicPr>
        <p:blipFill>
          <a:blip r:embed="rId7"/>
          <a:stretch>
            <a:fillRect/>
          </a:stretch>
        </p:blipFill>
        <p:spPr>
          <a:xfrm>
            <a:off x="9906000" y="5467350"/>
            <a:ext cx="209550" cy="209550"/>
          </a:xfrm>
          <a:prstGeom prst="rect">
            <a:avLst/>
          </a:prstGeom>
          <a:effectLst/>
        </p:spPr>
      </p:pic>
      <p:sp>
        <p:nvSpPr>
          <p:cNvPr id="25" name="Rounded Rectangle 24"/>
          <p:cNvSpPr/>
          <p:nvPr/>
        </p:nvSpPr>
        <p:spPr>
          <a:xfrm>
            <a:off x="457200" y="1724025"/>
            <a:ext cx="7924800" cy="4495800"/>
          </a:xfrm>
          <a:prstGeom prst="roundRect">
            <a:avLst>
              <a:gd name="adj" fmla="val 254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457200" y="1676400"/>
            <a:ext cx="7924800" cy="4495800"/>
          </a:xfrm>
          <a:prstGeom prst="roundRect">
            <a:avLst>
              <a:gd name="adj" fmla="val 254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zoho.png"/>
          <p:cNvPicPr>
            <a:picLocks noChangeAspect="1"/>
          </p:cNvPicPr>
          <p:nvPr/>
        </p:nvPicPr>
        <p:blipFill>
          <a:blip r:embed="rId8"/>
          <a:stretch>
            <a:fillRect/>
          </a:stretch>
        </p:blipFill>
        <p:spPr>
          <a:xfrm>
            <a:off x="7436774" y="1857375"/>
            <a:ext cx="709353" cy="304800"/>
          </a:xfrm>
          <a:prstGeom prst="rect">
            <a:avLst/>
          </a:prstGeom>
          <a:effectLst/>
        </p:spPr>
      </p:pic>
      <p:sp>
        <p:nvSpPr>
          <p:cNvPr id="28" name="TextBox 27"/>
          <p:cNvSpPr txBox="1"/>
          <p:nvPr/>
        </p:nvSpPr>
        <p:spPr>
          <a:xfrm>
            <a:off x="771525" y="1857375"/>
            <a:ext cx="6496050" cy="3714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 · معلومات العميل</a:t>
            </a:r>
          </a:p>
        </p:txBody>
      </p:sp>
      <p:cxnSp>
        <p:nvCxnSpPr>
          <p:cNvPr id="29" name="Connector 28"/>
          <p:cNvCxnSpPr/>
          <p:nvPr/>
        </p:nvCxnSpPr>
        <p:spPr>
          <a:xfrm flipH="1">
            <a:off x="457200" y="2362200"/>
            <a:ext cx="79248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0" name="Oval 29"/>
          <p:cNvSpPr/>
          <p:nvPr/>
        </p:nvSpPr>
        <p:spPr>
          <a:xfrm>
            <a:off x="7705725" y="2590800"/>
            <a:ext cx="447675" cy="4476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actor.png"/>
          <p:cNvPicPr>
            <a:picLocks noChangeAspect="1"/>
          </p:cNvPicPr>
          <p:nvPr/>
        </p:nvPicPr>
        <p:blipFill>
          <a:blip r:embed="rId9"/>
          <a:stretch>
            <a:fillRect/>
          </a:stretch>
        </p:blipFill>
        <p:spPr>
          <a:xfrm>
            <a:off x="7804214" y="2689288"/>
            <a:ext cx="250698" cy="250698"/>
          </a:xfrm>
          <a:prstGeom prst="rect">
            <a:avLst/>
          </a:prstGeom>
          <a:effectLst/>
        </p:spPr>
      </p:pic>
      <p:sp>
        <p:nvSpPr>
          <p:cNvPr id="32" name="TextBox 31"/>
          <p:cNvSpPr txBox="1"/>
          <p:nvPr/>
        </p:nvSpPr>
        <p:spPr>
          <a:xfrm>
            <a:off x="876300" y="2581275"/>
            <a:ext cx="6667500" cy="38100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العميل A</a:t>
            </a:r>
          </a:p>
        </p:txBody>
      </p:sp>
      <p:sp>
        <p:nvSpPr>
          <p:cNvPr id="33" name="TextBox 32"/>
          <p:cNvSpPr txBox="1"/>
          <p:nvPr/>
        </p:nvSpPr>
        <p:spPr>
          <a:xfrm>
            <a:off x="5400675" y="3038475"/>
            <a:ext cx="2143125" cy="3048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645E"/>
                </a:solidFill>
                <a:latin typeface="Manrope"/>
                <a:cs typeface="IBM Plex Sans Arabic Medium"/>
              </a:rPr>
              <a:t>سجل مرتبط</a:t>
            </a:r>
          </a:p>
        </p:txBody>
      </p:sp>
      <p:sp>
        <p:nvSpPr>
          <p:cNvPr id="34" name="TextBox 33"/>
          <p:cNvSpPr txBox="1"/>
          <p:nvPr/>
        </p:nvSpPr>
        <p:spPr>
          <a:xfrm>
            <a:off x="2695575" y="3028950"/>
            <a:ext cx="2524125" cy="314325"/>
          </a:xfrm>
          <a:prstGeom prst="rect">
            <a:avLst/>
          </a:prstGeom>
          <a:noFill/>
          <a:effectLst/>
        </p:spPr>
        <p:txBody>
          <a:bodyPr wrap="square" lIns="0" rIns="0" tIns="0" bIns="0" anchor="t">
            <a:spAutoFit/>
          </a:bodyPr>
          <a:lstStyle/>
          <a:p>
            <a:pPr algn="r" rtl="0">
              <a:lnSpc>
                <a:spcPts val="1680"/>
              </a:lnSpc>
              <a:spcBef>
                <a:spcPts val="0"/>
              </a:spcBef>
              <a:spcAft>
                <a:spcPts val="0"/>
              </a:spcAft>
            </a:pPr>
            <a:r>
              <a:rPr sz="1500" b="0" lang="ar-EG">
                <a:solidFill>
                  <a:srgbClr val="68645E"/>
                </a:solidFill>
                <a:latin typeface="Manrope"/>
                <a:cs typeface="IBM Plex Sans Arabic Medium"/>
              </a:rPr>
              <a:t>+20 ••• 410</a:t>
            </a:r>
          </a:p>
        </p:txBody>
      </p:sp>
      <p:cxnSp>
        <p:nvCxnSpPr>
          <p:cNvPr id="35" name="Connector 34"/>
          <p:cNvCxnSpPr/>
          <p:nvPr/>
        </p:nvCxnSpPr>
        <p:spPr>
          <a:xfrm flipH="1">
            <a:off x="685800" y="3457575"/>
            <a:ext cx="746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5838825" y="3648075"/>
            <a:ext cx="2314575" cy="3429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التذاكر السابقة</a:t>
            </a:r>
          </a:p>
        </p:txBody>
      </p:sp>
      <p:sp>
        <p:nvSpPr>
          <p:cNvPr id="37" name="Rounded Rectangle 36"/>
          <p:cNvSpPr/>
          <p:nvPr/>
        </p:nvSpPr>
        <p:spPr>
          <a:xfrm>
            <a:off x="5724525" y="4076700"/>
            <a:ext cx="2505075" cy="1152525"/>
          </a:xfrm>
          <a:prstGeom prst="roundRect">
            <a:avLst>
              <a:gd name="adj" fmla="val 6611"/>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con-case.png"/>
          <p:cNvPicPr>
            <a:picLocks noChangeAspect="1"/>
          </p:cNvPicPr>
          <p:nvPr/>
        </p:nvPicPr>
        <p:blipFill>
          <a:blip r:embed="rId10"/>
          <a:stretch>
            <a:fillRect/>
          </a:stretch>
        </p:blipFill>
        <p:spPr>
          <a:xfrm>
            <a:off x="7839075" y="4248150"/>
            <a:ext cx="257175" cy="257175"/>
          </a:xfrm>
          <a:prstGeom prst="rect">
            <a:avLst/>
          </a:prstGeom>
          <a:effectLst/>
        </p:spPr>
      </p:pic>
      <p:sp>
        <p:nvSpPr>
          <p:cNvPr id="39" name="TextBox 38"/>
          <p:cNvSpPr txBox="1"/>
          <p:nvPr/>
        </p:nvSpPr>
        <p:spPr>
          <a:xfrm>
            <a:off x="5934075" y="4229100"/>
            <a:ext cx="1752600" cy="3238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T101 · استبدال</a:t>
            </a:r>
          </a:p>
        </p:txBody>
      </p:sp>
      <p:sp>
        <p:nvSpPr>
          <p:cNvPr id="40" name="TextBox 39"/>
          <p:cNvSpPr txBox="1"/>
          <p:nvPr/>
        </p:nvSpPr>
        <p:spPr>
          <a:xfrm>
            <a:off x="5924550" y="4676775"/>
            <a:ext cx="2171700" cy="50482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بانتظار</a:t>
            </a:r>
          </a:p>
          <a:p>
            <a:pPr algn="r" rtl="1">
              <a:lnSpc>
                <a:spcPts val="1680"/>
              </a:lnSpc>
              <a:spcBef>
                <a:spcPts val="0"/>
              </a:spcBef>
              <a:spcAft>
                <a:spcPts val="0"/>
              </a:spcAft>
            </a:pPr>
            <a:r>
              <a:rPr sz="1500" b="0" lang="ar-EG">
                <a:solidFill>
                  <a:srgbClr val="965318"/>
                </a:solidFill>
                <a:latin typeface="Manrope"/>
                <a:cs typeface="IBM Plex Sans Arabic Medium"/>
              </a:rPr>
              <a:t>مراجعة الفرع</a:t>
            </a:r>
          </a:p>
        </p:txBody>
      </p:sp>
      <p:pic>
        <p:nvPicPr>
          <p:cNvPr id="41" name="Picture 40" descr="icon-case.png"/>
          <p:cNvPicPr>
            <a:picLocks noChangeAspect="1"/>
          </p:cNvPicPr>
          <p:nvPr/>
        </p:nvPicPr>
        <p:blipFill>
          <a:blip r:embed="rId10"/>
          <a:stretch>
            <a:fillRect/>
          </a:stretch>
        </p:blipFill>
        <p:spPr>
          <a:xfrm>
            <a:off x="7858125" y="5514975"/>
            <a:ext cx="238125" cy="238125"/>
          </a:xfrm>
          <a:prstGeom prst="rect">
            <a:avLst/>
          </a:prstGeom>
          <a:effectLst/>
        </p:spPr>
      </p:pic>
      <p:sp>
        <p:nvSpPr>
          <p:cNvPr id="42" name="TextBox 41"/>
          <p:cNvSpPr txBox="1"/>
          <p:nvPr/>
        </p:nvSpPr>
        <p:spPr>
          <a:xfrm>
            <a:off x="5876925" y="5448300"/>
            <a:ext cx="1809750" cy="333375"/>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262626"/>
                </a:solidFill>
                <a:latin typeface="Manrope"/>
                <a:cs typeface="IBM Plex Sans Arabic Medium"/>
              </a:rPr>
              <a:t>T098 · سؤال مقاس</a:t>
            </a:r>
          </a:p>
        </p:txBody>
      </p:sp>
      <p:sp>
        <p:nvSpPr>
          <p:cNvPr id="43" name="TextBox 42"/>
          <p:cNvSpPr txBox="1"/>
          <p:nvPr/>
        </p:nvSpPr>
        <p:spPr>
          <a:xfrm>
            <a:off x="5895975" y="5781675"/>
            <a:ext cx="1790700" cy="266700"/>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645E"/>
                </a:solidFill>
                <a:latin typeface="Manrope"/>
                <a:cs typeface="IBM Plex Sans Arabic Medium"/>
              </a:rPr>
              <a:t>مغلقة</a:t>
            </a:r>
          </a:p>
        </p:txBody>
      </p:sp>
      <p:cxnSp>
        <p:nvCxnSpPr>
          <p:cNvPr id="44" name="Connector 43"/>
          <p:cNvCxnSpPr/>
          <p:nvPr/>
        </p:nvCxnSpPr>
        <p:spPr>
          <a:xfrm>
            <a:off x="5505450" y="3714750"/>
            <a:ext cx="0" cy="84772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a:off x="5505450" y="4876800"/>
            <a:ext cx="0" cy="104775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flipH="1">
            <a:off x="5343525" y="4724400"/>
            <a:ext cx="304800" cy="0"/>
          </a:xfrm>
          <a:prstGeom prst="line">
            <a:avLst/>
          </a:prstGeom>
          <a:ln w="16192">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7" name="TextBox 46"/>
          <p:cNvSpPr txBox="1"/>
          <p:nvPr/>
        </p:nvSpPr>
        <p:spPr>
          <a:xfrm>
            <a:off x="704850" y="3629025"/>
            <a:ext cx="4552950" cy="3810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T101 · متابعة استبدال</a:t>
            </a:r>
          </a:p>
        </p:txBody>
      </p:sp>
      <p:pic>
        <p:nvPicPr>
          <p:cNvPr id="48" name="Picture 47" descr="icon-clock.png"/>
          <p:cNvPicPr>
            <a:picLocks noChangeAspect="1"/>
          </p:cNvPicPr>
          <p:nvPr/>
        </p:nvPicPr>
        <p:blipFill>
          <a:blip r:embed="rId11"/>
          <a:stretch>
            <a:fillRect/>
          </a:stretch>
        </p:blipFill>
        <p:spPr>
          <a:xfrm>
            <a:off x="5048250" y="4152900"/>
            <a:ext cx="209550" cy="209550"/>
          </a:xfrm>
          <a:prstGeom prst="rect">
            <a:avLst/>
          </a:prstGeom>
          <a:effectLst/>
        </p:spPr>
      </p:pic>
      <p:sp>
        <p:nvSpPr>
          <p:cNvPr id="49" name="TextBox 48"/>
          <p:cNvSpPr txBox="1"/>
          <p:nvPr/>
        </p:nvSpPr>
        <p:spPr>
          <a:xfrm>
            <a:off x="676275" y="4133850"/>
            <a:ext cx="4257675" cy="3333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965318"/>
                </a:solidFill>
                <a:latin typeface="Manrope"/>
                <a:cs typeface="IBM Plex Sans Arabic Medium"/>
              </a:rPr>
              <a:t>بانتظار الفرع</a:t>
            </a:r>
          </a:p>
        </p:txBody>
      </p:sp>
      <p:sp>
        <p:nvSpPr>
          <p:cNvPr id="50" name="Rounded Rectangle 49"/>
          <p:cNvSpPr/>
          <p:nvPr/>
        </p:nvSpPr>
        <p:spPr>
          <a:xfrm>
            <a:off x="685800" y="4648200"/>
            <a:ext cx="4610100" cy="1257300"/>
          </a:xfrm>
          <a:prstGeom prst="roundRect">
            <a:avLst>
              <a:gd name="adj" fmla="val 606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1" name="Picture 50" descr="icon-file.png"/>
          <p:cNvPicPr>
            <a:picLocks noChangeAspect="1"/>
          </p:cNvPicPr>
          <p:nvPr/>
        </p:nvPicPr>
        <p:blipFill>
          <a:blip r:embed="rId12"/>
          <a:stretch>
            <a:fillRect/>
          </a:stretch>
        </p:blipFill>
        <p:spPr>
          <a:xfrm>
            <a:off x="4867275" y="4810125"/>
            <a:ext cx="238125" cy="238125"/>
          </a:xfrm>
          <a:prstGeom prst="rect">
            <a:avLst/>
          </a:prstGeom>
          <a:effectLst/>
        </p:spPr>
      </p:pic>
      <p:sp>
        <p:nvSpPr>
          <p:cNvPr id="52" name="TextBox 51"/>
          <p:cNvSpPr txBox="1"/>
          <p:nvPr/>
        </p:nvSpPr>
        <p:spPr>
          <a:xfrm>
            <a:off x="685800" y="4791075"/>
            <a:ext cx="4057650" cy="31432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آخر ملاحظة مسجلة</a:t>
            </a:r>
          </a:p>
        </p:txBody>
      </p:sp>
      <p:sp>
        <p:nvSpPr>
          <p:cNvPr id="53" name="TextBox 52"/>
          <p:cNvSpPr txBox="1"/>
          <p:nvPr/>
        </p:nvSpPr>
        <p:spPr>
          <a:xfrm>
            <a:off x="914400" y="5238750"/>
            <a:ext cx="4191000" cy="62865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مراجعة الفرع</a:t>
            </a:r>
          </a:p>
          <a:p>
            <a:pPr algn="r" rtl="1">
              <a:lnSpc>
                <a:spcPts val="2268"/>
              </a:lnSpc>
              <a:spcBef>
                <a:spcPts val="0"/>
              </a:spcBef>
              <a:spcAft>
                <a:spcPts val="0"/>
              </a:spcAft>
            </a:pPr>
            <a:r>
              <a:rPr sz="2025" b="1" lang="ar-EG">
                <a:solidFill>
                  <a:srgbClr val="262626"/>
                </a:solidFill>
                <a:latin typeface="Manrope"/>
                <a:cs typeface="IBM Plex Sans Arabic Medium"/>
              </a:rPr>
              <a:t>لسه مطلوبة.</a:t>
            </a:r>
          </a:p>
        </p:txBody>
      </p:sp>
      <p:cxnSp>
        <p:nvCxnSpPr>
          <p:cNvPr id="54" name="Connector 53"/>
          <p:cNvCxnSpPr/>
          <p:nvPr/>
        </p:nvCxnSpPr>
        <p:spPr>
          <a:xfrm flipH="1">
            <a:off x="8458200" y="4419600"/>
            <a:ext cx="361950"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ectangle 54"/>
          <p:cNvSpPr/>
          <p:nvPr/>
        </p:nvSpPr>
        <p:spPr>
          <a:xfrm>
            <a:off x="466725" y="2371725"/>
            <a:ext cx="7905750" cy="3790950"/>
          </a:xfrm>
          <a:prstGeom prst="rect">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533400" y="2438400"/>
            <a:ext cx="7696200" cy="3581400"/>
          </a:xfrm>
          <a:prstGeom prst="roundRect">
            <a:avLst>
              <a:gd name="adj" fmla="val 3191"/>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685800" y="2571750"/>
            <a:ext cx="7467600" cy="3352800"/>
          </a:xfrm>
          <a:prstGeom prst="roundRect">
            <a:avLst>
              <a:gd name="adj" fmla="val 3409"/>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914400" y="2762250"/>
            <a:ext cx="7010400" cy="390525"/>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أكثر من سجل عميل</a:t>
            </a:r>
          </a:p>
        </p:txBody>
      </p:sp>
      <p:sp>
        <p:nvSpPr>
          <p:cNvPr id="59" name="TextBox 58"/>
          <p:cNvSpPr txBox="1"/>
          <p:nvPr/>
        </p:nvSpPr>
        <p:spPr>
          <a:xfrm>
            <a:off x="914400" y="3286125"/>
            <a:ext cx="7010400" cy="31432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645E"/>
                </a:solidFill>
                <a:latin typeface="Manrope"/>
                <a:cs typeface="IBM Plex Sans Arabic Medium"/>
              </a:rPr>
              <a:t>الموظف يختار السجل المناسب</a:t>
            </a:r>
          </a:p>
        </p:txBody>
      </p:sp>
      <p:sp>
        <p:nvSpPr>
          <p:cNvPr id="60" name="Rounded Rectangle 59"/>
          <p:cNvSpPr/>
          <p:nvPr/>
        </p:nvSpPr>
        <p:spPr>
          <a:xfrm>
            <a:off x="914400" y="3810000"/>
            <a:ext cx="7010400" cy="590550"/>
          </a:xfrm>
          <a:prstGeom prst="roundRect">
            <a:avLst>
              <a:gd name="adj" fmla="val 12000"/>
            </a:avLst>
          </a:prstGeom>
          <a:solidFill>
            <a:srgbClr val="F4F2E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Oval 60"/>
          <p:cNvSpPr/>
          <p:nvPr/>
        </p:nvSpPr>
        <p:spPr>
          <a:xfrm>
            <a:off x="7419975" y="3895725"/>
            <a:ext cx="371475" cy="3714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62" name="Picture 61" descr="icon-actor.png"/>
          <p:cNvPicPr>
            <a:picLocks noChangeAspect="1"/>
          </p:cNvPicPr>
          <p:nvPr/>
        </p:nvPicPr>
        <p:blipFill>
          <a:blip r:embed="rId9"/>
          <a:stretch>
            <a:fillRect/>
          </a:stretch>
        </p:blipFill>
        <p:spPr>
          <a:xfrm>
            <a:off x="7501700" y="3977450"/>
            <a:ext cx="208026" cy="208026"/>
          </a:xfrm>
          <a:prstGeom prst="rect">
            <a:avLst/>
          </a:prstGeom>
          <a:effectLst/>
        </p:spPr>
      </p:pic>
      <p:sp>
        <p:nvSpPr>
          <p:cNvPr id="63" name="TextBox 62"/>
          <p:cNvSpPr txBox="1"/>
          <p:nvPr/>
        </p:nvSpPr>
        <p:spPr>
          <a:xfrm>
            <a:off x="4295775" y="3952875"/>
            <a:ext cx="2962275" cy="35242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العميل A</a:t>
            </a:r>
          </a:p>
        </p:txBody>
      </p:sp>
      <p:sp>
        <p:nvSpPr>
          <p:cNvPr id="64" name="TextBox 63"/>
          <p:cNvSpPr txBox="1"/>
          <p:nvPr/>
        </p:nvSpPr>
        <p:spPr>
          <a:xfrm>
            <a:off x="1314450" y="3952875"/>
            <a:ext cx="2800350" cy="352425"/>
          </a:xfrm>
          <a:prstGeom prst="rect">
            <a:avLst/>
          </a:prstGeom>
          <a:noFill/>
          <a:effectLst/>
        </p:spPr>
        <p:txBody>
          <a:bodyPr wrap="square" lIns="0" rIns="0" tIns="0" bIns="0" anchor="t">
            <a:spAutoFit/>
          </a:bodyPr>
          <a:lstStyle/>
          <a:p>
            <a:pPr algn="r" rtl="0">
              <a:lnSpc>
                <a:spcPts val="1932"/>
              </a:lnSpc>
              <a:spcBef>
                <a:spcPts val="0"/>
              </a:spcBef>
              <a:spcAft>
                <a:spcPts val="0"/>
              </a:spcAft>
            </a:pPr>
            <a:r>
              <a:rPr sz="1725" b="0" lang="ar-EG">
                <a:solidFill>
                  <a:srgbClr val="262626"/>
                </a:solidFill>
                <a:latin typeface="Manrope"/>
                <a:cs typeface="IBM Plex Sans Arabic Medium"/>
              </a:rPr>
              <a:t>+20 ••• 410</a:t>
            </a:r>
          </a:p>
        </p:txBody>
      </p:sp>
      <p:sp>
        <p:nvSpPr>
          <p:cNvPr id="65" name="Rounded Rectangle 64"/>
          <p:cNvSpPr/>
          <p:nvPr/>
        </p:nvSpPr>
        <p:spPr>
          <a:xfrm>
            <a:off x="914400" y="4514850"/>
            <a:ext cx="7010400" cy="590550"/>
          </a:xfrm>
          <a:prstGeom prst="roundRect">
            <a:avLst>
              <a:gd name="adj" fmla="val 12000"/>
            </a:avLst>
          </a:prstGeom>
          <a:solidFill>
            <a:srgbClr val="F4F2E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Oval 65"/>
          <p:cNvSpPr/>
          <p:nvPr/>
        </p:nvSpPr>
        <p:spPr>
          <a:xfrm>
            <a:off x="7419975" y="4600575"/>
            <a:ext cx="371475" cy="3714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67" name="Picture 66" descr="icon-actor.png"/>
          <p:cNvPicPr>
            <a:picLocks noChangeAspect="1"/>
          </p:cNvPicPr>
          <p:nvPr/>
        </p:nvPicPr>
        <p:blipFill>
          <a:blip r:embed="rId9"/>
          <a:stretch>
            <a:fillRect/>
          </a:stretch>
        </p:blipFill>
        <p:spPr>
          <a:xfrm>
            <a:off x="7501700" y="4682300"/>
            <a:ext cx="208026" cy="208026"/>
          </a:xfrm>
          <a:prstGeom prst="rect">
            <a:avLst/>
          </a:prstGeom>
          <a:effectLst/>
        </p:spPr>
      </p:pic>
      <p:sp>
        <p:nvSpPr>
          <p:cNvPr id="68" name="TextBox 67"/>
          <p:cNvSpPr txBox="1"/>
          <p:nvPr/>
        </p:nvSpPr>
        <p:spPr>
          <a:xfrm>
            <a:off x="4295775" y="4657725"/>
            <a:ext cx="2962275" cy="35242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العميل B</a:t>
            </a:r>
          </a:p>
        </p:txBody>
      </p:sp>
      <p:sp>
        <p:nvSpPr>
          <p:cNvPr id="69" name="TextBox 68"/>
          <p:cNvSpPr txBox="1"/>
          <p:nvPr/>
        </p:nvSpPr>
        <p:spPr>
          <a:xfrm>
            <a:off x="1314450" y="4657725"/>
            <a:ext cx="2800350" cy="352425"/>
          </a:xfrm>
          <a:prstGeom prst="rect">
            <a:avLst/>
          </a:prstGeom>
          <a:noFill/>
          <a:effectLst/>
        </p:spPr>
        <p:txBody>
          <a:bodyPr wrap="square" lIns="0" rIns="0" tIns="0" bIns="0" anchor="t">
            <a:spAutoFit/>
          </a:bodyPr>
          <a:lstStyle/>
          <a:p>
            <a:pPr algn="r" rtl="0">
              <a:lnSpc>
                <a:spcPts val="1932"/>
              </a:lnSpc>
              <a:spcBef>
                <a:spcPts val="0"/>
              </a:spcBef>
              <a:spcAft>
                <a:spcPts val="0"/>
              </a:spcAft>
            </a:pPr>
            <a:r>
              <a:rPr sz="1725" b="0" lang="ar-EG">
                <a:solidFill>
                  <a:srgbClr val="262626"/>
                </a:solidFill>
                <a:latin typeface="Manrope"/>
                <a:cs typeface="IBM Plex Sans Arabic Medium"/>
              </a:rPr>
              <a:t>+20 ••• 410</a:t>
            </a:r>
          </a:p>
        </p:txBody>
      </p:sp>
      <p:sp>
        <p:nvSpPr>
          <p:cNvPr id="70" name="Rounded Rectangle 69"/>
          <p:cNvSpPr/>
          <p:nvPr/>
        </p:nvSpPr>
        <p:spPr>
          <a:xfrm>
            <a:off x="914400" y="3810000"/>
            <a:ext cx="7010400" cy="590550"/>
          </a:xfrm>
          <a:prstGeom prst="roundRect">
            <a:avLst>
              <a:gd name="adj" fmla="val 10000"/>
            </a:avLst>
          </a:prstGeom>
          <a:noFill/>
          <a:ln w="19050">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71" name="Picture 70" descr="icon-pointer.png"/>
          <p:cNvPicPr>
            <a:picLocks noChangeAspect="1"/>
          </p:cNvPicPr>
          <p:nvPr/>
        </p:nvPicPr>
        <p:blipFill>
          <a:blip r:embed="rId13"/>
          <a:stretch>
            <a:fillRect/>
          </a:stretch>
        </p:blipFill>
        <p:spPr>
          <a:xfrm>
            <a:off x="1028700" y="4076700"/>
            <a:ext cx="371475" cy="371475"/>
          </a:xfrm>
          <a:prstGeom prst="rect">
            <a:avLst/>
          </a:prstGeom>
          <a:effectLst/>
        </p:spPr>
      </p:pic>
      <p:sp>
        <p:nvSpPr>
          <p:cNvPr id="72" name="TextBox 71"/>
          <p:cNvSpPr txBox="1"/>
          <p:nvPr/>
        </p:nvSpPr>
        <p:spPr>
          <a:xfrm>
            <a:off x="914400" y="5219700"/>
            <a:ext cx="7010400" cy="3048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645E"/>
                </a:solidFill>
                <a:latin typeface="Manrope"/>
                <a:cs typeface="IBM Plex Sans Arabic Medium"/>
              </a:rPr>
              <a:t>مطابقة الرقم لا تثبت الهوية</a:t>
            </a:r>
          </a:p>
        </p:txBody>
      </p: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GRINDCTRL × كونكريت · عرض المنتج بالتعليق الصوتي</dc:title>
  <dc:subject>Reported caller-context gap: Genesys call assignment and Zoho Desk ticket lookup. Proposed workflow; fictional records.</dc:subject>
  <dc:creator>GRINDCTRL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