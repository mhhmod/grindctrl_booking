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المستخدم أفاد إن Zoho مستخدم للتذاكر فقط، وإن سجل العميل وتذاكره لا تظهر تلقائيًا للموظف مع مكالمة Genesys. وأكّد إن البحث اليدوي برقم التليفون بيوصل للتذاكر السابقة. دي معلومات من المستخدم ولم تُختبر داخل الأنظمة.</a:t>
            </a:r>
          </a:p>
          <a:p/>
          <a:p>
            <a:r>
              <a:t>العرض الأول هو فحص الـpop-up المذكور في العقد وإظهار سياق العميل وتذاكره مع المكالمة، باستخدام إعدادات النظام الأصلية إذا كانت مناسبة. لا نفترض تشغيل منتج Zoho CRM.</a:t>
            </a:r>
          </a:p>
          <a:p/>
          <a:p>
            <a:r>
              <a:t>مقترح لأول تعاون. مفيش علاقة حالية أو تنفيذ سابق لـGRINDCTRL مع كونكريت أو Centro. كل العملاء والأرقام والتذاكر والملاحظات والحالات والمحادثات أمثلة خيالية. الشاشات واجهات مقترحة مستقلة، وليست لقطات رسمية للأنظمة.</a:t>
            </a:r>
          </a:p>
          <a:p/>
          <a:p>
            <a:r>
              <a:t>الحركة توضح ترتيب الأحداث، وليست قياسًا لسرعة الأنظمة. العرض لا يشغّل ربطًا حيًا أو backend أو نموذج AI. الرقم يشير لسجل محتمل للعميل ولا يثبت هويته. تُطبّق صلاحيات الموظف وإجراءات التحقق من المتصل.</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المستخدم أفاد إن Zoho مستخدم للتذاكر فقط، وإن سجل العميل وتذاكره لا تظهر تلقائيًا للموظف مع مكالمة Genesys. وأكّد إن البحث اليدوي برقم التليفون بيوصل للتذاكر السابقة. دي معلومات من المستخدم ولم تُختبر داخل الأنظمة.</a:t>
            </a:r>
          </a:p>
          <a:p/>
          <a:p>
            <a:r>
              <a:t>العرض الأول هو فحص الـpop-up المذكور في العقد وإظهار سياق العميل وتذاكره مع المكالمة، باستخدام إعدادات النظام الأصلية إذا كانت مناسبة. لا نفترض تشغيل منتج Zoho CRM.</a:t>
            </a:r>
          </a:p>
          <a:p/>
          <a:p>
            <a:r>
              <a:t>التسلسل الحالي يمثل غياب ظهور السياق تلقائيًا والبحث اليدوي الشغّال بحسب المستخدم. التسلسل المقترح يستخدم سجلات خيالية، وليس صورة لشاشة الموظف الحالية.</a:t>
            </a:r>
          </a:p>
          <a:p/>
          <a:p>
            <a:r>
              <a:t>القيمة المتوقعة: خطوات بحث يدوية أقل والوصول للملاحظات السابقة أسرع. وقت التعامل وسرعة ظهور البيانات وصحة المطابقة وأثر الجودة والتكلفة تُقاس في تجربة مصرح بها؛ بدون نسب أو توفير مضمون.</a:t>
            </a:r>
          </a:p>
          <a:p/>
          <a:p>
            <a:r>
              <a:t>مقترح لأول تعاون. مفيش علاقة حالية أو تنفيذ سابق لـGRINDCTRL مع كونكريت أو Centro. كل العملاء والأرقام والتذاكر والملاحظات والحالات والمحادثات أمثلة خيالية. الشاشات واجهات مقترحة مستقلة، وليست لقطات رسمية للأنظمة.</a:t>
            </a:r>
          </a:p>
          <a:p/>
          <a:p>
            <a:r>
              <a:t>الحركة توضح ترتيب الأحداث، وليست قياسًا لسرعة الأنظمة. العرض لا يشغّل ربطًا حيًا أو backend أو نموذج AI. الرقم يشير لسجل محتمل للعميل ولا يثبت هويته. تُطبّق صلاحيات الموظف وإجراءات التحقق من المتصل.</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المستخدم أفاد إن Zoho مستخدم للتذاكر فقط، وإن سجل العميل وتذاكره لا تظهر تلقائيًا للموظف مع مكالمة Genesys. وأكّد إن البحث اليدوي برقم التليفون بيوصل للتذاكر السابقة. دي معلومات من المستخدم ولم تُختبر داخل الأنظمة.</a:t>
            </a:r>
          </a:p>
          <a:p/>
          <a:p>
            <a:r>
              <a:t>العرض الأول هو فحص الـpop-up المذكور في العقد وإظهار سياق العميل وتذاكره مع المكالمة، باستخدام إعدادات النظام الأصلية إذا كانت مناسبة. لا نفترض تشغيل منتج Zoho CRM.</a:t>
            </a:r>
          </a:p>
          <a:p/>
          <a:p>
            <a:r>
              <a:t>المعاينة واجهة مستقلة مقترحة وليست لقطة رسمية لـGenesys أو Zoho. التنفيذ ممكن يكون من خلال فتح رابط موجود أو لوحة داخلية مدعومة بعد فحص شاشة الموظف. القراءة من جهات الاتصال والتذاكر في Desk، بدون افتراض Zoho CRM.</a:t>
            </a:r>
          </a:p>
          <a:p/>
          <a:p>
            <a:r>
              <a:t>الواجهة الخيالية تعرض العميل A وتذكرتين مفتوحتين وواحدة مغلقة. T101 مثال لمتابعة استبدال بانتظار مراجعة الفرع. الملاحظة توضيح لسجل موجود؛ قراءتها لا تغلق أو تعيد فتح أو تغيّر تذكرة، ولا تتحقق من الهوية أو تصرّح بقرار تجاري.</a:t>
            </a:r>
          </a:p>
          <a:p/>
          <a:p>
            <a:r>
              <a:t>التصميم الفعلي يعتمد على إصدار Genesys وشاشة الموظف وطريقة الـpop-up أو الأحداث المدعومة وتوفر رقم المتصل، وعلى صلاحيات وبحث Zoho Desk. لا نفترض مسارات API أو صلاحيات تراخيص غير متحققة. المعاينة لا تشغّل ربطًا بالأنظمة أو backend.</a:t>
            </a:r>
          </a:p>
          <a:p/>
          <a:p>
            <a:r>
              <a:t>توحيد صيغ أرقام التليفون يتم بقواعد متفق عليها. مطابقة الرقم تشير لسجل محتمل ولا تثبت الهوية. الموظف يرى فقط السجلات المصرح له بها. ربط السجلات يتم بشكل صريح، ويُمنع تكراره لنفس المكالمة والتذكرة في التنفيذ الفعلي.</a:t>
            </a:r>
          </a:p>
          <a:p/>
          <a:p>
            <a:r>
              <a:t>العرض يوضح حالة بحث ناجحة. استلام التنفيذ الفعلي لازم يشمل الرقم المشترك بين أكثر من عميل، والرقم غير الموجود أو الناقص، وتعذر البحث في Desk. الموظف يختار بين السجلات المتعددة. الرقم غير الموجود يتيح البحث بالرقم أو الاسم أو مرجع التذكرة. تعذر البحث يختلف عن عدم وجود تذاكر. المكالمات تفضل مستمرة.</a:t>
            </a:r>
          </a:p>
          <a:p/>
          <a:p>
            <a:r>
              <a:t>تُطبّق إجراءات كونكريت للتحقق من المتصل وصلاحيات الموظف. الواجهات التوضيحية لا تثبت هوية المتصل ولا تقرأ أو تعدّل سجلات خدمة حقيقية.</a:t>
            </a:r>
          </a:p>
          <a:p/>
          <a:p>
            <a:r>
              <a:t>مقترح لأول تعاون. مفيش علاقة حالية أو تنفيذ سابق لـGRINDCTRL مع كونكريت أو Centro. كل العملاء والأرقام والتذاكر والملاحظات والحالات والمحادثات أمثلة خيالية. الشاشات واجهات مقترحة مستقلة، وليست لقطات رسمية للأنظمة.</a:t>
            </a:r>
          </a:p>
          <a:p/>
          <a:p>
            <a:r>
              <a:t>الحركة توضح ترتيب الأحداث، وليست قياسًا لسرعة الأنظمة. العرض لا يشغّل ربطًا حيًا أو backend أو نموذج AI. الرقم يشير لسجل محتمل للعميل ولا يثبت هويته. تُطبّق صلاحيات الموظف وإجراءات التحقق من المتصل.</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التصميم الفعلي يعتمد على إصدار Genesys وشاشة الموظف وطريقة الـpop-up أو الأحداث المدعومة وتوفر رقم المتصل، وعلى صلاحيات وبحث Zoho Desk. لا نفترض مسارات API أو صلاحيات تراخيص غير متحققة. المعاينة لا تشغّل ربطًا بالأنظمة أو backend.</a:t>
            </a:r>
          </a:p>
          <a:p/>
          <a:p>
            <a:r>
              <a:t>توحيد صيغ أرقام التليفون يتم بقواعد متفق عليها. مطابقة الرقم تشير لسجل محتمل ولا تثبت الهوية. الموظف يرى فقط السجلات المصرح له بها. ربط السجلات يتم بشكل صريح، ويُمنع تكراره لنفس المكالمة والتذكرة في التنفيذ الفعلي.</a:t>
            </a:r>
          </a:p>
          <a:p/>
          <a:p>
            <a:r>
              <a:t>عقد نوفمبر ٢٠٢٣ صفحة PDF ٤ يذكر نصًا “CRM URL pop up integration.” ده يثبت وجود البند في النطاق، ولا يثبت تشغيله حاليًا أو وجود مزامنة في الاتجاهين. السبب قد يكون إعدادات أو مطابقة أو صلاحيات أو غير ذلك؛ نفحص الوضع الفعلي قبل اختيار إصلاح الإعدادات الأصلية أو بناء وسيط.</a:t>
            </a:r>
          </a:p>
          <a:p/>
          <a:p>
            <a:r>
              <a:t>الاستلام يشمل مكالمات اختبار فعلية مصرح بها، ومطابقة السجلات وعرض التذاكر، والأرقام المشتركة أو الناقصة، وظهور الأخطاء، وصلاحيات الموظف، وربط المكالمة دون تكرار إذا كان ضمن النطاق. نقارن خطوات ووقت البحث اليدوي بالمسار الجديد ونقيس سرعة البحث ونتائجه. الحدود ونطاق التجربة تُحدد مع كونكريت بدون اختلاقها.</a:t>
            </a:r>
          </a:p>
          <a:p/>
          <a:p>
            <a:r>
              <a:t>بعد ظهور السياق، ممكن إضافة ملخص AI مع مراجع للملاحظات وإظهار النواقص أو التعارض للمراجعة. لا يختلق إجراءات أو وعودًا أو حالات تذاكر. لا يوجد موديل حي أو نتائج توفير أو منتج SaaS متحقق منه بعد.</a:t>
            </a:r>
          </a:p>
          <a:p/>
          <a:p>
            <a:r>
              <a:t>مقترح لأول تعاون. مفيش علاقة حالية أو تنفيذ سابق لـGRINDCTRL مع كونكريت أو Centro. كل العملاء والأرقام والتذاكر والملاحظات والحالات والمحادثات أمثلة خيالية. الشاشات واجهات مقترحة مستقلة، وليست لقطات رسمية للأنظمة.</a:t>
            </a:r>
          </a:p>
          <a:p/>
          <a:p>
            <a:r>
              <a:t>الحركة توضح ترتيب الأحداث، وليست قياسًا لسرعة الأنظمة. العرض لا يشغّل ربطًا حيًا أو backend أو نموذج AI. الرقم يشير لسجل محتمل للعميل ولا يثبت هويته. تُطبّق صلاحيات الموظف وإجراءات التحقق من المتصل.</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المعاينة واجهة مستقلة مقترحة وليست لقطة رسمية لـGenesys أو Zoho. التنفيذ ممكن يكون من خلال فتح رابط موجود أو لوحة داخلية مدعومة بعد فحص شاشة الموظف. القراءة من جهات الاتصال والتذاكر في Desk، بدون افتراض Zoho CRM.</a:t>
            </a:r>
          </a:p>
          <a:p/>
          <a:p>
            <a:r>
              <a:t>الواجهة الخيالية تعرض العميل A وتذكرتين مفتوحتين وواحدة مغلقة. T101 مثال لمتابعة استبدال بانتظار مراجعة الفرع. الملاحظة توضيح لسجل موجود؛ قراءتها لا تغلق أو تعيد فتح أو تغيّر تذكرة، ولا تتحقق من الهوية أو تصرّح بقرار تجاري.</a:t>
            </a:r>
          </a:p>
          <a:p/>
          <a:p>
            <a:r>
              <a:t>العرض يوضح حالة بحث ناجحة. استلام التنفيذ الفعلي لازم يشمل الرقم المشترك بين أكثر من عميل، والرقم غير الموجود أو الناقص، وتعذر البحث في Desk. الموظف يختار بين السجلات المتعددة. الرقم غير الموجود يتيح البحث بالرقم أو الاسم أو مرجع التذكرة. تعذر البحث يختلف عن عدم وجود تذاكر. المكالمات تفضل مستمرة.</a:t>
            </a:r>
          </a:p>
          <a:p/>
          <a:p>
            <a:r>
              <a:t>تُطبّق إجراءات كونكريت للتحقق من المتصل وصلاحيات الموظف. الواجهات التوضيحية لا تثبت هوية المتصل ولا تقرأ أو تعدّل سجلات خدمة حقيقية.</a:t>
            </a:r>
          </a:p>
          <a:p/>
          <a:p>
            <a:r>
              <a:t>مقترح لأول تعاون. مفيش علاقة حالية أو تنفيذ سابق لـGRINDCTRL مع كونكريت أو Centro. كل العملاء والأرقام والتذاكر والملاحظات والحالات والمحادثات أمثلة خيالية. الشاشات واجهات مقترحة مستقلة، وليست لقطات رسمية للأنظمة.</a:t>
            </a:r>
          </a:p>
          <a:p/>
          <a:p>
            <a:r>
              <a:t>الحركة توضح ترتيب الأحداث، وليست قياسًا لسرعة الأنظمة. العرض لا يشغّل ربطًا حيًا أو backend أو نموذج AI. الرقم يشير لسجل محتمل للعميل ولا يثبت هويته. تُطبّق صلاحيات الموظف وإجراءات التحقق من المتصل.</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التسلسل الحالي يمثل غياب ظهور السياق تلقائيًا والبحث اليدوي الشغّال بحسب المستخدم. التسلسل المقترح يستخدم سجلات خيالية، وليس صورة لشاشة الموظف الحالية.</a:t>
            </a:r>
          </a:p>
          <a:p/>
          <a:p>
            <a:r>
              <a:t>القيمة المتوقعة: خطوات بحث يدوية أقل والوصول للملاحظات السابقة أسرع. وقت التعامل وسرعة ظهور البيانات وصحة المطابقة وأثر الجودة والتكلفة تُقاس في تجربة مصرح بها؛ بدون نسب أو توفير مضمون.</a:t>
            </a:r>
          </a:p>
          <a:p/>
          <a:p>
            <a:r>
              <a:t>المعاينة واجهة مستقلة مقترحة وليست لقطة رسمية لـGenesys أو Zoho. التنفيذ ممكن يكون من خلال فتح رابط موجود أو لوحة داخلية مدعومة بعد فحص شاشة الموظف. القراءة من جهات الاتصال والتذاكر في Desk، بدون افتراض Zoho CRM.</a:t>
            </a:r>
          </a:p>
          <a:p/>
          <a:p>
            <a:r>
              <a:t>الواجهة الخيالية تعرض العميل A وتذكرتين مفتوحتين وواحدة مغلقة. T101 مثال لمتابعة استبدال بانتظار مراجعة الفرع. الملاحظة توضيح لسجل موجود؛ قراءتها لا تغلق أو تعيد فتح أو تغيّر تذكرة، ولا تتحقق من الهوية أو تصرّح بقرار تجاري.</a:t>
            </a:r>
          </a:p>
          <a:p/>
          <a:p>
            <a:r>
              <a:t>مقترح لأول تعاون. مفيش علاقة حالية أو تنفيذ سابق لـGRINDCTRL مع كونكريت أو Centro. كل العملاء والأرقام والتذاكر والملاحظات والحالات والمحادثات أمثلة خيالية. الشاشات واجهات مقترحة مستقلة، وليست لقطات رسمية للأنظمة.</a:t>
            </a:r>
          </a:p>
          <a:p/>
          <a:p>
            <a:r>
              <a:t>الحركة توضح ترتيب الأحداث، وليست قياسًا لسرعة الأنظمة. العرض لا يشغّل ربطًا حيًا أو backend أو نموذج AI. الرقم يشير لسجل محتمل للعميل ولا يثبت هويته. تُطبّق صلاحيات الموظف وإجراءات التحقق من المتصل.</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التسلسل الحالي يمثل غياب ظهور السياق تلقائيًا والبحث اليدوي الشغّال بحسب المستخدم. التسلسل المقترح يستخدم سجلات خيالية، وليس صورة لشاشة الموظف الحالية.</a:t>
            </a:r>
          </a:p>
          <a:p/>
          <a:p>
            <a:r>
              <a:t>القيمة المتوقعة: خطوات بحث يدوية أقل والوصول للملاحظات السابقة أسرع. وقت التعامل وسرعة ظهور البيانات وصحة المطابقة وأثر الجودة والتكلفة تُقاس في تجربة مصرح بها؛ بدون نسب أو توفير مضمون.</a:t>
            </a:r>
          </a:p>
          <a:p/>
          <a:p>
            <a:r>
              <a:t>عقد نوفمبر ٢٠٢٣ صفحة PDF ٤ يذكر نصًا “CRM URL pop up integration.” ده يثبت وجود البند في النطاق، ولا يثبت تشغيله حاليًا أو وجود مزامنة في الاتجاهين. السبب قد يكون إعدادات أو مطابقة أو صلاحيات أو غير ذلك؛ نفحص الوضع الفعلي قبل اختيار إصلاح الإعدادات الأصلية أو بناء وسيط.</a:t>
            </a:r>
          </a:p>
          <a:p/>
          <a:p>
            <a:r>
              <a:t>الاستلام يشمل مكالمات اختبار فعلية مصرح بها، ومطابقة السجلات وعرض التذاكر، والأرقام المشتركة أو الناقصة، وظهور الأخطاء، وصلاحيات الموظف، وربط المكالمة دون تكرار إذا كان ضمن النطاق. نقارن خطوات ووقت البحث اليدوي بالمسار الجديد ونقيس سرعة البحث ونتائجه. الحدود ونطاق التجربة تُحدد مع كونكريت بدون اختلاقها.</a:t>
            </a:r>
          </a:p>
          <a:p/>
          <a:p>
            <a:r>
              <a:t>بعد ظهور السياق، ممكن إضافة ملخص AI مع مراجع للملاحظات وإظهار النواقص أو التعارض للمراجعة. لا يختلق إجراءات أو وعودًا أو حالات تذاكر. لا يوجد موديل حي أو نتائج توفير أو منتج SaaS متحقق منه بعد.</a:t>
            </a:r>
          </a:p>
          <a:p/>
          <a:p>
            <a:r>
              <a:t>مقترح لأول تعاون. مفيش علاقة حالية أو تنفيذ سابق لـGRINDCTRL مع كونكريت أو Centro. كل العملاء والأرقام والتذاكر والملاحظات والحالات والمحادثات أمثلة خيالية. الشاشات واجهات مقترحة مستقلة، وليست لقطات رسمية للأنظمة.</a:t>
            </a:r>
          </a:p>
          <a:p/>
          <a:p>
            <a:r>
              <a:t>الحركة توضح ترتيب الأحداث، وليست قياسًا لسرعة الأنظمة. العرض لا يشغّل ربطًا حيًا أو backend أو نموذج AI. الرقم يشير لسجل محتمل للعميل ولا يثبت هويته. تُطبّق صلاحيات الموظف وإجراءات التحقق من المتصل.</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عقد نوفمبر ٢٠٢٣ صفحة PDF ٤ يذكر نصًا “CRM URL pop up integration.” ده يثبت وجود البند في النطاق، ولا يثبت تشغيله حاليًا أو وجود مزامنة في الاتجاهين. السبب قد يكون إعدادات أو مطابقة أو صلاحيات أو غير ذلك؛ نفحص الوضع الفعلي قبل اختيار إصلاح الإعدادات الأصلية أو بناء وسيط.</a:t>
            </a:r>
          </a:p>
          <a:p/>
          <a:p>
            <a:r>
              <a:t>الاستلام يشمل مكالمات اختبار فعلية مصرح بها، ومطابقة السجلات وعرض التذاكر، والأرقام المشتركة أو الناقصة، وظهور الأخطاء، وصلاحيات الموظف، وربط المكالمة دون تكرار إذا كان ضمن النطاق. نقارن خطوات ووقت البحث اليدوي بالمسار الجديد ونقيس سرعة البحث ونتائجه. الحدود ونطاق التجربة تُحدد مع كونكريت بدون اختلاقها.</a:t>
            </a:r>
          </a:p>
          <a:p/>
          <a:p>
            <a:r>
              <a:t>بعد ظهور السياق، ممكن إضافة ملخص AI مع مراجع للملاحظات وإظهار النواقص أو التعارض للمراجعة. لا يختلق إجراءات أو وعودًا أو حالات تذاكر. لا يوجد موديل حي أو نتائج توفير أو منتج SaaS متحقق منه بعد.</a:t>
            </a:r>
          </a:p>
          <a:p/>
          <a:p>
            <a:r>
              <a:t>مقترح لأول تعاون. مفيش علاقة حالية أو تنفيذ سابق لـGRINDCTRL مع كونكريت أو Centro. كل العملاء والأرقام والتذاكر والملاحظات والحالات والمحادثات أمثلة خيالية. الشاشات واجهات مقترحة مستقلة، وليست لقطات رسمية للأنظمة.</a:t>
            </a:r>
          </a:p>
          <a:p/>
          <a:p>
            <a:r>
              <a:t>الحركة توضح ترتيب الأحداث، وليست قياسًا لسرعة الأنظمة. العرض لا يشغّل ربطًا حيًا أو backend أو نموذج AI. الرقم يشير لسجل محتمل للعميل ولا يثبت هويته. تُطبّق صلاحيات الموظف وإجراءات التحقق من المتصل.</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العرض يوضح حالة بحث ناجحة. استلام التنفيذ الفعلي لازم يشمل الرقم المشترك بين أكثر من عميل، والرقم غير الموجود أو الناقص، وتعذر البحث في Desk. الموظف يختار بين السجلات المتعددة. الرقم غير الموجود يتيح البحث بالرقم أو الاسم أو مرجع التذكرة. تعذر البحث يختلف عن عدم وجود تذاكر. المكالمات تفضل مستمرة.</a:t>
            </a:r>
          </a:p>
          <a:p/>
          <a:p>
            <a:r>
              <a:t>تُطبّق إجراءات كونكريت للتحقق من المتصل وصلاحيات الموظف. الواجهات التوضيحية لا تثبت هوية المتصل ولا تقرأ أو تعدّل سجلات خدمة حقيقية.</a:t>
            </a:r>
          </a:p>
          <a:p/>
          <a:p>
            <a:r>
              <a:t>عقد نوفمبر ٢٠٢٣ صفحة PDF ٤ يذكر نصًا “CRM URL pop up integration.” ده يثبت وجود البند في النطاق، ولا يثبت تشغيله حاليًا أو وجود مزامنة في الاتجاهين. السبب قد يكون إعدادات أو مطابقة أو صلاحيات أو غير ذلك؛ نفحص الوضع الفعلي قبل اختيار إصلاح الإعدادات الأصلية أو بناء وسيط.</a:t>
            </a:r>
          </a:p>
          <a:p/>
          <a:p>
            <a:r>
              <a:t>الاستلام يشمل مكالمات اختبار فعلية مصرح بها، ومطابقة السجلات وعرض التذاكر، والأرقام المشتركة أو الناقصة، وظهور الأخطاء، وصلاحيات الموظف، وربط المكالمة دون تكرار إذا كان ضمن النطاق. نقارن خطوات ووقت البحث اليدوي بالمسار الجديد ونقيس سرعة البحث ونتائجه. الحدود ونطاق التجربة تُحدد مع كونكريت بدون اختلاقها.</a:t>
            </a:r>
          </a:p>
          <a:p/>
          <a:p>
            <a:r>
              <a:t>بعد ظهور السياق، ممكن إضافة ملخص AI مع مراجع للملاحظات وإظهار النواقص أو التعارض للمراجعة. لا يختلق إجراءات أو وعودًا أو حالات تذاكر. لا يوجد موديل حي أو نتائج توفير أو منتج SaaS متحقق منه بعد.</a:t>
            </a:r>
          </a:p>
          <a:p/>
          <a:p>
            <a:r>
              <a:t>مقترح لأول تعاون. مفيش علاقة حالية أو تنفيذ سابق لـGRINDCTRL مع كونكريت أو Centro. كل العملاء والأرقام والتذاكر والملاحظات والحالات والمحادثات أمثلة خيالية. الشاشات واجهات مقترحة مستقلة، وليست لقطات رسمية للأنظمة.</a:t>
            </a:r>
          </a:p>
          <a:p/>
          <a:p>
            <a:r>
              <a:t>الحركة توضح ترتيب الأحداث، وليست قياسًا لسرعة الأنظمة. العرض لا يشغّل ربطًا حيًا أو backend أو نموذج AI. الرقم يشير لسجل محتمل للعميل ولا يثبت هويته. تُطبّق صلاحيات الموظف وإجراءات التحقق من المتصل.</a:t>
            </a:r>
          </a:p>
          <a:p/>
          <a:p>
            <a:r>
              <a:t>SOURCES (PDF pages):</a:t>
            </a:r>
          </a:p>
          <a:p/>
          <a:p>
            <a:r>
              <a:t>User report in this session —  — Zoho للتذاكر؛ تاريخ العميل لا يظهر تلقائيًا؛ البحث اليدوي بالرقم يصل للتذاكر. لم يُختبر بصورة مستقلة.</a:t>
            </a:r>
          </a:p>
          <a:p/>
          <a:p>
            <a:r>
              <a:t>Concrete contract (29-11-2023).pdf — 4 — بند النطاق بالنص: “CRM URL pop up integration.” ليس إثباتًا للتشغيل الحالي أو المزامنة في الاتجاهين.</a:t>
            </a:r>
          </a:p>
          <a:p/>
          <a:p>
            <a:r>
              <a:t>Concrete contract (06-09-2022).pdf — 7 — نطاق تذاكر وربط Zoho. لا يثبت تشغيل تطبيق Zoho CRM أو مطابقة الحقول الحالية.</a:t>
            </a:r>
          </a:p>
          <a:p/>
          <a:p>
            <a:r>
              <a:t>No existing Concrete/Centro relationship. All sample records are fictional. No live connector. Reported workflow has not been independently tested.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210925" y="292100"/>
            <a:ext cx="409575" cy="273050"/>
          </a:xfrm>
          <a:prstGeom prst="rect">
            <a:avLst/>
          </a:prstGeom>
          <a:effectLst/>
        </p:spPr>
      </p:pic>
      <p:sp>
        <p:nvSpPr>
          <p:cNvPr id="3" name="TextBox 2"/>
          <p:cNvSpPr txBox="1"/>
          <p:nvPr/>
        </p:nvSpPr>
        <p:spPr>
          <a:xfrm>
            <a:off x="9629775" y="323850"/>
            <a:ext cx="1466850" cy="257175"/>
          </a:xfrm>
          <a:prstGeom prst="rect">
            <a:avLst/>
          </a:prstGeom>
          <a:noFill/>
          <a:effectLst/>
        </p:spPr>
        <p:txBody>
          <a:bodyPr wrap="square" lIns="0" rIns="0" tIns="0" bIns="0" anchor="t">
            <a:spAutoFit/>
          </a:bodyPr>
          <a:lstStyle/>
          <a:p>
            <a:pPr algn="r" rtl="0">
              <a:lnSpc>
                <a:spcPts val="1428"/>
              </a:lnSpc>
              <a:spcBef>
                <a:spcPts val="0"/>
              </a:spcBef>
              <a:spcAft>
                <a:spcPts val="0"/>
              </a:spcAft>
            </a:pPr>
            <a:r>
              <a:rPr sz="1275" b="1" lang="ar-EG">
                <a:solidFill>
                  <a:srgbClr val="29302D"/>
                </a:solidFill>
                <a:latin typeface="Manrope"/>
                <a:cs typeface="IBM Plex Sans Arabic Medium"/>
              </a:rPr>
              <a:t>GRINDCTRL</a:t>
            </a:r>
          </a:p>
        </p:txBody>
      </p:sp>
      <p:sp>
        <p:nvSpPr>
          <p:cNvPr id="4" name="TextBox 3"/>
          <p:cNvSpPr txBox="1"/>
          <p:nvPr/>
        </p:nvSpPr>
        <p:spPr>
          <a:xfrm>
            <a:off x="571500" y="333375"/>
            <a:ext cx="4171950" cy="247650"/>
          </a:xfrm>
          <a:prstGeom prst="rect">
            <a:avLst/>
          </a:prstGeom>
          <a:noFill/>
          <a:effectLst/>
        </p:spPr>
        <p:txBody>
          <a:bodyPr wrap="square" lIns="0" rIns="0" tIns="0" bIns="0" anchor="t">
            <a:spAutoFit/>
          </a:bodyPr>
          <a:lstStyle/>
          <a:p>
            <a:pPr algn="l" rtl="1">
              <a:lnSpc>
                <a:spcPts val="1176"/>
              </a:lnSpc>
              <a:spcBef>
                <a:spcPts val="0"/>
              </a:spcBef>
              <a:spcAft>
                <a:spcPts val="0"/>
              </a:spcAft>
            </a:pPr>
            <a:r>
              <a:rPr sz="1050" b="0" lang="ar-EG">
                <a:solidFill>
                  <a:srgbClr val="68716B"/>
                </a:solidFill>
                <a:latin typeface="Manrope"/>
                <a:cs typeface="IBM Plex Sans Arabic Medium"/>
              </a:rPr>
              <a:t>مقترح لخدمة العملاء</a:t>
            </a:r>
          </a:p>
        </p:txBody>
      </p:sp>
      <p:cxnSp>
        <p:nvCxnSpPr>
          <p:cNvPr id="5" name="Connector 4"/>
          <p:cNvCxnSpPr/>
          <p:nvPr/>
        </p:nvCxnSpPr>
        <p:spPr>
          <a:xfrm flipH="1">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2095500" y="6534150"/>
            <a:ext cx="9525000" cy="219075"/>
          </a:xfrm>
          <a:prstGeom prst="rect">
            <a:avLst/>
          </a:prstGeom>
          <a:noFill/>
          <a:effectLst/>
        </p:spPr>
        <p:txBody>
          <a:bodyPr wrap="square" lIns="0" rIns="0" tIns="0" bIns="0" anchor="t">
            <a:spAutoFit/>
          </a:bodyPr>
          <a:lstStyle/>
          <a:p>
            <a:pPr algn="r" rtl="1">
              <a:lnSpc>
                <a:spcPts val="1008"/>
              </a:lnSpc>
              <a:spcBef>
                <a:spcPts val="0"/>
              </a:spcBef>
              <a:spcAft>
                <a:spcPts val="0"/>
              </a:spcAft>
            </a:pPr>
            <a:r>
              <a:rPr sz="900" b="0" lang="ar-EG">
                <a:solidFill>
                  <a:srgbClr val="68716B"/>
                </a:solidFill>
                <a:latin typeface="Manrope"/>
                <a:cs typeface="IBM Plex Sans Arabic Medium"/>
              </a:rPr>
              <a:t>كونكريت · تعاون مقترح</a:t>
            </a:r>
          </a:p>
        </p:txBody>
      </p:sp>
      <p:sp>
        <p:nvSpPr>
          <p:cNvPr id="7" name="TextBox 6"/>
          <p:cNvSpPr txBox="1"/>
          <p:nvPr/>
        </p:nvSpPr>
        <p:spPr>
          <a:xfrm>
            <a:off x="571500" y="6515100"/>
            <a:ext cx="83820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716B"/>
                </a:solidFill>
                <a:latin typeface="Manrope"/>
                <a:cs typeface="IBM Plex Sans Arabic Medium"/>
              </a:rPr>
              <a:t>01 / 09</a:t>
            </a:r>
          </a:p>
        </p:txBody>
      </p:sp>
      <p:sp>
        <p:nvSpPr>
          <p:cNvPr id="8" name="TextBox 7"/>
          <p:cNvSpPr txBox="1"/>
          <p:nvPr/>
        </p:nvSpPr>
        <p:spPr>
          <a:xfrm>
            <a:off x="6924675" y="1581150"/>
            <a:ext cx="4695825" cy="323850"/>
          </a:xfrm>
          <a:prstGeom prst="rect">
            <a:avLst/>
          </a:prstGeom>
          <a:noFill/>
          <a:effectLst/>
        </p:spPr>
        <p:txBody>
          <a:bodyPr wrap="square" lIns="0" rIns="0" tIns="0" bIns="0" anchor="t">
            <a:spAutoFit/>
          </a:bodyPr>
          <a:lstStyle/>
          <a:p>
            <a:pPr algn="r" rtl="1">
              <a:lnSpc>
                <a:spcPts val="1344"/>
              </a:lnSpc>
              <a:spcBef>
                <a:spcPts val="0"/>
              </a:spcBef>
              <a:spcAft>
                <a:spcPts val="0"/>
              </a:spcAft>
            </a:pPr>
            <a:r>
              <a:rPr sz="1200" b="1" lang="ar-EG">
                <a:solidFill>
                  <a:srgbClr val="9F5836"/>
                </a:solidFill>
                <a:latin typeface="Manrope"/>
                <a:cs typeface="IBM Plex Sans Arabic Medium"/>
              </a:rPr>
              <a:t>لكونكريت</a:t>
            </a:r>
          </a:p>
        </p:txBody>
      </p:sp>
      <p:sp>
        <p:nvSpPr>
          <p:cNvPr id="9" name="TextBox 8"/>
          <p:cNvSpPr txBox="1"/>
          <p:nvPr/>
        </p:nvSpPr>
        <p:spPr>
          <a:xfrm>
            <a:off x="6829425" y="2066925"/>
            <a:ext cx="4791075" cy="1343025"/>
          </a:xfrm>
          <a:prstGeom prst="rect">
            <a:avLst/>
          </a:prstGeom>
          <a:noFill/>
          <a:effectLst/>
        </p:spPr>
        <p:txBody>
          <a:bodyPr wrap="square" lIns="0" rIns="0" tIns="0" bIns="0" anchor="t">
            <a:spAutoFit/>
          </a:bodyPr>
          <a:lstStyle/>
          <a:p>
            <a:pPr algn="r" rtl="1">
              <a:lnSpc>
                <a:spcPts val="4200"/>
              </a:lnSpc>
              <a:spcBef>
                <a:spcPts val="0"/>
              </a:spcBef>
              <a:spcAft>
                <a:spcPts val="0"/>
              </a:spcAft>
            </a:pPr>
            <a:r>
              <a:rPr sz="3750" b="1" lang="ar-EG">
                <a:solidFill>
                  <a:srgbClr val="29302D"/>
                </a:solidFill>
                <a:latin typeface="Manrope"/>
                <a:cs typeface="IBM Plex Sans Arabic Medium"/>
              </a:rPr>
              <a:t>معلومات العميل،</a:t>
            </a:r>
          </a:p>
          <a:p>
            <a:pPr algn="r" rtl="1">
              <a:lnSpc>
                <a:spcPts val="4200"/>
              </a:lnSpc>
              <a:spcBef>
                <a:spcPts val="0"/>
              </a:spcBef>
              <a:spcAft>
                <a:spcPts val="0"/>
              </a:spcAft>
            </a:pPr>
            <a:r>
              <a:rPr sz="3750" b="1" lang="ar-EG">
                <a:solidFill>
                  <a:srgbClr val="29302D"/>
                </a:solidFill>
                <a:latin typeface="Manrope"/>
                <a:cs typeface="IBM Plex Sans Arabic Medium"/>
              </a:rPr>
              <a:t>مع كل مكالمة.</a:t>
            </a:r>
          </a:p>
        </p:txBody>
      </p:sp>
      <p:sp>
        <p:nvSpPr>
          <p:cNvPr id="10" name="TextBox 9"/>
          <p:cNvSpPr txBox="1"/>
          <p:nvPr/>
        </p:nvSpPr>
        <p:spPr>
          <a:xfrm>
            <a:off x="7019925" y="3629025"/>
            <a:ext cx="4600575" cy="790575"/>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0" lang="ar-EG">
                <a:solidFill>
                  <a:srgbClr val="68716B"/>
                </a:solidFill>
                <a:latin typeface="Manrope"/>
                <a:cs typeface="IBM Plex Sans Arabic Medium"/>
              </a:rPr>
              <a:t>نوصل تاريخ الخدمة الموجود</a:t>
            </a:r>
          </a:p>
          <a:p>
            <a:pPr algn="r" rtl="1">
              <a:lnSpc>
                <a:spcPts val="2016"/>
              </a:lnSpc>
              <a:spcBef>
                <a:spcPts val="0"/>
              </a:spcBef>
              <a:spcAft>
                <a:spcPts val="0"/>
              </a:spcAft>
            </a:pPr>
            <a:r>
              <a:rPr sz="1800" b="0" lang="ar-EG">
                <a:solidFill>
                  <a:srgbClr val="68716B"/>
                </a:solidFill>
                <a:latin typeface="Manrope"/>
                <a:cs typeface="IBM Plex Sans Arabic Medium"/>
              </a:rPr>
              <a:t>للموظف وقت المكالمة.</a:t>
            </a:r>
          </a:p>
        </p:txBody>
      </p:sp>
      <p:pic>
        <p:nvPicPr>
          <p:cNvPr id="11" name="Picture 10" descr="genesys.png"/>
          <p:cNvPicPr>
            <a:picLocks noChangeAspect="1"/>
          </p:cNvPicPr>
          <p:nvPr/>
        </p:nvPicPr>
        <p:blipFill>
          <a:blip r:embed="rId3"/>
          <a:stretch>
            <a:fillRect/>
          </a:stretch>
        </p:blipFill>
        <p:spPr>
          <a:xfrm>
            <a:off x="10077450" y="4955103"/>
            <a:ext cx="1543050" cy="300594"/>
          </a:xfrm>
          <a:prstGeom prst="rect">
            <a:avLst/>
          </a:prstGeom>
          <a:effectLst/>
        </p:spPr>
      </p:pic>
      <p:cxnSp>
        <p:nvCxnSpPr>
          <p:cNvPr id="12" name="Connector 11"/>
          <p:cNvCxnSpPr/>
          <p:nvPr/>
        </p:nvCxnSpPr>
        <p:spPr>
          <a:xfrm flipH="1">
            <a:off x="9525000" y="5105400"/>
            <a:ext cx="333375" cy="0"/>
          </a:xfrm>
          <a:prstGeom prst="line">
            <a:avLst/>
          </a:prstGeom>
          <a:ln w="19050">
            <a:solidFill>
              <a:srgbClr val="E3E7E1"/>
            </a:solidFill>
          </a:ln>
          <a:effectLst/>
        </p:spPr>
        <p:style>
          <a:lnRef idx="2">
            <a:schemeClr val="accent1"/>
          </a:lnRef>
          <a:fillRef idx="0">
            <a:schemeClr val="accent1"/>
          </a:fillRef>
          <a:effectRef idx="0">
            <a:schemeClr val="accent1"/>
          </a:effectRef>
          <a:fontRef idx="minor">
            <a:schemeClr val="tx1"/>
          </a:fontRef>
        </p:style>
      </p:cxnSp>
      <p:pic>
        <p:nvPicPr>
          <p:cNvPr id="13" name="Picture 12" descr="zoho.png"/>
          <p:cNvPicPr>
            <a:picLocks noChangeAspect="1"/>
          </p:cNvPicPr>
          <p:nvPr/>
        </p:nvPicPr>
        <p:blipFill>
          <a:blip r:embed="rId4"/>
          <a:stretch>
            <a:fillRect/>
          </a:stretch>
        </p:blipFill>
        <p:spPr>
          <a:xfrm>
            <a:off x="8295929" y="4895850"/>
            <a:ext cx="953193" cy="409575"/>
          </a:xfrm>
          <a:prstGeom prst="rect">
            <a:avLst/>
          </a:prstGeom>
          <a:effectLst/>
        </p:spPr>
      </p:pic>
      <p:sp>
        <p:nvSpPr>
          <p:cNvPr id="14" name="TextBox 13"/>
          <p:cNvSpPr txBox="1"/>
          <p:nvPr/>
        </p:nvSpPr>
        <p:spPr>
          <a:xfrm>
            <a:off x="6829425" y="5572125"/>
            <a:ext cx="4791075" cy="30480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68716B"/>
                </a:solidFill>
                <a:latin typeface="Manrope"/>
                <a:cs typeface="IBM Plex Sans Arabic Medium"/>
              </a:rPr>
              <a:t>بداية تعاون محددة وواضحة.</a:t>
            </a:r>
          </a:p>
        </p:txBody>
      </p:sp>
      <p:sp>
        <p:nvSpPr>
          <p:cNvPr id="15" name="Rounded Rectangle 14"/>
          <p:cNvSpPr/>
          <p:nvPr/>
        </p:nvSpPr>
        <p:spPr>
          <a:xfrm>
            <a:off x="561975" y="1476375"/>
            <a:ext cx="5391150" cy="4314825"/>
          </a:xfrm>
          <a:prstGeom prst="roundRect">
            <a:avLst>
              <a:gd name="adj" fmla="val 3532"/>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571500" y="1428750"/>
            <a:ext cx="5391150" cy="4314825"/>
          </a:xfrm>
          <a:prstGeom prst="roundRect">
            <a:avLst>
              <a:gd name="adj" fmla="val 3532"/>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genesys.png"/>
          <p:cNvPicPr>
            <a:picLocks noChangeAspect="1"/>
          </p:cNvPicPr>
          <p:nvPr/>
        </p:nvPicPr>
        <p:blipFill>
          <a:blip r:embed="rId3"/>
          <a:stretch>
            <a:fillRect/>
          </a:stretch>
        </p:blipFill>
        <p:spPr>
          <a:xfrm>
            <a:off x="4419600" y="1669287"/>
            <a:ext cx="1295400" cy="252351"/>
          </a:xfrm>
          <a:prstGeom prst="rect">
            <a:avLst/>
          </a:prstGeom>
          <a:effectLst/>
        </p:spPr>
      </p:pic>
      <p:sp>
        <p:nvSpPr>
          <p:cNvPr id="18" name="Oval 17"/>
          <p:cNvSpPr/>
          <p:nvPr/>
        </p:nvSpPr>
        <p:spPr>
          <a:xfrm>
            <a:off x="2076450" y="1762125"/>
            <a:ext cx="66675" cy="66675"/>
          </a:xfrm>
          <a:prstGeom prst="ellipse">
            <a:avLst/>
          </a:prstGeom>
          <a:solidFill>
            <a:srgbClr val="54745C"/>
          </a:solidFill>
          <a:ln w="9525">
            <a:solidFill>
              <a:srgbClr val="54745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90575" y="1695450"/>
            <a:ext cx="1190625" cy="276225"/>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54745C"/>
                </a:solidFill>
                <a:latin typeface="Manrope"/>
                <a:cs typeface="IBM Plex Sans Arabic Medium"/>
              </a:rPr>
              <a:t>مكالمة واردة</a:t>
            </a:r>
          </a:p>
        </p:txBody>
      </p:sp>
      <p:cxnSp>
        <p:nvCxnSpPr>
          <p:cNvPr id="20" name="Connector 19"/>
          <p:cNvCxnSpPr/>
          <p:nvPr/>
        </p:nvCxnSpPr>
        <p:spPr>
          <a:xfrm flipH="1">
            <a:off x="571500" y="2181225"/>
            <a:ext cx="539115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21" name="Oval 20"/>
          <p:cNvSpPr/>
          <p:nvPr/>
        </p:nvSpPr>
        <p:spPr>
          <a:xfrm>
            <a:off x="5257800" y="2419350"/>
            <a:ext cx="457200" cy="45720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5257800" y="2495550"/>
            <a:ext cx="457200" cy="419100"/>
          </a:xfrm>
          <a:prstGeom prst="rect">
            <a:avLst/>
          </a:prstGeom>
          <a:noFill/>
          <a:effectLst/>
        </p:spPr>
        <p:txBody>
          <a:bodyPr wrap="square" lIns="0" rIns="0" tIns="0" bIns="0" anchor="t">
            <a:spAutoFit/>
          </a:bodyPr>
          <a:lstStyle/>
          <a:p>
            <a:pPr algn="ctr" rtl="0">
              <a:lnSpc>
                <a:spcPts val="1932"/>
              </a:lnSpc>
              <a:spcBef>
                <a:spcPts val="0"/>
              </a:spcBef>
              <a:spcAft>
                <a:spcPts val="0"/>
              </a:spcAft>
            </a:pPr>
            <a:r>
              <a:rPr sz="1725" b="1" lang="ar-EG">
                <a:solidFill>
                  <a:srgbClr val="54745C"/>
                </a:solidFill>
                <a:latin typeface="Manrope"/>
                <a:cs typeface="IBM Plex Sans Arabic Medium"/>
              </a:rPr>
              <a:t>A</a:t>
            </a:r>
          </a:p>
        </p:txBody>
      </p:sp>
      <p:sp>
        <p:nvSpPr>
          <p:cNvPr id="23" name="TextBox 22"/>
          <p:cNvSpPr txBox="1"/>
          <p:nvPr/>
        </p:nvSpPr>
        <p:spPr>
          <a:xfrm>
            <a:off x="1019175" y="2428875"/>
            <a:ext cx="4105275" cy="381000"/>
          </a:xfrm>
          <a:prstGeom prst="rect">
            <a:avLst/>
          </a:prstGeom>
          <a:noFill/>
          <a:effectLst/>
        </p:spPr>
        <p:txBody>
          <a:bodyPr wrap="square" lIns="0" rIns="0" tIns="0" bIns="0" anchor="t">
            <a:spAutoFit/>
          </a:bodyPr>
          <a:lstStyle/>
          <a:p>
            <a:pPr algn="r" rtl="1">
              <a:lnSpc>
                <a:spcPts val="2184"/>
              </a:lnSpc>
              <a:spcBef>
                <a:spcPts val="0"/>
              </a:spcBef>
              <a:spcAft>
                <a:spcPts val="0"/>
              </a:spcAft>
            </a:pPr>
            <a:r>
              <a:rPr sz="1950" b="1" lang="ar-EG">
                <a:solidFill>
                  <a:srgbClr val="29302D"/>
                </a:solidFill>
                <a:latin typeface="Manrope"/>
                <a:cs typeface="IBM Plex Sans Arabic Medium"/>
              </a:rPr>
              <a:t>العميل A</a:t>
            </a:r>
          </a:p>
        </p:txBody>
      </p:sp>
      <p:sp>
        <p:nvSpPr>
          <p:cNvPr id="24" name="TextBox 23"/>
          <p:cNvSpPr txBox="1"/>
          <p:nvPr/>
        </p:nvSpPr>
        <p:spPr>
          <a:xfrm>
            <a:off x="1019175" y="2800350"/>
            <a:ext cx="4105275" cy="285750"/>
          </a:xfrm>
          <a:prstGeom prst="rect">
            <a:avLst/>
          </a:prstGeom>
          <a:noFill/>
          <a:effectLst/>
        </p:spPr>
        <p:txBody>
          <a:bodyPr wrap="square" lIns="0" rIns="0" tIns="0" bIns="0" anchor="t">
            <a:spAutoFit/>
          </a:bodyPr>
          <a:lstStyle/>
          <a:p>
            <a:pPr algn="r" rtl="0">
              <a:lnSpc>
                <a:spcPts val="1596"/>
              </a:lnSpc>
              <a:spcBef>
                <a:spcPts val="0"/>
              </a:spcBef>
              <a:spcAft>
                <a:spcPts val="0"/>
              </a:spcAft>
            </a:pPr>
            <a:r>
              <a:rPr sz="1425" b="0" lang="ar-EG">
                <a:solidFill>
                  <a:srgbClr val="68716B"/>
                </a:solidFill>
                <a:latin typeface="Manrope"/>
                <a:cs typeface="IBM Plex Sans Arabic Medium"/>
              </a:rPr>
              <a:t>+20 ••• 410</a:t>
            </a:r>
          </a:p>
        </p:txBody>
      </p:sp>
      <p:cxnSp>
        <p:nvCxnSpPr>
          <p:cNvPr id="25" name="Connector 24"/>
          <p:cNvCxnSpPr/>
          <p:nvPr/>
        </p:nvCxnSpPr>
        <p:spPr>
          <a:xfrm flipH="1">
            <a:off x="819150" y="3333750"/>
            <a:ext cx="489585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pic>
        <p:nvPicPr>
          <p:cNvPr id="26" name="Picture 25" descr="zoho.png"/>
          <p:cNvPicPr>
            <a:picLocks noChangeAspect="1"/>
          </p:cNvPicPr>
          <p:nvPr/>
        </p:nvPicPr>
        <p:blipFill>
          <a:blip r:embed="rId4"/>
          <a:stretch>
            <a:fillRect/>
          </a:stretch>
        </p:blipFill>
        <p:spPr>
          <a:xfrm>
            <a:off x="4922174" y="3514725"/>
            <a:ext cx="709353" cy="304800"/>
          </a:xfrm>
          <a:prstGeom prst="rect">
            <a:avLst/>
          </a:prstGeom>
          <a:effectLst/>
        </p:spPr>
      </p:pic>
      <p:sp>
        <p:nvSpPr>
          <p:cNvPr id="27" name="TextBox 26"/>
          <p:cNvSpPr txBox="1"/>
          <p:nvPr/>
        </p:nvSpPr>
        <p:spPr>
          <a:xfrm>
            <a:off x="828675" y="3543300"/>
            <a:ext cx="384810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29302D"/>
                </a:solidFill>
                <a:latin typeface="Manrope"/>
                <a:cs typeface="IBM Plex Sans Arabic Medium"/>
              </a:rPr>
              <a:t>تاريخ التذاكر</a:t>
            </a:r>
          </a:p>
        </p:txBody>
      </p:sp>
      <p:sp>
        <p:nvSpPr>
          <p:cNvPr id="28" name="Rounded Rectangle 27"/>
          <p:cNvSpPr/>
          <p:nvPr/>
        </p:nvSpPr>
        <p:spPr>
          <a:xfrm>
            <a:off x="819150" y="4000500"/>
            <a:ext cx="4895850" cy="695325"/>
          </a:xfrm>
          <a:prstGeom prst="roundRect">
            <a:avLst>
              <a:gd name="adj" fmla="val 12000"/>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81075" y="4086225"/>
            <a:ext cx="4572000" cy="30480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9302D"/>
                </a:solidFill>
                <a:latin typeface="Manrope"/>
                <a:cs typeface="IBM Plex Sans Arabic Medium"/>
              </a:rPr>
              <a:t>T101 · متابعة استبدال</a:t>
            </a:r>
          </a:p>
        </p:txBody>
      </p:sp>
      <p:sp>
        <p:nvSpPr>
          <p:cNvPr id="30" name="TextBox 29"/>
          <p:cNvSpPr txBox="1"/>
          <p:nvPr/>
        </p:nvSpPr>
        <p:spPr>
          <a:xfrm>
            <a:off x="981075" y="4410075"/>
            <a:ext cx="4572000" cy="238125"/>
          </a:xfrm>
          <a:prstGeom prst="rect">
            <a:avLst/>
          </a:prstGeom>
          <a:noFill/>
          <a:effectLst/>
        </p:spPr>
        <p:txBody>
          <a:bodyPr wrap="square" lIns="0" rIns="0" tIns="0" bIns="0" anchor="t">
            <a:spAutoFit/>
          </a:bodyPr>
          <a:lstStyle/>
          <a:p>
            <a:pPr algn="r" rtl="1">
              <a:lnSpc>
                <a:spcPts val="1344"/>
              </a:lnSpc>
              <a:spcBef>
                <a:spcPts val="0"/>
              </a:spcBef>
              <a:spcAft>
                <a:spcPts val="0"/>
              </a:spcAft>
            </a:pPr>
            <a:r>
              <a:rPr sz="1200" b="0" lang="ar-EG">
                <a:solidFill>
                  <a:srgbClr val="54745C"/>
                </a:solidFill>
                <a:latin typeface="Manrope"/>
                <a:cs typeface="IBM Plex Sans Arabic Medium"/>
              </a:rPr>
              <a:t>بانتظار الفرع</a:t>
            </a:r>
          </a:p>
        </p:txBody>
      </p:sp>
      <p:sp>
        <p:nvSpPr>
          <p:cNvPr id="31" name="TextBox 30"/>
          <p:cNvSpPr txBox="1"/>
          <p:nvPr/>
        </p:nvSpPr>
        <p:spPr>
          <a:xfrm>
            <a:off x="819150" y="4905375"/>
            <a:ext cx="4895850" cy="238125"/>
          </a:xfrm>
          <a:prstGeom prst="rect">
            <a:avLst/>
          </a:prstGeom>
          <a:noFill/>
          <a:effectLst/>
        </p:spPr>
        <p:txBody>
          <a:bodyPr wrap="square" lIns="0" rIns="0" tIns="0" bIns="0" anchor="t">
            <a:spAutoFit/>
          </a:bodyPr>
          <a:lstStyle/>
          <a:p>
            <a:pPr algn="r" rtl="1">
              <a:lnSpc>
                <a:spcPts val="1092"/>
              </a:lnSpc>
              <a:spcBef>
                <a:spcPts val="0"/>
              </a:spcBef>
              <a:spcAft>
                <a:spcPts val="0"/>
              </a:spcAft>
            </a:pPr>
            <a:r>
              <a:rPr sz="975" b="1" lang="ar-EG">
                <a:solidFill>
                  <a:srgbClr val="68716B"/>
                </a:solidFill>
                <a:latin typeface="Manrope"/>
                <a:cs typeface="IBM Plex Sans Arabic Medium"/>
              </a:rPr>
              <a:t>آخر ملاحظة</a:t>
            </a:r>
          </a:p>
        </p:txBody>
      </p:sp>
      <p:sp>
        <p:nvSpPr>
          <p:cNvPr id="32" name="TextBox 31"/>
          <p:cNvSpPr txBox="1"/>
          <p:nvPr/>
        </p:nvSpPr>
        <p:spPr>
          <a:xfrm>
            <a:off x="819150" y="5153025"/>
            <a:ext cx="4895850" cy="3333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29302D"/>
                </a:solidFill>
                <a:latin typeface="Manrope"/>
                <a:cs typeface="IBM Plex Sans Arabic Medium"/>
              </a:rPr>
              <a:t>مراجعة الفرع لسه مطلوبة.</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7"/>
                                  </p:tgtEl>
                                  <p:attrNameLst>
                                    <p:attrName>style.visibility</p:attrName>
                                  </p:attrNameLst>
                                </p:cBhvr>
                                <p:to>
                                  <p:strVal val="visible"/>
                                </p:to>
                              </p:set>
                              <p:animEffect transition="in" filter="fade">
                                <p:cBhvr>
                                  <p:cTn id="6" dur="500"/>
                                  <p:tgtEl>
                                    <p:spTgt spid="17"/>
                                  </p:tgtEl>
                                </p:cBhvr>
                              </p:animEffect>
                            </p:childTnLst>
                          </p:cTn>
                        </p:par>
                        <p:par>
                          <p:cTn id="7" presetID="10" presetClass="entr" presetSubtype="0" fill="hold" nodeType="withEffect">
                            <p:stCondLst>
                              <p:cond delay="0"/>
                            </p:stCondLst>
                            <p:childTnLst>
                              <p:set>
                                <p:cBhvr>
                                  <p:cTn id="8" dur="1" fill="hold"/>
                                  <p:tgtEl>
                                    <p:spTgt spid="18"/>
                                  </p:tgtEl>
                                  <p:attrNameLst>
                                    <p:attrName>style.visibility</p:attrName>
                                  </p:attrNameLst>
                                </p:cBhvr>
                                <p:to>
                                  <p:strVal val="visible"/>
                                </p:to>
                              </p:set>
                              <p:animEffect transition="in" filter="fade">
                                <p:cBhvr>
                                  <p:cTn id="9" dur="500"/>
                                  <p:tgtEl>
                                    <p:spTgt spid="18"/>
                                  </p:tgtEl>
                                </p:cBhvr>
                              </p:animEffect>
                            </p:childTnLst>
                          </p:cTn>
                        </p:par>
                        <p:par>
                          <p:cTn id="10" presetID="10" presetClass="entr" presetSubtype="0" fill="hold" nodeType="withEffect">
                            <p:stCondLst>
                              <p:cond delay="0"/>
                            </p:stCondLst>
                            <p:childTnLst>
                              <p:set>
                                <p:cBhvr>
                                  <p:cTn id="11" dur="1" fill="hold"/>
                                  <p:tgtEl>
                                    <p:spTgt spid="19"/>
                                  </p:tgtEl>
                                  <p:attrNameLst>
                                    <p:attrName>style.visibility</p:attrName>
                                  </p:attrNameLst>
                                </p:cBhvr>
                                <p:to>
                                  <p:strVal val="visible"/>
                                </p:to>
                              </p:set>
                              <p:animEffect transition="in" filter="fade">
                                <p:cBhvr>
                                  <p:cTn id="12" dur="500"/>
                                  <p:tgtEl>
                                    <p:spTgt spid="19"/>
                                  </p:tgtEl>
                                </p:cBhvr>
                              </p:animEffect>
                            </p:childTnLst>
                          </p:cTn>
                        </p:par>
                        <p:par>
                          <p:cTn id="13" presetID="10" presetClass="entr" presetSubtype="0" fill="hold" nodeType="withEffect">
                            <p:stCondLst>
                              <p:cond delay="1250"/>
                            </p:stCondLst>
                            <p:childTnLst>
                              <p:set>
                                <p:cBhvr>
                                  <p:cTn id="14" dur="1" fill="hold"/>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nodeType="withEffect">
                            <p:stCondLst>
                              <p:cond delay="1250"/>
                            </p:stCondLst>
                            <p:childTnLst>
                              <p:set>
                                <p:cBhvr>
                                  <p:cTn id="17" dur="1" fill="hold"/>
                                  <p:tgtEl>
                                    <p:spTgt spid="22"/>
                                  </p:tgtEl>
                                  <p:attrNameLst>
                                    <p:attrName>style.visibility</p:attrName>
                                  </p:attrNameLst>
                                </p:cBhvr>
                                <p:to>
                                  <p:strVal val="visible"/>
                                </p:to>
                              </p:set>
                              <p:animEffect transition="in" filter="fade">
                                <p:cBhvr>
                                  <p:cTn id="18" dur="500"/>
                                  <p:tgtEl>
                                    <p:spTgt spid="22"/>
                                  </p:tgtEl>
                                </p:cBhvr>
                              </p:animEffect>
                            </p:childTnLst>
                          </p:cTn>
                        </p:par>
                        <p:par>
                          <p:cTn id="19" presetID="10" presetClass="entr" presetSubtype="0" fill="hold" nodeType="withEffect">
                            <p:stCondLst>
                              <p:cond delay="1250"/>
                            </p:stCondLst>
                            <p:childTnLst>
                              <p:set>
                                <p:cBhvr>
                                  <p:cTn id="20" dur="1" fill="hold"/>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nodeType="withEffect">
                            <p:stCondLst>
                              <p:cond delay="1250"/>
                            </p:stCondLst>
                            <p:childTnLst>
                              <p:set>
                                <p:cBhvr>
                                  <p:cTn id="23" dur="1" fill="hold"/>
                                  <p:tgtEl>
                                    <p:spTgt spid="24"/>
                                  </p:tgtEl>
                                  <p:attrNameLst>
                                    <p:attrName>style.visibility</p:attrName>
                                  </p:attrNameLst>
                                </p:cBhvr>
                                <p:to>
                                  <p:strVal val="visible"/>
                                </p:to>
                              </p:set>
                              <p:animEffect transition="in" filter="fade">
                                <p:cBhvr>
                                  <p:cTn id="24" dur="500"/>
                                  <p:tgtEl>
                                    <p:spTgt spid="24"/>
                                  </p:tgtEl>
                                </p:cBhvr>
                              </p:animEffect>
                            </p:childTnLst>
                          </p:cTn>
                        </p:par>
                        <p:par>
                          <p:cTn id="25" presetID="10" presetClass="entr" presetSubtype="0" fill="hold" nodeType="withEffect">
                            <p:stCondLst>
                              <p:cond delay="2500"/>
                            </p:stCondLst>
                            <p:childTnLst>
                              <p:set>
                                <p:cBhvr>
                                  <p:cTn id="26" dur="1" fill="hold"/>
                                  <p:tgtEl>
                                    <p:spTgt spid="26"/>
                                  </p:tgtEl>
                                  <p:attrNameLst>
                                    <p:attrName>style.visibility</p:attrName>
                                  </p:attrNameLst>
                                </p:cBhvr>
                                <p:to>
                                  <p:strVal val="visible"/>
                                </p:to>
                              </p:set>
                              <p:animEffect transition="in" filter="fade">
                                <p:cBhvr>
                                  <p:cTn id="27" dur="500"/>
                                  <p:tgtEl>
                                    <p:spTgt spid="26"/>
                                  </p:tgtEl>
                                </p:cBhvr>
                              </p:animEffect>
                            </p:childTnLst>
                          </p:cTn>
                        </p:par>
                        <p:par>
                          <p:cTn id="28" presetID="10" presetClass="entr" presetSubtype="0" fill="hold" nodeType="withEffect">
                            <p:stCondLst>
                              <p:cond delay="2500"/>
                            </p:stCondLst>
                            <p:childTnLst>
                              <p:set>
                                <p:cBhvr>
                                  <p:cTn id="29" dur="1" fill="hold"/>
                                  <p:tgtEl>
                                    <p:spTgt spid="27"/>
                                  </p:tgtEl>
                                  <p:attrNameLst>
                                    <p:attrName>style.visibility</p:attrName>
                                  </p:attrNameLst>
                                </p:cBhvr>
                                <p:to>
                                  <p:strVal val="visible"/>
                                </p:to>
                              </p:set>
                              <p:animEffect transition="in" filter="fade">
                                <p:cBhvr>
                                  <p:cTn id="30" dur="500"/>
                                  <p:tgtEl>
                                    <p:spTgt spid="27"/>
                                  </p:tgtEl>
                                </p:cBhvr>
                              </p:animEffect>
                            </p:childTnLst>
                          </p:cTn>
                        </p:par>
                        <p:par>
                          <p:cTn id="31" presetID="10" presetClass="entr" presetSubtype="0" fill="hold" nodeType="withEffect">
                            <p:stCondLst>
                              <p:cond delay="2500"/>
                            </p:stCondLst>
                            <p:childTnLst>
                              <p:set>
                                <p:cBhvr>
                                  <p:cTn id="32" dur="1" fill="hold"/>
                                  <p:tgtEl>
                                    <p:spTgt spid="28"/>
                                  </p:tgtEl>
                                  <p:attrNameLst>
                                    <p:attrName>style.visibility</p:attrName>
                                  </p:attrNameLst>
                                </p:cBhvr>
                                <p:to>
                                  <p:strVal val="visible"/>
                                </p:to>
                              </p:set>
                              <p:animEffect transition="in" filter="fade">
                                <p:cBhvr>
                                  <p:cTn id="33" dur="500"/>
                                  <p:tgtEl>
                                    <p:spTgt spid="28"/>
                                  </p:tgtEl>
                                </p:cBhvr>
                              </p:animEffect>
                            </p:childTnLst>
                          </p:cTn>
                        </p:par>
                        <p:par>
                          <p:cTn id="34" presetID="10" presetClass="entr" presetSubtype="0" fill="hold" nodeType="withEffect">
                            <p:stCondLst>
                              <p:cond delay="2500"/>
                            </p:stCondLst>
                            <p:childTnLst>
                              <p:set>
                                <p:cBhvr>
                                  <p:cTn id="35" dur="1" fill="hold"/>
                                  <p:tgtEl>
                                    <p:spTgt spid="29"/>
                                  </p:tgtEl>
                                  <p:attrNameLst>
                                    <p:attrName>style.visibility</p:attrName>
                                  </p:attrNameLst>
                                </p:cBhvr>
                                <p:to>
                                  <p:strVal val="visible"/>
                                </p:to>
                              </p:set>
                              <p:animEffect transition="in" filter="fade">
                                <p:cBhvr>
                                  <p:cTn id="36" dur="500"/>
                                  <p:tgtEl>
                                    <p:spTgt spid="29"/>
                                  </p:tgtEl>
                                </p:cBhvr>
                              </p:animEffect>
                            </p:childTnLst>
                          </p:cTn>
                        </p:par>
                        <p:par>
                          <p:cTn id="37" presetID="10" presetClass="entr" presetSubtype="0" fill="hold" nodeType="withEffect">
                            <p:stCondLst>
                              <p:cond delay="2500"/>
                            </p:stCondLst>
                            <p:childTnLst>
                              <p:set>
                                <p:cBhvr>
                                  <p:cTn id="38" dur="1" fill="hold"/>
                                  <p:tgtEl>
                                    <p:spTgt spid="30"/>
                                  </p:tgtEl>
                                  <p:attrNameLst>
                                    <p:attrName>style.visibility</p:attrName>
                                  </p:attrNameLst>
                                </p:cBhvr>
                                <p:to>
                                  <p:strVal val="visible"/>
                                </p:to>
                              </p:set>
                              <p:animEffect transition="in" filter="fade">
                                <p:cBhvr>
                                  <p:cTn id="39" dur="500"/>
                                  <p:tgtEl>
                                    <p:spTgt spid="30"/>
                                  </p:tgtEl>
                                </p:cBhvr>
                              </p:animEffect>
                            </p:childTnLst>
                          </p:cTn>
                        </p:par>
                        <p:par>
                          <p:cTn id="40" presetID="10" presetClass="entr" presetSubtype="0" fill="hold" nodeType="withEffect">
                            <p:stCondLst>
                              <p:cond delay="3750"/>
                            </p:stCondLst>
                            <p:childTnLst>
                              <p:set>
                                <p:cBhvr>
                                  <p:cTn id="41" dur="1" fill="hold"/>
                                  <p:tgtEl>
                                    <p:spTgt spid="31"/>
                                  </p:tgtEl>
                                  <p:attrNameLst>
                                    <p:attrName>style.visibility</p:attrName>
                                  </p:attrNameLst>
                                </p:cBhvr>
                                <p:to>
                                  <p:strVal val="visible"/>
                                </p:to>
                              </p:set>
                              <p:animEffect transition="in" filter="fade">
                                <p:cBhvr>
                                  <p:cTn id="42" dur="500"/>
                                  <p:tgtEl>
                                    <p:spTgt spid="31"/>
                                  </p:tgtEl>
                                </p:cBhvr>
                              </p:animEffect>
                            </p:childTnLst>
                          </p:cTn>
                        </p:par>
                        <p:par>
                          <p:cTn id="43" presetID="10" presetClass="entr" presetSubtype="0" fill="hold" nodeType="withEffect">
                            <p:stCondLst>
                              <p:cond delay="3750"/>
                            </p:stCondLst>
                            <p:childTnLst>
                              <p:set>
                                <p:cBhvr>
                                  <p:cTn id="44" dur="1" fill="hold"/>
                                  <p:tgtEl>
                                    <p:spTgt spid="32"/>
                                  </p:tgtEl>
                                  <p:attrNameLst>
                                    <p:attrName>style.visibility</p:attrName>
                                  </p:attrNameLst>
                                </p:cBhvr>
                                <p:to>
                                  <p:strVal val="visible"/>
                                </p:to>
                              </p:set>
                              <p:animEffect transition="in" filter="fade">
                                <p:cBhvr>
                                  <p:cTn id="45" dur="500"/>
                                  <p:tgtEl>
                                    <p:spTgt spid="3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210925" y="292100"/>
            <a:ext cx="409575" cy="273050"/>
          </a:xfrm>
          <a:prstGeom prst="rect">
            <a:avLst/>
          </a:prstGeom>
          <a:effectLst/>
        </p:spPr>
      </p:pic>
      <p:sp>
        <p:nvSpPr>
          <p:cNvPr id="3" name="TextBox 2"/>
          <p:cNvSpPr txBox="1"/>
          <p:nvPr/>
        </p:nvSpPr>
        <p:spPr>
          <a:xfrm>
            <a:off x="9629775" y="323850"/>
            <a:ext cx="1466850" cy="257175"/>
          </a:xfrm>
          <a:prstGeom prst="rect">
            <a:avLst/>
          </a:prstGeom>
          <a:noFill/>
          <a:effectLst/>
        </p:spPr>
        <p:txBody>
          <a:bodyPr wrap="square" lIns="0" rIns="0" tIns="0" bIns="0" anchor="t">
            <a:spAutoFit/>
          </a:bodyPr>
          <a:lstStyle/>
          <a:p>
            <a:pPr algn="r" rtl="0">
              <a:lnSpc>
                <a:spcPts val="1428"/>
              </a:lnSpc>
              <a:spcBef>
                <a:spcPts val="0"/>
              </a:spcBef>
              <a:spcAft>
                <a:spcPts val="0"/>
              </a:spcAft>
            </a:pPr>
            <a:r>
              <a:rPr sz="1275" b="1" lang="ar-EG">
                <a:solidFill>
                  <a:srgbClr val="29302D"/>
                </a:solidFill>
                <a:latin typeface="Manrope"/>
                <a:cs typeface="IBM Plex Sans Arabic Medium"/>
              </a:rPr>
              <a:t>GRINDCTRL</a:t>
            </a:r>
          </a:p>
        </p:txBody>
      </p:sp>
      <p:sp>
        <p:nvSpPr>
          <p:cNvPr id="4" name="TextBox 3"/>
          <p:cNvSpPr txBox="1"/>
          <p:nvPr/>
        </p:nvSpPr>
        <p:spPr>
          <a:xfrm>
            <a:off x="571500" y="333375"/>
            <a:ext cx="4171950" cy="247650"/>
          </a:xfrm>
          <a:prstGeom prst="rect">
            <a:avLst/>
          </a:prstGeom>
          <a:noFill/>
          <a:effectLst/>
        </p:spPr>
        <p:txBody>
          <a:bodyPr wrap="square" lIns="0" rIns="0" tIns="0" bIns="0" anchor="t">
            <a:spAutoFit/>
          </a:bodyPr>
          <a:lstStyle/>
          <a:p>
            <a:pPr algn="l" rtl="1">
              <a:lnSpc>
                <a:spcPts val="1176"/>
              </a:lnSpc>
              <a:spcBef>
                <a:spcPts val="0"/>
              </a:spcBef>
              <a:spcAft>
                <a:spcPts val="0"/>
              </a:spcAft>
            </a:pPr>
            <a:r>
              <a:rPr sz="1050" b="0" lang="ar-EG">
                <a:solidFill>
                  <a:srgbClr val="68716B"/>
                </a:solidFill>
                <a:latin typeface="Manrope"/>
                <a:cs typeface="IBM Plex Sans Arabic Medium"/>
              </a:rPr>
              <a:t>٠١ · الوضع الحالي</a:t>
            </a:r>
          </a:p>
        </p:txBody>
      </p:sp>
      <p:sp>
        <p:nvSpPr>
          <p:cNvPr id="5" name="TextBox 4"/>
          <p:cNvSpPr txBox="1"/>
          <p:nvPr/>
        </p:nvSpPr>
        <p:spPr>
          <a:xfrm>
            <a:off x="571500" y="895350"/>
            <a:ext cx="11049000" cy="609600"/>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9302D"/>
                </a:solidFill>
                <a:latin typeface="Manrope"/>
                <a:cs typeface="IBM Plex Sans Arabic Medium"/>
              </a:rPr>
              <a:t>التذاكر موجودة. الوصول لها بيحتاج بحث يدوي.</a:t>
            </a:r>
          </a:p>
        </p:txBody>
      </p:sp>
      <p:sp>
        <p:nvSpPr>
          <p:cNvPr id="6" name="TextBox 5"/>
          <p:cNvSpPr txBox="1"/>
          <p:nvPr/>
        </p:nvSpPr>
        <p:spPr>
          <a:xfrm>
            <a:off x="571500" y="1581150"/>
            <a:ext cx="11049000" cy="3619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68716B"/>
                </a:solidFill>
                <a:latin typeface="Manrope"/>
                <a:cs typeface="IBM Plex Sans Arabic Medium"/>
              </a:rPr>
              <a:t>الموظف يقدر يوصل للتذاكر السابقة بالبحث برقم التليفون.</a:t>
            </a:r>
          </a:p>
        </p:txBody>
      </p:sp>
      <p:cxnSp>
        <p:nvCxnSpPr>
          <p:cNvPr id="7" name="Connector 6"/>
          <p:cNvCxnSpPr/>
          <p:nvPr/>
        </p:nvCxnSpPr>
        <p:spPr>
          <a:xfrm flipH="1">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2095500" y="6534150"/>
            <a:ext cx="9525000" cy="219075"/>
          </a:xfrm>
          <a:prstGeom prst="rect">
            <a:avLst/>
          </a:prstGeom>
          <a:noFill/>
          <a:effectLst/>
        </p:spPr>
        <p:txBody>
          <a:bodyPr wrap="square" lIns="0" rIns="0" tIns="0" bIns="0" anchor="t">
            <a:spAutoFit/>
          </a:bodyPr>
          <a:lstStyle/>
          <a:p>
            <a:pPr algn="r" rtl="1">
              <a:lnSpc>
                <a:spcPts val="1008"/>
              </a:lnSpc>
              <a:spcBef>
                <a:spcPts val="0"/>
              </a:spcBef>
              <a:spcAft>
                <a:spcPts val="0"/>
              </a:spcAft>
            </a:pPr>
            <a:r>
              <a:rPr sz="900" b="0" lang="ar-EG">
                <a:solidFill>
                  <a:srgbClr val="68716B"/>
                </a:solidFill>
                <a:latin typeface="Manrope"/>
                <a:cs typeface="IBM Plex Sans Arabic Medium"/>
              </a:rPr>
              <a:t>كونكريت · تعاون مقترح</a:t>
            </a:r>
          </a:p>
        </p:txBody>
      </p:sp>
      <p:sp>
        <p:nvSpPr>
          <p:cNvPr id="9" name="TextBox 8"/>
          <p:cNvSpPr txBox="1"/>
          <p:nvPr/>
        </p:nvSpPr>
        <p:spPr>
          <a:xfrm>
            <a:off x="571500" y="6515100"/>
            <a:ext cx="83820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716B"/>
                </a:solidFill>
                <a:latin typeface="Manrope"/>
                <a:cs typeface="IBM Plex Sans Arabic Medium"/>
              </a:rPr>
              <a:t>02 / 09</a:t>
            </a:r>
          </a:p>
        </p:txBody>
      </p:sp>
      <p:sp>
        <p:nvSpPr>
          <p:cNvPr id="10" name="Rounded Rectangle 9"/>
          <p:cNvSpPr/>
          <p:nvPr/>
        </p:nvSpPr>
        <p:spPr>
          <a:xfrm>
            <a:off x="561975" y="2314575"/>
            <a:ext cx="11049000" cy="3362325"/>
          </a:xfrm>
          <a:prstGeom prst="roundRect">
            <a:avLst>
              <a:gd name="adj" fmla="val 4532"/>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571500" y="2266950"/>
            <a:ext cx="11049000" cy="3362325"/>
          </a:xfrm>
          <a:prstGeom prst="roundRect">
            <a:avLst>
              <a:gd name="adj" fmla="val 4532"/>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533900" y="2457450"/>
            <a:ext cx="6838950" cy="333375"/>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1" lang="ar-EG">
                <a:solidFill>
                  <a:srgbClr val="29302D"/>
                </a:solidFill>
                <a:latin typeface="Manrope"/>
                <a:cs typeface="IBM Plex Sans Arabic Medium"/>
              </a:rPr>
              <a:t>المكالمة وتاريخ الخدمة</a:t>
            </a:r>
          </a:p>
        </p:txBody>
      </p:sp>
      <p:sp>
        <p:nvSpPr>
          <p:cNvPr id="13" name="TextBox 12"/>
          <p:cNvSpPr txBox="1"/>
          <p:nvPr/>
        </p:nvSpPr>
        <p:spPr>
          <a:xfrm>
            <a:off x="819150" y="2495550"/>
            <a:ext cx="2990850" cy="266700"/>
          </a:xfrm>
          <a:prstGeom prst="rect">
            <a:avLst/>
          </a:prstGeom>
          <a:noFill/>
          <a:effectLst/>
        </p:spPr>
        <p:txBody>
          <a:bodyPr wrap="square" lIns="0" rIns="0" tIns="0" bIns="0" anchor="t">
            <a:spAutoFit/>
          </a:bodyPr>
          <a:lstStyle/>
          <a:p>
            <a:pPr algn="l" rtl="1">
              <a:lnSpc>
                <a:spcPts val="1092"/>
              </a:lnSpc>
              <a:spcBef>
                <a:spcPts val="0"/>
              </a:spcBef>
              <a:spcAft>
                <a:spcPts val="0"/>
              </a:spcAft>
            </a:pPr>
            <a:r>
              <a:rPr sz="975" b="0" lang="ar-EG">
                <a:solidFill>
                  <a:srgbClr val="68716B"/>
                </a:solidFill>
                <a:latin typeface="Manrope"/>
                <a:cs typeface="IBM Plex Sans Arabic Medium"/>
              </a:rPr>
              <a:t>بحسب إفادة المستخدم</a:t>
            </a:r>
          </a:p>
        </p:txBody>
      </p:sp>
      <p:cxnSp>
        <p:nvCxnSpPr>
          <p:cNvPr id="14" name="Connector 13"/>
          <p:cNvCxnSpPr/>
          <p:nvPr/>
        </p:nvCxnSpPr>
        <p:spPr>
          <a:xfrm flipH="1">
            <a:off x="571500" y="28956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pic>
        <p:nvPicPr>
          <p:cNvPr id="15" name="Picture 14" descr="genesys.png"/>
          <p:cNvPicPr>
            <a:picLocks noChangeAspect="1"/>
          </p:cNvPicPr>
          <p:nvPr/>
        </p:nvPicPr>
        <p:blipFill>
          <a:blip r:embed="rId3"/>
          <a:stretch>
            <a:fillRect/>
          </a:stretch>
        </p:blipFill>
        <p:spPr>
          <a:xfrm>
            <a:off x="9991725" y="3142075"/>
            <a:ext cx="1381125" cy="269050"/>
          </a:xfrm>
          <a:prstGeom prst="rect">
            <a:avLst/>
          </a:prstGeom>
          <a:effectLst/>
        </p:spPr>
      </p:pic>
      <p:sp>
        <p:nvSpPr>
          <p:cNvPr id="16" name="Oval 15"/>
          <p:cNvSpPr/>
          <p:nvPr/>
        </p:nvSpPr>
        <p:spPr>
          <a:xfrm>
            <a:off x="10906125" y="3800475"/>
            <a:ext cx="466725" cy="466725"/>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icon-call.png"/>
          <p:cNvPicPr>
            <a:picLocks noChangeAspect="1"/>
          </p:cNvPicPr>
          <p:nvPr/>
        </p:nvPicPr>
        <p:blipFill>
          <a:blip r:embed="rId4"/>
          <a:stretch>
            <a:fillRect/>
          </a:stretch>
        </p:blipFill>
        <p:spPr>
          <a:xfrm>
            <a:off x="11001375" y="3895725"/>
            <a:ext cx="276225" cy="276225"/>
          </a:xfrm>
          <a:prstGeom prst="rect">
            <a:avLst/>
          </a:prstGeom>
          <a:effectLst/>
        </p:spPr>
      </p:pic>
      <p:sp>
        <p:nvSpPr>
          <p:cNvPr id="18" name="TextBox 17"/>
          <p:cNvSpPr txBox="1"/>
          <p:nvPr/>
        </p:nvSpPr>
        <p:spPr>
          <a:xfrm>
            <a:off x="8372475" y="3819525"/>
            <a:ext cx="2390775" cy="371475"/>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9302D"/>
                </a:solidFill>
                <a:latin typeface="Manrope"/>
                <a:cs typeface="IBM Plex Sans Arabic Medium"/>
              </a:rPr>
              <a:t>العميل بيتصل</a:t>
            </a:r>
          </a:p>
        </p:txBody>
      </p:sp>
      <p:sp>
        <p:nvSpPr>
          <p:cNvPr id="19" name="TextBox 18"/>
          <p:cNvSpPr txBox="1"/>
          <p:nvPr/>
        </p:nvSpPr>
        <p:spPr>
          <a:xfrm>
            <a:off x="8362950" y="4495800"/>
            <a:ext cx="3009900" cy="381000"/>
          </a:xfrm>
          <a:prstGeom prst="rect">
            <a:avLst/>
          </a:prstGeom>
          <a:noFill/>
          <a:effectLst/>
        </p:spPr>
        <p:txBody>
          <a:bodyPr wrap="square" lIns="0" rIns="0" tIns="0" bIns="0" anchor="t">
            <a:spAutoFit/>
          </a:bodyPr>
          <a:lstStyle/>
          <a:p>
            <a:pPr algn="r" rtl="0">
              <a:lnSpc>
                <a:spcPts val="2352"/>
              </a:lnSpc>
              <a:spcBef>
                <a:spcPts val="0"/>
              </a:spcBef>
              <a:spcAft>
                <a:spcPts val="0"/>
              </a:spcAft>
            </a:pPr>
            <a:r>
              <a:rPr sz="2100" b="0" lang="ar-EG">
                <a:solidFill>
                  <a:srgbClr val="29302D"/>
                </a:solidFill>
                <a:latin typeface="Manrope"/>
                <a:cs typeface="IBM Plex Sans Arabic Medium"/>
              </a:rPr>
              <a:t>+20 ••• 410</a:t>
            </a:r>
          </a:p>
        </p:txBody>
      </p:sp>
      <p:sp>
        <p:nvSpPr>
          <p:cNvPr id="20" name="TextBox 19"/>
          <p:cNvSpPr txBox="1"/>
          <p:nvPr/>
        </p:nvSpPr>
        <p:spPr>
          <a:xfrm>
            <a:off x="8362950" y="5029200"/>
            <a:ext cx="3009900" cy="276225"/>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68716B"/>
                </a:solidFill>
                <a:latin typeface="Manrope"/>
                <a:cs typeface="IBM Plex Sans Arabic Medium"/>
              </a:rPr>
              <a:t>المكالمة وصلت للموظف</a:t>
            </a:r>
          </a:p>
        </p:txBody>
      </p:sp>
      <p:cxnSp>
        <p:nvCxnSpPr>
          <p:cNvPr id="21" name="Connector 20"/>
          <p:cNvCxnSpPr/>
          <p:nvPr/>
        </p:nvCxnSpPr>
        <p:spPr>
          <a:xfrm flipH="1">
            <a:off x="7629525" y="4476750"/>
            <a:ext cx="552450" cy="0"/>
          </a:xfrm>
          <a:prstGeom prst="line">
            <a:avLst/>
          </a:prstGeom>
          <a:ln w="23812">
            <a:solidFill>
              <a:srgbClr val="9F583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7334250" y="4857750"/>
            <a:ext cx="942975" cy="257175"/>
          </a:xfrm>
          <a:prstGeom prst="rect">
            <a:avLst/>
          </a:prstGeom>
          <a:noFill/>
          <a:effectLst/>
        </p:spPr>
        <p:txBody>
          <a:bodyPr wrap="square" lIns="0" rIns="0" tIns="0" bIns="0" anchor="t">
            <a:spAutoFit/>
          </a:bodyPr>
          <a:lstStyle/>
          <a:p>
            <a:pPr algn="ctr" rtl="1">
              <a:lnSpc>
                <a:spcPts val="1260"/>
              </a:lnSpc>
              <a:spcBef>
                <a:spcPts val="0"/>
              </a:spcBef>
              <a:spcAft>
                <a:spcPts val="0"/>
              </a:spcAft>
            </a:pPr>
            <a:r>
              <a:rPr sz="1125" b="0" lang="ar-EG">
                <a:solidFill>
                  <a:srgbClr val="9F5836"/>
                </a:solidFill>
                <a:latin typeface="Manrope"/>
                <a:cs typeface="IBM Plex Sans Arabic Medium"/>
              </a:rPr>
              <a:t>يدوي</a:t>
            </a:r>
          </a:p>
        </p:txBody>
      </p:sp>
      <p:cxnSp>
        <p:nvCxnSpPr>
          <p:cNvPr id="23" name="Connector 22"/>
          <p:cNvCxnSpPr/>
          <p:nvPr/>
        </p:nvCxnSpPr>
        <p:spPr>
          <a:xfrm>
            <a:off x="7334250" y="3124200"/>
            <a:ext cx="0" cy="2238375"/>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pic>
        <p:nvPicPr>
          <p:cNvPr id="24" name="Picture 23" descr="zoho.png"/>
          <p:cNvPicPr>
            <a:picLocks noChangeAspect="1"/>
          </p:cNvPicPr>
          <p:nvPr/>
        </p:nvPicPr>
        <p:blipFill>
          <a:blip r:embed="rId5"/>
          <a:stretch>
            <a:fillRect/>
          </a:stretch>
        </p:blipFill>
        <p:spPr>
          <a:xfrm>
            <a:off x="6182764" y="3095625"/>
            <a:ext cx="798022" cy="342900"/>
          </a:xfrm>
          <a:prstGeom prst="rect">
            <a:avLst/>
          </a:prstGeom>
          <a:effectLst/>
        </p:spPr>
      </p:pic>
      <p:sp>
        <p:nvSpPr>
          <p:cNvPr id="25" name="TextBox 24"/>
          <p:cNvSpPr txBox="1"/>
          <p:nvPr/>
        </p:nvSpPr>
        <p:spPr>
          <a:xfrm>
            <a:off x="1057275" y="3162300"/>
            <a:ext cx="4857750" cy="2952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9302D"/>
                </a:solidFill>
                <a:latin typeface="Manrope"/>
                <a:cs typeface="IBM Plex Sans Arabic Medium"/>
              </a:rPr>
              <a:t>Desk · تاريخ التذاكر</a:t>
            </a:r>
          </a:p>
        </p:txBody>
      </p:sp>
      <p:sp>
        <p:nvSpPr>
          <p:cNvPr id="26" name="Rounded Rectangle 25"/>
          <p:cNvSpPr/>
          <p:nvPr/>
        </p:nvSpPr>
        <p:spPr>
          <a:xfrm>
            <a:off x="838200" y="3724275"/>
            <a:ext cx="6210300" cy="514350"/>
          </a:xfrm>
          <a:prstGeom prst="roundRect">
            <a:avLst>
              <a:gd name="adj" fmla="val 12000"/>
            </a:avLst>
          </a:prstGeom>
          <a:solidFill>
            <a:srgbClr val="FFFFFF"/>
          </a:solidFill>
          <a:ln w="9525">
            <a:solidFill>
              <a:srgbClr val="9F583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search.png"/>
          <p:cNvPicPr>
            <a:picLocks noChangeAspect="1"/>
          </p:cNvPicPr>
          <p:nvPr/>
        </p:nvPicPr>
        <p:blipFill>
          <a:blip r:embed="rId6"/>
          <a:stretch>
            <a:fillRect/>
          </a:stretch>
        </p:blipFill>
        <p:spPr>
          <a:xfrm>
            <a:off x="6667500" y="3876675"/>
            <a:ext cx="219075" cy="219075"/>
          </a:xfrm>
          <a:prstGeom prst="rect">
            <a:avLst/>
          </a:prstGeom>
          <a:effectLst/>
        </p:spPr>
      </p:pic>
      <p:sp>
        <p:nvSpPr>
          <p:cNvPr id="28" name="TextBox 27"/>
          <p:cNvSpPr txBox="1"/>
          <p:nvPr/>
        </p:nvSpPr>
        <p:spPr>
          <a:xfrm>
            <a:off x="2524125" y="3848100"/>
            <a:ext cx="3981450" cy="304800"/>
          </a:xfrm>
          <a:prstGeom prst="rect">
            <a:avLst/>
          </a:prstGeom>
          <a:noFill/>
          <a:effectLst/>
        </p:spPr>
        <p:txBody>
          <a:bodyPr wrap="square" lIns="0" rIns="0" tIns="0" bIns="0" anchor="t">
            <a:spAutoFit/>
          </a:bodyPr>
          <a:lstStyle/>
          <a:p>
            <a:pPr algn="r" rtl="0">
              <a:lnSpc>
                <a:spcPts val="1764"/>
              </a:lnSpc>
              <a:spcBef>
                <a:spcPts val="0"/>
              </a:spcBef>
              <a:spcAft>
                <a:spcPts val="0"/>
              </a:spcAft>
            </a:pPr>
            <a:r>
              <a:rPr sz="1575" b="0" lang="ar-EG">
                <a:solidFill>
                  <a:srgbClr val="29302D"/>
                </a:solidFill>
                <a:latin typeface="Manrope"/>
                <a:cs typeface="IBM Plex Sans Arabic Medium"/>
              </a:rPr>
              <a:t>بحث: +20 ••• 410</a:t>
            </a:r>
          </a:p>
        </p:txBody>
      </p:sp>
      <p:sp>
        <p:nvSpPr>
          <p:cNvPr id="29" name="Rounded Rectangle 28"/>
          <p:cNvSpPr/>
          <p:nvPr/>
        </p:nvSpPr>
        <p:spPr>
          <a:xfrm>
            <a:off x="923925" y="3800475"/>
            <a:ext cx="866775" cy="361950"/>
          </a:xfrm>
          <a:prstGeom prst="roundRect">
            <a:avLst>
              <a:gd name="adj" fmla="val 12000"/>
            </a:avLst>
          </a:prstGeom>
          <a:solidFill>
            <a:srgbClr val="F8F1E8"/>
          </a:solidFill>
          <a:ln w="9525">
            <a:solidFill>
              <a:srgbClr val="F8F1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962025" y="3857625"/>
            <a:ext cx="790575" cy="285750"/>
          </a:xfrm>
          <a:prstGeom prst="rect">
            <a:avLst/>
          </a:prstGeom>
          <a:noFill/>
          <a:effectLst/>
        </p:spPr>
        <p:txBody>
          <a:bodyPr wrap="square" lIns="0" rIns="0" tIns="0" bIns="0" anchor="t">
            <a:spAutoFit/>
          </a:bodyPr>
          <a:lstStyle/>
          <a:p>
            <a:pPr algn="ctr" rtl="1">
              <a:lnSpc>
                <a:spcPts val="1428"/>
              </a:lnSpc>
              <a:spcBef>
                <a:spcPts val="0"/>
              </a:spcBef>
              <a:spcAft>
                <a:spcPts val="0"/>
              </a:spcAft>
            </a:pPr>
            <a:r>
              <a:rPr sz="1275" b="1" lang="ar-EG">
                <a:solidFill>
                  <a:srgbClr val="9F5836"/>
                </a:solidFill>
                <a:latin typeface="Manrope"/>
                <a:cs typeface="IBM Plex Sans Arabic Medium"/>
              </a:rPr>
              <a:t>بحث</a:t>
            </a:r>
          </a:p>
        </p:txBody>
      </p:sp>
      <p:cxnSp>
        <p:nvCxnSpPr>
          <p:cNvPr id="31" name="Connector 30"/>
          <p:cNvCxnSpPr/>
          <p:nvPr/>
        </p:nvCxnSpPr>
        <p:spPr>
          <a:xfrm flipH="1">
            <a:off x="838200" y="4476750"/>
            <a:ext cx="62103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pic>
        <p:nvPicPr>
          <p:cNvPr id="32" name="Picture 31" descr="icon-case.png"/>
          <p:cNvPicPr>
            <a:picLocks noChangeAspect="1"/>
          </p:cNvPicPr>
          <p:nvPr/>
        </p:nvPicPr>
        <p:blipFill>
          <a:blip r:embed="rId7"/>
          <a:stretch>
            <a:fillRect/>
          </a:stretch>
        </p:blipFill>
        <p:spPr>
          <a:xfrm>
            <a:off x="6772275" y="4705350"/>
            <a:ext cx="276225" cy="276225"/>
          </a:xfrm>
          <a:prstGeom prst="rect">
            <a:avLst/>
          </a:prstGeom>
          <a:effectLst/>
        </p:spPr>
      </p:pic>
      <p:sp>
        <p:nvSpPr>
          <p:cNvPr id="33" name="TextBox 32"/>
          <p:cNvSpPr txBox="1"/>
          <p:nvPr/>
        </p:nvSpPr>
        <p:spPr>
          <a:xfrm>
            <a:off x="981075" y="4657725"/>
            <a:ext cx="5600700" cy="32385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9302D"/>
                </a:solidFill>
                <a:latin typeface="Manrope"/>
                <a:cs typeface="IBM Plex Sans Arabic Medium"/>
              </a:rPr>
              <a:t>T101 · متابعة استبدال</a:t>
            </a:r>
          </a:p>
        </p:txBody>
      </p:sp>
      <p:sp>
        <p:nvSpPr>
          <p:cNvPr id="34" name="TextBox 33"/>
          <p:cNvSpPr txBox="1"/>
          <p:nvPr/>
        </p:nvSpPr>
        <p:spPr>
          <a:xfrm>
            <a:off x="981075" y="5038725"/>
            <a:ext cx="5600700" cy="28575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716B"/>
                </a:solidFill>
                <a:latin typeface="Manrope"/>
                <a:cs typeface="IBM Plex Sans Arabic Medium"/>
              </a:rPr>
              <a:t>آخر تحديث: بانتظار مراجعة الفرع</a:t>
            </a:r>
          </a:p>
        </p:txBody>
      </p:sp>
      <p:sp>
        <p:nvSpPr>
          <p:cNvPr id="35" name="TextBox 34"/>
          <p:cNvSpPr txBox="1"/>
          <p:nvPr/>
        </p:nvSpPr>
        <p:spPr>
          <a:xfrm>
            <a:off x="571500" y="5876925"/>
            <a:ext cx="11049000" cy="3619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68716B"/>
                </a:solidFill>
                <a:latin typeface="Manrope"/>
                <a:cs typeface="IBM Plex Sans Arabic Medium"/>
              </a:rPr>
              <a:t>الموظف بيبحث الأول عشان يقدر يكمل المتابعة السابقة.</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5"/>
                                  </p:tgtEl>
                                  <p:attrNameLst>
                                    <p:attrName>style.visibility</p:attrName>
                                  </p:attrNameLst>
                                </p:cBhvr>
                                <p:to>
                                  <p:strVal val="visible"/>
                                </p:to>
                              </p:set>
                              <p:animEffect transition="in" filter="fade">
                                <p:cBhvr>
                                  <p:cTn id="6" dur="500"/>
                                  <p:tgtEl>
                                    <p:spTgt spid="15"/>
                                  </p:tgtEl>
                                </p:cBhvr>
                              </p:animEffect>
                            </p:childTnLst>
                          </p:cTn>
                        </p:par>
                        <p:par>
                          <p:cTn id="7" presetID="10" presetClass="entr" presetSubtype="0" fill="hold" nodeType="withEffect">
                            <p:stCondLst>
                              <p:cond delay="0"/>
                            </p:stCondLst>
                            <p:childTnLst>
                              <p:set>
                                <p:cBhvr>
                                  <p:cTn id="8" dur="1" fill="hold"/>
                                  <p:tgtEl>
                                    <p:spTgt spid="16"/>
                                  </p:tgtEl>
                                  <p:attrNameLst>
                                    <p:attrName>style.visibility</p:attrName>
                                  </p:attrNameLst>
                                </p:cBhvr>
                                <p:to>
                                  <p:strVal val="visible"/>
                                </p:to>
                              </p:set>
                              <p:animEffect transition="in" filter="fade">
                                <p:cBhvr>
                                  <p:cTn id="9" dur="500"/>
                                  <p:tgtEl>
                                    <p:spTgt spid="16"/>
                                  </p:tgtEl>
                                </p:cBhvr>
                              </p:animEffect>
                            </p:childTnLst>
                          </p:cTn>
                        </p:par>
                        <p:par>
                          <p:cTn id="10" presetID="10" presetClass="entr" presetSubtype="0" fill="hold" nodeType="withEffect">
                            <p:stCondLst>
                              <p:cond delay="0"/>
                            </p:stCondLst>
                            <p:childTnLst>
                              <p:set>
                                <p:cBhvr>
                                  <p:cTn id="11" dur="1" fill="hold"/>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nodeType="withEffect">
                            <p:stCondLst>
                              <p:cond delay="0"/>
                            </p:stCondLst>
                            <p:childTnLst>
                              <p:set>
                                <p:cBhvr>
                                  <p:cTn id="14" dur="1" fill="hold"/>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nodeType="withEffect">
                            <p:stCondLst>
                              <p:cond delay="1250"/>
                            </p:stCondLst>
                            <p:childTnLst>
                              <p:set>
                                <p:cBhvr>
                                  <p:cTn id="17" dur="1" fill="hold"/>
                                  <p:tgtEl>
                                    <p:spTgt spid="19"/>
                                  </p:tgtEl>
                                  <p:attrNameLst>
                                    <p:attrName>style.visibility</p:attrName>
                                  </p:attrNameLst>
                                </p:cBhvr>
                                <p:to>
                                  <p:strVal val="visible"/>
                                </p:to>
                              </p:set>
                              <p:animEffect transition="in" filter="fade">
                                <p:cBhvr>
                                  <p:cTn id="18" dur="500"/>
                                  <p:tgtEl>
                                    <p:spTgt spid="19"/>
                                  </p:tgtEl>
                                </p:cBhvr>
                              </p:animEffect>
                            </p:childTnLst>
                          </p:cTn>
                        </p:par>
                        <p:par>
                          <p:cTn id="19" presetID="10" presetClass="entr" presetSubtype="0" fill="hold" nodeType="withEffect">
                            <p:stCondLst>
                              <p:cond delay="0"/>
                            </p:stCondLst>
                            <p:childTnLst>
                              <p:set>
                                <p:cBhvr>
                                  <p:cTn id="20" dur="1" fill="hold"/>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10" presetClass="entr" presetSubtype="0" fill="hold" nodeType="withEffect">
                            <p:stCondLst>
                              <p:cond delay="2500"/>
                            </p:stCondLst>
                            <p:childTnLst>
                              <p:set>
                                <p:cBhvr>
                                  <p:cTn id="23" dur="1" fill="hold"/>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10" presetClass="entr" presetSubtype="0" fill="hold" nodeType="withEffect">
                            <p:stCondLst>
                              <p:cond delay="2500"/>
                            </p:stCondLst>
                            <p:childTnLst>
                              <p:set>
                                <p:cBhvr>
                                  <p:cTn id="26" dur="1" fill="hold"/>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nodeType="withEffect">
                            <p:stCondLst>
                              <p:cond delay="0"/>
                            </p:stCondLst>
                            <p:childTnLst>
                              <p:set>
                                <p:cBhvr>
                                  <p:cTn id="29" dur="1" fill="hold"/>
                                  <p:tgtEl>
                                    <p:spTgt spid="24"/>
                                  </p:tgtEl>
                                  <p:attrNameLst>
                                    <p:attrName>style.visibility</p:attrName>
                                  </p:attrNameLst>
                                </p:cBhvr>
                                <p:to>
                                  <p:strVal val="visible"/>
                                </p:to>
                              </p:set>
                              <p:animEffect transition="in" filter="fade">
                                <p:cBhvr>
                                  <p:cTn id="30" dur="500"/>
                                  <p:tgtEl>
                                    <p:spTgt spid="24"/>
                                  </p:tgtEl>
                                </p:cBhvr>
                              </p:animEffect>
                            </p:childTnLst>
                          </p:cTn>
                        </p:par>
                        <p:par>
                          <p:cTn id="31" presetID="10" presetClass="entr" presetSubtype="0" fill="hold" nodeType="withEffect">
                            <p:stCondLst>
                              <p:cond delay="0"/>
                            </p:stCondLst>
                            <p:childTnLst>
                              <p:set>
                                <p:cBhvr>
                                  <p:cTn id="32" dur="1" fill="hold"/>
                                  <p:tgtEl>
                                    <p:spTgt spid="25"/>
                                  </p:tgtEl>
                                  <p:attrNameLst>
                                    <p:attrName>style.visibility</p:attrName>
                                  </p:attrNameLst>
                                </p:cBhvr>
                                <p:to>
                                  <p:strVal val="visible"/>
                                </p:to>
                              </p:set>
                              <p:animEffect transition="in" filter="fade">
                                <p:cBhvr>
                                  <p:cTn id="33" dur="500"/>
                                  <p:tgtEl>
                                    <p:spTgt spid="25"/>
                                  </p:tgtEl>
                                </p:cBhvr>
                              </p:animEffect>
                            </p:childTnLst>
                          </p:cTn>
                        </p:par>
                        <p:par>
                          <p:cTn id="34" presetID="10" presetClass="entr" presetSubtype="0" fill="hold" nodeType="withEffect">
                            <p:stCondLst>
                              <p:cond delay="2500"/>
                            </p:stCondLst>
                            <p:childTnLst>
                              <p:set>
                                <p:cBhvr>
                                  <p:cTn id="35" dur="1" fill="hold"/>
                                  <p:tgtEl>
                                    <p:spTgt spid="26"/>
                                  </p:tgtEl>
                                  <p:attrNameLst>
                                    <p:attrName>style.visibility</p:attrName>
                                  </p:attrNameLst>
                                </p:cBhvr>
                                <p:to>
                                  <p:strVal val="visible"/>
                                </p:to>
                              </p:set>
                              <p:animEffect transition="in" filter="fade">
                                <p:cBhvr>
                                  <p:cTn id="36" dur="500"/>
                                  <p:tgtEl>
                                    <p:spTgt spid="26"/>
                                  </p:tgtEl>
                                </p:cBhvr>
                              </p:animEffect>
                            </p:childTnLst>
                          </p:cTn>
                        </p:par>
                        <p:par>
                          <p:cTn id="37" presetID="10" presetClass="entr" presetSubtype="0" fill="hold" nodeType="withEffect">
                            <p:stCondLst>
                              <p:cond delay="2500"/>
                            </p:stCondLst>
                            <p:childTnLst>
                              <p:set>
                                <p:cBhvr>
                                  <p:cTn id="38" dur="1" fill="hold"/>
                                  <p:tgtEl>
                                    <p:spTgt spid="27"/>
                                  </p:tgtEl>
                                  <p:attrNameLst>
                                    <p:attrName>style.visibility</p:attrName>
                                  </p:attrNameLst>
                                </p:cBhvr>
                                <p:to>
                                  <p:strVal val="visible"/>
                                </p:to>
                              </p:set>
                              <p:animEffect transition="in" filter="fade">
                                <p:cBhvr>
                                  <p:cTn id="39" dur="500"/>
                                  <p:tgtEl>
                                    <p:spTgt spid="27"/>
                                  </p:tgtEl>
                                </p:cBhvr>
                              </p:animEffect>
                            </p:childTnLst>
                          </p:cTn>
                        </p:par>
                        <p:par>
                          <p:cTn id="40" presetID="10" presetClass="entr" presetSubtype="0" fill="hold" nodeType="withEffect">
                            <p:stCondLst>
                              <p:cond delay="2500"/>
                            </p:stCondLst>
                            <p:childTnLst>
                              <p:set>
                                <p:cBhvr>
                                  <p:cTn id="41" dur="1" fill="hold"/>
                                  <p:tgtEl>
                                    <p:spTgt spid="28"/>
                                  </p:tgtEl>
                                  <p:attrNameLst>
                                    <p:attrName>style.visibility</p:attrName>
                                  </p:attrNameLst>
                                </p:cBhvr>
                                <p:to>
                                  <p:strVal val="visible"/>
                                </p:to>
                              </p:set>
                              <p:animEffect transition="in" filter="fade">
                                <p:cBhvr>
                                  <p:cTn id="42" dur="500"/>
                                  <p:tgtEl>
                                    <p:spTgt spid="28"/>
                                  </p:tgtEl>
                                </p:cBhvr>
                              </p:animEffect>
                            </p:childTnLst>
                          </p:cTn>
                        </p:par>
                        <p:par>
                          <p:cTn id="43" presetID="10" presetClass="entr" presetSubtype="0" fill="hold" nodeType="withEffect">
                            <p:stCondLst>
                              <p:cond delay="2500"/>
                            </p:stCondLst>
                            <p:childTnLst>
                              <p:set>
                                <p:cBhvr>
                                  <p:cTn id="44" dur="1" fill="hold"/>
                                  <p:tgtEl>
                                    <p:spTgt spid="29"/>
                                  </p:tgtEl>
                                  <p:attrNameLst>
                                    <p:attrName>style.visibility</p:attrName>
                                  </p:attrNameLst>
                                </p:cBhvr>
                                <p:to>
                                  <p:strVal val="visible"/>
                                </p:to>
                              </p:set>
                              <p:animEffect transition="in" filter="fade">
                                <p:cBhvr>
                                  <p:cTn id="45" dur="500"/>
                                  <p:tgtEl>
                                    <p:spTgt spid="29"/>
                                  </p:tgtEl>
                                </p:cBhvr>
                              </p:animEffect>
                            </p:childTnLst>
                          </p:cTn>
                        </p:par>
                        <p:par>
                          <p:cTn id="46" presetID="10" presetClass="entr" presetSubtype="0" fill="hold" nodeType="withEffect">
                            <p:stCondLst>
                              <p:cond delay="2500"/>
                            </p:stCondLst>
                            <p:childTnLst>
                              <p:set>
                                <p:cBhvr>
                                  <p:cTn id="47" dur="1" fill="hold"/>
                                  <p:tgtEl>
                                    <p:spTgt spid="30"/>
                                  </p:tgtEl>
                                  <p:attrNameLst>
                                    <p:attrName>style.visibility</p:attrName>
                                  </p:attrNameLst>
                                </p:cBhvr>
                                <p:to>
                                  <p:strVal val="visible"/>
                                </p:to>
                              </p:set>
                              <p:animEffect transition="in" filter="fade">
                                <p:cBhvr>
                                  <p:cTn id="48" dur="500"/>
                                  <p:tgtEl>
                                    <p:spTgt spid="30"/>
                                  </p:tgtEl>
                                </p:cBhvr>
                              </p:animEffect>
                            </p:childTnLst>
                          </p:cTn>
                        </p:par>
                        <p:par>
                          <p:cTn id="49" presetID="10" presetClass="entr" presetSubtype="0" fill="hold" nodeType="withEffect">
                            <p:stCondLst>
                              <p:cond delay="3750"/>
                            </p:stCondLst>
                            <p:childTnLst>
                              <p:set>
                                <p:cBhvr>
                                  <p:cTn id="50" dur="1" fill="hold"/>
                                  <p:tgtEl>
                                    <p:spTgt spid="31"/>
                                  </p:tgtEl>
                                  <p:attrNameLst>
                                    <p:attrName>style.visibility</p:attrName>
                                  </p:attrNameLst>
                                </p:cBhvr>
                                <p:to>
                                  <p:strVal val="visible"/>
                                </p:to>
                              </p:set>
                              <p:animEffect transition="in" filter="fade">
                                <p:cBhvr>
                                  <p:cTn id="51" dur="500"/>
                                  <p:tgtEl>
                                    <p:spTgt spid="31"/>
                                  </p:tgtEl>
                                </p:cBhvr>
                              </p:animEffect>
                            </p:childTnLst>
                          </p:cTn>
                        </p:par>
                        <p:par>
                          <p:cTn id="52" presetID="10" presetClass="entr" presetSubtype="0" fill="hold" nodeType="withEffect">
                            <p:stCondLst>
                              <p:cond delay="3750"/>
                            </p:stCondLst>
                            <p:childTnLst>
                              <p:set>
                                <p:cBhvr>
                                  <p:cTn id="53" dur="1" fill="hold"/>
                                  <p:tgtEl>
                                    <p:spTgt spid="32"/>
                                  </p:tgtEl>
                                  <p:attrNameLst>
                                    <p:attrName>style.visibility</p:attrName>
                                  </p:attrNameLst>
                                </p:cBhvr>
                                <p:to>
                                  <p:strVal val="visible"/>
                                </p:to>
                              </p:set>
                              <p:animEffect transition="in" filter="fade">
                                <p:cBhvr>
                                  <p:cTn id="54" dur="500"/>
                                  <p:tgtEl>
                                    <p:spTgt spid="32"/>
                                  </p:tgtEl>
                                </p:cBhvr>
                              </p:animEffect>
                            </p:childTnLst>
                          </p:cTn>
                        </p:par>
                        <p:par>
                          <p:cTn id="55" presetID="10" presetClass="entr" presetSubtype="0" fill="hold" nodeType="withEffect">
                            <p:stCondLst>
                              <p:cond delay="3750"/>
                            </p:stCondLst>
                            <p:childTnLst>
                              <p:set>
                                <p:cBhvr>
                                  <p:cTn id="56" dur="1" fill="hold"/>
                                  <p:tgtEl>
                                    <p:spTgt spid="33"/>
                                  </p:tgtEl>
                                  <p:attrNameLst>
                                    <p:attrName>style.visibility</p:attrName>
                                  </p:attrNameLst>
                                </p:cBhvr>
                                <p:to>
                                  <p:strVal val="visible"/>
                                </p:to>
                              </p:set>
                              <p:animEffect transition="in" filter="fade">
                                <p:cBhvr>
                                  <p:cTn id="57" dur="500"/>
                                  <p:tgtEl>
                                    <p:spTgt spid="33"/>
                                  </p:tgtEl>
                                </p:cBhvr>
                              </p:animEffect>
                            </p:childTnLst>
                          </p:cTn>
                        </p:par>
                        <p:par>
                          <p:cTn id="58" presetID="10" presetClass="entr" presetSubtype="0" fill="hold" nodeType="withEffect">
                            <p:stCondLst>
                              <p:cond delay="3750"/>
                            </p:stCondLst>
                            <p:childTnLst>
                              <p:set>
                                <p:cBhvr>
                                  <p:cTn id="59" dur="1" fill="hold"/>
                                  <p:tgtEl>
                                    <p:spTgt spid="34"/>
                                  </p:tgtEl>
                                  <p:attrNameLst>
                                    <p:attrName>style.visibility</p:attrName>
                                  </p:attrNameLst>
                                </p:cBhvr>
                                <p:to>
                                  <p:strVal val="visible"/>
                                </p:to>
                              </p:set>
                              <p:animEffect transition="in" filter="fade">
                                <p:cBhvr>
                                  <p:cTn id="60" dur="500"/>
                                  <p:tgtEl>
                                    <p:spTgt spid="3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210925" y="292100"/>
            <a:ext cx="409575" cy="273050"/>
          </a:xfrm>
          <a:prstGeom prst="rect">
            <a:avLst/>
          </a:prstGeom>
          <a:effectLst/>
        </p:spPr>
      </p:pic>
      <p:sp>
        <p:nvSpPr>
          <p:cNvPr id="3" name="TextBox 2"/>
          <p:cNvSpPr txBox="1"/>
          <p:nvPr/>
        </p:nvSpPr>
        <p:spPr>
          <a:xfrm>
            <a:off x="9629775" y="323850"/>
            <a:ext cx="1466850" cy="257175"/>
          </a:xfrm>
          <a:prstGeom prst="rect">
            <a:avLst/>
          </a:prstGeom>
          <a:noFill/>
          <a:effectLst/>
        </p:spPr>
        <p:txBody>
          <a:bodyPr wrap="square" lIns="0" rIns="0" tIns="0" bIns="0" anchor="t">
            <a:spAutoFit/>
          </a:bodyPr>
          <a:lstStyle/>
          <a:p>
            <a:pPr algn="r" rtl="0">
              <a:lnSpc>
                <a:spcPts val="1428"/>
              </a:lnSpc>
              <a:spcBef>
                <a:spcPts val="0"/>
              </a:spcBef>
              <a:spcAft>
                <a:spcPts val="0"/>
              </a:spcAft>
            </a:pPr>
            <a:r>
              <a:rPr sz="1275" b="1" lang="ar-EG">
                <a:solidFill>
                  <a:srgbClr val="29302D"/>
                </a:solidFill>
                <a:latin typeface="Manrope"/>
                <a:cs typeface="IBM Plex Sans Arabic Medium"/>
              </a:rPr>
              <a:t>GRINDCTRL</a:t>
            </a:r>
          </a:p>
        </p:txBody>
      </p:sp>
      <p:sp>
        <p:nvSpPr>
          <p:cNvPr id="4" name="TextBox 3"/>
          <p:cNvSpPr txBox="1"/>
          <p:nvPr/>
        </p:nvSpPr>
        <p:spPr>
          <a:xfrm>
            <a:off x="571500" y="333375"/>
            <a:ext cx="4171950" cy="247650"/>
          </a:xfrm>
          <a:prstGeom prst="rect">
            <a:avLst/>
          </a:prstGeom>
          <a:noFill/>
          <a:effectLst/>
        </p:spPr>
        <p:txBody>
          <a:bodyPr wrap="square" lIns="0" rIns="0" tIns="0" bIns="0" anchor="t">
            <a:spAutoFit/>
          </a:bodyPr>
          <a:lstStyle/>
          <a:p>
            <a:pPr algn="l" rtl="1">
              <a:lnSpc>
                <a:spcPts val="1176"/>
              </a:lnSpc>
              <a:spcBef>
                <a:spcPts val="0"/>
              </a:spcBef>
              <a:spcAft>
                <a:spcPts val="0"/>
              </a:spcAft>
            </a:pPr>
            <a:r>
              <a:rPr sz="1050" b="0" lang="ar-EG">
                <a:solidFill>
                  <a:srgbClr val="68716B"/>
                </a:solidFill>
                <a:latin typeface="Manrope"/>
                <a:cs typeface="IBM Plex Sans Arabic Medium"/>
              </a:rPr>
              <a:t>٠٢ · التجربة المقترحة</a:t>
            </a:r>
          </a:p>
        </p:txBody>
      </p:sp>
      <p:sp>
        <p:nvSpPr>
          <p:cNvPr id="5" name="TextBox 4"/>
          <p:cNvSpPr txBox="1"/>
          <p:nvPr/>
        </p:nvSpPr>
        <p:spPr>
          <a:xfrm>
            <a:off x="571500" y="895350"/>
            <a:ext cx="11049000" cy="609600"/>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9302D"/>
                </a:solidFill>
                <a:latin typeface="Manrope"/>
                <a:cs typeface="IBM Plex Sans Arabic Medium"/>
              </a:rPr>
              <a:t>المكالمة توصل. ومعلومات العميل تظهر معاها.</a:t>
            </a:r>
          </a:p>
        </p:txBody>
      </p:sp>
      <p:sp>
        <p:nvSpPr>
          <p:cNvPr id="6" name="TextBox 5"/>
          <p:cNvSpPr txBox="1"/>
          <p:nvPr/>
        </p:nvSpPr>
        <p:spPr>
          <a:xfrm>
            <a:off x="571500" y="1581150"/>
            <a:ext cx="11049000" cy="3619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68716B"/>
                </a:solidFill>
                <a:latin typeface="Manrope"/>
                <a:cs typeface="IBM Plex Sans Arabic Medium"/>
              </a:rPr>
              <a:t>رقم المتصل يبدأ البحث تلقائيًا في Zoho Desk.</a:t>
            </a:r>
          </a:p>
        </p:txBody>
      </p:sp>
      <p:cxnSp>
        <p:nvCxnSpPr>
          <p:cNvPr id="7" name="Connector 6"/>
          <p:cNvCxnSpPr/>
          <p:nvPr/>
        </p:nvCxnSpPr>
        <p:spPr>
          <a:xfrm flipH="1">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2095500" y="6534150"/>
            <a:ext cx="9525000" cy="219075"/>
          </a:xfrm>
          <a:prstGeom prst="rect">
            <a:avLst/>
          </a:prstGeom>
          <a:noFill/>
          <a:effectLst/>
        </p:spPr>
        <p:txBody>
          <a:bodyPr wrap="square" lIns="0" rIns="0" tIns="0" bIns="0" anchor="t">
            <a:spAutoFit/>
          </a:bodyPr>
          <a:lstStyle/>
          <a:p>
            <a:pPr algn="r" rtl="1">
              <a:lnSpc>
                <a:spcPts val="1008"/>
              </a:lnSpc>
              <a:spcBef>
                <a:spcPts val="0"/>
              </a:spcBef>
              <a:spcAft>
                <a:spcPts val="0"/>
              </a:spcAft>
            </a:pPr>
            <a:r>
              <a:rPr sz="900" b="0" lang="ar-EG">
                <a:solidFill>
                  <a:srgbClr val="68716B"/>
                </a:solidFill>
                <a:latin typeface="Manrope"/>
                <a:cs typeface="IBM Plex Sans Arabic Medium"/>
              </a:rPr>
              <a:t>كونكريت · تعاون مقترح</a:t>
            </a:r>
          </a:p>
        </p:txBody>
      </p:sp>
      <p:sp>
        <p:nvSpPr>
          <p:cNvPr id="9" name="TextBox 8"/>
          <p:cNvSpPr txBox="1"/>
          <p:nvPr/>
        </p:nvSpPr>
        <p:spPr>
          <a:xfrm>
            <a:off x="571500" y="6515100"/>
            <a:ext cx="83820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716B"/>
                </a:solidFill>
                <a:latin typeface="Manrope"/>
                <a:cs typeface="IBM Plex Sans Arabic Medium"/>
              </a:rPr>
              <a:t>03 / 09</a:t>
            </a:r>
          </a:p>
        </p:txBody>
      </p:sp>
      <p:sp>
        <p:nvSpPr>
          <p:cNvPr id="10" name="Rounded Rectangle 9"/>
          <p:cNvSpPr/>
          <p:nvPr/>
        </p:nvSpPr>
        <p:spPr>
          <a:xfrm>
            <a:off x="561975" y="2305050"/>
            <a:ext cx="11049000" cy="3333750"/>
          </a:xfrm>
          <a:prstGeom prst="roundRect">
            <a:avLst>
              <a:gd name="adj" fmla="val 4571"/>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571500" y="2257425"/>
            <a:ext cx="11049000" cy="3333750"/>
          </a:xfrm>
          <a:prstGeom prst="roundRect">
            <a:avLst>
              <a:gd name="adj" fmla="val 4571"/>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genesys.png"/>
          <p:cNvPicPr>
            <a:picLocks noChangeAspect="1"/>
          </p:cNvPicPr>
          <p:nvPr/>
        </p:nvPicPr>
        <p:blipFill>
          <a:blip r:embed="rId3"/>
          <a:stretch>
            <a:fillRect/>
          </a:stretch>
        </p:blipFill>
        <p:spPr>
          <a:xfrm>
            <a:off x="9991725" y="2494375"/>
            <a:ext cx="1381125" cy="269050"/>
          </a:xfrm>
          <a:prstGeom prst="rect">
            <a:avLst/>
          </a:prstGeom>
          <a:effectLst/>
        </p:spPr>
      </p:pic>
      <p:sp>
        <p:nvSpPr>
          <p:cNvPr id="13" name="Oval 12"/>
          <p:cNvSpPr/>
          <p:nvPr/>
        </p:nvSpPr>
        <p:spPr>
          <a:xfrm>
            <a:off x="9620250" y="2600325"/>
            <a:ext cx="66675" cy="66675"/>
          </a:xfrm>
          <a:prstGeom prst="ellipse">
            <a:avLst/>
          </a:prstGeom>
          <a:solidFill>
            <a:srgbClr val="54745C"/>
          </a:solidFill>
          <a:ln w="9525">
            <a:solidFill>
              <a:srgbClr val="54745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638675" y="2533650"/>
            <a:ext cx="4886325" cy="276225"/>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54745C"/>
                </a:solidFill>
                <a:latin typeface="Manrope"/>
                <a:cs typeface="IBM Plex Sans Arabic Medium"/>
              </a:rPr>
              <a:t>المكالمة وصلت للموظف</a:t>
            </a:r>
          </a:p>
        </p:txBody>
      </p:sp>
      <p:sp>
        <p:nvSpPr>
          <p:cNvPr id="15" name="TextBox 14"/>
          <p:cNvSpPr txBox="1"/>
          <p:nvPr/>
        </p:nvSpPr>
        <p:spPr>
          <a:xfrm>
            <a:off x="800100" y="2552700"/>
            <a:ext cx="2686050" cy="257175"/>
          </a:xfrm>
          <a:prstGeom prst="rect">
            <a:avLst/>
          </a:prstGeom>
          <a:noFill/>
          <a:effectLst/>
        </p:spPr>
        <p:txBody>
          <a:bodyPr wrap="square" lIns="0" rIns="0" tIns="0" bIns="0" anchor="t">
            <a:spAutoFit/>
          </a:bodyPr>
          <a:lstStyle/>
          <a:p>
            <a:pPr algn="l" rtl="1">
              <a:lnSpc>
                <a:spcPts val="1092"/>
              </a:lnSpc>
              <a:spcBef>
                <a:spcPts val="0"/>
              </a:spcBef>
              <a:spcAft>
                <a:spcPts val="0"/>
              </a:spcAft>
            </a:pPr>
            <a:r>
              <a:rPr sz="975" b="0" lang="ar-EG">
                <a:solidFill>
                  <a:srgbClr val="68716B"/>
                </a:solidFill>
                <a:latin typeface="Manrope"/>
                <a:cs typeface="IBM Plex Sans Arabic Medium"/>
              </a:rPr>
              <a:t>شاشة موظف مقترحة</a:t>
            </a:r>
          </a:p>
        </p:txBody>
      </p:sp>
      <p:cxnSp>
        <p:nvCxnSpPr>
          <p:cNvPr id="16" name="Connector 15"/>
          <p:cNvCxnSpPr/>
          <p:nvPr/>
        </p:nvCxnSpPr>
        <p:spPr>
          <a:xfrm flipH="1">
            <a:off x="571500" y="30099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17" name="Oval 16"/>
          <p:cNvSpPr/>
          <p:nvPr/>
        </p:nvSpPr>
        <p:spPr>
          <a:xfrm>
            <a:off x="10820400" y="3486150"/>
            <a:ext cx="533400" cy="53340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icon-call.png"/>
          <p:cNvPicPr>
            <a:picLocks noChangeAspect="1"/>
          </p:cNvPicPr>
          <p:nvPr/>
        </p:nvPicPr>
        <p:blipFill>
          <a:blip r:embed="rId4"/>
          <a:stretch>
            <a:fillRect/>
          </a:stretch>
        </p:blipFill>
        <p:spPr>
          <a:xfrm>
            <a:off x="10915650" y="3581400"/>
            <a:ext cx="342900" cy="342900"/>
          </a:xfrm>
          <a:prstGeom prst="rect">
            <a:avLst/>
          </a:prstGeom>
          <a:effectLst/>
        </p:spPr>
      </p:pic>
      <p:sp>
        <p:nvSpPr>
          <p:cNvPr id="19" name="TextBox 18"/>
          <p:cNvSpPr txBox="1"/>
          <p:nvPr/>
        </p:nvSpPr>
        <p:spPr>
          <a:xfrm>
            <a:off x="8591550" y="4257675"/>
            <a:ext cx="2762250" cy="400050"/>
          </a:xfrm>
          <a:prstGeom prst="rect">
            <a:avLst/>
          </a:prstGeom>
          <a:noFill/>
          <a:effectLst/>
        </p:spPr>
        <p:txBody>
          <a:bodyPr wrap="square" lIns="0" rIns="0" tIns="0" bIns="0" anchor="t">
            <a:spAutoFit/>
          </a:bodyPr>
          <a:lstStyle/>
          <a:p>
            <a:pPr algn="r" rtl="0">
              <a:lnSpc>
                <a:spcPts val="2436"/>
              </a:lnSpc>
              <a:spcBef>
                <a:spcPts val="0"/>
              </a:spcBef>
              <a:spcAft>
                <a:spcPts val="0"/>
              </a:spcAft>
            </a:pPr>
            <a:r>
              <a:rPr sz="2175" b="0" lang="ar-EG">
                <a:solidFill>
                  <a:srgbClr val="29302D"/>
                </a:solidFill>
                <a:latin typeface="Manrope"/>
                <a:cs typeface="IBM Plex Sans Arabic Medium"/>
              </a:rPr>
              <a:t>+20 ••• 410</a:t>
            </a:r>
          </a:p>
        </p:txBody>
      </p:sp>
      <p:sp>
        <p:nvSpPr>
          <p:cNvPr id="20" name="TextBox 19"/>
          <p:cNvSpPr txBox="1"/>
          <p:nvPr/>
        </p:nvSpPr>
        <p:spPr>
          <a:xfrm>
            <a:off x="8591550" y="4772025"/>
            <a:ext cx="2762250" cy="295275"/>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716B"/>
                </a:solidFill>
                <a:latin typeface="Manrope"/>
                <a:cs typeface="IBM Plex Sans Arabic Medium"/>
              </a:rPr>
              <a:t>رقم المتصل متاح</a:t>
            </a:r>
          </a:p>
        </p:txBody>
      </p:sp>
      <p:cxnSp>
        <p:nvCxnSpPr>
          <p:cNvPr id="21" name="Connector 20"/>
          <p:cNvCxnSpPr/>
          <p:nvPr/>
        </p:nvCxnSpPr>
        <p:spPr>
          <a:xfrm flipH="1">
            <a:off x="7572375" y="4238625"/>
            <a:ext cx="904875" cy="0"/>
          </a:xfrm>
          <a:prstGeom prst="line">
            <a:avLst/>
          </a:prstGeom>
          <a:ln w="23812">
            <a:solidFill>
              <a:srgbClr val="54745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7486650" y="3743325"/>
            <a:ext cx="1066800" cy="266700"/>
          </a:xfrm>
          <a:prstGeom prst="rect">
            <a:avLst/>
          </a:prstGeom>
          <a:noFill/>
          <a:effectLst/>
        </p:spPr>
        <p:txBody>
          <a:bodyPr wrap="square" lIns="0" rIns="0" tIns="0" bIns="0" anchor="t">
            <a:spAutoFit/>
          </a:bodyPr>
          <a:lstStyle/>
          <a:p>
            <a:pPr algn="ctr" rtl="1">
              <a:lnSpc>
                <a:spcPts val="1344"/>
              </a:lnSpc>
              <a:spcBef>
                <a:spcPts val="0"/>
              </a:spcBef>
              <a:spcAft>
                <a:spcPts val="0"/>
              </a:spcAft>
            </a:pPr>
            <a:r>
              <a:rPr sz="1200" b="1" lang="ar-EG">
                <a:solidFill>
                  <a:srgbClr val="54745C"/>
                </a:solidFill>
                <a:latin typeface="Manrope"/>
                <a:cs typeface="IBM Plex Sans Arabic Medium"/>
              </a:rPr>
              <a:t>بحث تلقائي</a:t>
            </a:r>
          </a:p>
        </p:txBody>
      </p:sp>
      <p:cxnSp>
        <p:nvCxnSpPr>
          <p:cNvPr id="23" name="Connector 22"/>
          <p:cNvCxnSpPr/>
          <p:nvPr/>
        </p:nvCxnSpPr>
        <p:spPr>
          <a:xfrm>
            <a:off x="7334250" y="3228975"/>
            <a:ext cx="0" cy="209550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pic>
        <p:nvPicPr>
          <p:cNvPr id="24" name="Picture 23" descr="zoho.png"/>
          <p:cNvPicPr>
            <a:picLocks noChangeAspect="1"/>
          </p:cNvPicPr>
          <p:nvPr/>
        </p:nvPicPr>
        <p:blipFill>
          <a:blip r:embed="rId5"/>
          <a:stretch>
            <a:fillRect/>
          </a:stretch>
        </p:blipFill>
        <p:spPr>
          <a:xfrm>
            <a:off x="6223981" y="3248025"/>
            <a:ext cx="753687" cy="323850"/>
          </a:xfrm>
          <a:prstGeom prst="rect">
            <a:avLst/>
          </a:prstGeom>
          <a:effectLst/>
        </p:spPr>
      </p:pic>
      <p:sp>
        <p:nvSpPr>
          <p:cNvPr id="25" name="TextBox 24"/>
          <p:cNvSpPr txBox="1"/>
          <p:nvPr/>
        </p:nvSpPr>
        <p:spPr>
          <a:xfrm>
            <a:off x="885825" y="3276600"/>
            <a:ext cx="5076825" cy="29527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1" lang="ar-EG">
                <a:solidFill>
                  <a:srgbClr val="29302D"/>
                </a:solidFill>
                <a:latin typeface="Manrope"/>
                <a:cs typeface="IBM Plex Sans Arabic Medium"/>
              </a:rPr>
              <a:t>تم الوصول لسجلات Desk</a:t>
            </a:r>
          </a:p>
        </p:txBody>
      </p:sp>
      <p:sp>
        <p:nvSpPr>
          <p:cNvPr id="26" name="Rounded Rectangle 25"/>
          <p:cNvSpPr/>
          <p:nvPr/>
        </p:nvSpPr>
        <p:spPr>
          <a:xfrm>
            <a:off x="4143375" y="3800475"/>
            <a:ext cx="2905125" cy="1266825"/>
          </a:xfrm>
          <a:prstGeom prst="roundRect">
            <a:avLst>
              <a:gd name="adj" fmla="val 7518"/>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4314825" y="3952875"/>
            <a:ext cx="2562225" cy="247650"/>
          </a:xfrm>
          <a:prstGeom prst="rect">
            <a:avLst/>
          </a:prstGeom>
          <a:noFill/>
          <a:effectLst/>
        </p:spPr>
        <p:txBody>
          <a:bodyPr wrap="square" lIns="0" rIns="0" tIns="0" bIns="0" anchor="t">
            <a:spAutoFit/>
          </a:bodyPr>
          <a:lstStyle/>
          <a:p>
            <a:pPr algn="r" rtl="0">
              <a:lnSpc>
                <a:spcPts val="1344"/>
              </a:lnSpc>
              <a:spcBef>
                <a:spcPts val="0"/>
              </a:spcBef>
              <a:spcAft>
                <a:spcPts val="0"/>
              </a:spcAft>
            </a:pPr>
            <a:r>
              <a:rPr sz="1200" b="1" lang="ar-EG">
                <a:solidFill>
                  <a:srgbClr val="68716B"/>
                </a:solidFill>
                <a:latin typeface="Manrope"/>
                <a:cs typeface="IBM Plex Sans Arabic Medium"/>
              </a:rPr>
              <a:t>T101</a:t>
            </a:r>
          </a:p>
        </p:txBody>
      </p:sp>
      <p:sp>
        <p:nvSpPr>
          <p:cNvPr id="28" name="TextBox 27"/>
          <p:cNvSpPr txBox="1"/>
          <p:nvPr/>
        </p:nvSpPr>
        <p:spPr>
          <a:xfrm>
            <a:off x="4314825" y="4267200"/>
            <a:ext cx="2562225" cy="333375"/>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9302D"/>
                </a:solidFill>
                <a:latin typeface="Manrope"/>
                <a:cs typeface="IBM Plex Sans Arabic Medium"/>
              </a:rPr>
              <a:t>متابعة استبدال</a:t>
            </a:r>
          </a:p>
        </p:txBody>
      </p:sp>
      <p:sp>
        <p:nvSpPr>
          <p:cNvPr id="29" name="TextBox 28"/>
          <p:cNvSpPr txBox="1"/>
          <p:nvPr/>
        </p:nvSpPr>
        <p:spPr>
          <a:xfrm>
            <a:off x="4314825" y="4676775"/>
            <a:ext cx="2562225" cy="28575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9F5836"/>
                </a:solidFill>
                <a:latin typeface="Manrope"/>
                <a:cs typeface="IBM Plex Sans Arabic Medium"/>
              </a:rPr>
              <a:t>بانتظار الفرع</a:t>
            </a:r>
          </a:p>
        </p:txBody>
      </p:sp>
      <p:sp>
        <p:nvSpPr>
          <p:cNvPr id="30" name="Oval 29"/>
          <p:cNvSpPr/>
          <p:nvPr/>
        </p:nvSpPr>
        <p:spPr>
          <a:xfrm>
            <a:off x="3476625" y="3838575"/>
            <a:ext cx="381000" cy="38100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3476625" y="3914775"/>
            <a:ext cx="381000" cy="342900"/>
          </a:xfrm>
          <a:prstGeom prst="rect">
            <a:avLst/>
          </a:prstGeom>
          <a:noFill/>
          <a:effectLst/>
        </p:spPr>
        <p:txBody>
          <a:bodyPr wrap="square" lIns="0" rIns="0" tIns="0" bIns="0" anchor="t">
            <a:spAutoFit/>
          </a:bodyPr>
          <a:lstStyle/>
          <a:p>
            <a:pPr algn="ctr" rtl="0">
              <a:lnSpc>
                <a:spcPts val="1932"/>
              </a:lnSpc>
              <a:spcBef>
                <a:spcPts val="0"/>
              </a:spcBef>
              <a:spcAft>
                <a:spcPts val="0"/>
              </a:spcAft>
            </a:pPr>
            <a:r>
              <a:rPr sz="1725" b="1" lang="ar-EG">
                <a:solidFill>
                  <a:srgbClr val="54745C"/>
                </a:solidFill>
                <a:latin typeface="Manrope"/>
                <a:cs typeface="IBM Plex Sans Arabic Medium"/>
              </a:rPr>
              <a:t>A</a:t>
            </a:r>
          </a:p>
        </p:txBody>
      </p:sp>
      <p:sp>
        <p:nvSpPr>
          <p:cNvPr id="32" name="TextBox 31"/>
          <p:cNvSpPr txBox="1"/>
          <p:nvPr/>
        </p:nvSpPr>
        <p:spPr>
          <a:xfrm>
            <a:off x="923925" y="3867150"/>
            <a:ext cx="2400300" cy="31432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9302D"/>
                </a:solidFill>
                <a:latin typeface="Manrope"/>
                <a:cs typeface="IBM Plex Sans Arabic Medium"/>
              </a:rPr>
              <a:t>العميل A</a:t>
            </a:r>
          </a:p>
        </p:txBody>
      </p:sp>
      <p:sp>
        <p:nvSpPr>
          <p:cNvPr id="33" name="TextBox 32"/>
          <p:cNvSpPr txBox="1"/>
          <p:nvPr/>
        </p:nvSpPr>
        <p:spPr>
          <a:xfrm>
            <a:off x="876300" y="4371975"/>
            <a:ext cx="2981325" cy="257175"/>
          </a:xfrm>
          <a:prstGeom prst="rect">
            <a:avLst/>
          </a:prstGeom>
          <a:noFill/>
          <a:effectLst/>
        </p:spPr>
        <p:txBody>
          <a:bodyPr wrap="square" lIns="0" rIns="0" tIns="0" bIns="0" anchor="t">
            <a:spAutoFit/>
          </a:bodyPr>
          <a:lstStyle/>
          <a:p>
            <a:pPr algn="r" rtl="1">
              <a:lnSpc>
                <a:spcPts val="1092"/>
              </a:lnSpc>
              <a:spcBef>
                <a:spcPts val="0"/>
              </a:spcBef>
              <a:spcAft>
                <a:spcPts val="0"/>
              </a:spcAft>
            </a:pPr>
            <a:r>
              <a:rPr sz="975" b="1" lang="ar-EG">
                <a:solidFill>
                  <a:srgbClr val="68716B"/>
                </a:solidFill>
                <a:latin typeface="Manrope"/>
                <a:cs typeface="IBM Plex Sans Arabic Medium"/>
              </a:rPr>
              <a:t>آخر ملاحظة مسجلة</a:t>
            </a:r>
          </a:p>
        </p:txBody>
      </p:sp>
      <p:sp>
        <p:nvSpPr>
          <p:cNvPr id="34" name="TextBox 33"/>
          <p:cNvSpPr txBox="1"/>
          <p:nvPr/>
        </p:nvSpPr>
        <p:spPr>
          <a:xfrm>
            <a:off x="876300" y="4648200"/>
            <a:ext cx="2981325" cy="6667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29302D"/>
                </a:solidFill>
                <a:latin typeface="Manrope"/>
                <a:cs typeface="IBM Plex Sans Arabic Medium"/>
              </a:rPr>
              <a:t>مراجعة الفرع</a:t>
            </a:r>
          </a:p>
          <a:p>
            <a:pPr algn="r" rtl="1">
              <a:lnSpc>
                <a:spcPts val="1764"/>
              </a:lnSpc>
              <a:spcBef>
                <a:spcPts val="0"/>
              </a:spcBef>
              <a:spcAft>
                <a:spcPts val="0"/>
              </a:spcAft>
            </a:pPr>
            <a:r>
              <a:rPr sz="1575" b="0" lang="ar-EG">
                <a:solidFill>
                  <a:srgbClr val="29302D"/>
                </a:solidFill>
                <a:latin typeface="Manrope"/>
                <a:cs typeface="IBM Plex Sans Arabic Medium"/>
              </a:rPr>
              <a:t>لسه مطلوبة.</a:t>
            </a:r>
          </a:p>
        </p:txBody>
      </p:sp>
      <p:pic>
        <p:nvPicPr>
          <p:cNvPr id="35" name="Picture 34" descr="icon-actor.png"/>
          <p:cNvPicPr>
            <a:picLocks noChangeAspect="1"/>
          </p:cNvPicPr>
          <p:nvPr/>
        </p:nvPicPr>
        <p:blipFill>
          <a:blip r:embed="rId6"/>
          <a:stretch>
            <a:fillRect/>
          </a:stretch>
        </p:blipFill>
        <p:spPr>
          <a:xfrm>
            <a:off x="11191875" y="5857875"/>
            <a:ext cx="276225" cy="276225"/>
          </a:xfrm>
          <a:prstGeom prst="rect">
            <a:avLst/>
          </a:prstGeom>
          <a:effectLst/>
        </p:spPr>
      </p:pic>
      <p:sp>
        <p:nvSpPr>
          <p:cNvPr id="36" name="TextBox 35"/>
          <p:cNvSpPr txBox="1"/>
          <p:nvPr/>
        </p:nvSpPr>
        <p:spPr>
          <a:xfrm>
            <a:off x="647700" y="5810250"/>
            <a:ext cx="10382250" cy="409575"/>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0" lang="ar-EG">
                <a:solidFill>
                  <a:srgbClr val="54745C"/>
                </a:solidFill>
                <a:latin typeface="Manrope"/>
                <a:cs typeface="IBM Plex Sans Arabic Medium"/>
              </a:rPr>
              <a:t>«شايف التذكرة السابقة لحضرتك. مراجعة الفرع لسه مطلوبة.»</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2"/>
                                  </p:tgtEl>
                                  <p:attrNameLst>
                                    <p:attrName>style.visibility</p:attrName>
                                  </p:attrNameLst>
                                </p:cBhvr>
                                <p:to>
                                  <p:strVal val="visible"/>
                                </p:to>
                              </p:set>
                              <p:animEffect transition="in" filter="fade">
                                <p:cBhvr>
                                  <p:cTn id="6" dur="500"/>
                                  <p:tgtEl>
                                    <p:spTgt spid="12"/>
                                  </p:tgtEl>
                                </p:cBhvr>
                              </p:animEffect>
                            </p:childTnLst>
                          </p:cTn>
                        </p:par>
                        <p:par>
                          <p:cTn id="7" presetID="10" presetClass="entr" presetSubtype="0" fill="hold" nodeType="withEffect">
                            <p:stCondLst>
                              <p:cond delay="0"/>
                            </p:stCondLst>
                            <p:childTnLst>
                              <p:set>
                                <p:cBhvr>
                                  <p:cTn id="8" dur="1" fill="hold"/>
                                  <p:tgtEl>
                                    <p:spTgt spid="13"/>
                                  </p:tgtEl>
                                  <p:attrNameLst>
                                    <p:attrName>style.visibility</p:attrName>
                                  </p:attrNameLst>
                                </p:cBhvr>
                                <p:to>
                                  <p:strVal val="visible"/>
                                </p:to>
                              </p:set>
                              <p:animEffect transition="in" filter="fade">
                                <p:cBhvr>
                                  <p:cTn id="9" dur="500"/>
                                  <p:tgtEl>
                                    <p:spTgt spid="13"/>
                                  </p:tgtEl>
                                </p:cBhvr>
                              </p:animEffect>
                            </p:childTnLst>
                          </p:cTn>
                        </p:par>
                        <p:par>
                          <p:cTn id="10" presetID="10" presetClass="entr" presetSubtype="0" fill="hold" nodeType="withEffect">
                            <p:stCondLst>
                              <p:cond delay="0"/>
                            </p:stCondLst>
                            <p:childTnLst>
                              <p:set>
                                <p:cBhvr>
                                  <p:cTn id="11" dur="1" fill="hold"/>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0"/>
                            </p:stCondLst>
                            <p:childTnLst>
                              <p:set>
                                <p:cBhvr>
                                  <p:cTn id="14" dur="1" fill="hold"/>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nodeType="withEffect">
                            <p:stCondLst>
                              <p:cond delay="0"/>
                            </p:stCondLst>
                            <p:childTnLst>
                              <p:set>
                                <p:cBhvr>
                                  <p:cTn id="17" dur="1" fill="hold"/>
                                  <p:tgtEl>
                                    <p:spTgt spid="18"/>
                                  </p:tgtEl>
                                  <p:attrNameLst>
                                    <p:attrName>style.visibility</p:attrName>
                                  </p:attrNameLst>
                                </p:cBhvr>
                                <p:to>
                                  <p:strVal val="visible"/>
                                </p:to>
                              </p:set>
                              <p:animEffect transition="in" filter="fade">
                                <p:cBhvr>
                                  <p:cTn id="18" dur="500"/>
                                  <p:tgtEl>
                                    <p:spTgt spid="18"/>
                                  </p:tgtEl>
                                </p:cBhvr>
                              </p:animEffect>
                            </p:childTnLst>
                          </p:cTn>
                        </p:par>
                        <p:par>
                          <p:cTn id="19" presetID="10" presetClass="entr" presetSubtype="0" fill="hold" nodeType="withEffect">
                            <p:stCondLst>
                              <p:cond delay="1250"/>
                            </p:stCondLst>
                            <p:childTnLst>
                              <p:set>
                                <p:cBhvr>
                                  <p:cTn id="20" dur="1" fill="hold"/>
                                  <p:tgtEl>
                                    <p:spTgt spid="19"/>
                                  </p:tgtEl>
                                  <p:attrNameLst>
                                    <p:attrName>style.visibility</p:attrName>
                                  </p:attrNameLst>
                                </p:cBhvr>
                                <p:to>
                                  <p:strVal val="visible"/>
                                </p:to>
                              </p:set>
                              <p:animEffect transition="in" filter="fade">
                                <p:cBhvr>
                                  <p:cTn id="21" dur="500"/>
                                  <p:tgtEl>
                                    <p:spTgt spid="19"/>
                                  </p:tgtEl>
                                </p:cBhvr>
                              </p:animEffect>
                            </p:childTnLst>
                          </p:cTn>
                        </p:par>
                        <p:par>
                          <p:cTn id="22" presetID="10" presetClass="entr" presetSubtype="0" fill="hold" nodeType="withEffect">
                            <p:stCondLst>
                              <p:cond delay="1250"/>
                            </p:stCondLst>
                            <p:childTnLst>
                              <p:set>
                                <p:cBhvr>
                                  <p:cTn id="23" dur="1" fill="hold"/>
                                  <p:tgtEl>
                                    <p:spTgt spid="20"/>
                                  </p:tgtEl>
                                  <p:attrNameLst>
                                    <p:attrName>style.visibility</p:attrName>
                                  </p:attrNameLst>
                                </p:cBhvr>
                                <p:to>
                                  <p:strVal val="visible"/>
                                </p:to>
                              </p:set>
                              <p:animEffect transition="in" filter="fade">
                                <p:cBhvr>
                                  <p:cTn id="24" dur="500"/>
                                  <p:tgtEl>
                                    <p:spTgt spid="20"/>
                                  </p:tgtEl>
                                </p:cBhvr>
                              </p:animEffect>
                            </p:childTnLst>
                          </p:cTn>
                        </p:par>
                        <p:par>
                          <p:cTn id="25" presetID="10" presetClass="entr" presetSubtype="0" fill="hold" nodeType="withEffect">
                            <p:stCondLst>
                              <p:cond delay="2500"/>
                            </p:stCondLst>
                            <p:childTnLst>
                              <p:set>
                                <p:cBhvr>
                                  <p:cTn id="26" dur="1" fill="hold"/>
                                  <p:tgtEl>
                                    <p:spTgt spid="21"/>
                                  </p:tgtEl>
                                  <p:attrNameLst>
                                    <p:attrName>style.visibility</p:attrName>
                                  </p:attrNameLst>
                                </p:cBhvr>
                                <p:to>
                                  <p:strVal val="visible"/>
                                </p:to>
                              </p:set>
                              <p:animEffect transition="in" filter="fade">
                                <p:cBhvr>
                                  <p:cTn id="27" dur="500"/>
                                  <p:tgtEl>
                                    <p:spTgt spid="21"/>
                                  </p:tgtEl>
                                </p:cBhvr>
                              </p:animEffect>
                            </p:childTnLst>
                          </p:cTn>
                        </p:par>
                        <p:par>
                          <p:cTn id="28" presetID="10" presetClass="entr" presetSubtype="0" fill="hold" nodeType="withEffect">
                            <p:stCondLst>
                              <p:cond delay="2500"/>
                            </p:stCondLst>
                            <p:childTnLst>
                              <p:set>
                                <p:cBhvr>
                                  <p:cTn id="29" dur="1" fill="hold"/>
                                  <p:tgtEl>
                                    <p:spTgt spid="22"/>
                                  </p:tgtEl>
                                  <p:attrNameLst>
                                    <p:attrName>style.visibility</p:attrName>
                                  </p:attrNameLst>
                                </p:cBhvr>
                                <p:to>
                                  <p:strVal val="visible"/>
                                </p:to>
                              </p:set>
                              <p:animEffect transition="in" filter="fade">
                                <p:cBhvr>
                                  <p:cTn id="30" dur="500"/>
                                  <p:tgtEl>
                                    <p:spTgt spid="22"/>
                                  </p:tgtEl>
                                </p:cBhvr>
                              </p:animEffect>
                            </p:childTnLst>
                          </p:cTn>
                        </p:par>
                        <p:par>
                          <p:cTn id="31" presetID="10" presetClass="entr" presetSubtype="0" fill="hold" nodeType="withEffect">
                            <p:stCondLst>
                              <p:cond delay="3750"/>
                            </p:stCondLst>
                            <p:childTnLst>
                              <p:set>
                                <p:cBhvr>
                                  <p:cTn id="32" dur="1" fill="hold"/>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nodeType="withEffect">
                            <p:stCondLst>
                              <p:cond delay="3750"/>
                            </p:stCondLst>
                            <p:childTnLst>
                              <p:set>
                                <p:cBhvr>
                                  <p:cTn id="35" dur="1" fill="hold"/>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nodeType="withEffect">
                            <p:stCondLst>
                              <p:cond delay="3750"/>
                            </p:stCondLst>
                            <p:childTnLst>
                              <p:set>
                                <p:cBhvr>
                                  <p:cTn id="38" dur="1" fill="hold"/>
                                  <p:tgtEl>
                                    <p:spTgt spid="26"/>
                                  </p:tgtEl>
                                  <p:attrNameLst>
                                    <p:attrName>style.visibility</p:attrName>
                                  </p:attrNameLst>
                                </p:cBhvr>
                                <p:to>
                                  <p:strVal val="visible"/>
                                </p:to>
                              </p:set>
                              <p:animEffect transition="in" filter="fade">
                                <p:cBhvr>
                                  <p:cTn id="39" dur="500"/>
                                  <p:tgtEl>
                                    <p:spTgt spid="26"/>
                                  </p:tgtEl>
                                </p:cBhvr>
                              </p:animEffect>
                            </p:childTnLst>
                          </p:cTn>
                        </p:par>
                        <p:par>
                          <p:cTn id="40" presetID="10" presetClass="entr" presetSubtype="0" fill="hold" nodeType="withEffect">
                            <p:stCondLst>
                              <p:cond delay="3750"/>
                            </p:stCondLst>
                            <p:childTnLst>
                              <p:set>
                                <p:cBhvr>
                                  <p:cTn id="41" dur="1" fill="hold"/>
                                  <p:tgtEl>
                                    <p:spTgt spid="27"/>
                                  </p:tgtEl>
                                  <p:attrNameLst>
                                    <p:attrName>style.visibility</p:attrName>
                                  </p:attrNameLst>
                                </p:cBhvr>
                                <p:to>
                                  <p:strVal val="visible"/>
                                </p:to>
                              </p:set>
                              <p:animEffect transition="in" filter="fade">
                                <p:cBhvr>
                                  <p:cTn id="42" dur="500"/>
                                  <p:tgtEl>
                                    <p:spTgt spid="27"/>
                                  </p:tgtEl>
                                </p:cBhvr>
                              </p:animEffect>
                            </p:childTnLst>
                          </p:cTn>
                        </p:par>
                        <p:par>
                          <p:cTn id="43" presetID="10" presetClass="entr" presetSubtype="0" fill="hold" nodeType="withEffect">
                            <p:stCondLst>
                              <p:cond delay="3750"/>
                            </p:stCondLst>
                            <p:childTnLst>
                              <p:set>
                                <p:cBhvr>
                                  <p:cTn id="44" dur="1" fill="hold"/>
                                  <p:tgtEl>
                                    <p:spTgt spid="28"/>
                                  </p:tgtEl>
                                  <p:attrNameLst>
                                    <p:attrName>style.visibility</p:attrName>
                                  </p:attrNameLst>
                                </p:cBhvr>
                                <p:to>
                                  <p:strVal val="visible"/>
                                </p:to>
                              </p:set>
                              <p:animEffect transition="in" filter="fade">
                                <p:cBhvr>
                                  <p:cTn id="45" dur="500"/>
                                  <p:tgtEl>
                                    <p:spTgt spid="28"/>
                                  </p:tgtEl>
                                </p:cBhvr>
                              </p:animEffect>
                            </p:childTnLst>
                          </p:cTn>
                        </p:par>
                        <p:par>
                          <p:cTn id="46" presetID="10" presetClass="entr" presetSubtype="0" fill="hold" nodeType="withEffect">
                            <p:stCondLst>
                              <p:cond delay="3750"/>
                            </p:stCondLst>
                            <p:childTnLst>
                              <p:set>
                                <p:cBhvr>
                                  <p:cTn id="47" dur="1" fill="hold"/>
                                  <p:tgtEl>
                                    <p:spTgt spid="29"/>
                                  </p:tgtEl>
                                  <p:attrNameLst>
                                    <p:attrName>style.visibility</p:attrName>
                                  </p:attrNameLst>
                                </p:cBhvr>
                                <p:to>
                                  <p:strVal val="visible"/>
                                </p:to>
                              </p:set>
                              <p:animEffect transition="in" filter="fade">
                                <p:cBhvr>
                                  <p:cTn id="48" dur="500"/>
                                  <p:tgtEl>
                                    <p:spTgt spid="29"/>
                                  </p:tgtEl>
                                </p:cBhvr>
                              </p:animEffect>
                            </p:childTnLst>
                          </p:cTn>
                        </p:par>
                        <p:par>
                          <p:cTn id="49" presetID="10" presetClass="entr" presetSubtype="0" fill="hold" nodeType="withEffect">
                            <p:stCondLst>
                              <p:cond delay="5000"/>
                            </p:stCondLst>
                            <p:childTnLst>
                              <p:set>
                                <p:cBhvr>
                                  <p:cTn id="50" dur="1" fill="hold"/>
                                  <p:tgtEl>
                                    <p:spTgt spid="30"/>
                                  </p:tgtEl>
                                  <p:attrNameLst>
                                    <p:attrName>style.visibility</p:attrName>
                                  </p:attrNameLst>
                                </p:cBhvr>
                                <p:to>
                                  <p:strVal val="visible"/>
                                </p:to>
                              </p:set>
                              <p:animEffect transition="in" filter="fade">
                                <p:cBhvr>
                                  <p:cTn id="51" dur="500"/>
                                  <p:tgtEl>
                                    <p:spTgt spid="30"/>
                                  </p:tgtEl>
                                </p:cBhvr>
                              </p:animEffect>
                            </p:childTnLst>
                          </p:cTn>
                        </p:par>
                        <p:par>
                          <p:cTn id="52" presetID="10" presetClass="entr" presetSubtype="0" fill="hold" nodeType="withEffect">
                            <p:stCondLst>
                              <p:cond delay="5000"/>
                            </p:stCondLst>
                            <p:childTnLst>
                              <p:set>
                                <p:cBhvr>
                                  <p:cTn id="53" dur="1" fill="hold"/>
                                  <p:tgtEl>
                                    <p:spTgt spid="31"/>
                                  </p:tgtEl>
                                  <p:attrNameLst>
                                    <p:attrName>style.visibility</p:attrName>
                                  </p:attrNameLst>
                                </p:cBhvr>
                                <p:to>
                                  <p:strVal val="visible"/>
                                </p:to>
                              </p:set>
                              <p:animEffect transition="in" filter="fade">
                                <p:cBhvr>
                                  <p:cTn id="54" dur="500"/>
                                  <p:tgtEl>
                                    <p:spTgt spid="31"/>
                                  </p:tgtEl>
                                </p:cBhvr>
                              </p:animEffect>
                            </p:childTnLst>
                          </p:cTn>
                        </p:par>
                        <p:par>
                          <p:cTn id="55" presetID="10" presetClass="entr" presetSubtype="0" fill="hold" nodeType="withEffect">
                            <p:stCondLst>
                              <p:cond delay="5000"/>
                            </p:stCondLst>
                            <p:childTnLst>
                              <p:set>
                                <p:cBhvr>
                                  <p:cTn id="56" dur="1" fill="hold"/>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nodeType="withEffect">
                            <p:stCondLst>
                              <p:cond delay="5000"/>
                            </p:stCondLst>
                            <p:childTnLst>
                              <p:set>
                                <p:cBhvr>
                                  <p:cTn id="59" dur="1" fill="hold"/>
                                  <p:tgtEl>
                                    <p:spTgt spid="33"/>
                                  </p:tgtEl>
                                  <p:attrNameLst>
                                    <p:attrName>style.visibility</p:attrName>
                                  </p:attrNameLst>
                                </p:cBhvr>
                                <p:to>
                                  <p:strVal val="visible"/>
                                </p:to>
                              </p:set>
                              <p:animEffect transition="in" filter="fade">
                                <p:cBhvr>
                                  <p:cTn id="60" dur="500"/>
                                  <p:tgtEl>
                                    <p:spTgt spid="33"/>
                                  </p:tgtEl>
                                </p:cBhvr>
                              </p:animEffect>
                            </p:childTnLst>
                          </p:cTn>
                        </p:par>
                        <p:par>
                          <p:cTn id="61" presetID="10" presetClass="entr" presetSubtype="0" fill="hold" nodeType="withEffect">
                            <p:stCondLst>
                              <p:cond delay="5000"/>
                            </p:stCondLst>
                            <p:childTnLst>
                              <p:set>
                                <p:cBhvr>
                                  <p:cTn id="62" dur="1" fill="hold"/>
                                  <p:tgtEl>
                                    <p:spTgt spid="34"/>
                                  </p:tgtEl>
                                  <p:attrNameLst>
                                    <p:attrName>style.visibility</p:attrName>
                                  </p:attrNameLst>
                                </p:cBhvr>
                                <p:to>
                                  <p:strVal val="visible"/>
                                </p:to>
                              </p:set>
                              <p:animEffect transition="in" filter="fade">
                                <p:cBhvr>
                                  <p:cTn id="63" dur="500"/>
                                  <p:tgtEl>
                                    <p:spTgt spid="34"/>
                                  </p:tgtEl>
                                </p:cBhvr>
                              </p:animEffect>
                            </p:childTnLst>
                          </p:cTn>
                        </p:par>
                        <p:par>
                          <p:cTn id="64" presetID="10" presetClass="entr" presetSubtype="0" fill="hold" nodeType="withEffect">
                            <p:stCondLst>
                              <p:cond delay="6250"/>
                            </p:stCondLst>
                            <p:childTnLst>
                              <p:set>
                                <p:cBhvr>
                                  <p:cTn id="65" dur="1" fill="hold"/>
                                  <p:tgtEl>
                                    <p:spTgt spid="35"/>
                                  </p:tgtEl>
                                  <p:attrNameLst>
                                    <p:attrName>style.visibility</p:attrName>
                                  </p:attrNameLst>
                                </p:cBhvr>
                                <p:to>
                                  <p:strVal val="visible"/>
                                </p:to>
                              </p:set>
                              <p:animEffect transition="in" filter="fade">
                                <p:cBhvr>
                                  <p:cTn id="66" dur="500"/>
                                  <p:tgtEl>
                                    <p:spTgt spid="35"/>
                                  </p:tgtEl>
                                </p:cBhvr>
                              </p:animEffect>
                            </p:childTnLst>
                          </p:cTn>
                        </p:par>
                        <p:par>
                          <p:cTn id="67" presetID="10" presetClass="entr" presetSubtype="0" fill="hold" nodeType="withEffect">
                            <p:stCondLst>
                              <p:cond delay="6250"/>
                            </p:stCondLst>
                            <p:childTnLst>
                              <p:set>
                                <p:cBhvr>
                                  <p:cTn id="68" dur="1" fill="hold"/>
                                  <p:tgtEl>
                                    <p:spTgt spid="36"/>
                                  </p:tgtEl>
                                  <p:attrNameLst>
                                    <p:attrName>style.visibility</p:attrName>
                                  </p:attrNameLst>
                                </p:cBhvr>
                                <p:to>
                                  <p:strVal val="visible"/>
                                </p:to>
                              </p:set>
                              <p:animEffect transition="in" filter="fade">
                                <p:cBhvr>
                                  <p:cTn id="69" dur="500"/>
                                  <p:tgtEl>
                                    <p:spTgt spid="3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210925" y="292100"/>
            <a:ext cx="409575" cy="273050"/>
          </a:xfrm>
          <a:prstGeom prst="rect">
            <a:avLst/>
          </a:prstGeom>
          <a:effectLst/>
        </p:spPr>
      </p:pic>
      <p:sp>
        <p:nvSpPr>
          <p:cNvPr id="3" name="TextBox 2"/>
          <p:cNvSpPr txBox="1"/>
          <p:nvPr/>
        </p:nvSpPr>
        <p:spPr>
          <a:xfrm>
            <a:off x="9629775" y="323850"/>
            <a:ext cx="1466850" cy="257175"/>
          </a:xfrm>
          <a:prstGeom prst="rect">
            <a:avLst/>
          </a:prstGeom>
          <a:noFill/>
          <a:effectLst/>
        </p:spPr>
        <p:txBody>
          <a:bodyPr wrap="square" lIns="0" rIns="0" tIns="0" bIns="0" anchor="t">
            <a:spAutoFit/>
          </a:bodyPr>
          <a:lstStyle/>
          <a:p>
            <a:pPr algn="r" rtl="0">
              <a:lnSpc>
                <a:spcPts val="1428"/>
              </a:lnSpc>
              <a:spcBef>
                <a:spcPts val="0"/>
              </a:spcBef>
              <a:spcAft>
                <a:spcPts val="0"/>
              </a:spcAft>
            </a:pPr>
            <a:r>
              <a:rPr sz="1275" b="1" lang="ar-EG">
                <a:solidFill>
                  <a:srgbClr val="29302D"/>
                </a:solidFill>
                <a:latin typeface="Manrope"/>
                <a:cs typeface="IBM Plex Sans Arabic Medium"/>
              </a:rPr>
              <a:t>GRINDCTRL</a:t>
            </a:r>
          </a:p>
        </p:txBody>
      </p:sp>
      <p:sp>
        <p:nvSpPr>
          <p:cNvPr id="4" name="TextBox 3"/>
          <p:cNvSpPr txBox="1"/>
          <p:nvPr/>
        </p:nvSpPr>
        <p:spPr>
          <a:xfrm>
            <a:off x="571500" y="333375"/>
            <a:ext cx="4171950" cy="247650"/>
          </a:xfrm>
          <a:prstGeom prst="rect">
            <a:avLst/>
          </a:prstGeom>
          <a:noFill/>
          <a:effectLst/>
        </p:spPr>
        <p:txBody>
          <a:bodyPr wrap="square" lIns="0" rIns="0" tIns="0" bIns="0" anchor="t">
            <a:spAutoFit/>
          </a:bodyPr>
          <a:lstStyle/>
          <a:p>
            <a:pPr algn="l" rtl="1">
              <a:lnSpc>
                <a:spcPts val="1176"/>
              </a:lnSpc>
              <a:spcBef>
                <a:spcPts val="0"/>
              </a:spcBef>
              <a:spcAft>
                <a:spcPts val="0"/>
              </a:spcAft>
            </a:pPr>
            <a:r>
              <a:rPr sz="1050" b="0" lang="ar-EG">
                <a:solidFill>
                  <a:srgbClr val="68716B"/>
                </a:solidFill>
                <a:latin typeface="Manrope"/>
                <a:cs typeface="IBM Plex Sans Arabic Medium"/>
              </a:rPr>
              <a:t>٠٣ · إزاي الربط يشتغل</a:t>
            </a:r>
          </a:p>
        </p:txBody>
      </p:sp>
      <p:sp>
        <p:nvSpPr>
          <p:cNvPr id="5" name="TextBox 4"/>
          <p:cNvSpPr txBox="1"/>
          <p:nvPr/>
        </p:nvSpPr>
        <p:spPr>
          <a:xfrm>
            <a:off x="571500" y="895350"/>
            <a:ext cx="11049000" cy="609600"/>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9302D"/>
                </a:solidFill>
                <a:latin typeface="Manrope"/>
                <a:cs typeface="IBM Plex Sans Arabic Medium"/>
              </a:rPr>
              <a:t>نوصل المكالمة بتاريخ الخدمة.</a:t>
            </a:r>
          </a:p>
        </p:txBody>
      </p:sp>
      <p:sp>
        <p:nvSpPr>
          <p:cNvPr id="6" name="TextBox 5"/>
          <p:cNvSpPr txBox="1"/>
          <p:nvPr/>
        </p:nvSpPr>
        <p:spPr>
          <a:xfrm>
            <a:off x="571500" y="1581150"/>
            <a:ext cx="11049000" cy="3619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68716B"/>
                </a:solidFill>
                <a:latin typeface="Manrope"/>
                <a:cs typeface="IBM Plex Sans Arabic Medium"/>
              </a:rPr>
              <a:t>كل نظام بيكمل دوره. وGRINDCTRL يكمّل الربط بينهم.</a:t>
            </a:r>
          </a:p>
        </p:txBody>
      </p:sp>
      <p:cxnSp>
        <p:nvCxnSpPr>
          <p:cNvPr id="7" name="Connector 6"/>
          <p:cNvCxnSpPr/>
          <p:nvPr/>
        </p:nvCxnSpPr>
        <p:spPr>
          <a:xfrm flipH="1">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2095500" y="6534150"/>
            <a:ext cx="9525000" cy="219075"/>
          </a:xfrm>
          <a:prstGeom prst="rect">
            <a:avLst/>
          </a:prstGeom>
          <a:noFill/>
          <a:effectLst/>
        </p:spPr>
        <p:txBody>
          <a:bodyPr wrap="square" lIns="0" rIns="0" tIns="0" bIns="0" anchor="t">
            <a:spAutoFit/>
          </a:bodyPr>
          <a:lstStyle/>
          <a:p>
            <a:pPr algn="r" rtl="1">
              <a:lnSpc>
                <a:spcPts val="1008"/>
              </a:lnSpc>
              <a:spcBef>
                <a:spcPts val="0"/>
              </a:spcBef>
              <a:spcAft>
                <a:spcPts val="0"/>
              </a:spcAft>
            </a:pPr>
            <a:r>
              <a:rPr sz="900" b="0" lang="ar-EG">
                <a:solidFill>
                  <a:srgbClr val="68716B"/>
                </a:solidFill>
                <a:latin typeface="Manrope"/>
                <a:cs typeface="IBM Plex Sans Arabic Medium"/>
              </a:rPr>
              <a:t>كونكريت · تعاون مقترح</a:t>
            </a:r>
          </a:p>
        </p:txBody>
      </p:sp>
      <p:sp>
        <p:nvSpPr>
          <p:cNvPr id="9" name="TextBox 8"/>
          <p:cNvSpPr txBox="1"/>
          <p:nvPr/>
        </p:nvSpPr>
        <p:spPr>
          <a:xfrm>
            <a:off x="571500" y="6515100"/>
            <a:ext cx="83820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716B"/>
                </a:solidFill>
                <a:latin typeface="Manrope"/>
                <a:cs typeface="IBM Plex Sans Arabic Medium"/>
              </a:rPr>
              <a:t>04 / 09</a:t>
            </a:r>
          </a:p>
        </p:txBody>
      </p:sp>
      <p:sp>
        <p:nvSpPr>
          <p:cNvPr id="10" name="Rounded Rectangle 9"/>
          <p:cNvSpPr/>
          <p:nvPr/>
        </p:nvSpPr>
        <p:spPr>
          <a:xfrm>
            <a:off x="561975" y="2343150"/>
            <a:ext cx="11049000" cy="3457575"/>
          </a:xfrm>
          <a:prstGeom prst="roundRect">
            <a:avLst>
              <a:gd name="adj" fmla="val 4407"/>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571500" y="2295525"/>
            <a:ext cx="11049000" cy="3457575"/>
          </a:xfrm>
          <a:prstGeom prst="roundRect">
            <a:avLst>
              <a:gd name="adj" fmla="val 4407"/>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genesys.png"/>
          <p:cNvPicPr>
            <a:picLocks noChangeAspect="1"/>
          </p:cNvPicPr>
          <p:nvPr/>
        </p:nvPicPr>
        <p:blipFill>
          <a:blip r:embed="rId3"/>
          <a:stretch>
            <a:fillRect/>
          </a:stretch>
        </p:blipFill>
        <p:spPr>
          <a:xfrm>
            <a:off x="9467850" y="3040825"/>
            <a:ext cx="1638300" cy="319149"/>
          </a:xfrm>
          <a:prstGeom prst="rect">
            <a:avLst/>
          </a:prstGeom>
          <a:effectLst/>
        </p:spPr>
      </p:pic>
      <p:sp>
        <p:nvSpPr>
          <p:cNvPr id="13" name="TextBox 12"/>
          <p:cNvSpPr txBox="1"/>
          <p:nvPr/>
        </p:nvSpPr>
        <p:spPr>
          <a:xfrm>
            <a:off x="9144000" y="3743325"/>
            <a:ext cx="2286000" cy="361950"/>
          </a:xfrm>
          <a:prstGeom prst="rect">
            <a:avLst/>
          </a:prstGeom>
          <a:noFill/>
          <a:effectLst/>
        </p:spPr>
        <p:txBody>
          <a:bodyPr wrap="square" lIns="0" rIns="0" tIns="0" bIns="0" anchor="t">
            <a:spAutoFit/>
          </a:bodyPr>
          <a:lstStyle/>
          <a:p>
            <a:pPr algn="ctr" rtl="0">
              <a:lnSpc>
                <a:spcPts val="1932"/>
              </a:lnSpc>
              <a:spcBef>
                <a:spcPts val="0"/>
              </a:spcBef>
              <a:spcAft>
                <a:spcPts val="0"/>
              </a:spcAft>
            </a:pPr>
            <a:r>
              <a:rPr sz="1725" b="1" lang="ar-EG">
                <a:solidFill>
                  <a:srgbClr val="29302D"/>
                </a:solidFill>
                <a:latin typeface="Manrope"/>
                <a:cs typeface="IBM Plex Sans Arabic Medium"/>
              </a:rPr>
              <a:t>Genesys</a:t>
            </a:r>
          </a:p>
        </p:txBody>
      </p:sp>
      <p:sp>
        <p:nvSpPr>
          <p:cNvPr id="14" name="TextBox 13"/>
          <p:cNvSpPr txBox="1"/>
          <p:nvPr/>
        </p:nvSpPr>
        <p:spPr>
          <a:xfrm>
            <a:off x="9039225" y="4200525"/>
            <a:ext cx="2495550" cy="361950"/>
          </a:xfrm>
          <a:prstGeom prst="rect">
            <a:avLst/>
          </a:prstGeom>
          <a:noFill/>
          <a:effectLst/>
        </p:spPr>
        <p:txBody>
          <a:bodyPr wrap="square" lIns="0" rIns="0" tIns="0" bIns="0" anchor="t">
            <a:spAutoFit/>
          </a:bodyPr>
          <a:lstStyle/>
          <a:p>
            <a:pPr algn="ctr" rtl="1">
              <a:lnSpc>
                <a:spcPts val="1596"/>
              </a:lnSpc>
              <a:spcBef>
                <a:spcPts val="0"/>
              </a:spcBef>
              <a:spcAft>
                <a:spcPts val="0"/>
              </a:spcAft>
            </a:pPr>
            <a:r>
              <a:rPr sz="1425" b="0" lang="ar-EG">
                <a:solidFill>
                  <a:srgbClr val="68716B"/>
                </a:solidFill>
                <a:latin typeface="Manrope"/>
                <a:cs typeface="IBM Plex Sans Arabic Medium"/>
              </a:rPr>
              <a:t>رقم المتصل</a:t>
            </a:r>
          </a:p>
        </p:txBody>
      </p:sp>
      <p:cxnSp>
        <p:nvCxnSpPr>
          <p:cNvPr id="15" name="Connector 14"/>
          <p:cNvCxnSpPr/>
          <p:nvPr/>
        </p:nvCxnSpPr>
        <p:spPr>
          <a:xfrm flipH="1">
            <a:off x="8610600" y="3219450"/>
            <a:ext cx="609600" cy="0"/>
          </a:xfrm>
          <a:prstGeom prst="line">
            <a:avLst/>
          </a:prstGeom>
          <a:ln w="19050">
            <a:solidFill>
              <a:srgbClr val="54745C"/>
            </a:solidFill>
            <a:tailEnd type="triangle" w="sm" len="sm"/>
          </a:ln>
          <a:effectLst/>
        </p:spPr>
        <p:style>
          <a:lnRef idx="2">
            <a:schemeClr val="accent1"/>
          </a:lnRef>
          <a:fillRef idx="0">
            <a:schemeClr val="accent1"/>
          </a:fillRef>
          <a:effectRef idx="0">
            <a:schemeClr val="accent1"/>
          </a:effectRef>
          <a:fontRef idx="minor">
            <a:schemeClr val="tx1"/>
          </a:fontRef>
        </p:style>
      </p:cxnSp>
      <p:pic>
        <p:nvPicPr>
          <p:cNvPr id="16" name="Picture 15" descr="brand.png"/>
          <p:cNvPicPr>
            <a:picLocks noChangeAspect="1"/>
          </p:cNvPicPr>
          <p:nvPr/>
        </p:nvPicPr>
        <p:blipFill>
          <a:blip r:embed="rId2"/>
          <a:stretch>
            <a:fillRect/>
          </a:stretch>
        </p:blipFill>
        <p:spPr>
          <a:xfrm>
            <a:off x="7172325" y="2941638"/>
            <a:ext cx="704850" cy="469900"/>
          </a:xfrm>
          <a:prstGeom prst="rect">
            <a:avLst/>
          </a:prstGeom>
          <a:effectLst/>
        </p:spPr>
      </p:pic>
      <p:sp>
        <p:nvSpPr>
          <p:cNvPr id="17" name="TextBox 16"/>
          <p:cNvSpPr txBox="1"/>
          <p:nvPr/>
        </p:nvSpPr>
        <p:spPr>
          <a:xfrm>
            <a:off x="6381750" y="3743325"/>
            <a:ext cx="2286000" cy="361950"/>
          </a:xfrm>
          <a:prstGeom prst="rect">
            <a:avLst/>
          </a:prstGeom>
          <a:noFill/>
          <a:effectLst/>
        </p:spPr>
        <p:txBody>
          <a:bodyPr wrap="square" lIns="0" rIns="0" tIns="0" bIns="0" anchor="t">
            <a:spAutoFit/>
          </a:bodyPr>
          <a:lstStyle/>
          <a:p>
            <a:pPr algn="ctr" rtl="0">
              <a:lnSpc>
                <a:spcPts val="1932"/>
              </a:lnSpc>
              <a:spcBef>
                <a:spcPts val="0"/>
              </a:spcBef>
              <a:spcAft>
                <a:spcPts val="0"/>
              </a:spcAft>
            </a:pPr>
            <a:r>
              <a:rPr sz="1725" b="1" lang="ar-EG">
                <a:solidFill>
                  <a:srgbClr val="29302D"/>
                </a:solidFill>
                <a:latin typeface="Manrope"/>
                <a:cs typeface="IBM Plex Sans Arabic Medium"/>
              </a:rPr>
              <a:t>GRINDCTRL</a:t>
            </a:r>
          </a:p>
        </p:txBody>
      </p:sp>
      <p:sp>
        <p:nvSpPr>
          <p:cNvPr id="18" name="TextBox 17"/>
          <p:cNvSpPr txBox="1"/>
          <p:nvPr/>
        </p:nvSpPr>
        <p:spPr>
          <a:xfrm>
            <a:off x="6276975" y="4200525"/>
            <a:ext cx="2495550" cy="361950"/>
          </a:xfrm>
          <a:prstGeom prst="rect">
            <a:avLst/>
          </a:prstGeom>
          <a:noFill/>
          <a:effectLst/>
        </p:spPr>
        <p:txBody>
          <a:bodyPr wrap="square" lIns="0" rIns="0" tIns="0" bIns="0" anchor="t">
            <a:spAutoFit/>
          </a:bodyPr>
          <a:lstStyle/>
          <a:p>
            <a:pPr algn="ctr" rtl="1">
              <a:lnSpc>
                <a:spcPts val="1596"/>
              </a:lnSpc>
              <a:spcBef>
                <a:spcPts val="0"/>
              </a:spcBef>
              <a:spcAft>
                <a:spcPts val="0"/>
              </a:spcAft>
            </a:pPr>
            <a:r>
              <a:rPr sz="1425" b="0" lang="ar-EG">
                <a:solidFill>
                  <a:srgbClr val="68716B"/>
                </a:solidFill>
                <a:latin typeface="Manrope"/>
                <a:cs typeface="IBM Plex Sans Arabic Medium"/>
              </a:rPr>
              <a:t>ربط معلومات العميل</a:t>
            </a:r>
          </a:p>
        </p:txBody>
      </p:sp>
      <p:cxnSp>
        <p:nvCxnSpPr>
          <p:cNvPr id="19" name="Connector 18"/>
          <p:cNvCxnSpPr/>
          <p:nvPr/>
        </p:nvCxnSpPr>
        <p:spPr>
          <a:xfrm flipH="1">
            <a:off x="5848350" y="3219450"/>
            <a:ext cx="609600" cy="0"/>
          </a:xfrm>
          <a:prstGeom prst="line">
            <a:avLst/>
          </a:prstGeom>
          <a:ln w="19050">
            <a:solidFill>
              <a:srgbClr val="54745C"/>
            </a:solidFill>
            <a:tailEnd type="triangle" w="sm" len="sm"/>
          </a:ln>
          <a:effectLst/>
        </p:spPr>
        <p:style>
          <a:lnRef idx="2">
            <a:schemeClr val="accent1"/>
          </a:lnRef>
          <a:fillRef idx="0">
            <a:schemeClr val="accent1"/>
          </a:fillRef>
          <a:effectRef idx="0">
            <a:schemeClr val="accent1"/>
          </a:effectRef>
          <a:fontRef idx="minor">
            <a:schemeClr val="tx1"/>
          </a:fontRef>
        </p:style>
      </p:cxnSp>
      <p:pic>
        <p:nvPicPr>
          <p:cNvPr id="20" name="Picture 19" descr="zoho.png"/>
          <p:cNvPicPr>
            <a:picLocks noChangeAspect="1"/>
          </p:cNvPicPr>
          <p:nvPr/>
        </p:nvPicPr>
        <p:blipFill>
          <a:blip r:embed="rId4"/>
          <a:stretch>
            <a:fillRect/>
          </a:stretch>
        </p:blipFill>
        <p:spPr>
          <a:xfrm>
            <a:off x="4241569" y="2952750"/>
            <a:ext cx="1041862" cy="447675"/>
          </a:xfrm>
          <a:prstGeom prst="rect">
            <a:avLst/>
          </a:prstGeom>
          <a:effectLst/>
        </p:spPr>
      </p:pic>
      <p:sp>
        <p:nvSpPr>
          <p:cNvPr id="21" name="TextBox 20"/>
          <p:cNvSpPr txBox="1"/>
          <p:nvPr/>
        </p:nvSpPr>
        <p:spPr>
          <a:xfrm>
            <a:off x="3619500" y="3743325"/>
            <a:ext cx="2286000" cy="361950"/>
          </a:xfrm>
          <a:prstGeom prst="rect">
            <a:avLst/>
          </a:prstGeom>
          <a:noFill/>
          <a:effectLst/>
        </p:spPr>
        <p:txBody>
          <a:bodyPr wrap="square" lIns="0" rIns="0" tIns="0" bIns="0" anchor="t">
            <a:spAutoFit/>
          </a:bodyPr>
          <a:lstStyle/>
          <a:p>
            <a:pPr algn="ctr" rtl="0">
              <a:lnSpc>
                <a:spcPts val="1932"/>
              </a:lnSpc>
              <a:spcBef>
                <a:spcPts val="0"/>
              </a:spcBef>
              <a:spcAft>
                <a:spcPts val="0"/>
              </a:spcAft>
            </a:pPr>
            <a:r>
              <a:rPr sz="1725" b="1" lang="ar-EG">
                <a:solidFill>
                  <a:srgbClr val="29302D"/>
                </a:solidFill>
                <a:latin typeface="Manrope"/>
                <a:cs typeface="IBM Plex Sans Arabic Medium"/>
              </a:rPr>
              <a:t>Zoho Desk</a:t>
            </a:r>
          </a:p>
        </p:txBody>
      </p:sp>
      <p:sp>
        <p:nvSpPr>
          <p:cNvPr id="22" name="TextBox 21"/>
          <p:cNvSpPr txBox="1"/>
          <p:nvPr/>
        </p:nvSpPr>
        <p:spPr>
          <a:xfrm>
            <a:off x="3514725" y="4200525"/>
            <a:ext cx="2495550" cy="361950"/>
          </a:xfrm>
          <a:prstGeom prst="rect">
            <a:avLst/>
          </a:prstGeom>
          <a:noFill/>
          <a:effectLst/>
        </p:spPr>
        <p:txBody>
          <a:bodyPr wrap="square" lIns="0" rIns="0" tIns="0" bIns="0" anchor="t">
            <a:spAutoFit/>
          </a:bodyPr>
          <a:lstStyle/>
          <a:p>
            <a:pPr algn="ctr" rtl="1">
              <a:lnSpc>
                <a:spcPts val="1596"/>
              </a:lnSpc>
              <a:spcBef>
                <a:spcPts val="0"/>
              </a:spcBef>
              <a:spcAft>
                <a:spcPts val="0"/>
              </a:spcAft>
            </a:pPr>
            <a:r>
              <a:rPr sz="1425" b="0" lang="ar-EG">
                <a:solidFill>
                  <a:srgbClr val="68716B"/>
                </a:solidFill>
                <a:latin typeface="Manrope"/>
                <a:cs typeface="IBM Plex Sans Arabic Medium"/>
              </a:rPr>
              <a:t>التذاكر الموجودة</a:t>
            </a:r>
          </a:p>
        </p:txBody>
      </p:sp>
      <p:cxnSp>
        <p:nvCxnSpPr>
          <p:cNvPr id="23" name="Connector 22"/>
          <p:cNvCxnSpPr/>
          <p:nvPr/>
        </p:nvCxnSpPr>
        <p:spPr>
          <a:xfrm flipH="1">
            <a:off x="3086100" y="3219450"/>
            <a:ext cx="609600" cy="0"/>
          </a:xfrm>
          <a:prstGeom prst="line">
            <a:avLst/>
          </a:prstGeom>
          <a:ln w="19050">
            <a:solidFill>
              <a:srgbClr val="54745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4" name="Oval 23"/>
          <p:cNvSpPr/>
          <p:nvPr/>
        </p:nvSpPr>
        <p:spPr>
          <a:xfrm>
            <a:off x="1724025" y="2876550"/>
            <a:ext cx="552450" cy="55245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actor.png"/>
          <p:cNvPicPr>
            <a:picLocks noChangeAspect="1"/>
          </p:cNvPicPr>
          <p:nvPr/>
        </p:nvPicPr>
        <p:blipFill>
          <a:blip r:embed="rId5"/>
          <a:stretch>
            <a:fillRect/>
          </a:stretch>
        </p:blipFill>
        <p:spPr>
          <a:xfrm>
            <a:off x="1819275" y="2971800"/>
            <a:ext cx="361950" cy="361950"/>
          </a:xfrm>
          <a:prstGeom prst="rect">
            <a:avLst/>
          </a:prstGeom>
          <a:effectLst/>
        </p:spPr>
      </p:pic>
      <p:sp>
        <p:nvSpPr>
          <p:cNvPr id="26" name="TextBox 25"/>
          <p:cNvSpPr txBox="1"/>
          <p:nvPr/>
        </p:nvSpPr>
        <p:spPr>
          <a:xfrm>
            <a:off x="857250" y="3743325"/>
            <a:ext cx="2286000" cy="361950"/>
          </a:xfrm>
          <a:prstGeom prst="rect">
            <a:avLst/>
          </a:prstGeom>
          <a:noFill/>
          <a:effectLst/>
        </p:spPr>
        <p:txBody>
          <a:bodyPr wrap="square" lIns="0" rIns="0" tIns="0" bIns="0" anchor="t">
            <a:spAutoFit/>
          </a:bodyPr>
          <a:lstStyle/>
          <a:p>
            <a:pPr algn="ctr" rtl="1">
              <a:lnSpc>
                <a:spcPts val="1932"/>
              </a:lnSpc>
              <a:spcBef>
                <a:spcPts val="0"/>
              </a:spcBef>
              <a:spcAft>
                <a:spcPts val="0"/>
              </a:spcAft>
            </a:pPr>
            <a:r>
              <a:rPr sz="1725" b="1" lang="ar-EG">
                <a:solidFill>
                  <a:srgbClr val="29302D"/>
                </a:solidFill>
                <a:latin typeface="Manrope"/>
                <a:cs typeface="IBM Plex Sans Arabic Medium"/>
              </a:rPr>
              <a:t>شاشة الموظف</a:t>
            </a:r>
          </a:p>
        </p:txBody>
      </p:sp>
      <p:sp>
        <p:nvSpPr>
          <p:cNvPr id="27" name="TextBox 26"/>
          <p:cNvSpPr txBox="1"/>
          <p:nvPr/>
        </p:nvSpPr>
        <p:spPr>
          <a:xfrm>
            <a:off x="752475" y="4200525"/>
            <a:ext cx="2495550" cy="361950"/>
          </a:xfrm>
          <a:prstGeom prst="rect">
            <a:avLst/>
          </a:prstGeom>
          <a:noFill/>
          <a:effectLst/>
        </p:spPr>
        <p:txBody>
          <a:bodyPr wrap="square" lIns="0" rIns="0" tIns="0" bIns="0" anchor="t">
            <a:spAutoFit/>
          </a:bodyPr>
          <a:lstStyle/>
          <a:p>
            <a:pPr algn="ctr" rtl="1">
              <a:lnSpc>
                <a:spcPts val="1596"/>
              </a:lnSpc>
              <a:spcBef>
                <a:spcPts val="0"/>
              </a:spcBef>
              <a:spcAft>
                <a:spcPts val="0"/>
              </a:spcAft>
            </a:pPr>
            <a:r>
              <a:rPr sz="1425" b="0" lang="ar-EG">
                <a:solidFill>
                  <a:srgbClr val="68716B"/>
                </a:solidFill>
                <a:latin typeface="Manrope"/>
                <a:cs typeface="IBM Plex Sans Arabic Medium"/>
              </a:rPr>
              <a:t>التذاكر مع المكالمة</a:t>
            </a:r>
          </a:p>
        </p:txBody>
      </p:sp>
      <p:cxnSp>
        <p:nvCxnSpPr>
          <p:cNvPr id="28" name="Connector 27"/>
          <p:cNvCxnSpPr/>
          <p:nvPr/>
        </p:nvCxnSpPr>
        <p:spPr>
          <a:xfrm flipH="1">
            <a:off x="838200" y="4905375"/>
            <a:ext cx="105156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pic>
        <p:nvPicPr>
          <p:cNvPr id="29" name="Picture 28" descr="icon-link.png"/>
          <p:cNvPicPr>
            <a:picLocks noChangeAspect="1"/>
          </p:cNvPicPr>
          <p:nvPr/>
        </p:nvPicPr>
        <p:blipFill>
          <a:blip r:embed="rId6"/>
          <a:stretch>
            <a:fillRect/>
          </a:stretch>
        </p:blipFill>
        <p:spPr>
          <a:xfrm>
            <a:off x="11087100" y="5191125"/>
            <a:ext cx="257175" cy="257175"/>
          </a:xfrm>
          <a:prstGeom prst="rect">
            <a:avLst/>
          </a:prstGeom>
          <a:effectLst/>
        </p:spPr>
      </p:pic>
      <p:sp>
        <p:nvSpPr>
          <p:cNvPr id="30" name="TextBox 29"/>
          <p:cNvSpPr txBox="1"/>
          <p:nvPr/>
        </p:nvSpPr>
        <p:spPr>
          <a:xfrm>
            <a:off x="933450" y="5133975"/>
            <a:ext cx="9991725" cy="4953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68716B"/>
                </a:solidFill>
                <a:latin typeface="Manrope"/>
                <a:cs typeface="IBM Plex Sans Arabic Medium"/>
              </a:rPr>
              <a:t>نبدأ بالـpop-up المذكور في العقد، ونحدد طريقة الربط المدعومة بعد فحص الإعدادات.</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2"/>
                                  </p:tgtEl>
                                  <p:attrNameLst>
                                    <p:attrName>style.visibility</p:attrName>
                                  </p:attrNameLst>
                                </p:cBhvr>
                                <p:to>
                                  <p:strVal val="visible"/>
                                </p:to>
                              </p:set>
                              <p:animEffect transition="in" filter="fade">
                                <p:cBhvr>
                                  <p:cTn id="6" dur="500"/>
                                  <p:tgtEl>
                                    <p:spTgt spid="12"/>
                                  </p:tgtEl>
                                </p:cBhvr>
                              </p:animEffect>
                            </p:childTnLst>
                          </p:cTn>
                        </p:par>
                        <p:par>
                          <p:cTn id="7" presetID="10" presetClass="entr" presetSubtype="0" fill="hold" nodeType="withEffect">
                            <p:stCondLst>
                              <p:cond delay="0"/>
                            </p:stCondLst>
                            <p:childTnLst>
                              <p:set>
                                <p:cBhvr>
                                  <p:cTn id="8" dur="1" fill="hold"/>
                                  <p:tgtEl>
                                    <p:spTgt spid="13"/>
                                  </p:tgtEl>
                                  <p:attrNameLst>
                                    <p:attrName>style.visibility</p:attrName>
                                  </p:attrNameLst>
                                </p:cBhvr>
                                <p:to>
                                  <p:strVal val="visible"/>
                                </p:to>
                              </p:set>
                              <p:animEffect transition="in" filter="fade">
                                <p:cBhvr>
                                  <p:cTn id="9" dur="500"/>
                                  <p:tgtEl>
                                    <p:spTgt spid="13"/>
                                  </p:tgtEl>
                                </p:cBhvr>
                              </p:animEffect>
                            </p:childTnLst>
                          </p:cTn>
                        </p:par>
                        <p:par>
                          <p:cTn id="10" presetID="10" presetClass="entr" presetSubtype="0" fill="hold" nodeType="withEffect">
                            <p:stCondLst>
                              <p:cond delay="0"/>
                            </p:stCondLst>
                            <p:childTnLst>
                              <p:set>
                                <p:cBhvr>
                                  <p:cTn id="11" dur="1" fill="hold"/>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1250"/>
                            </p:stCondLst>
                            <p:childTnLst>
                              <p:set>
                                <p:cBhvr>
                                  <p:cTn id="14" dur="1" fill="hold"/>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1250"/>
                            </p:stCondLst>
                            <p:childTnLst>
                              <p:set>
                                <p:cBhvr>
                                  <p:cTn id="17" dur="1" fill="hold"/>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nodeType="withEffect">
                            <p:stCondLst>
                              <p:cond delay="1250"/>
                            </p:stCondLst>
                            <p:childTnLst>
                              <p:set>
                                <p:cBhvr>
                                  <p:cTn id="20" dur="1" fill="hold"/>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nodeType="withEffect">
                            <p:stCondLst>
                              <p:cond delay="1250"/>
                            </p:stCondLst>
                            <p:childTnLst>
                              <p:set>
                                <p:cBhvr>
                                  <p:cTn id="23" dur="1" fill="hold"/>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nodeType="withEffect">
                            <p:stCondLst>
                              <p:cond delay="2500"/>
                            </p:stCondLst>
                            <p:childTnLst>
                              <p:set>
                                <p:cBhvr>
                                  <p:cTn id="26" dur="1" fill="hold"/>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nodeType="withEffect">
                            <p:stCondLst>
                              <p:cond delay="2500"/>
                            </p:stCondLst>
                            <p:childTnLst>
                              <p:set>
                                <p:cBhvr>
                                  <p:cTn id="29" dur="1" fill="hold"/>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nodeType="withEffect">
                            <p:stCondLst>
                              <p:cond delay="2500"/>
                            </p:stCondLst>
                            <p:childTnLst>
                              <p:set>
                                <p:cBhvr>
                                  <p:cTn id="32" dur="1" fill="hold"/>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nodeType="withEffect">
                            <p:stCondLst>
                              <p:cond delay="2500"/>
                            </p:stCondLst>
                            <p:childTnLst>
                              <p:set>
                                <p:cBhvr>
                                  <p:cTn id="35" dur="1" fill="hold"/>
                                  <p:tgtEl>
                                    <p:spTgt spid="22"/>
                                  </p:tgtEl>
                                  <p:attrNameLst>
                                    <p:attrName>style.visibility</p:attrName>
                                  </p:attrNameLst>
                                </p:cBhvr>
                                <p:to>
                                  <p:strVal val="visible"/>
                                </p:to>
                              </p:set>
                              <p:animEffect transition="in" filter="fade">
                                <p:cBhvr>
                                  <p:cTn id="36" dur="500"/>
                                  <p:tgtEl>
                                    <p:spTgt spid="22"/>
                                  </p:tgtEl>
                                </p:cBhvr>
                              </p:animEffect>
                            </p:childTnLst>
                          </p:cTn>
                        </p:par>
                        <p:par>
                          <p:cTn id="37" presetID="10" presetClass="entr" presetSubtype="0" fill="hold" nodeType="withEffect">
                            <p:stCondLst>
                              <p:cond delay="3750"/>
                            </p:stCondLst>
                            <p:childTnLst>
                              <p:set>
                                <p:cBhvr>
                                  <p:cTn id="38" dur="1" fill="hold"/>
                                  <p:tgtEl>
                                    <p:spTgt spid="23"/>
                                  </p:tgtEl>
                                  <p:attrNameLst>
                                    <p:attrName>style.visibility</p:attrName>
                                  </p:attrNameLst>
                                </p:cBhvr>
                                <p:to>
                                  <p:strVal val="visible"/>
                                </p:to>
                              </p:set>
                              <p:animEffect transition="in" filter="fade">
                                <p:cBhvr>
                                  <p:cTn id="39" dur="500"/>
                                  <p:tgtEl>
                                    <p:spTgt spid="23"/>
                                  </p:tgtEl>
                                </p:cBhvr>
                              </p:animEffect>
                            </p:childTnLst>
                          </p:cTn>
                        </p:par>
                        <p:par>
                          <p:cTn id="40" presetID="10" presetClass="entr" presetSubtype="0" fill="hold" nodeType="withEffect">
                            <p:stCondLst>
                              <p:cond delay="3750"/>
                            </p:stCondLst>
                            <p:childTnLst>
                              <p:set>
                                <p:cBhvr>
                                  <p:cTn id="41" dur="1" fill="hold"/>
                                  <p:tgtEl>
                                    <p:spTgt spid="24"/>
                                  </p:tgtEl>
                                  <p:attrNameLst>
                                    <p:attrName>style.visibility</p:attrName>
                                  </p:attrNameLst>
                                </p:cBhvr>
                                <p:to>
                                  <p:strVal val="visible"/>
                                </p:to>
                              </p:set>
                              <p:animEffect transition="in" filter="fade">
                                <p:cBhvr>
                                  <p:cTn id="42" dur="500"/>
                                  <p:tgtEl>
                                    <p:spTgt spid="24"/>
                                  </p:tgtEl>
                                </p:cBhvr>
                              </p:animEffect>
                            </p:childTnLst>
                          </p:cTn>
                        </p:par>
                        <p:par>
                          <p:cTn id="43" presetID="10" presetClass="entr" presetSubtype="0" fill="hold" nodeType="withEffect">
                            <p:stCondLst>
                              <p:cond delay="3750"/>
                            </p:stCondLst>
                            <p:childTnLst>
                              <p:set>
                                <p:cBhvr>
                                  <p:cTn id="44" dur="1" fill="hold"/>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nodeType="withEffect">
                            <p:stCondLst>
                              <p:cond delay="3750"/>
                            </p:stCondLst>
                            <p:childTnLst>
                              <p:set>
                                <p:cBhvr>
                                  <p:cTn id="47" dur="1" fill="hold"/>
                                  <p:tgtEl>
                                    <p:spTgt spid="26"/>
                                  </p:tgtEl>
                                  <p:attrNameLst>
                                    <p:attrName>style.visibility</p:attrName>
                                  </p:attrNameLst>
                                </p:cBhvr>
                                <p:to>
                                  <p:strVal val="visible"/>
                                </p:to>
                              </p:set>
                              <p:animEffect transition="in" filter="fade">
                                <p:cBhvr>
                                  <p:cTn id="48" dur="500"/>
                                  <p:tgtEl>
                                    <p:spTgt spid="26"/>
                                  </p:tgtEl>
                                </p:cBhvr>
                              </p:animEffect>
                            </p:childTnLst>
                          </p:cTn>
                        </p:par>
                        <p:par>
                          <p:cTn id="49" presetID="10" presetClass="entr" presetSubtype="0" fill="hold" nodeType="withEffect">
                            <p:stCondLst>
                              <p:cond delay="3750"/>
                            </p:stCondLst>
                            <p:childTnLst>
                              <p:set>
                                <p:cBhvr>
                                  <p:cTn id="50" dur="1" fill="hold"/>
                                  <p:tgtEl>
                                    <p:spTgt spid="27"/>
                                  </p:tgtEl>
                                  <p:attrNameLst>
                                    <p:attrName>style.visibility</p:attrName>
                                  </p:attrNameLst>
                                </p:cBhvr>
                                <p:to>
                                  <p:strVal val="visible"/>
                                </p:to>
                              </p:set>
                              <p:animEffect transition="in" filter="fade">
                                <p:cBhvr>
                                  <p:cTn id="51" dur="500"/>
                                  <p:tgtEl>
                                    <p:spTgt spid="27"/>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210925" y="292100"/>
            <a:ext cx="409575" cy="273050"/>
          </a:xfrm>
          <a:prstGeom prst="rect">
            <a:avLst/>
          </a:prstGeom>
          <a:effectLst/>
        </p:spPr>
      </p:pic>
      <p:sp>
        <p:nvSpPr>
          <p:cNvPr id="3" name="TextBox 2"/>
          <p:cNvSpPr txBox="1"/>
          <p:nvPr/>
        </p:nvSpPr>
        <p:spPr>
          <a:xfrm>
            <a:off x="9629775" y="323850"/>
            <a:ext cx="1466850" cy="257175"/>
          </a:xfrm>
          <a:prstGeom prst="rect">
            <a:avLst/>
          </a:prstGeom>
          <a:noFill/>
          <a:effectLst/>
        </p:spPr>
        <p:txBody>
          <a:bodyPr wrap="square" lIns="0" rIns="0" tIns="0" bIns="0" anchor="t">
            <a:spAutoFit/>
          </a:bodyPr>
          <a:lstStyle/>
          <a:p>
            <a:pPr algn="r" rtl="0">
              <a:lnSpc>
                <a:spcPts val="1428"/>
              </a:lnSpc>
              <a:spcBef>
                <a:spcPts val="0"/>
              </a:spcBef>
              <a:spcAft>
                <a:spcPts val="0"/>
              </a:spcAft>
            </a:pPr>
            <a:r>
              <a:rPr sz="1275" b="1" lang="ar-EG">
                <a:solidFill>
                  <a:srgbClr val="29302D"/>
                </a:solidFill>
                <a:latin typeface="Manrope"/>
                <a:cs typeface="IBM Plex Sans Arabic Medium"/>
              </a:rPr>
              <a:t>GRINDCTRL</a:t>
            </a:r>
          </a:p>
        </p:txBody>
      </p:sp>
      <p:sp>
        <p:nvSpPr>
          <p:cNvPr id="4" name="TextBox 3"/>
          <p:cNvSpPr txBox="1"/>
          <p:nvPr/>
        </p:nvSpPr>
        <p:spPr>
          <a:xfrm>
            <a:off x="571500" y="333375"/>
            <a:ext cx="4171950" cy="247650"/>
          </a:xfrm>
          <a:prstGeom prst="rect">
            <a:avLst/>
          </a:prstGeom>
          <a:noFill/>
          <a:effectLst/>
        </p:spPr>
        <p:txBody>
          <a:bodyPr wrap="square" lIns="0" rIns="0" tIns="0" bIns="0" anchor="t">
            <a:spAutoFit/>
          </a:bodyPr>
          <a:lstStyle/>
          <a:p>
            <a:pPr algn="l" rtl="1">
              <a:lnSpc>
                <a:spcPts val="1176"/>
              </a:lnSpc>
              <a:spcBef>
                <a:spcPts val="0"/>
              </a:spcBef>
              <a:spcAft>
                <a:spcPts val="0"/>
              </a:spcAft>
            </a:pPr>
            <a:r>
              <a:rPr sz="1050" b="0" lang="ar-EG">
                <a:solidFill>
                  <a:srgbClr val="68716B"/>
                </a:solidFill>
                <a:latin typeface="Manrope"/>
                <a:cs typeface="IBM Plex Sans Arabic Medium"/>
              </a:rPr>
              <a:t>٠٤ · تجربة الموظف</a:t>
            </a:r>
          </a:p>
        </p:txBody>
      </p:sp>
      <p:sp>
        <p:nvSpPr>
          <p:cNvPr id="5" name="TextBox 4"/>
          <p:cNvSpPr txBox="1"/>
          <p:nvPr/>
        </p:nvSpPr>
        <p:spPr>
          <a:xfrm>
            <a:off x="571500" y="895350"/>
            <a:ext cx="11049000" cy="609600"/>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9302D"/>
                </a:solidFill>
                <a:latin typeface="Manrope"/>
                <a:cs typeface="IBM Plex Sans Arabic Medium"/>
              </a:rPr>
              <a:t>يشوف التذاكر. ويكمل من آخر تحديث.</a:t>
            </a:r>
          </a:p>
        </p:txBody>
      </p:sp>
      <p:sp>
        <p:nvSpPr>
          <p:cNvPr id="6" name="TextBox 5"/>
          <p:cNvSpPr txBox="1"/>
          <p:nvPr/>
        </p:nvSpPr>
        <p:spPr>
          <a:xfrm>
            <a:off x="571500" y="1581150"/>
            <a:ext cx="11049000" cy="3619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68716B"/>
                </a:solidFill>
                <a:latin typeface="Manrope"/>
                <a:cs typeface="IBM Plex Sans Arabic Medium"/>
              </a:rPr>
              <a:t>بيانات العميل والتذاكر السابقة ومعلومات المتابعة في شاشة واحدة.</a:t>
            </a:r>
          </a:p>
        </p:txBody>
      </p:sp>
      <p:cxnSp>
        <p:nvCxnSpPr>
          <p:cNvPr id="7" name="Connector 6"/>
          <p:cNvCxnSpPr/>
          <p:nvPr/>
        </p:nvCxnSpPr>
        <p:spPr>
          <a:xfrm flipH="1">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2095500" y="6534150"/>
            <a:ext cx="9525000" cy="219075"/>
          </a:xfrm>
          <a:prstGeom prst="rect">
            <a:avLst/>
          </a:prstGeom>
          <a:noFill/>
          <a:effectLst/>
        </p:spPr>
        <p:txBody>
          <a:bodyPr wrap="square" lIns="0" rIns="0" tIns="0" bIns="0" anchor="t">
            <a:spAutoFit/>
          </a:bodyPr>
          <a:lstStyle/>
          <a:p>
            <a:pPr algn="r" rtl="1">
              <a:lnSpc>
                <a:spcPts val="1008"/>
              </a:lnSpc>
              <a:spcBef>
                <a:spcPts val="0"/>
              </a:spcBef>
              <a:spcAft>
                <a:spcPts val="0"/>
              </a:spcAft>
            </a:pPr>
            <a:r>
              <a:rPr sz="900" b="0" lang="ar-EG">
                <a:solidFill>
                  <a:srgbClr val="68716B"/>
                </a:solidFill>
                <a:latin typeface="Manrope"/>
                <a:cs typeface="IBM Plex Sans Arabic Medium"/>
              </a:rPr>
              <a:t>كونكريت · تعاون مقترح</a:t>
            </a:r>
          </a:p>
        </p:txBody>
      </p:sp>
      <p:sp>
        <p:nvSpPr>
          <p:cNvPr id="9" name="TextBox 8"/>
          <p:cNvSpPr txBox="1"/>
          <p:nvPr/>
        </p:nvSpPr>
        <p:spPr>
          <a:xfrm>
            <a:off x="571500" y="6515100"/>
            <a:ext cx="83820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716B"/>
                </a:solidFill>
                <a:latin typeface="Manrope"/>
                <a:cs typeface="IBM Plex Sans Arabic Medium"/>
              </a:rPr>
              <a:t>05 / 09</a:t>
            </a:r>
          </a:p>
        </p:txBody>
      </p:sp>
      <p:sp>
        <p:nvSpPr>
          <p:cNvPr id="10" name="Rounded Rectangle 9"/>
          <p:cNvSpPr/>
          <p:nvPr/>
        </p:nvSpPr>
        <p:spPr>
          <a:xfrm>
            <a:off x="561975" y="2286000"/>
            <a:ext cx="11049000" cy="3848100"/>
          </a:xfrm>
          <a:prstGeom prst="roundRect">
            <a:avLst>
              <a:gd name="adj" fmla="val 3960"/>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571500" y="2238375"/>
            <a:ext cx="11049000" cy="3848100"/>
          </a:xfrm>
          <a:prstGeom prst="roundRect">
            <a:avLst>
              <a:gd name="adj" fmla="val 3960"/>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2" name="Picture 11" descr="genesys.png"/>
          <p:cNvPicPr>
            <a:picLocks noChangeAspect="1"/>
          </p:cNvPicPr>
          <p:nvPr/>
        </p:nvPicPr>
        <p:blipFill>
          <a:blip r:embed="rId3"/>
          <a:stretch>
            <a:fillRect/>
          </a:stretch>
        </p:blipFill>
        <p:spPr>
          <a:xfrm>
            <a:off x="10125075" y="2438833"/>
            <a:ext cx="1266825" cy="246784"/>
          </a:xfrm>
          <a:prstGeom prst="rect">
            <a:avLst/>
          </a:prstGeom>
          <a:effectLst/>
        </p:spPr>
      </p:pic>
      <p:sp>
        <p:nvSpPr>
          <p:cNvPr id="13" name="TextBox 12"/>
          <p:cNvSpPr txBox="1"/>
          <p:nvPr/>
        </p:nvSpPr>
        <p:spPr>
          <a:xfrm>
            <a:off x="5229225" y="2457450"/>
            <a:ext cx="4629150" cy="314325"/>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29302D"/>
                </a:solidFill>
                <a:latin typeface="Manrope"/>
                <a:cs typeface="IBM Plex Sans Arabic Medium"/>
              </a:rPr>
              <a:t>شاشة خدمة العملاء</a:t>
            </a:r>
          </a:p>
        </p:txBody>
      </p:sp>
      <p:sp>
        <p:nvSpPr>
          <p:cNvPr id="14" name="Oval 13"/>
          <p:cNvSpPr/>
          <p:nvPr/>
        </p:nvSpPr>
        <p:spPr>
          <a:xfrm>
            <a:off x="2152650" y="2543175"/>
            <a:ext cx="66675" cy="66675"/>
          </a:xfrm>
          <a:prstGeom prst="ellipse">
            <a:avLst/>
          </a:prstGeom>
          <a:solidFill>
            <a:srgbClr val="54745C"/>
          </a:solidFill>
          <a:ln w="9525">
            <a:solidFill>
              <a:srgbClr val="54745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00100" y="2476500"/>
            <a:ext cx="1257300" cy="276225"/>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54745C"/>
                </a:solidFill>
                <a:latin typeface="Manrope"/>
                <a:cs typeface="IBM Plex Sans Arabic Medium"/>
              </a:rPr>
              <a:t>المكالمة مستمرة</a:t>
            </a:r>
          </a:p>
        </p:txBody>
      </p:sp>
      <p:cxnSp>
        <p:nvCxnSpPr>
          <p:cNvPr id="16" name="Connector 15"/>
          <p:cNvCxnSpPr/>
          <p:nvPr/>
        </p:nvCxnSpPr>
        <p:spPr>
          <a:xfrm flipH="1">
            <a:off x="571500" y="2905125"/>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8858250" y="2905125"/>
            <a:ext cx="0" cy="2809875"/>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5210175" y="2905125"/>
            <a:ext cx="0" cy="2809875"/>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9153525" y="3114675"/>
            <a:ext cx="2238375" cy="228600"/>
          </a:xfrm>
          <a:prstGeom prst="rect">
            <a:avLst/>
          </a:prstGeom>
          <a:noFill/>
          <a:effectLst/>
        </p:spPr>
        <p:txBody>
          <a:bodyPr wrap="square" lIns="0" rIns="0" tIns="0" bIns="0" anchor="t">
            <a:spAutoFit/>
          </a:bodyPr>
          <a:lstStyle/>
          <a:p>
            <a:pPr algn="r" rtl="1">
              <a:lnSpc>
                <a:spcPts val="1092"/>
              </a:lnSpc>
              <a:spcBef>
                <a:spcPts val="0"/>
              </a:spcBef>
              <a:spcAft>
                <a:spcPts val="0"/>
              </a:spcAft>
            </a:pPr>
            <a:r>
              <a:rPr sz="975" b="1" lang="ar-EG">
                <a:solidFill>
                  <a:srgbClr val="68716B"/>
                </a:solidFill>
                <a:latin typeface="Manrope"/>
                <a:cs typeface="IBM Plex Sans Arabic Medium"/>
              </a:rPr>
              <a:t>العميل</a:t>
            </a:r>
          </a:p>
        </p:txBody>
      </p:sp>
      <p:sp>
        <p:nvSpPr>
          <p:cNvPr id="20" name="Oval 19"/>
          <p:cNvSpPr/>
          <p:nvPr/>
        </p:nvSpPr>
        <p:spPr>
          <a:xfrm>
            <a:off x="10982325" y="3495675"/>
            <a:ext cx="409575" cy="409575"/>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0982325" y="3571875"/>
            <a:ext cx="409575" cy="371475"/>
          </a:xfrm>
          <a:prstGeom prst="rect">
            <a:avLst/>
          </a:prstGeom>
          <a:noFill/>
          <a:effectLst/>
        </p:spPr>
        <p:txBody>
          <a:bodyPr wrap="square" lIns="0" rIns="0" tIns="0" bIns="0" anchor="t">
            <a:spAutoFit/>
          </a:bodyPr>
          <a:lstStyle/>
          <a:p>
            <a:pPr algn="ctr" rtl="0">
              <a:lnSpc>
                <a:spcPts val="1932"/>
              </a:lnSpc>
              <a:spcBef>
                <a:spcPts val="0"/>
              </a:spcBef>
              <a:spcAft>
                <a:spcPts val="0"/>
              </a:spcAft>
            </a:pPr>
            <a:r>
              <a:rPr sz="1725" b="1" lang="ar-EG">
                <a:solidFill>
                  <a:srgbClr val="54745C"/>
                </a:solidFill>
                <a:latin typeface="Manrope"/>
                <a:cs typeface="IBM Plex Sans Arabic Medium"/>
              </a:rPr>
              <a:t>A</a:t>
            </a:r>
          </a:p>
        </p:txBody>
      </p:sp>
      <p:sp>
        <p:nvSpPr>
          <p:cNvPr id="22" name="TextBox 21"/>
          <p:cNvSpPr txBox="1"/>
          <p:nvPr/>
        </p:nvSpPr>
        <p:spPr>
          <a:xfrm>
            <a:off x="9086850" y="3505200"/>
            <a:ext cx="1752600" cy="342900"/>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9302D"/>
                </a:solidFill>
                <a:latin typeface="Manrope"/>
                <a:cs typeface="IBM Plex Sans Arabic Medium"/>
              </a:rPr>
              <a:t>العميل A</a:t>
            </a:r>
          </a:p>
        </p:txBody>
      </p:sp>
      <p:sp>
        <p:nvSpPr>
          <p:cNvPr id="23" name="TextBox 22"/>
          <p:cNvSpPr txBox="1"/>
          <p:nvPr/>
        </p:nvSpPr>
        <p:spPr>
          <a:xfrm>
            <a:off x="9086850" y="3876675"/>
            <a:ext cx="1752600" cy="295275"/>
          </a:xfrm>
          <a:prstGeom prst="rect">
            <a:avLst/>
          </a:prstGeom>
          <a:noFill/>
          <a:effectLst/>
        </p:spPr>
        <p:txBody>
          <a:bodyPr wrap="square" lIns="0" rIns="0" tIns="0" bIns="0" anchor="t">
            <a:spAutoFit/>
          </a:bodyPr>
          <a:lstStyle/>
          <a:p>
            <a:pPr algn="r" rtl="0">
              <a:lnSpc>
                <a:spcPts val="1512"/>
              </a:lnSpc>
              <a:spcBef>
                <a:spcPts val="0"/>
              </a:spcBef>
              <a:spcAft>
                <a:spcPts val="0"/>
              </a:spcAft>
            </a:pPr>
            <a:r>
              <a:rPr sz="1350" b="0" lang="ar-EG">
                <a:solidFill>
                  <a:srgbClr val="68716B"/>
                </a:solidFill>
                <a:latin typeface="Manrope"/>
                <a:cs typeface="IBM Plex Sans Arabic Medium"/>
              </a:rPr>
              <a:t>+20 ••• 410</a:t>
            </a:r>
          </a:p>
        </p:txBody>
      </p:sp>
      <p:sp>
        <p:nvSpPr>
          <p:cNvPr id="24" name="TextBox 23"/>
          <p:cNvSpPr txBox="1"/>
          <p:nvPr/>
        </p:nvSpPr>
        <p:spPr>
          <a:xfrm>
            <a:off x="9115425" y="4457700"/>
            <a:ext cx="2276475" cy="295275"/>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68716B"/>
                </a:solidFill>
                <a:latin typeface="Manrope"/>
                <a:cs typeface="IBM Plex Sans Arabic Medium"/>
              </a:rPr>
              <a:t>مطابقة برقم المتصل</a:t>
            </a:r>
          </a:p>
        </p:txBody>
      </p:sp>
      <p:cxnSp>
        <p:nvCxnSpPr>
          <p:cNvPr id="25" name="Connector 24"/>
          <p:cNvCxnSpPr/>
          <p:nvPr/>
        </p:nvCxnSpPr>
        <p:spPr>
          <a:xfrm flipH="1">
            <a:off x="9096375" y="4924425"/>
            <a:ext cx="2295525"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10420350" y="5143500"/>
            <a:ext cx="971550" cy="314325"/>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9302D"/>
                </a:solidFill>
                <a:latin typeface="Manrope"/>
                <a:cs typeface="IBM Plex Sans Arabic Medium"/>
              </a:rPr>
              <a:t>٢ مفتوحة</a:t>
            </a:r>
          </a:p>
        </p:txBody>
      </p:sp>
      <p:sp>
        <p:nvSpPr>
          <p:cNvPr id="27" name="TextBox 26"/>
          <p:cNvSpPr txBox="1"/>
          <p:nvPr/>
        </p:nvSpPr>
        <p:spPr>
          <a:xfrm>
            <a:off x="9096375" y="5143500"/>
            <a:ext cx="1085850" cy="314325"/>
          </a:xfrm>
          <a:prstGeom prst="rect">
            <a:avLst/>
          </a:prstGeom>
          <a:noFill/>
          <a:effectLst/>
        </p:spPr>
        <p:txBody>
          <a:bodyPr wrap="square" lIns="0" rIns="0" tIns="0" bIns="0" anchor="t">
            <a:spAutoFit/>
          </a:bodyPr>
          <a:lstStyle/>
          <a:p>
            <a:pPr algn="l" rtl="1">
              <a:lnSpc>
                <a:spcPts val="1680"/>
              </a:lnSpc>
              <a:spcBef>
                <a:spcPts val="0"/>
              </a:spcBef>
              <a:spcAft>
                <a:spcPts val="0"/>
              </a:spcAft>
            </a:pPr>
            <a:r>
              <a:rPr sz="1500" b="0" lang="ar-EG">
                <a:solidFill>
                  <a:srgbClr val="68716B"/>
                </a:solidFill>
                <a:latin typeface="Manrope"/>
                <a:cs typeface="IBM Plex Sans Arabic Medium"/>
              </a:rPr>
              <a:t>١ مغلقة</a:t>
            </a:r>
          </a:p>
        </p:txBody>
      </p:sp>
      <p:pic>
        <p:nvPicPr>
          <p:cNvPr id="28" name="Picture 27" descr="zoho.png"/>
          <p:cNvPicPr>
            <a:picLocks noChangeAspect="1"/>
          </p:cNvPicPr>
          <p:nvPr/>
        </p:nvPicPr>
        <p:blipFill>
          <a:blip r:embed="rId4"/>
          <a:stretch>
            <a:fillRect/>
          </a:stretch>
        </p:blipFill>
        <p:spPr>
          <a:xfrm>
            <a:off x="7874924" y="3086100"/>
            <a:ext cx="709353" cy="304800"/>
          </a:xfrm>
          <a:prstGeom prst="rect">
            <a:avLst/>
          </a:prstGeom>
          <a:effectLst/>
        </p:spPr>
      </p:pic>
      <p:sp>
        <p:nvSpPr>
          <p:cNvPr id="29" name="TextBox 28"/>
          <p:cNvSpPr txBox="1"/>
          <p:nvPr/>
        </p:nvSpPr>
        <p:spPr>
          <a:xfrm>
            <a:off x="5438775" y="3124200"/>
            <a:ext cx="2200275"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29302D"/>
                </a:solidFill>
                <a:latin typeface="Manrope"/>
                <a:cs typeface="IBM Plex Sans Arabic Medium"/>
              </a:rPr>
              <a:t>تاريخ التذاكر</a:t>
            </a:r>
          </a:p>
        </p:txBody>
      </p:sp>
      <p:sp>
        <p:nvSpPr>
          <p:cNvPr id="30" name="TextBox 29"/>
          <p:cNvSpPr txBox="1"/>
          <p:nvPr/>
        </p:nvSpPr>
        <p:spPr>
          <a:xfrm>
            <a:off x="7115175" y="3619500"/>
            <a:ext cx="1514475" cy="266700"/>
          </a:xfrm>
          <a:prstGeom prst="rect">
            <a:avLst/>
          </a:prstGeom>
          <a:noFill/>
          <a:effectLst/>
        </p:spPr>
        <p:txBody>
          <a:bodyPr wrap="square" lIns="0" rIns="0" tIns="0" bIns="0" anchor="t">
            <a:spAutoFit/>
          </a:bodyPr>
          <a:lstStyle/>
          <a:p>
            <a:pPr algn="r" rtl="1">
              <a:lnSpc>
                <a:spcPts val="1344"/>
              </a:lnSpc>
              <a:spcBef>
                <a:spcPts val="0"/>
              </a:spcBef>
              <a:spcAft>
                <a:spcPts val="0"/>
              </a:spcAft>
            </a:pPr>
            <a:r>
              <a:rPr sz="1200" b="1" lang="ar-EG">
                <a:solidFill>
                  <a:srgbClr val="54745C"/>
                </a:solidFill>
                <a:latin typeface="Manrope"/>
                <a:cs typeface="IBM Plex Sans Arabic Medium"/>
              </a:rPr>
              <a:t>تذاكر مفتوحة (٢)</a:t>
            </a:r>
          </a:p>
        </p:txBody>
      </p:sp>
      <p:sp>
        <p:nvSpPr>
          <p:cNvPr id="31" name="TextBox 30"/>
          <p:cNvSpPr txBox="1"/>
          <p:nvPr/>
        </p:nvSpPr>
        <p:spPr>
          <a:xfrm>
            <a:off x="5429250" y="3619500"/>
            <a:ext cx="1323975" cy="266700"/>
          </a:xfrm>
          <a:prstGeom prst="rect">
            <a:avLst/>
          </a:prstGeom>
          <a:noFill/>
          <a:effectLst/>
        </p:spPr>
        <p:txBody>
          <a:bodyPr wrap="square" lIns="0" rIns="0" tIns="0" bIns="0" anchor="t">
            <a:spAutoFit/>
          </a:bodyPr>
          <a:lstStyle/>
          <a:p>
            <a:pPr algn="l" rtl="1">
              <a:lnSpc>
                <a:spcPts val="1344"/>
              </a:lnSpc>
              <a:spcBef>
                <a:spcPts val="0"/>
              </a:spcBef>
              <a:spcAft>
                <a:spcPts val="0"/>
              </a:spcAft>
            </a:pPr>
            <a:r>
              <a:rPr sz="1200" b="0" lang="ar-EG">
                <a:solidFill>
                  <a:srgbClr val="68716B"/>
                </a:solidFill>
                <a:latin typeface="Manrope"/>
                <a:cs typeface="IBM Plex Sans Arabic Medium"/>
              </a:rPr>
              <a:t>كل التذاكر (٣)</a:t>
            </a:r>
          </a:p>
        </p:txBody>
      </p:sp>
      <p:cxnSp>
        <p:nvCxnSpPr>
          <p:cNvPr id="32" name="Connector 31"/>
          <p:cNvCxnSpPr/>
          <p:nvPr/>
        </p:nvCxnSpPr>
        <p:spPr>
          <a:xfrm flipH="1">
            <a:off x="5429250" y="3943350"/>
            <a:ext cx="3209925"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33" name="Rounded Rectangle 32"/>
          <p:cNvSpPr/>
          <p:nvPr/>
        </p:nvSpPr>
        <p:spPr>
          <a:xfrm>
            <a:off x="5343525" y="4076700"/>
            <a:ext cx="3352800" cy="885825"/>
          </a:xfrm>
          <a:prstGeom prst="roundRect">
            <a:avLst>
              <a:gd name="adj" fmla="val 9677"/>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5505450" y="4200525"/>
            <a:ext cx="3028950" cy="238125"/>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29302D"/>
                </a:solidFill>
                <a:latin typeface="Manrope"/>
                <a:cs typeface="IBM Plex Sans Arabic Medium"/>
              </a:rPr>
              <a:t>T101 · متابعة استبدال</a:t>
            </a:r>
          </a:p>
        </p:txBody>
      </p:sp>
      <p:sp>
        <p:nvSpPr>
          <p:cNvPr id="35" name="Oval 34"/>
          <p:cNvSpPr/>
          <p:nvPr/>
        </p:nvSpPr>
        <p:spPr>
          <a:xfrm>
            <a:off x="8467725" y="4667250"/>
            <a:ext cx="66675" cy="66675"/>
          </a:xfrm>
          <a:prstGeom prst="ellipse">
            <a:avLst/>
          </a:prstGeom>
          <a:solidFill>
            <a:srgbClr val="54745C"/>
          </a:solidFill>
          <a:ln w="9525">
            <a:solidFill>
              <a:srgbClr val="54745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505450" y="4600575"/>
            <a:ext cx="2867025" cy="276225"/>
          </a:xfrm>
          <a:prstGeom prst="rect">
            <a:avLst/>
          </a:prstGeom>
          <a:noFill/>
          <a:effectLst/>
        </p:spPr>
        <p:txBody>
          <a:bodyPr wrap="square" lIns="0" rIns="0" tIns="0" bIns="0" anchor="t">
            <a:spAutoFit/>
          </a:bodyPr>
          <a:lstStyle/>
          <a:p>
            <a:pPr algn="r" rtl="1">
              <a:lnSpc>
                <a:spcPts val="1428"/>
              </a:lnSpc>
              <a:spcBef>
                <a:spcPts val="0"/>
              </a:spcBef>
              <a:spcAft>
                <a:spcPts val="0"/>
              </a:spcAft>
            </a:pPr>
            <a:r>
              <a:rPr sz="1275" b="0" lang="ar-EG">
                <a:solidFill>
                  <a:srgbClr val="54745C"/>
                </a:solidFill>
                <a:latin typeface="Manrope"/>
                <a:cs typeface="IBM Plex Sans Arabic Medium"/>
              </a:rPr>
              <a:t>بانتظار الفرع</a:t>
            </a:r>
          </a:p>
        </p:txBody>
      </p:sp>
      <p:sp>
        <p:nvSpPr>
          <p:cNvPr id="37" name="TextBox 36"/>
          <p:cNvSpPr txBox="1"/>
          <p:nvPr/>
        </p:nvSpPr>
        <p:spPr>
          <a:xfrm>
            <a:off x="5505450" y="5153025"/>
            <a:ext cx="302895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0" lang="ar-EG">
                <a:solidFill>
                  <a:srgbClr val="29302D"/>
                </a:solidFill>
                <a:latin typeface="Manrope"/>
                <a:cs typeface="IBM Plex Sans Arabic Medium"/>
              </a:rPr>
              <a:t>T102 · استفسار عن منتج</a:t>
            </a:r>
          </a:p>
        </p:txBody>
      </p:sp>
      <p:sp>
        <p:nvSpPr>
          <p:cNvPr id="38" name="TextBox 37"/>
          <p:cNvSpPr txBox="1"/>
          <p:nvPr/>
        </p:nvSpPr>
        <p:spPr>
          <a:xfrm>
            <a:off x="5505450" y="5505450"/>
            <a:ext cx="3028950" cy="228600"/>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8716B"/>
                </a:solidFill>
                <a:latin typeface="Manrope"/>
                <a:cs typeface="IBM Plex Sans Arabic Medium"/>
              </a:rPr>
              <a:t>مفتوحة</a:t>
            </a:r>
          </a:p>
        </p:txBody>
      </p:sp>
      <p:sp>
        <p:nvSpPr>
          <p:cNvPr id="39" name="TextBox 38"/>
          <p:cNvSpPr txBox="1"/>
          <p:nvPr/>
        </p:nvSpPr>
        <p:spPr>
          <a:xfrm>
            <a:off x="847725" y="3114675"/>
            <a:ext cx="4095750" cy="342900"/>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9302D"/>
                </a:solidFill>
                <a:latin typeface="Manrope"/>
                <a:cs typeface="IBM Plex Sans Arabic Medium"/>
              </a:rPr>
              <a:t>T101 · متابعة استبدال</a:t>
            </a:r>
          </a:p>
        </p:txBody>
      </p:sp>
      <p:sp>
        <p:nvSpPr>
          <p:cNvPr id="40" name="TextBox 39"/>
          <p:cNvSpPr txBox="1"/>
          <p:nvPr/>
        </p:nvSpPr>
        <p:spPr>
          <a:xfrm>
            <a:off x="847725" y="3552825"/>
            <a:ext cx="4095750" cy="257175"/>
          </a:xfrm>
          <a:prstGeom prst="rect">
            <a:avLst/>
          </a:prstGeom>
          <a:noFill/>
          <a:effectLst/>
        </p:spPr>
        <p:txBody>
          <a:bodyPr wrap="square" lIns="0" rIns="0" tIns="0" bIns="0" anchor="t">
            <a:spAutoFit/>
          </a:bodyPr>
          <a:lstStyle/>
          <a:p>
            <a:pPr algn="r" rtl="1">
              <a:lnSpc>
                <a:spcPts val="1092"/>
              </a:lnSpc>
              <a:spcBef>
                <a:spcPts val="0"/>
              </a:spcBef>
              <a:spcAft>
                <a:spcPts val="0"/>
              </a:spcAft>
            </a:pPr>
            <a:r>
              <a:rPr sz="975" b="1" lang="ar-EG">
                <a:solidFill>
                  <a:srgbClr val="68716B"/>
                </a:solidFill>
                <a:latin typeface="Manrope"/>
                <a:cs typeface="IBM Plex Sans Arabic Medium"/>
              </a:rPr>
              <a:t>آخر ملاحظة مسجلة</a:t>
            </a:r>
          </a:p>
        </p:txBody>
      </p:sp>
      <p:sp>
        <p:nvSpPr>
          <p:cNvPr id="41" name="Rounded Rectangle 40"/>
          <p:cNvSpPr/>
          <p:nvPr/>
        </p:nvSpPr>
        <p:spPr>
          <a:xfrm>
            <a:off x="828675" y="3905250"/>
            <a:ext cx="4171950" cy="942975"/>
          </a:xfrm>
          <a:prstGeom prst="roundRect">
            <a:avLst>
              <a:gd name="adj" fmla="val 9090"/>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1028700" y="4086225"/>
            <a:ext cx="3771900" cy="676275"/>
          </a:xfrm>
          <a:prstGeom prst="rect">
            <a:avLst/>
          </a:prstGeom>
          <a:noFill/>
          <a:effectLst/>
        </p:spPr>
        <p:txBody>
          <a:bodyPr wrap="square" lIns="0" rIns="0" tIns="0" bIns="0" anchor="t">
            <a:spAutoFit/>
          </a:bodyPr>
          <a:lstStyle/>
          <a:p>
            <a:pPr algn="r" rtl="1">
              <a:lnSpc>
                <a:spcPts val="2100"/>
              </a:lnSpc>
              <a:spcBef>
                <a:spcPts val="0"/>
              </a:spcBef>
              <a:spcAft>
                <a:spcPts val="0"/>
              </a:spcAft>
            </a:pPr>
            <a:r>
              <a:rPr sz="1875" b="1" lang="ar-EG">
                <a:solidFill>
                  <a:srgbClr val="29302D"/>
                </a:solidFill>
                <a:latin typeface="Manrope"/>
                <a:cs typeface="IBM Plex Sans Arabic Medium"/>
              </a:rPr>
              <a:t>مراجعة الفرع</a:t>
            </a:r>
          </a:p>
          <a:p>
            <a:pPr algn="r" rtl="1">
              <a:lnSpc>
                <a:spcPts val="2100"/>
              </a:lnSpc>
              <a:spcBef>
                <a:spcPts val="0"/>
              </a:spcBef>
              <a:spcAft>
                <a:spcPts val="0"/>
              </a:spcAft>
            </a:pPr>
            <a:r>
              <a:rPr sz="1875" b="1" lang="ar-EG">
                <a:solidFill>
                  <a:srgbClr val="29302D"/>
                </a:solidFill>
                <a:latin typeface="Manrope"/>
                <a:cs typeface="IBM Plex Sans Arabic Medium"/>
              </a:rPr>
              <a:t>لسه مطلوبة.</a:t>
            </a:r>
          </a:p>
        </p:txBody>
      </p:sp>
      <p:pic>
        <p:nvPicPr>
          <p:cNvPr id="43" name="Picture 42" descr="icon-file.png"/>
          <p:cNvPicPr>
            <a:picLocks noChangeAspect="1"/>
          </p:cNvPicPr>
          <p:nvPr/>
        </p:nvPicPr>
        <p:blipFill>
          <a:blip r:embed="rId5"/>
          <a:stretch>
            <a:fillRect/>
          </a:stretch>
        </p:blipFill>
        <p:spPr>
          <a:xfrm>
            <a:off x="4705350" y="5133975"/>
            <a:ext cx="228600" cy="228600"/>
          </a:xfrm>
          <a:prstGeom prst="rect">
            <a:avLst/>
          </a:prstGeom>
          <a:effectLst/>
        </p:spPr>
      </p:pic>
      <p:sp>
        <p:nvSpPr>
          <p:cNvPr id="44" name="TextBox 43"/>
          <p:cNvSpPr txBox="1"/>
          <p:nvPr/>
        </p:nvSpPr>
        <p:spPr>
          <a:xfrm>
            <a:off x="857250" y="5114925"/>
            <a:ext cx="3714750" cy="304800"/>
          </a:xfrm>
          <a:prstGeom prst="rect">
            <a:avLst/>
          </a:prstGeom>
          <a:noFill/>
          <a:effectLst/>
        </p:spPr>
        <p:txBody>
          <a:bodyPr wrap="square" lIns="0" rIns="0" tIns="0" bIns="0" anchor="t">
            <a:spAutoFit/>
          </a:bodyPr>
          <a:lstStyle/>
          <a:p>
            <a:pPr algn="r" rtl="1">
              <a:lnSpc>
                <a:spcPts val="1680"/>
              </a:lnSpc>
              <a:spcBef>
                <a:spcPts val="0"/>
              </a:spcBef>
              <a:spcAft>
                <a:spcPts val="0"/>
              </a:spcAft>
            </a:pPr>
            <a:r>
              <a:rPr sz="1500" b="1" lang="ar-EG">
                <a:solidFill>
                  <a:srgbClr val="54745C"/>
                </a:solidFill>
                <a:latin typeface="Manrope"/>
                <a:cs typeface="IBM Plex Sans Arabic Medium"/>
              </a:rPr>
              <a:t>نكمل من التحديث ده</a:t>
            </a:r>
          </a:p>
        </p:txBody>
      </p:sp>
      <p:sp>
        <p:nvSpPr>
          <p:cNvPr id="45" name="TextBox 44"/>
          <p:cNvSpPr txBox="1"/>
          <p:nvPr/>
        </p:nvSpPr>
        <p:spPr>
          <a:xfrm>
            <a:off x="847725" y="5505450"/>
            <a:ext cx="4095750" cy="238125"/>
          </a:xfrm>
          <a:prstGeom prst="rect">
            <a:avLst/>
          </a:prstGeom>
          <a:noFill/>
          <a:effectLst/>
        </p:spPr>
        <p:txBody>
          <a:bodyPr wrap="square" lIns="0" rIns="0" tIns="0" bIns="0" anchor="t">
            <a:spAutoFit/>
          </a:bodyPr>
          <a:lstStyle/>
          <a:p>
            <a:pPr algn="r" rtl="1">
              <a:lnSpc>
                <a:spcPts val="1260"/>
              </a:lnSpc>
              <a:spcBef>
                <a:spcPts val="0"/>
              </a:spcBef>
              <a:spcAft>
                <a:spcPts val="0"/>
              </a:spcAft>
            </a:pPr>
            <a:r>
              <a:rPr sz="1125" b="0" lang="ar-EG">
                <a:solidFill>
                  <a:srgbClr val="68716B"/>
                </a:solidFill>
                <a:latin typeface="Manrope"/>
                <a:cs typeface="IBM Plex Sans Arabic Medium"/>
              </a:rPr>
              <a:t>مسجلة في Zoho Desk</a:t>
            </a:r>
          </a:p>
        </p:txBody>
      </p:sp>
      <p:cxnSp>
        <p:nvCxnSpPr>
          <p:cNvPr id="46" name="Connector 45"/>
          <p:cNvCxnSpPr/>
          <p:nvPr/>
        </p:nvCxnSpPr>
        <p:spPr>
          <a:xfrm flipH="1">
            <a:off x="571500" y="57912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47" name="TextBox 46"/>
          <p:cNvSpPr txBox="1"/>
          <p:nvPr/>
        </p:nvSpPr>
        <p:spPr>
          <a:xfrm>
            <a:off x="4991100" y="5867400"/>
            <a:ext cx="6391275" cy="209550"/>
          </a:xfrm>
          <a:prstGeom prst="rect">
            <a:avLst/>
          </a:prstGeom>
          <a:noFill/>
          <a:effectLst/>
        </p:spPr>
        <p:txBody>
          <a:bodyPr wrap="square" lIns="0" rIns="0" tIns="0" bIns="0" anchor="t">
            <a:spAutoFit/>
          </a:bodyPr>
          <a:lstStyle/>
          <a:p>
            <a:pPr algn="r" rtl="1">
              <a:lnSpc>
                <a:spcPts val="1092"/>
              </a:lnSpc>
              <a:spcBef>
                <a:spcPts val="0"/>
              </a:spcBef>
              <a:spcAft>
                <a:spcPts val="0"/>
              </a:spcAft>
            </a:pPr>
            <a:r>
              <a:rPr sz="975" b="0" lang="ar-EG">
                <a:solidFill>
                  <a:srgbClr val="68716B"/>
                </a:solidFill>
                <a:latin typeface="Manrope"/>
                <a:cs typeface="IBM Plex Sans Arabic Medium"/>
              </a:rPr>
              <a:t>سجلات Desk الموجودة · المكالمة مستمرة</a:t>
            </a:r>
          </a:p>
        </p:txBody>
      </p:sp>
      <p:sp>
        <p:nvSpPr>
          <p:cNvPr id="48" name="TextBox 47"/>
          <p:cNvSpPr txBox="1"/>
          <p:nvPr/>
        </p:nvSpPr>
        <p:spPr>
          <a:xfrm>
            <a:off x="809625" y="5867400"/>
            <a:ext cx="3581400" cy="209550"/>
          </a:xfrm>
          <a:prstGeom prst="rect">
            <a:avLst/>
          </a:prstGeom>
          <a:noFill/>
          <a:effectLst/>
        </p:spPr>
        <p:txBody>
          <a:bodyPr wrap="square" lIns="0" rIns="0" tIns="0" bIns="0" anchor="t">
            <a:spAutoFit/>
          </a:bodyPr>
          <a:lstStyle/>
          <a:p>
            <a:pPr algn="l" rtl="1">
              <a:lnSpc>
                <a:spcPts val="1008"/>
              </a:lnSpc>
              <a:spcBef>
                <a:spcPts val="0"/>
              </a:spcBef>
              <a:spcAft>
                <a:spcPts val="0"/>
              </a:spcAft>
            </a:pPr>
            <a:r>
              <a:rPr sz="900" b="0" lang="ar-EG">
                <a:solidFill>
                  <a:srgbClr val="68716B"/>
                </a:solidFill>
                <a:latin typeface="Manrope"/>
                <a:cs typeface="IBM Plex Sans Arabic Medium"/>
              </a:rPr>
              <a:t>واجهة توضيحية</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2"/>
                                  </p:tgtEl>
                                  <p:attrNameLst>
                                    <p:attrName>style.visibility</p:attrName>
                                  </p:attrNameLst>
                                </p:cBhvr>
                                <p:to>
                                  <p:strVal val="visible"/>
                                </p:to>
                              </p:set>
                              <p:animEffect transition="in" filter="fade">
                                <p:cBhvr>
                                  <p:cTn id="6" dur="500"/>
                                  <p:tgtEl>
                                    <p:spTgt spid="12"/>
                                  </p:tgtEl>
                                </p:cBhvr>
                              </p:animEffect>
                            </p:childTnLst>
                          </p:cTn>
                        </p:par>
                        <p:par>
                          <p:cTn id="7" presetID="10" presetClass="entr" presetSubtype="0" fill="hold" nodeType="withEffect">
                            <p:stCondLst>
                              <p:cond delay="0"/>
                            </p:stCondLst>
                            <p:childTnLst>
                              <p:set>
                                <p:cBhvr>
                                  <p:cTn id="8" dur="1" fill="hold"/>
                                  <p:tgtEl>
                                    <p:spTgt spid="14"/>
                                  </p:tgtEl>
                                  <p:attrNameLst>
                                    <p:attrName>style.visibility</p:attrName>
                                  </p:attrNameLst>
                                </p:cBhvr>
                                <p:to>
                                  <p:strVal val="visible"/>
                                </p:to>
                              </p:set>
                              <p:animEffect transition="in" filter="fade">
                                <p:cBhvr>
                                  <p:cTn id="9" dur="500"/>
                                  <p:tgtEl>
                                    <p:spTgt spid="14"/>
                                  </p:tgtEl>
                                </p:cBhvr>
                              </p:animEffect>
                            </p:childTnLst>
                          </p:cTn>
                        </p:par>
                        <p:par>
                          <p:cTn id="10" presetID="10" presetClass="entr" presetSubtype="0" fill="hold" nodeType="withEffect">
                            <p:stCondLst>
                              <p:cond delay="0"/>
                            </p:stCondLst>
                            <p:childTnLst>
                              <p:set>
                                <p:cBhvr>
                                  <p:cTn id="11" dur="1" fill="hold"/>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nodeType="withEffect">
                            <p:stCondLst>
                              <p:cond delay="1250"/>
                            </p:stCondLst>
                            <p:childTnLst>
                              <p:set>
                                <p:cBhvr>
                                  <p:cTn id="14" dur="1" fill="hold"/>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1250"/>
                            </p:stCondLst>
                            <p:childTnLst>
                              <p:set>
                                <p:cBhvr>
                                  <p:cTn id="17" dur="1" fill="hold"/>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nodeType="withEffect">
                            <p:stCondLst>
                              <p:cond delay="1250"/>
                            </p:stCondLst>
                            <p:childTnLst>
                              <p:set>
                                <p:cBhvr>
                                  <p:cTn id="20" dur="1" fill="hold"/>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nodeType="withEffect">
                            <p:stCondLst>
                              <p:cond delay="1250"/>
                            </p:stCondLst>
                            <p:childTnLst>
                              <p:set>
                                <p:cBhvr>
                                  <p:cTn id="23" dur="1" fill="hold"/>
                                  <p:tgtEl>
                                    <p:spTgt spid="22"/>
                                  </p:tgtEl>
                                  <p:attrNameLst>
                                    <p:attrName>style.visibility</p:attrName>
                                  </p:attrNameLst>
                                </p:cBhvr>
                                <p:to>
                                  <p:strVal val="visible"/>
                                </p:to>
                              </p:set>
                              <p:animEffect transition="in" filter="fade">
                                <p:cBhvr>
                                  <p:cTn id="24" dur="500"/>
                                  <p:tgtEl>
                                    <p:spTgt spid="22"/>
                                  </p:tgtEl>
                                </p:cBhvr>
                              </p:animEffect>
                            </p:childTnLst>
                          </p:cTn>
                        </p:par>
                        <p:par>
                          <p:cTn id="25" presetID="10" presetClass="entr" presetSubtype="0" fill="hold" nodeType="withEffect">
                            <p:stCondLst>
                              <p:cond delay="1250"/>
                            </p:stCondLst>
                            <p:childTnLst>
                              <p:set>
                                <p:cBhvr>
                                  <p:cTn id="26" dur="1" fill="hold"/>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10" presetClass="entr" presetSubtype="0" fill="hold" nodeType="withEffect">
                            <p:stCondLst>
                              <p:cond delay="1250"/>
                            </p:stCondLst>
                            <p:childTnLst>
                              <p:set>
                                <p:cBhvr>
                                  <p:cTn id="29" dur="1" fill="hold"/>
                                  <p:tgtEl>
                                    <p:spTgt spid="24"/>
                                  </p:tgtEl>
                                  <p:attrNameLst>
                                    <p:attrName>style.visibility</p:attrName>
                                  </p:attrNameLst>
                                </p:cBhvr>
                                <p:to>
                                  <p:strVal val="visible"/>
                                </p:to>
                              </p:set>
                              <p:animEffect transition="in" filter="fade">
                                <p:cBhvr>
                                  <p:cTn id="30" dur="500"/>
                                  <p:tgtEl>
                                    <p:spTgt spid="24"/>
                                  </p:tgtEl>
                                </p:cBhvr>
                              </p:animEffect>
                            </p:childTnLst>
                          </p:cTn>
                        </p:par>
                        <p:par>
                          <p:cTn id="31" presetID="10" presetClass="entr" presetSubtype="0" fill="hold" nodeType="withEffect">
                            <p:stCondLst>
                              <p:cond delay="1250"/>
                            </p:stCondLst>
                            <p:childTnLst>
                              <p:set>
                                <p:cBhvr>
                                  <p:cTn id="32" dur="1" fill="hold"/>
                                  <p:tgtEl>
                                    <p:spTgt spid="25"/>
                                  </p:tgtEl>
                                  <p:attrNameLst>
                                    <p:attrName>style.visibility</p:attrName>
                                  </p:attrNameLst>
                                </p:cBhvr>
                                <p:to>
                                  <p:strVal val="visible"/>
                                </p:to>
                              </p:set>
                              <p:animEffect transition="in" filter="fade">
                                <p:cBhvr>
                                  <p:cTn id="33" dur="500"/>
                                  <p:tgtEl>
                                    <p:spTgt spid="25"/>
                                  </p:tgtEl>
                                </p:cBhvr>
                              </p:animEffect>
                            </p:childTnLst>
                          </p:cTn>
                        </p:par>
                        <p:par>
                          <p:cTn id="34" presetID="10" presetClass="entr" presetSubtype="0" fill="hold" nodeType="withEffect">
                            <p:stCondLst>
                              <p:cond delay="2500"/>
                            </p:stCondLst>
                            <p:childTnLst>
                              <p:set>
                                <p:cBhvr>
                                  <p:cTn id="35" dur="1" fill="hold"/>
                                  <p:tgtEl>
                                    <p:spTgt spid="26"/>
                                  </p:tgtEl>
                                  <p:attrNameLst>
                                    <p:attrName>style.visibility</p:attrName>
                                  </p:attrNameLst>
                                </p:cBhvr>
                                <p:to>
                                  <p:strVal val="visible"/>
                                </p:to>
                              </p:set>
                              <p:animEffect transition="in" filter="fade">
                                <p:cBhvr>
                                  <p:cTn id="36" dur="500"/>
                                  <p:tgtEl>
                                    <p:spTgt spid="26"/>
                                  </p:tgtEl>
                                </p:cBhvr>
                              </p:animEffect>
                            </p:childTnLst>
                          </p:cTn>
                        </p:par>
                        <p:par>
                          <p:cTn id="37" presetID="10" presetClass="entr" presetSubtype="0" fill="hold" nodeType="withEffect">
                            <p:stCondLst>
                              <p:cond delay="2500"/>
                            </p:stCondLst>
                            <p:childTnLst>
                              <p:set>
                                <p:cBhvr>
                                  <p:cTn id="38" dur="1" fill="hold"/>
                                  <p:tgtEl>
                                    <p:spTgt spid="27"/>
                                  </p:tgtEl>
                                  <p:attrNameLst>
                                    <p:attrName>style.visibility</p:attrName>
                                  </p:attrNameLst>
                                </p:cBhvr>
                                <p:to>
                                  <p:strVal val="visible"/>
                                </p:to>
                              </p:set>
                              <p:animEffect transition="in" filter="fade">
                                <p:cBhvr>
                                  <p:cTn id="39" dur="500"/>
                                  <p:tgtEl>
                                    <p:spTgt spid="27"/>
                                  </p:tgtEl>
                                </p:cBhvr>
                              </p:animEffect>
                            </p:childTnLst>
                          </p:cTn>
                        </p:par>
                        <p:par>
                          <p:cTn id="40" presetID="10" presetClass="entr" presetSubtype="0" fill="hold" nodeType="withEffect">
                            <p:stCondLst>
                              <p:cond delay="2500"/>
                            </p:stCondLst>
                            <p:childTnLst>
                              <p:set>
                                <p:cBhvr>
                                  <p:cTn id="41" dur="1" fill="hold"/>
                                  <p:tgtEl>
                                    <p:spTgt spid="28"/>
                                  </p:tgtEl>
                                  <p:attrNameLst>
                                    <p:attrName>style.visibility</p:attrName>
                                  </p:attrNameLst>
                                </p:cBhvr>
                                <p:to>
                                  <p:strVal val="visible"/>
                                </p:to>
                              </p:set>
                              <p:animEffect transition="in" filter="fade">
                                <p:cBhvr>
                                  <p:cTn id="42" dur="500"/>
                                  <p:tgtEl>
                                    <p:spTgt spid="28"/>
                                  </p:tgtEl>
                                </p:cBhvr>
                              </p:animEffect>
                            </p:childTnLst>
                          </p:cTn>
                        </p:par>
                        <p:par>
                          <p:cTn id="43" presetID="10" presetClass="entr" presetSubtype="0" fill="hold" nodeType="withEffect">
                            <p:stCondLst>
                              <p:cond delay="2500"/>
                            </p:stCondLst>
                            <p:childTnLst>
                              <p:set>
                                <p:cBhvr>
                                  <p:cTn id="44" dur="1" fill="hold"/>
                                  <p:tgtEl>
                                    <p:spTgt spid="29"/>
                                  </p:tgtEl>
                                  <p:attrNameLst>
                                    <p:attrName>style.visibility</p:attrName>
                                  </p:attrNameLst>
                                </p:cBhvr>
                                <p:to>
                                  <p:strVal val="visible"/>
                                </p:to>
                              </p:set>
                              <p:animEffect transition="in" filter="fade">
                                <p:cBhvr>
                                  <p:cTn id="45" dur="500"/>
                                  <p:tgtEl>
                                    <p:spTgt spid="29"/>
                                  </p:tgtEl>
                                </p:cBhvr>
                              </p:animEffect>
                            </p:childTnLst>
                          </p:cTn>
                        </p:par>
                        <p:par>
                          <p:cTn id="46" presetID="10" presetClass="entr" presetSubtype="0" fill="hold" nodeType="withEffect">
                            <p:stCondLst>
                              <p:cond delay="2500"/>
                            </p:stCondLst>
                            <p:childTnLst>
                              <p:set>
                                <p:cBhvr>
                                  <p:cTn id="47" dur="1" fill="hold"/>
                                  <p:tgtEl>
                                    <p:spTgt spid="30"/>
                                  </p:tgtEl>
                                  <p:attrNameLst>
                                    <p:attrName>style.visibility</p:attrName>
                                  </p:attrNameLst>
                                </p:cBhvr>
                                <p:to>
                                  <p:strVal val="visible"/>
                                </p:to>
                              </p:set>
                              <p:animEffect transition="in" filter="fade">
                                <p:cBhvr>
                                  <p:cTn id="48" dur="500"/>
                                  <p:tgtEl>
                                    <p:spTgt spid="30"/>
                                  </p:tgtEl>
                                </p:cBhvr>
                              </p:animEffect>
                            </p:childTnLst>
                          </p:cTn>
                        </p:par>
                        <p:par>
                          <p:cTn id="49" presetID="10" presetClass="entr" presetSubtype="0" fill="hold" nodeType="withEffect">
                            <p:stCondLst>
                              <p:cond delay="2500"/>
                            </p:stCondLst>
                            <p:childTnLst>
                              <p:set>
                                <p:cBhvr>
                                  <p:cTn id="50" dur="1" fill="hold"/>
                                  <p:tgtEl>
                                    <p:spTgt spid="31"/>
                                  </p:tgtEl>
                                  <p:attrNameLst>
                                    <p:attrName>style.visibility</p:attrName>
                                  </p:attrNameLst>
                                </p:cBhvr>
                                <p:to>
                                  <p:strVal val="visible"/>
                                </p:to>
                              </p:set>
                              <p:animEffect transition="in" filter="fade">
                                <p:cBhvr>
                                  <p:cTn id="51" dur="500"/>
                                  <p:tgtEl>
                                    <p:spTgt spid="31"/>
                                  </p:tgtEl>
                                </p:cBhvr>
                              </p:animEffect>
                            </p:childTnLst>
                          </p:cTn>
                        </p:par>
                        <p:par>
                          <p:cTn id="52" presetID="10" presetClass="entr" presetSubtype="0" fill="hold" nodeType="withEffect">
                            <p:stCondLst>
                              <p:cond delay="2500"/>
                            </p:stCondLst>
                            <p:childTnLst>
                              <p:set>
                                <p:cBhvr>
                                  <p:cTn id="53" dur="1" fill="hold"/>
                                  <p:tgtEl>
                                    <p:spTgt spid="32"/>
                                  </p:tgtEl>
                                  <p:attrNameLst>
                                    <p:attrName>style.visibility</p:attrName>
                                  </p:attrNameLst>
                                </p:cBhvr>
                                <p:to>
                                  <p:strVal val="visible"/>
                                </p:to>
                              </p:set>
                              <p:animEffect transition="in" filter="fade">
                                <p:cBhvr>
                                  <p:cTn id="54" dur="500"/>
                                  <p:tgtEl>
                                    <p:spTgt spid="32"/>
                                  </p:tgtEl>
                                </p:cBhvr>
                              </p:animEffect>
                            </p:childTnLst>
                          </p:cTn>
                        </p:par>
                        <p:par>
                          <p:cTn id="55" presetID="10" presetClass="entr" presetSubtype="0" fill="hold" nodeType="withEffect">
                            <p:stCondLst>
                              <p:cond delay="2500"/>
                            </p:stCondLst>
                            <p:childTnLst>
                              <p:set>
                                <p:cBhvr>
                                  <p:cTn id="56" dur="1" fill="hold"/>
                                  <p:tgtEl>
                                    <p:spTgt spid="33"/>
                                  </p:tgtEl>
                                  <p:attrNameLst>
                                    <p:attrName>style.visibility</p:attrName>
                                  </p:attrNameLst>
                                </p:cBhvr>
                                <p:to>
                                  <p:strVal val="visible"/>
                                </p:to>
                              </p:set>
                              <p:animEffect transition="in" filter="fade">
                                <p:cBhvr>
                                  <p:cTn id="57" dur="500"/>
                                  <p:tgtEl>
                                    <p:spTgt spid="33"/>
                                  </p:tgtEl>
                                </p:cBhvr>
                              </p:animEffect>
                            </p:childTnLst>
                          </p:cTn>
                        </p:par>
                        <p:par>
                          <p:cTn id="58" presetID="10" presetClass="entr" presetSubtype="0" fill="hold" nodeType="withEffect">
                            <p:stCondLst>
                              <p:cond delay="2500"/>
                            </p:stCondLst>
                            <p:childTnLst>
                              <p:set>
                                <p:cBhvr>
                                  <p:cTn id="59" dur="1" fill="hold"/>
                                  <p:tgtEl>
                                    <p:spTgt spid="34"/>
                                  </p:tgtEl>
                                  <p:attrNameLst>
                                    <p:attrName>style.visibility</p:attrName>
                                  </p:attrNameLst>
                                </p:cBhvr>
                                <p:to>
                                  <p:strVal val="visible"/>
                                </p:to>
                              </p:set>
                              <p:animEffect transition="in" filter="fade">
                                <p:cBhvr>
                                  <p:cTn id="60" dur="500"/>
                                  <p:tgtEl>
                                    <p:spTgt spid="34"/>
                                  </p:tgtEl>
                                </p:cBhvr>
                              </p:animEffect>
                            </p:childTnLst>
                          </p:cTn>
                        </p:par>
                        <p:par>
                          <p:cTn id="61" presetID="10" presetClass="entr" presetSubtype="0" fill="hold" nodeType="withEffect">
                            <p:stCondLst>
                              <p:cond delay="2500"/>
                            </p:stCondLst>
                            <p:childTnLst>
                              <p:set>
                                <p:cBhvr>
                                  <p:cTn id="62" dur="1" fill="hold"/>
                                  <p:tgtEl>
                                    <p:spTgt spid="35"/>
                                  </p:tgtEl>
                                  <p:attrNameLst>
                                    <p:attrName>style.visibility</p:attrName>
                                  </p:attrNameLst>
                                </p:cBhvr>
                                <p:to>
                                  <p:strVal val="visible"/>
                                </p:to>
                              </p:set>
                              <p:animEffect transition="in" filter="fade">
                                <p:cBhvr>
                                  <p:cTn id="63" dur="500"/>
                                  <p:tgtEl>
                                    <p:spTgt spid="35"/>
                                  </p:tgtEl>
                                </p:cBhvr>
                              </p:animEffect>
                            </p:childTnLst>
                          </p:cTn>
                        </p:par>
                        <p:par>
                          <p:cTn id="64" presetID="10" presetClass="entr" presetSubtype="0" fill="hold" nodeType="withEffect">
                            <p:stCondLst>
                              <p:cond delay="2500"/>
                            </p:stCondLst>
                            <p:childTnLst>
                              <p:set>
                                <p:cBhvr>
                                  <p:cTn id="65" dur="1" fill="hold"/>
                                  <p:tgtEl>
                                    <p:spTgt spid="36"/>
                                  </p:tgtEl>
                                  <p:attrNameLst>
                                    <p:attrName>style.visibility</p:attrName>
                                  </p:attrNameLst>
                                </p:cBhvr>
                                <p:to>
                                  <p:strVal val="visible"/>
                                </p:to>
                              </p:set>
                              <p:animEffect transition="in" filter="fade">
                                <p:cBhvr>
                                  <p:cTn id="66" dur="500"/>
                                  <p:tgtEl>
                                    <p:spTgt spid="36"/>
                                  </p:tgtEl>
                                </p:cBhvr>
                              </p:animEffect>
                            </p:childTnLst>
                          </p:cTn>
                        </p:par>
                        <p:par>
                          <p:cTn id="67" presetID="10" presetClass="entr" presetSubtype="0" fill="hold" nodeType="withEffect">
                            <p:stCondLst>
                              <p:cond delay="2500"/>
                            </p:stCondLst>
                            <p:childTnLst>
                              <p:set>
                                <p:cBhvr>
                                  <p:cTn id="68" dur="1" fill="hold"/>
                                  <p:tgtEl>
                                    <p:spTgt spid="37"/>
                                  </p:tgtEl>
                                  <p:attrNameLst>
                                    <p:attrName>style.visibility</p:attrName>
                                  </p:attrNameLst>
                                </p:cBhvr>
                                <p:to>
                                  <p:strVal val="visible"/>
                                </p:to>
                              </p:set>
                              <p:animEffect transition="in" filter="fade">
                                <p:cBhvr>
                                  <p:cTn id="69" dur="500"/>
                                  <p:tgtEl>
                                    <p:spTgt spid="37"/>
                                  </p:tgtEl>
                                </p:cBhvr>
                              </p:animEffect>
                            </p:childTnLst>
                          </p:cTn>
                        </p:par>
                        <p:par>
                          <p:cTn id="70" presetID="10" presetClass="entr" presetSubtype="0" fill="hold" nodeType="withEffect">
                            <p:stCondLst>
                              <p:cond delay="2500"/>
                            </p:stCondLst>
                            <p:childTnLst>
                              <p:set>
                                <p:cBhvr>
                                  <p:cTn id="71" dur="1" fill="hold"/>
                                  <p:tgtEl>
                                    <p:spTgt spid="38"/>
                                  </p:tgtEl>
                                  <p:attrNameLst>
                                    <p:attrName>style.visibility</p:attrName>
                                  </p:attrNameLst>
                                </p:cBhvr>
                                <p:to>
                                  <p:strVal val="visible"/>
                                </p:to>
                              </p:set>
                              <p:animEffect transition="in" filter="fade">
                                <p:cBhvr>
                                  <p:cTn id="72" dur="500"/>
                                  <p:tgtEl>
                                    <p:spTgt spid="38"/>
                                  </p:tgtEl>
                                </p:cBhvr>
                              </p:animEffect>
                            </p:childTnLst>
                          </p:cTn>
                        </p:par>
                        <p:par>
                          <p:cTn id="73" presetID="10" presetClass="entr" presetSubtype="0" fill="hold" nodeType="withEffect">
                            <p:stCondLst>
                              <p:cond delay="3750"/>
                            </p:stCondLst>
                            <p:childTnLst>
                              <p:set>
                                <p:cBhvr>
                                  <p:cTn id="74" dur="1" fill="hold"/>
                                  <p:tgtEl>
                                    <p:spTgt spid="39"/>
                                  </p:tgtEl>
                                  <p:attrNameLst>
                                    <p:attrName>style.visibility</p:attrName>
                                  </p:attrNameLst>
                                </p:cBhvr>
                                <p:to>
                                  <p:strVal val="visible"/>
                                </p:to>
                              </p:set>
                              <p:animEffect transition="in" filter="fade">
                                <p:cBhvr>
                                  <p:cTn id="75" dur="500"/>
                                  <p:tgtEl>
                                    <p:spTgt spid="39"/>
                                  </p:tgtEl>
                                </p:cBhvr>
                              </p:animEffect>
                            </p:childTnLst>
                          </p:cTn>
                        </p:par>
                        <p:par>
                          <p:cTn id="76" presetID="10" presetClass="entr" presetSubtype="0" fill="hold" nodeType="withEffect">
                            <p:stCondLst>
                              <p:cond delay="3750"/>
                            </p:stCondLst>
                            <p:childTnLst>
                              <p:set>
                                <p:cBhvr>
                                  <p:cTn id="77" dur="1" fill="hold"/>
                                  <p:tgtEl>
                                    <p:spTgt spid="40"/>
                                  </p:tgtEl>
                                  <p:attrNameLst>
                                    <p:attrName>style.visibility</p:attrName>
                                  </p:attrNameLst>
                                </p:cBhvr>
                                <p:to>
                                  <p:strVal val="visible"/>
                                </p:to>
                              </p:set>
                              <p:animEffect transition="in" filter="fade">
                                <p:cBhvr>
                                  <p:cTn id="78" dur="500"/>
                                  <p:tgtEl>
                                    <p:spTgt spid="40"/>
                                  </p:tgtEl>
                                </p:cBhvr>
                              </p:animEffect>
                            </p:childTnLst>
                          </p:cTn>
                        </p:par>
                        <p:par>
                          <p:cTn id="79" presetID="10" presetClass="entr" presetSubtype="0" fill="hold" nodeType="withEffect">
                            <p:stCondLst>
                              <p:cond delay="3750"/>
                            </p:stCondLst>
                            <p:childTnLst>
                              <p:set>
                                <p:cBhvr>
                                  <p:cTn id="80" dur="1" fill="hold"/>
                                  <p:tgtEl>
                                    <p:spTgt spid="41"/>
                                  </p:tgtEl>
                                  <p:attrNameLst>
                                    <p:attrName>style.visibility</p:attrName>
                                  </p:attrNameLst>
                                </p:cBhvr>
                                <p:to>
                                  <p:strVal val="visible"/>
                                </p:to>
                              </p:set>
                              <p:animEffect transition="in" filter="fade">
                                <p:cBhvr>
                                  <p:cTn id="81" dur="500"/>
                                  <p:tgtEl>
                                    <p:spTgt spid="41"/>
                                  </p:tgtEl>
                                </p:cBhvr>
                              </p:animEffect>
                            </p:childTnLst>
                          </p:cTn>
                        </p:par>
                        <p:par>
                          <p:cTn id="82" presetID="10" presetClass="entr" presetSubtype="0" fill="hold" nodeType="withEffect">
                            <p:stCondLst>
                              <p:cond delay="3750"/>
                            </p:stCondLst>
                            <p:childTnLst>
                              <p:set>
                                <p:cBhvr>
                                  <p:cTn id="83" dur="1" fill="hold"/>
                                  <p:tgtEl>
                                    <p:spTgt spid="42"/>
                                  </p:tgtEl>
                                  <p:attrNameLst>
                                    <p:attrName>style.visibility</p:attrName>
                                  </p:attrNameLst>
                                </p:cBhvr>
                                <p:to>
                                  <p:strVal val="visible"/>
                                </p:to>
                              </p:set>
                              <p:animEffect transition="in" filter="fade">
                                <p:cBhvr>
                                  <p:cTn id="84" dur="500"/>
                                  <p:tgtEl>
                                    <p:spTgt spid="42"/>
                                  </p:tgtEl>
                                </p:cBhvr>
                              </p:animEffect>
                            </p:childTnLst>
                          </p:cTn>
                        </p:par>
                        <p:par>
                          <p:cTn id="85" presetID="10" presetClass="entr" presetSubtype="0" fill="hold" nodeType="withEffect">
                            <p:stCondLst>
                              <p:cond delay="5000"/>
                            </p:stCondLst>
                            <p:childTnLst>
                              <p:set>
                                <p:cBhvr>
                                  <p:cTn id="86" dur="1" fill="hold"/>
                                  <p:tgtEl>
                                    <p:spTgt spid="43"/>
                                  </p:tgtEl>
                                  <p:attrNameLst>
                                    <p:attrName>style.visibility</p:attrName>
                                  </p:attrNameLst>
                                </p:cBhvr>
                                <p:to>
                                  <p:strVal val="visible"/>
                                </p:to>
                              </p:set>
                              <p:animEffect transition="in" filter="fade">
                                <p:cBhvr>
                                  <p:cTn id="87" dur="500"/>
                                  <p:tgtEl>
                                    <p:spTgt spid="43"/>
                                  </p:tgtEl>
                                </p:cBhvr>
                              </p:animEffect>
                            </p:childTnLst>
                          </p:cTn>
                        </p:par>
                        <p:par>
                          <p:cTn id="88" presetID="10" presetClass="entr" presetSubtype="0" fill="hold" nodeType="withEffect">
                            <p:stCondLst>
                              <p:cond delay="5000"/>
                            </p:stCondLst>
                            <p:childTnLst>
                              <p:set>
                                <p:cBhvr>
                                  <p:cTn id="89" dur="1" fill="hold"/>
                                  <p:tgtEl>
                                    <p:spTgt spid="44"/>
                                  </p:tgtEl>
                                  <p:attrNameLst>
                                    <p:attrName>style.visibility</p:attrName>
                                  </p:attrNameLst>
                                </p:cBhvr>
                                <p:to>
                                  <p:strVal val="visible"/>
                                </p:to>
                              </p:set>
                              <p:animEffect transition="in" filter="fade">
                                <p:cBhvr>
                                  <p:cTn id="90" dur="500"/>
                                  <p:tgtEl>
                                    <p:spTgt spid="44"/>
                                  </p:tgtEl>
                                </p:cBhvr>
                              </p:animEffect>
                            </p:childTnLst>
                          </p:cTn>
                        </p:par>
                        <p:par>
                          <p:cTn id="91" presetID="10" presetClass="entr" presetSubtype="0" fill="hold" nodeType="withEffect">
                            <p:stCondLst>
                              <p:cond delay="5000"/>
                            </p:stCondLst>
                            <p:childTnLst>
                              <p:set>
                                <p:cBhvr>
                                  <p:cTn id="92" dur="1" fill="hold"/>
                                  <p:tgtEl>
                                    <p:spTgt spid="45"/>
                                  </p:tgtEl>
                                  <p:attrNameLst>
                                    <p:attrName>style.visibility</p:attrName>
                                  </p:attrNameLst>
                                </p:cBhvr>
                                <p:to>
                                  <p:strVal val="visible"/>
                                </p:to>
                              </p:set>
                              <p:animEffect transition="in" filter="fade">
                                <p:cBhvr>
                                  <p:cTn id="93" dur="500"/>
                                  <p:tgtEl>
                                    <p:spTgt spid="45"/>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210925" y="292100"/>
            <a:ext cx="409575" cy="273050"/>
          </a:xfrm>
          <a:prstGeom prst="rect">
            <a:avLst/>
          </a:prstGeom>
          <a:effectLst/>
        </p:spPr>
      </p:pic>
      <p:sp>
        <p:nvSpPr>
          <p:cNvPr id="3" name="TextBox 2"/>
          <p:cNvSpPr txBox="1"/>
          <p:nvPr/>
        </p:nvSpPr>
        <p:spPr>
          <a:xfrm>
            <a:off x="9629775" y="323850"/>
            <a:ext cx="1466850" cy="257175"/>
          </a:xfrm>
          <a:prstGeom prst="rect">
            <a:avLst/>
          </a:prstGeom>
          <a:noFill/>
          <a:effectLst/>
        </p:spPr>
        <p:txBody>
          <a:bodyPr wrap="square" lIns="0" rIns="0" tIns="0" bIns="0" anchor="t">
            <a:spAutoFit/>
          </a:bodyPr>
          <a:lstStyle/>
          <a:p>
            <a:pPr algn="r" rtl="0">
              <a:lnSpc>
                <a:spcPts val="1428"/>
              </a:lnSpc>
              <a:spcBef>
                <a:spcPts val="0"/>
              </a:spcBef>
              <a:spcAft>
                <a:spcPts val="0"/>
              </a:spcAft>
            </a:pPr>
            <a:r>
              <a:rPr sz="1275" b="1" lang="ar-EG">
                <a:solidFill>
                  <a:srgbClr val="29302D"/>
                </a:solidFill>
                <a:latin typeface="Manrope"/>
                <a:cs typeface="IBM Plex Sans Arabic Medium"/>
              </a:rPr>
              <a:t>GRINDCTRL</a:t>
            </a:r>
          </a:p>
        </p:txBody>
      </p:sp>
      <p:sp>
        <p:nvSpPr>
          <p:cNvPr id="4" name="TextBox 3"/>
          <p:cNvSpPr txBox="1"/>
          <p:nvPr/>
        </p:nvSpPr>
        <p:spPr>
          <a:xfrm>
            <a:off x="571500" y="333375"/>
            <a:ext cx="4171950" cy="247650"/>
          </a:xfrm>
          <a:prstGeom prst="rect">
            <a:avLst/>
          </a:prstGeom>
          <a:noFill/>
          <a:effectLst/>
        </p:spPr>
        <p:txBody>
          <a:bodyPr wrap="square" lIns="0" rIns="0" tIns="0" bIns="0" anchor="t">
            <a:spAutoFit/>
          </a:bodyPr>
          <a:lstStyle/>
          <a:p>
            <a:pPr algn="l" rtl="1">
              <a:lnSpc>
                <a:spcPts val="1176"/>
              </a:lnSpc>
              <a:spcBef>
                <a:spcPts val="0"/>
              </a:spcBef>
              <a:spcAft>
                <a:spcPts val="0"/>
              </a:spcAft>
            </a:pPr>
            <a:r>
              <a:rPr sz="1050" b="0" lang="ar-EG">
                <a:solidFill>
                  <a:srgbClr val="68716B"/>
                </a:solidFill>
                <a:latin typeface="Manrope"/>
                <a:cs typeface="IBM Plex Sans Arabic Medium"/>
              </a:rPr>
              <a:t>٠٥ · قبل وبعد</a:t>
            </a:r>
          </a:p>
        </p:txBody>
      </p:sp>
      <p:sp>
        <p:nvSpPr>
          <p:cNvPr id="5" name="TextBox 4"/>
          <p:cNvSpPr txBox="1"/>
          <p:nvPr/>
        </p:nvSpPr>
        <p:spPr>
          <a:xfrm>
            <a:off x="571500" y="895350"/>
            <a:ext cx="11049000" cy="609600"/>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9302D"/>
                </a:solidFill>
                <a:latin typeface="Manrope"/>
                <a:cs typeface="IBM Plex Sans Arabic Medium"/>
              </a:rPr>
              <a:t>نفس المعلومات. بداية أفضل للمكالمة.</a:t>
            </a:r>
          </a:p>
        </p:txBody>
      </p:sp>
      <p:sp>
        <p:nvSpPr>
          <p:cNvPr id="6" name="TextBox 5"/>
          <p:cNvSpPr txBox="1"/>
          <p:nvPr/>
        </p:nvSpPr>
        <p:spPr>
          <a:xfrm>
            <a:off x="571500" y="1581150"/>
            <a:ext cx="11049000" cy="3619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68716B"/>
                </a:solidFill>
                <a:latin typeface="Manrope"/>
                <a:cs typeface="IBM Plex Sans Arabic Medium"/>
              </a:rPr>
              <a:t>خطوات بحث يدوية أقل قبل الرد بمعلومات واضحة.</a:t>
            </a:r>
          </a:p>
        </p:txBody>
      </p:sp>
      <p:cxnSp>
        <p:nvCxnSpPr>
          <p:cNvPr id="7" name="Connector 6"/>
          <p:cNvCxnSpPr/>
          <p:nvPr/>
        </p:nvCxnSpPr>
        <p:spPr>
          <a:xfrm flipH="1">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2095500" y="6534150"/>
            <a:ext cx="9525000" cy="219075"/>
          </a:xfrm>
          <a:prstGeom prst="rect">
            <a:avLst/>
          </a:prstGeom>
          <a:noFill/>
          <a:effectLst/>
        </p:spPr>
        <p:txBody>
          <a:bodyPr wrap="square" lIns="0" rIns="0" tIns="0" bIns="0" anchor="t">
            <a:spAutoFit/>
          </a:bodyPr>
          <a:lstStyle/>
          <a:p>
            <a:pPr algn="r" rtl="1">
              <a:lnSpc>
                <a:spcPts val="1008"/>
              </a:lnSpc>
              <a:spcBef>
                <a:spcPts val="0"/>
              </a:spcBef>
              <a:spcAft>
                <a:spcPts val="0"/>
              </a:spcAft>
            </a:pPr>
            <a:r>
              <a:rPr sz="900" b="0" lang="ar-EG">
                <a:solidFill>
                  <a:srgbClr val="68716B"/>
                </a:solidFill>
                <a:latin typeface="Manrope"/>
                <a:cs typeface="IBM Plex Sans Arabic Medium"/>
              </a:rPr>
              <a:t>كونكريت · تعاون مقترح</a:t>
            </a:r>
          </a:p>
        </p:txBody>
      </p:sp>
      <p:sp>
        <p:nvSpPr>
          <p:cNvPr id="9" name="TextBox 8"/>
          <p:cNvSpPr txBox="1"/>
          <p:nvPr/>
        </p:nvSpPr>
        <p:spPr>
          <a:xfrm>
            <a:off x="571500" y="6515100"/>
            <a:ext cx="83820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716B"/>
                </a:solidFill>
                <a:latin typeface="Manrope"/>
                <a:cs typeface="IBM Plex Sans Arabic Medium"/>
              </a:rPr>
              <a:t>06 / 09</a:t>
            </a:r>
          </a:p>
        </p:txBody>
      </p:sp>
      <p:sp>
        <p:nvSpPr>
          <p:cNvPr id="10" name="Rounded Rectangle 9"/>
          <p:cNvSpPr/>
          <p:nvPr/>
        </p:nvSpPr>
        <p:spPr>
          <a:xfrm>
            <a:off x="561975" y="2324100"/>
            <a:ext cx="11049000" cy="3457575"/>
          </a:xfrm>
          <a:prstGeom prst="roundRect">
            <a:avLst>
              <a:gd name="adj" fmla="val 4407"/>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571500" y="2276475"/>
            <a:ext cx="11049000" cy="3457575"/>
          </a:xfrm>
          <a:prstGeom prst="roundRect">
            <a:avLst>
              <a:gd name="adj" fmla="val 4407"/>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096000" y="2514600"/>
            <a:ext cx="0" cy="2981325"/>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515100" y="2524125"/>
            <a:ext cx="4800600" cy="333375"/>
          </a:xfrm>
          <a:prstGeom prst="rect">
            <a:avLst/>
          </a:prstGeom>
          <a:noFill/>
          <a:effectLst/>
        </p:spPr>
        <p:txBody>
          <a:bodyPr wrap="square" lIns="0" rIns="0" tIns="0" bIns="0" anchor="t">
            <a:spAutoFit/>
          </a:bodyPr>
          <a:lstStyle/>
          <a:p>
            <a:pPr algn="r" rtl="1">
              <a:lnSpc>
                <a:spcPts val="2100"/>
              </a:lnSpc>
              <a:spcBef>
                <a:spcPts val="0"/>
              </a:spcBef>
              <a:spcAft>
                <a:spcPts val="0"/>
              </a:spcAft>
            </a:pPr>
            <a:r>
              <a:rPr sz="1875" b="1" lang="ar-EG">
                <a:solidFill>
                  <a:srgbClr val="29302D"/>
                </a:solidFill>
                <a:latin typeface="Manrope"/>
                <a:cs typeface="IBM Plex Sans Arabic Medium"/>
              </a:rPr>
              <a:t>قبل</a:t>
            </a:r>
          </a:p>
        </p:txBody>
      </p:sp>
      <p:sp>
        <p:nvSpPr>
          <p:cNvPr id="14" name="TextBox 13"/>
          <p:cNvSpPr txBox="1"/>
          <p:nvPr/>
        </p:nvSpPr>
        <p:spPr>
          <a:xfrm>
            <a:off x="942975" y="2524125"/>
            <a:ext cx="4800600" cy="333375"/>
          </a:xfrm>
          <a:prstGeom prst="rect">
            <a:avLst/>
          </a:prstGeom>
          <a:noFill/>
          <a:effectLst/>
        </p:spPr>
        <p:txBody>
          <a:bodyPr wrap="square" lIns="0" rIns="0" tIns="0" bIns="0" anchor="t">
            <a:spAutoFit/>
          </a:bodyPr>
          <a:lstStyle/>
          <a:p>
            <a:pPr algn="r" rtl="1">
              <a:lnSpc>
                <a:spcPts val="2100"/>
              </a:lnSpc>
              <a:spcBef>
                <a:spcPts val="0"/>
              </a:spcBef>
              <a:spcAft>
                <a:spcPts val="0"/>
              </a:spcAft>
            </a:pPr>
            <a:r>
              <a:rPr sz="1875" b="1" lang="ar-EG">
                <a:solidFill>
                  <a:srgbClr val="54745C"/>
                </a:solidFill>
                <a:latin typeface="Manrope"/>
                <a:cs typeface="IBM Plex Sans Arabic Medium"/>
              </a:rPr>
              <a:t>بعد الربط المقترح</a:t>
            </a:r>
          </a:p>
        </p:txBody>
      </p:sp>
      <p:sp>
        <p:nvSpPr>
          <p:cNvPr id="15" name="Oval 14"/>
          <p:cNvSpPr/>
          <p:nvPr/>
        </p:nvSpPr>
        <p:spPr>
          <a:xfrm>
            <a:off x="10953750" y="3076575"/>
            <a:ext cx="361950" cy="36195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con-call.png"/>
          <p:cNvPicPr>
            <a:picLocks noChangeAspect="1"/>
          </p:cNvPicPr>
          <p:nvPr/>
        </p:nvPicPr>
        <p:blipFill>
          <a:blip r:embed="rId3"/>
          <a:stretch>
            <a:fillRect/>
          </a:stretch>
        </p:blipFill>
        <p:spPr>
          <a:xfrm>
            <a:off x="11049000" y="3171825"/>
            <a:ext cx="171450" cy="171450"/>
          </a:xfrm>
          <a:prstGeom prst="rect">
            <a:avLst/>
          </a:prstGeom>
          <a:effectLst/>
        </p:spPr>
      </p:pic>
      <p:cxnSp>
        <p:nvCxnSpPr>
          <p:cNvPr id="17" name="Connector 16"/>
          <p:cNvCxnSpPr/>
          <p:nvPr/>
        </p:nvCxnSpPr>
        <p:spPr>
          <a:xfrm>
            <a:off x="11134725" y="3467100"/>
            <a:ext cx="0" cy="15240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6505575" y="3105150"/>
            <a:ext cx="4257675" cy="35242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0" lang="ar-EG">
                <a:solidFill>
                  <a:srgbClr val="29302D"/>
                </a:solidFill>
                <a:latin typeface="Manrope"/>
                <a:cs typeface="IBM Plex Sans Arabic Medium"/>
              </a:rPr>
              <a:t>استقبال المكالمة</a:t>
            </a:r>
          </a:p>
        </p:txBody>
      </p:sp>
      <p:sp>
        <p:nvSpPr>
          <p:cNvPr id="19" name="Oval 18"/>
          <p:cNvSpPr/>
          <p:nvPr/>
        </p:nvSpPr>
        <p:spPr>
          <a:xfrm>
            <a:off x="10953750" y="3686175"/>
            <a:ext cx="361950" cy="36195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icon-search.png"/>
          <p:cNvPicPr>
            <a:picLocks noChangeAspect="1"/>
          </p:cNvPicPr>
          <p:nvPr/>
        </p:nvPicPr>
        <p:blipFill>
          <a:blip r:embed="rId4"/>
          <a:stretch>
            <a:fillRect/>
          </a:stretch>
        </p:blipFill>
        <p:spPr>
          <a:xfrm>
            <a:off x="11049000" y="3781425"/>
            <a:ext cx="171450" cy="171450"/>
          </a:xfrm>
          <a:prstGeom prst="rect">
            <a:avLst/>
          </a:prstGeom>
          <a:effectLst/>
        </p:spPr>
      </p:pic>
      <p:cxnSp>
        <p:nvCxnSpPr>
          <p:cNvPr id="21" name="Connector 20"/>
          <p:cNvCxnSpPr/>
          <p:nvPr/>
        </p:nvCxnSpPr>
        <p:spPr>
          <a:xfrm>
            <a:off x="11134725" y="4076700"/>
            <a:ext cx="0" cy="15240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6505575" y="3714750"/>
            <a:ext cx="4257675" cy="35242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0" lang="ar-EG">
                <a:solidFill>
                  <a:srgbClr val="29302D"/>
                </a:solidFill>
                <a:latin typeface="Manrope"/>
                <a:cs typeface="IBM Plex Sans Arabic Medium"/>
              </a:rPr>
              <a:t>البحث يدويًا</a:t>
            </a:r>
          </a:p>
        </p:txBody>
      </p:sp>
      <p:sp>
        <p:nvSpPr>
          <p:cNvPr id="23" name="Oval 22"/>
          <p:cNvSpPr/>
          <p:nvPr/>
        </p:nvSpPr>
        <p:spPr>
          <a:xfrm>
            <a:off x="10953750" y="4295775"/>
            <a:ext cx="361950" cy="36195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4" name="Picture 23" descr="icon-case.png"/>
          <p:cNvPicPr>
            <a:picLocks noChangeAspect="1"/>
          </p:cNvPicPr>
          <p:nvPr/>
        </p:nvPicPr>
        <p:blipFill>
          <a:blip r:embed="rId5"/>
          <a:stretch>
            <a:fillRect/>
          </a:stretch>
        </p:blipFill>
        <p:spPr>
          <a:xfrm>
            <a:off x="11049000" y="4391025"/>
            <a:ext cx="171450" cy="171450"/>
          </a:xfrm>
          <a:prstGeom prst="rect">
            <a:avLst/>
          </a:prstGeom>
          <a:effectLst/>
        </p:spPr>
      </p:pic>
      <p:cxnSp>
        <p:nvCxnSpPr>
          <p:cNvPr id="25" name="Connector 24"/>
          <p:cNvCxnSpPr/>
          <p:nvPr/>
        </p:nvCxnSpPr>
        <p:spPr>
          <a:xfrm>
            <a:off x="11134725" y="4686300"/>
            <a:ext cx="0" cy="15240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6505575" y="4324350"/>
            <a:ext cx="4257675" cy="35242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0" lang="ar-EG">
                <a:solidFill>
                  <a:srgbClr val="29302D"/>
                </a:solidFill>
                <a:latin typeface="Manrope"/>
                <a:cs typeface="IBM Plex Sans Arabic Medium"/>
              </a:rPr>
              <a:t>الوصول للتذكرة المناسبة</a:t>
            </a:r>
          </a:p>
        </p:txBody>
      </p:sp>
      <p:sp>
        <p:nvSpPr>
          <p:cNvPr id="27" name="Oval 26"/>
          <p:cNvSpPr/>
          <p:nvPr/>
        </p:nvSpPr>
        <p:spPr>
          <a:xfrm>
            <a:off x="10953750" y="4905375"/>
            <a:ext cx="361950" cy="36195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icon-file.png"/>
          <p:cNvPicPr>
            <a:picLocks noChangeAspect="1"/>
          </p:cNvPicPr>
          <p:nvPr/>
        </p:nvPicPr>
        <p:blipFill>
          <a:blip r:embed="rId6"/>
          <a:stretch>
            <a:fillRect/>
          </a:stretch>
        </p:blipFill>
        <p:spPr>
          <a:xfrm>
            <a:off x="11049000" y="5000625"/>
            <a:ext cx="171450" cy="171450"/>
          </a:xfrm>
          <a:prstGeom prst="rect">
            <a:avLst/>
          </a:prstGeom>
          <a:effectLst/>
        </p:spPr>
      </p:pic>
      <p:sp>
        <p:nvSpPr>
          <p:cNvPr id="29" name="TextBox 28"/>
          <p:cNvSpPr txBox="1"/>
          <p:nvPr/>
        </p:nvSpPr>
        <p:spPr>
          <a:xfrm>
            <a:off x="6505575" y="4933950"/>
            <a:ext cx="4257675" cy="35242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0" lang="ar-EG">
                <a:solidFill>
                  <a:srgbClr val="29302D"/>
                </a:solidFill>
                <a:latin typeface="Manrope"/>
                <a:cs typeface="IBM Plex Sans Arabic Medium"/>
              </a:rPr>
              <a:t>قراءة آخر تحديث</a:t>
            </a:r>
          </a:p>
        </p:txBody>
      </p:sp>
      <p:sp>
        <p:nvSpPr>
          <p:cNvPr id="30" name="Oval 29"/>
          <p:cNvSpPr/>
          <p:nvPr/>
        </p:nvSpPr>
        <p:spPr>
          <a:xfrm>
            <a:off x="5381625" y="3076575"/>
            <a:ext cx="361950" cy="36195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icon-call.png"/>
          <p:cNvPicPr>
            <a:picLocks noChangeAspect="1"/>
          </p:cNvPicPr>
          <p:nvPr/>
        </p:nvPicPr>
        <p:blipFill>
          <a:blip r:embed="rId3"/>
          <a:stretch>
            <a:fillRect/>
          </a:stretch>
        </p:blipFill>
        <p:spPr>
          <a:xfrm>
            <a:off x="5476875" y="3171825"/>
            <a:ext cx="171450" cy="171450"/>
          </a:xfrm>
          <a:prstGeom prst="rect">
            <a:avLst/>
          </a:prstGeom>
          <a:effectLst/>
        </p:spPr>
      </p:pic>
      <p:cxnSp>
        <p:nvCxnSpPr>
          <p:cNvPr id="32" name="Connector 31"/>
          <p:cNvCxnSpPr/>
          <p:nvPr/>
        </p:nvCxnSpPr>
        <p:spPr>
          <a:xfrm>
            <a:off x="5562600" y="3467100"/>
            <a:ext cx="0" cy="15240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933450" y="3105150"/>
            <a:ext cx="4257675" cy="35242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0" lang="ar-EG">
                <a:solidFill>
                  <a:srgbClr val="29302D"/>
                </a:solidFill>
                <a:latin typeface="Manrope"/>
                <a:cs typeface="IBM Plex Sans Arabic Medium"/>
              </a:rPr>
              <a:t>استقبال المكالمة</a:t>
            </a:r>
          </a:p>
        </p:txBody>
      </p:sp>
      <p:sp>
        <p:nvSpPr>
          <p:cNvPr id="34" name="Oval 33"/>
          <p:cNvSpPr/>
          <p:nvPr/>
        </p:nvSpPr>
        <p:spPr>
          <a:xfrm>
            <a:off x="5381625" y="3686175"/>
            <a:ext cx="361950" cy="36195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5" name="Picture 34" descr="icon-case.png"/>
          <p:cNvPicPr>
            <a:picLocks noChangeAspect="1"/>
          </p:cNvPicPr>
          <p:nvPr/>
        </p:nvPicPr>
        <p:blipFill>
          <a:blip r:embed="rId5"/>
          <a:stretch>
            <a:fillRect/>
          </a:stretch>
        </p:blipFill>
        <p:spPr>
          <a:xfrm>
            <a:off x="5476875" y="3781425"/>
            <a:ext cx="171450" cy="171450"/>
          </a:xfrm>
          <a:prstGeom prst="rect">
            <a:avLst/>
          </a:prstGeom>
          <a:effectLst/>
        </p:spPr>
      </p:pic>
      <p:cxnSp>
        <p:nvCxnSpPr>
          <p:cNvPr id="36" name="Connector 35"/>
          <p:cNvCxnSpPr/>
          <p:nvPr/>
        </p:nvCxnSpPr>
        <p:spPr>
          <a:xfrm>
            <a:off x="5562600" y="4076700"/>
            <a:ext cx="0" cy="15240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933450" y="3714750"/>
            <a:ext cx="4257675" cy="35242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9302D"/>
                </a:solidFill>
                <a:latin typeface="Manrope"/>
                <a:cs typeface="IBM Plex Sans Arabic Medium"/>
              </a:rPr>
              <a:t>ظهور معلومات العميل</a:t>
            </a:r>
          </a:p>
        </p:txBody>
      </p:sp>
      <p:sp>
        <p:nvSpPr>
          <p:cNvPr id="38" name="Oval 37"/>
          <p:cNvSpPr/>
          <p:nvPr/>
        </p:nvSpPr>
        <p:spPr>
          <a:xfrm>
            <a:off x="5381625" y="4295775"/>
            <a:ext cx="361950" cy="36195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9" name="Picture 38" descr="icon-file.png"/>
          <p:cNvPicPr>
            <a:picLocks noChangeAspect="1"/>
          </p:cNvPicPr>
          <p:nvPr/>
        </p:nvPicPr>
        <p:blipFill>
          <a:blip r:embed="rId6"/>
          <a:stretch>
            <a:fillRect/>
          </a:stretch>
        </p:blipFill>
        <p:spPr>
          <a:xfrm>
            <a:off x="5476875" y="4391025"/>
            <a:ext cx="171450" cy="171450"/>
          </a:xfrm>
          <a:prstGeom prst="rect">
            <a:avLst/>
          </a:prstGeom>
          <a:effectLst/>
        </p:spPr>
      </p:pic>
      <p:cxnSp>
        <p:nvCxnSpPr>
          <p:cNvPr id="40" name="Connector 39"/>
          <p:cNvCxnSpPr/>
          <p:nvPr/>
        </p:nvCxnSpPr>
        <p:spPr>
          <a:xfrm>
            <a:off x="5562600" y="4686300"/>
            <a:ext cx="0" cy="15240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933450" y="4324350"/>
            <a:ext cx="4257675" cy="35242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0" lang="ar-EG">
                <a:solidFill>
                  <a:srgbClr val="29302D"/>
                </a:solidFill>
                <a:latin typeface="Manrope"/>
                <a:cs typeface="IBM Plex Sans Arabic Medium"/>
              </a:rPr>
              <a:t>قراءة آخر تحديث</a:t>
            </a:r>
          </a:p>
        </p:txBody>
      </p:sp>
      <p:sp>
        <p:nvSpPr>
          <p:cNvPr id="42" name="Oval 41"/>
          <p:cNvSpPr/>
          <p:nvPr/>
        </p:nvSpPr>
        <p:spPr>
          <a:xfrm>
            <a:off x="5381625" y="4905375"/>
            <a:ext cx="361950" cy="36195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3" name="Picture 42" descr="icon-actor.png"/>
          <p:cNvPicPr>
            <a:picLocks noChangeAspect="1"/>
          </p:cNvPicPr>
          <p:nvPr/>
        </p:nvPicPr>
        <p:blipFill>
          <a:blip r:embed="rId7"/>
          <a:stretch>
            <a:fillRect/>
          </a:stretch>
        </p:blipFill>
        <p:spPr>
          <a:xfrm>
            <a:off x="5476875" y="5000625"/>
            <a:ext cx="171450" cy="171450"/>
          </a:xfrm>
          <a:prstGeom prst="rect">
            <a:avLst/>
          </a:prstGeom>
          <a:effectLst/>
        </p:spPr>
      </p:pic>
      <p:sp>
        <p:nvSpPr>
          <p:cNvPr id="44" name="TextBox 43"/>
          <p:cNvSpPr txBox="1"/>
          <p:nvPr/>
        </p:nvSpPr>
        <p:spPr>
          <a:xfrm>
            <a:off x="933450" y="4933950"/>
            <a:ext cx="4257675" cy="35242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0" lang="ar-EG">
                <a:solidFill>
                  <a:srgbClr val="29302D"/>
                </a:solidFill>
                <a:latin typeface="Manrope"/>
                <a:cs typeface="IBM Plex Sans Arabic Medium"/>
              </a:rPr>
              <a:t>استكمال الحديث بمعلومات أوضح</a:t>
            </a:r>
          </a:p>
        </p:txBody>
      </p:sp>
      <p:sp>
        <p:nvSpPr>
          <p:cNvPr id="45" name="TextBox 44"/>
          <p:cNvSpPr txBox="1"/>
          <p:nvPr/>
        </p:nvSpPr>
        <p:spPr>
          <a:xfrm>
            <a:off x="571500" y="5953125"/>
            <a:ext cx="11049000" cy="314325"/>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54745C"/>
                </a:solidFill>
                <a:latin typeface="Manrope"/>
                <a:cs typeface="IBM Plex Sans Arabic Medium"/>
              </a:rPr>
              <a:t>وقت أقل من المكالمة يروح في البحث عن المعلومات.</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5"/>
                                  </p:tgtEl>
                                  <p:attrNameLst>
                                    <p:attrName>style.visibility</p:attrName>
                                  </p:attrNameLst>
                                </p:cBhvr>
                                <p:to>
                                  <p:strVal val="visible"/>
                                </p:to>
                              </p:set>
                              <p:animEffect transition="in" filter="fade">
                                <p:cBhvr>
                                  <p:cTn id="6" dur="500"/>
                                  <p:tgtEl>
                                    <p:spTgt spid="15"/>
                                  </p:tgtEl>
                                </p:cBhvr>
                              </p:animEffect>
                            </p:childTnLst>
                          </p:cTn>
                        </p:par>
                        <p:par>
                          <p:cTn id="7" presetID="10" presetClass="entr" presetSubtype="0" fill="hold" nodeType="withEffect">
                            <p:stCondLst>
                              <p:cond delay="0"/>
                            </p:stCondLst>
                            <p:childTnLst>
                              <p:set>
                                <p:cBhvr>
                                  <p:cTn id="8" dur="1" fill="hold"/>
                                  <p:tgtEl>
                                    <p:spTgt spid="16"/>
                                  </p:tgtEl>
                                  <p:attrNameLst>
                                    <p:attrName>style.visibility</p:attrName>
                                  </p:attrNameLst>
                                </p:cBhvr>
                                <p:to>
                                  <p:strVal val="visible"/>
                                </p:to>
                              </p:set>
                              <p:animEffect transition="in" filter="fade">
                                <p:cBhvr>
                                  <p:cTn id="9" dur="500"/>
                                  <p:tgtEl>
                                    <p:spTgt spid="16"/>
                                  </p:tgtEl>
                                </p:cBhvr>
                              </p:animEffect>
                            </p:childTnLst>
                          </p:cTn>
                        </p:par>
                        <p:par>
                          <p:cTn id="10" presetID="10" presetClass="entr" presetSubtype="0" fill="hold" nodeType="withEffect">
                            <p:stCondLst>
                              <p:cond delay="1250"/>
                            </p:stCondLst>
                            <p:childTnLst>
                              <p:set>
                                <p:cBhvr>
                                  <p:cTn id="11" dur="1" fill="hold"/>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nodeType="withEffect">
                            <p:stCondLst>
                              <p:cond delay="0"/>
                            </p:stCondLst>
                            <p:childTnLst>
                              <p:set>
                                <p:cBhvr>
                                  <p:cTn id="14" dur="1" fill="hold"/>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nodeType="withEffect">
                            <p:stCondLst>
                              <p:cond delay="1250"/>
                            </p:stCondLst>
                            <p:childTnLst>
                              <p:set>
                                <p:cBhvr>
                                  <p:cTn id="17" dur="1" fill="hold"/>
                                  <p:tgtEl>
                                    <p:spTgt spid="19"/>
                                  </p:tgtEl>
                                  <p:attrNameLst>
                                    <p:attrName>style.visibility</p:attrName>
                                  </p:attrNameLst>
                                </p:cBhvr>
                                <p:to>
                                  <p:strVal val="visible"/>
                                </p:to>
                              </p:set>
                              <p:animEffect transition="in" filter="fade">
                                <p:cBhvr>
                                  <p:cTn id="18" dur="500"/>
                                  <p:tgtEl>
                                    <p:spTgt spid="19"/>
                                  </p:tgtEl>
                                </p:cBhvr>
                              </p:animEffect>
                            </p:childTnLst>
                          </p:cTn>
                        </p:par>
                        <p:par>
                          <p:cTn id="19" presetID="10" presetClass="entr" presetSubtype="0" fill="hold" nodeType="withEffect">
                            <p:stCondLst>
                              <p:cond delay="1250"/>
                            </p:stCondLst>
                            <p:childTnLst>
                              <p:set>
                                <p:cBhvr>
                                  <p:cTn id="20" dur="1" fill="hold"/>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10" presetClass="entr" presetSubtype="0" fill="hold" nodeType="withEffect">
                            <p:stCondLst>
                              <p:cond delay="2500"/>
                            </p:stCondLst>
                            <p:childTnLst>
                              <p:set>
                                <p:cBhvr>
                                  <p:cTn id="23" dur="1" fill="hold"/>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10" presetClass="entr" presetSubtype="0" fill="hold" nodeType="withEffect">
                            <p:stCondLst>
                              <p:cond delay="1250"/>
                            </p:stCondLst>
                            <p:childTnLst>
                              <p:set>
                                <p:cBhvr>
                                  <p:cTn id="26" dur="1" fill="hold"/>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nodeType="withEffect">
                            <p:stCondLst>
                              <p:cond delay="2500"/>
                            </p:stCondLst>
                            <p:childTnLst>
                              <p:set>
                                <p:cBhvr>
                                  <p:cTn id="29" dur="1" fill="hold"/>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nodeType="withEffect">
                            <p:stCondLst>
                              <p:cond delay="2500"/>
                            </p:stCondLst>
                            <p:childTnLst>
                              <p:set>
                                <p:cBhvr>
                                  <p:cTn id="32" dur="1" fill="hold"/>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nodeType="withEffect">
                            <p:stCondLst>
                              <p:cond delay="3750"/>
                            </p:stCondLst>
                            <p:childTnLst>
                              <p:set>
                                <p:cBhvr>
                                  <p:cTn id="35" dur="1" fill="hold"/>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nodeType="withEffect">
                            <p:stCondLst>
                              <p:cond delay="2500"/>
                            </p:stCondLst>
                            <p:childTnLst>
                              <p:set>
                                <p:cBhvr>
                                  <p:cTn id="38" dur="1" fill="hold"/>
                                  <p:tgtEl>
                                    <p:spTgt spid="26"/>
                                  </p:tgtEl>
                                  <p:attrNameLst>
                                    <p:attrName>style.visibility</p:attrName>
                                  </p:attrNameLst>
                                </p:cBhvr>
                                <p:to>
                                  <p:strVal val="visible"/>
                                </p:to>
                              </p:set>
                              <p:animEffect transition="in" filter="fade">
                                <p:cBhvr>
                                  <p:cTn id="39" dur="500"/>
                                  <p:tgtEl>
                                    <p:spTgt spid="26"/>
                                  </p:tgtEl>
                                </p:cBhvr>
                              </p:animEffect>
                            </p:childTnLst>
                          </p:cTn>
                        </p:par>
                        <p:par>
                          <p:cTn id="40" presetID="10" presetClass="entr" presetSubtype="0" fill="hold" nodeType="withEffect">
                            <p:stCondLst>
                              <p:cond delay="3750"/>
                            </p:stCondLst>
                            <p:childTnLst>
                              <p:set>
                                <p:cBhvr>
                                  <p:cTn id="41" dur="1" fill="hold"/>
                                  <p:tgtEl>
                                    <p:spTgt spid="27"/>
                                  </p:tgtEl>
                                  <p:attrNameLst>
                                    <p:attrName>style.visibility</p:attrName>
                                  </p:attrNameLst>
                                </p:cBhvr>
                                <p:to>
                                  <p:strVal val="visible"/>
                                </p:to>
                              </p:set>
                              <p:animEffect transition="in" filter="fade">
                                <p:cBhvr>
                                  <p:cTn id="42" dur="500"/>
                                  <p:tgtEl>
                                    <p:spTgt spid="27"/>
                                  </p:tgtEl>
                                </p:cBhvr>
                              </p:animEffect>
                            </p:childTnLst>
                          </p:cTn>
                        </p:par>
                        <p:par>
                          <p:cTn id="43" presetID="10" presetClass="entr" presetSubtype="0" fill="hold" nodeType="withEffect">
                            <p:stCondLst>
                              <p:cond delay="3750"/>
                            </p:stCondLst>
                            <p:childTnLst>
                              <p:set>
                                <p:cBhvr>
                                  <p:cTn id="44" dur="1" fill="hold"/>
                                  <p:tgtEl>
                                    <p:spTgt spid="28"/>
                                  </p:tgtEl>
                                  <p:attrNameLst>
                                    <p:attrName>style.visibility</p:attrName>
                                  </p:attrNameLst>
                                </p:cBhvr>
                                <p:to>
                                  <p:strVal val="visible"/>
                                </p:to>
                              </p:set>
                              <p:animEffect transition="in" filter="fade">
                                <p:cBhvr>
                                  <p:cTn id="45" dur="500"/>
                                  <p:tgtEl>
                                    <p:spTgt spid="28"/>
                                  </p:tgtEl>
                                </p:cBhvr>
                              </p:animEffect>
                            </p:childTnLst>
                          </p:cTn>
                        </p:par>
                        <p:par>
                          <p:cTn id="46" presetID="10" presetClass="entr" presetSubtype="0" fill="hold" nodeType="withEffect">
                            <p:stCondLst>
                              <p:cond delay="3750"/>
                            </p:stCondLst>
                            <p:childTnLst>
                              <p:set>
                                <p:cBhvr>
                                  <p:cTn id="47" dur="1" fill="hold"/>
                                  <p:tgtEl>
                                    <p:spTgt spid="29"/>
                                  </p:tgtEl>
                                  <p:attrNameLst>
                                    <p:attrName>style.visibility</p:attrName>
                                  </p:attrNameLst>
                                </p:cBhvr>
                                <p:to>
                                  <p:strVal val="visible"/>
                                </p:to>
                              </p:set>
                              <p:animEffect transition="in" filter="fade">
                                <p:cBhvr>
                                  <p:cTn id="48" dur="500"/>
                                  <p:tgtEl>
                                    <p:spTgt spid="29"/>
                                  </p:tgtEl>
                                </p:cBhvr>
                              </p:animEffect>
                            </p:childTnLst>
                          </p:cTn>
                        </p:par>
                        <p:par>
                          <p:cTn id="49" presetID="10" presetClass="entr" presetSubtype="0" fill="hold" nodeType="withEffect">
                            <p:stCondLst>
                              <p:cond delay="0"/>
                            </p:stCondLst>
                            <p:childTnLst>
                              <p:set>
                                <p:cBhvr>
                                  <p:cTn id="50" dur="1" fill="hold"/>
                                  <p:tgtEl>
                                    <p:spTgt spid="30"/>
                                  </p:tgtEl>
                                  <p:attrNameLst>
                                    <p:attrName>style.visibility</p:attrName>
                                  </p:attrNameLst>
                                </p:cBhvr>
                                <p:to>
                                  <p:strVal val="visible"/>
                                </p:to>
                              </p:set>
                              <p:animEffect transition="in" filter="fade">
                                <p:cBhvr>
                                  <p:cTn id="51" dur="500"/>
                                  <p:tgtEl>
                                    <p:spTgt spid="30"/>
                                  </p:tgtEl>
                                </p:cBhvr>
                              </p:animEffect>
                            </p:childTnLst>
                          </p:cTn>
                        </p:par>
                        <p:par>
                          <p:cTn id="52" presetID="10" presetClass="entr" presetSubtype="0" fill="hold" nodeType="withEffect">
                            <p:stCondLst>
                              <p:cond delay="0"/>
                            </p:stCondLst>
                            <p:childTnLst>
                              <p:set>
                                <p:cBhvr>
                                  <p:cTn id="53" dur="1" fill="hold"/>
                                  <p:tgtEl>
                                    <p:spTgt spid="31"/>
                                  </p:tgtEl>
                                  <p:attrNameLst>
                                    <p:attrName>style.visibility</p:attrName>
                                  </p:attrNameLst>
                                </p:cBhvr>
                                <p:to>
                                  <p:strVal val="visible"/>
                                </p:to>
                              </p:set>
                              <p:animEffect transition="in" filter="fade">
                                <p:cBhvr>
                                  <p:cTn id="54" dur="500"/>
                                  <p:tgtEl>
                                    <p:spTgt spid="31"/>
                                  </p:tgtEl>
                                </p:cBhvr>
                              </p:animEffect>
                            </p:childTnLst>
                          </p:cTn>
                        </p:par>
                        <p:par>
                          <p:cTn id="55" presetID="10" presetClass="entr" presetSubtype="0" fill="hold" nodeType="withEffect">
                            <p:stCondLst>
                              <p:cond delay="1250"/>
                            </p:stCondLst>
                            <p:childTnLst>
                              <p:set>
                                <p:cBhvr>
                                  <p:cTn id="56" dur="1" fill="hold"/>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nodeType="withEffect">
                            <p:stCondLst>
                              <p:cond delay="0"/>
                            </p:stCondLst>
                            <p:childTnLst>
                              <p:set>
                                <p:cBhvr>
                                  <p:cTn id="59" dur="1" fill="hold"/>
                                  <p:tgtEl>
                                    <p:spTgt spid="33"/>
                                  </p:tgtEl>
                                  <p:attrNameLst>
                                    <p:attrName>style.visibility</p:attrName>
                                  </p:attrNameLst>
                                </p:cBhvr>
                                <p:to>
                                  <p:strVal val="visible"/>
                                </p:to>
                              </p:set>
                              <p:animEffect transition="in" filter="fade">
                                <p:cBhvr>
                                  <p:cTn id="60" dur="500"/>
                                  <p:tgtEl>
                                    <p:spTgt spid="33"/>
                                  </p:tgtEl>
                                </p:cBhvr>
                              </p:animEffect>
                            </p:childTnLst>
                          </p:cTn>
                        </p:par>
                        <p:par>
                          <p:cTn id="61" presetID="10" presetClass="entr" presetSubtype="0" fill="hold" nodeType="withEffect">
                            <p:stCondLst>
                              <p:cond delay="1250"/>
                            </p:stCondLst>
                            <p:childTnLst>
                              <p:set>
                                <p:cBhvr>
                                  <p:cTn id="62" dur="1" fill="hold"/>
                                  <p:tgtEl>
                                    <p:spTgt spid="34"/>
                                  </p:tgtEl>
                                  <p:attrNameLst>
                                    <p:attrName>style.visibility</p:attrName>
                                  </p:attrNameLst>
                                </p:cBhvr>
                                <p:to>
                                  <p:strVal val="visible"/>
                                </p:to>
                              </p:set>
                              <p:animEffect transition="in" filter="fade">
                                <p:cBhvr>
                                  <p:cTn id="63" dur="500"/>
                                  <p:tgtEl>
                                    <p:spTgt spid="34"/>
                                  </p:tgtEl>
                                </p:cBhvr>
                              </p:animEffect>
                            </p:childTnLst>
                          </p:cTn>
                        </p:par>
                        <p:par>
                          <p:cTn id="64" presetID="10" presetClass="entr" presetSubtype="0" fill="hold" nodeType="withEffect">
                            <p:stCondLst>
                              <p:cond delay="1250"/>
                            </p:stCondLst>
                            <p:childTnLst>
                              <p:set>
                                <p:cBhvr>
                                  <p:cTn id="65" dur="1" fill="hold"/>
                                  <p:tgtEl>
                                    <p:spTgt spid="35"/>
                                  </p:tgtEl>
                                  <p:attrNameLst>
                                    <p:attrName>style.visibility</p:attrName>
                                  </p:attrNameLst>
                                </p:cBhvr>
                                <p:to>
                                  <p:strVal val="visible"/>
                                </p:to>
                              </p:set>
                              <p:animEffect transition="in" filter="fade">
                                <p:cBhvr>
                                  <p:cTn id="66" dur="500"/>
                                  <p:tgtEl>
                                    <p:spTgt spid="35"/>
                                  </p:tgtEl>
                                </p:cBhvr>
                              </p:animEffect>
                            </p:childTnLst>
                          </p:cTn>
                        </p:par>
                        <p:par>
                          <p:cTn id="67" presetID="10" presetClass="entr" presetSubtype="0" fill="hold" nodeType="withEffect">
                            <p:stCondLst>
                              <p:cond delay="2500"/>
                            </p:stCondLst>
                            <p:childTnLst>
                              <p:set>
                                <p:cBhvr>
                                  <p:cTn id="68" dur="1" fill="hold"/>
                                  <p:tgtEl>
                                    <p:spTgt spid="36"/>
                                  </p:tgtEl>
                                  <p:attrNameLst>
                                    <p:attrName>style.visibility</p:attrName>
                                  </p:attrNameLst>
                                </p:cBhvr>
                                <p:to>
                                  <p:strVal val="visible"/>
                                </p:to>
                              </p:set>
                              <p:animEffect transition="in" filter="fade">
                                <p:cBhvr>
                                  <p:cTn id="69" dur="500"/>
                                  <p:tgtEl>
                                    <p:spTgt spid="36"/>
                                  </p:tgtEl>
                                </p:cBhvr>
                              </p:animEffect>
                            </p:childTnLst>
                          </p:cTn>
                        </p:par>
                        <p:par>
                          <p:cTn id="70" presetID="10" presetClass="entr" presetSubtype="0" fill="hold" nodeType="withEffect">
                            <p:stCondLst>
                              <p:cond delay="1250"/>
                            </p:stCondLst>
                            <p:childTnLst>
                              <p:set>
                                <p:cBhvr>
                                  <p:cTn id="71" dur="1" fill="hold"/>
                                  <p:tgtEl>
                                    <p:spTgt spid="37"/>
                                  </p:tgtEl>
                                  <p:attrNameLst>
                                    <p:attrName>style.visibility</p:attrName>
                                  </p:attrNameLst>
                                </p:cBhvr>
                                <p:to>
                                  <p:strVal val="visible"/>
                                </p:to>
                              </p:set>
                              <p:animEffect transition="in" filter="fade">
                                <p:cBhvr>
                                  <p:cTn id="72" dur="500"/>
                                  <p:tgtEl>
                                    <p:spTgt spid="37"/>
                                  </p:tgtEl>
                                </p:cBhvr>
                              </p:animEffect>
                            </p:childTnLst>
                          </p:cTn>
                        </p:par>
                        <p:par>
                          <p:cTn id="73" presetID="10" presetClass="entr" presetSubtype="0" fill="hold" nodeType="withEffect">
                            <p:stCondLst>
                              <p:cond delay="2500"/>
                            </p:stCondLst>
                            <p:childTnLst>
                              <p:set>
                                <p:cBhvr>
                                  <p:cTn id="74" dur="1" fill="hold"/>
                                  <p:tgtEl>
                                    <p:spTgt spid="38"/>
                                  </p:tgtEl>
                                  <p:attrNameLst>
                                    <p:attrName>style.visibility</p:attrName>
                                  </p:attrNameLst>
                                </p:cBhvr>
                                <p:to>
                                  <p:strVal val="visible"/>
                                </p:to>
                              </p:set>
                              <p:animEffect transition="in" filter="fade">
                                <p:cBhvr>
                                  <p:cTn id="75" dur="500"/>
                                  <p:tgtEl>
                                    <p:spTgt spid="38"/>
                                  </p:tgtEl>
                                </p:cBhvr>
                              </p:animEffect>
                            </p:childTnLst>
                          </p:cTn>
                        </p:par>
                        <p:par>
                          <p:cTn id="76" presetID="10" presetClass="entr" presetSubtype="0" fill="hold" nodeType="withEffect">
                            <p:stCondLst>
                              <p:cond delay="2500"/>
                            </p:stCondLst>
                            <p:childTnLst>
                              <p:set>
                                <p:cBhvr>
                                  <p:cTn id="77" dur="1" fill="hold"/>
                                  <p:tgtEl>
                                    <p:spTgt spid="39"/>
                                  </p:tgtEl>
                                  <p:attrNameLst>
                                    <p:attrName>style.visibility</p:attrName>
                                  </p:attrNameLst>
                                </p:cBhvr>
                                <p:to>
                                  <p:strVal val="visible"/>
                                </p:to>
                              </p:set>
                              <p:animEffect transition="in" filter="fade">
                                <p:cBhvr>
                                  <p:cTn id="78" dur="500"/>
                                  <p:tgtEl>
                                    <p:spTgt spid="39"/>
                                  </p:tgtEl>
                                </p:cBhvr>
                              </p:animEffect>
                            </p:childTnLst>
                          </p:cTn>
                        </p:par>
                        <p:par>
                          <p:cTn id="79" presetID="10" presetClass="entr" presetSubtype="0" fill="hold" nodeType="withEffect">
                            <p:stCondLst>
                              <p:cond delay="3750"/>
                            </p:stCondLst>
                            <p:childTnLst>
                              <p:set>
                                <p:cBhvr>
                                  <p:cTn id="80" dur="1" fill="hold"/>
                                  <p:tgtEl>
                                    <p:spTgt spid="40"/>
                                  </p:tgtEl>
                                  <p:attrNameLst>
                                    <p:attrName>style.visibility</p:attrName>
                                  </p:attrNameLst>
                                </p:cBhvr>
                                <p:to>
                                  <p:strVal val="visible"/>
                                </p:to>
                              </p:set>
                              <p:animEffect transition="in" filter="fade">
                                <p:cBhvr>
                                  <p:cTn id="81" dur="500"/>
                                  <p:tgtEl>
                                    <p:spTgt spid="40"/>
                                  </p:tgtEl>
                                </p:cBhvr>
                              </p:animEffect>
                            </p:childTnLst>
                          </p:cTn>
                        </p:par>
                        <p:par>
                          <p:cTn id="82" presetID="10" presetClass="entr" presetSubtype="0" fill="hold" nodeType="withEffect">
                            <p:stCondLst>
                              <p:cond delay="2500"/>
                            </p:stCondLst>
                            <p:childTnLst>
                              <p:set>
                                <p:cBhvr>
                                  <p:cTn id="83" dur="1" fill="hold"/>
                                  <p:tgtEl>
                                    <p:spTgt spid="41"/>
                                  </p:tgtEl>
                                  <p:attrNameLst>
                                    <p:attrName>style.visibility</p:attrName>
                                  </p:attrNameLst>
                                </p:cBhvr>
                                <p:to>
                                  <p:strVal val="visible"/>
                                </p:to>
                              </p:set>
                              <p:animEffect transition="in" filter="fade">
                                <p:cBhvr>
                                  <p:cTn id="84" dur="500"/>
                                  <p:tgtEl>
                                    <p:spTgt spid="41"/>
                                  </p:tgtEl>
                                </p:cBhvr>
                              </p:animEffect>
                            </p:childTnLst>
                          </p:cTn>
                        </p:par>
                        <p:par>
                          <p:cTn id="85" presetID="10" presetClass="entr" presetSubtype="0" fill="hold" nodeType="withEffect">
                            <p:stCondLst>
                              <p:cond delay="3750"/>
                            </p:stCondLst>
                            <p:childTnLst>
                              <p:set>
                                <p:cBhvr>
                                  <p:cTn id="86" dur="1" fill="hold"/>
                                  <p:tgtEl>
                                    <p:spTgt spid="42"/>
                                  </p:tgtEl>
                                  <p:attrNameLst>
                                    <p:attrName>style.visibility</p:attrName>
                                  </p:attrNameLst>
                                </p:cBhvr>
                                <p:to>
                                  <p:strVal val="visible"/>
                                </p:to>
                              </p:set>
                              <p:animEffect transition="in" filter="fade">
                                <p:cBhvr>
                                  <p:cTn id="87" dur="500"/>
                                  <p:tgtEl>
                                    <p:spTgt spid="42"/>
                                  </p:tgtEl>
                                </p:cBhvr>
                              </p:animEffect>
                            </p:childTnLst>
                          </p:cTn>
                        </p:par>
                        <p:par>
                          <p:cTn id="88" presetID="10" presetClass="entr" presetSubtype="0" fill="hold" nodeType="withEffect">
                            <p:stCondLst>
                              <p:cond delay="3750"/>
                            </p:stCondLst>
                            <p:childTnLst>
                              <p:set>
                                <p:cBhvr>
                                  <p:cTn id="89" dur="1" fill="hold"/>
                                  <p:tgtEl>
                                    <p:spTgt spid="43"/>
                                  </p:tgtEl>
                                  <p:attrNameLst>
                                    <p:attrName>style.visibility</p:attrName>
                                  </p:attrNameLst>
                                </p:cBhvr>
                                <p:to>
                                  <p:strVal val="visible"/>
                                </p:to>
                              </p:set>
                              <p:animEffect transition="in" filter="fade">
                                <p:cBhvr>
                                  <p:cTn id="90" dur="500"/>
                                  <p:tgtEl>
                                    <p:spTgt spid="43"/>
                                  </p:tgtEl>
                                </p:cBhvr>
                              </p:animEffect>
                            </p:childTnLst>
                          </p:cTn>
                        </p:par>
                        <p:par>
                          <p:cTn id="91" presetID="10" presetClass="entr" presetSubtype="0" fill="hold" nodeType="withEffect">
                            <p:stCondLst>
                              <p:cond delay="3750"/>
                            </p:stCondLst>
                            <p:childTnLst>
                              <p:set>
                                <p:cBhvr>
                                  <p:cTn id="92" dur="1" fill="hold"/>
                                  <p:tgtEl>
                                    <p:spTgt spid="44"/>
                                  </p:tgtEl>
                                  <p:attrNameLst>
                                    <p:attrName>style.visibility</p:attrName>
                                  </p:attrNameLst>
                                </p:cBhvr>
                                <p:to>
                                  <p:strVal val="visible"/>
                                </p:to>
                              </p:set>
                              <p:animEffect transition="in" filter="fade">
                                <p:cBhvr>
                                  <p:cTn id="93" dur="500"/>
                                  <p:tgtEl>
                                    <p:spTgt spid="4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210925" y="292100"/>
            <a:ext cx="409575" cy="273050"/>
          </a:xfrm>
          <a:prstGeom prst="rect">
            <a:avLst/>
          </a:prstGeom>
          <a:effectLst/>
        </p:spPr>
      </p:pic>
      <p:sp>
        <p:nvSpPr>
          <p:cNvPr id="3" name="TextBox 2"/>
          <p:cNvSpPr txBox="1"/>
          <p:nvPr/>
        </p:nvSpPr>
        <p:spPr>
          <a:xfrm>
            <a:off x="9629775" y="323850"/>
            <a:ext cx="1466850" cy="257175"/>
          </a:xfrm>
          <a:prstGeom prst="rect">
            <a:avLst/>
          </a:prstGeom>
          <a:noFill/>
          <a:effectLst/>
        </p:spPr>
        <p:txBody>
          <a:bodyPr wrap="square" lIns="0" rIns="0" tIns="0" bIns="0" anchor="t">
            <a:spAutoFit/>
          </a:bodyPr>
          <a:lstStyle/>
          <a:p>
            <a:pPr algn="r" rtl="0">
              <a:lnSpc>
                <a:spcPts val="1428"/>
              </a:lnSpc>
              <a:spcBef>
                <a:spcPts val="0"/>
              </a:spcBef>
              <a:spcAft>
                <a:spcPts val="0"/>
              </a:spcAft>
            </a:pPr>
            <a:r>
              <a:rPr sz="1275" b="1" lang="ar-EG">
                <a:solidFill>
                  <a:srgbClr val="29302D"/>
                </a:solidFill>
                <a:latin typeface="Manrope"/>
                <a:cs typeface="IBM Plex Sans Arabic Medium"/>
              </a:rPr>
              <a:t>GRINDCTRL</a:t>
            </a:r>
          </a:p>
        </p:txBody>
      </p:sp>
      <p:sp>
        <p:nvSpPr>
          <p:cNvPr id="4" name="TextBox 3"/>
          <p:cNvSpPr txBox="1"/>
          <p:nvPr/>
        </p:nvSpPr>
        <p:spPr>
          <a:xfrm>
            <a:off x="571500" y="333375"/>
            <a:ext cx="4171950" cy="247650"/>
          </a:xfrm>
          <a:prstGeom prst="rect">
            <a:avLst/>
          </a:prstGeom>
          <a:noFill/>
          <a:effectLst/>
        </p:spPr>
        <p:txBody>
          <a:bodyPr wrap="square" lIns="0" rIns="0" tIns="0" bIns="0" anchor="t">
            <a:spAutoFit/>
          </a:bodyPr>
          <a:lstStyle/>
          <a:p>
            <a:pPr algn="l" rtl="1">
              <a:lnSpc>
                <a:spcPts val="1176"/>
              </a:lnSpc>
              <a:spcBef>
                <a:spcPts val="0"/>
              </a:spcBef>
              <a:spcAft>
                <a:spcPts val="0"/>
              </a:spcAft>
            </a:pPr>
            <a:r>
              <a:rPr sz="1050" b="0" lang="ar-EG">
                <a:solidFill>
                  <a:srgbClr val="68716B"/>
                </a:solidFill>
                <a:latin typeface="Manrope"/>
                <a:cs typeface="IBM Plex Sans Arabic Medium"/>
              </a:rPr>
              <a:t>٠٦ · القيمة لكونكريت</a:t>
            </a:r>
          </a:p>
        </p:txBody>
      </p:sp>
      <p:sp>
        <p:nvSpPr>
          <p:cNvPr id="5" name="TextBox 4"/>
          <p:cNvSpPr txBox="1"/>
          <p:nvPr/>
        </p:nvSpPr>
        <p:spPr>
          <a:xfrm>
            <a:off x="571500" y="895350"/>
            <a:ext cx="11049000" cy="609600"/>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9302D"/>
                </a:solidFill>
                <a:latin typeface="Manrope"/>
                <a:cs typeface="IBM Plex Sans Arabic Medium"/>
              </a:rPr>
              <a:t>تركيز أكبر مع العميل.</a:t>
            </a:r>
          </a:p>
        </p:txBody>
      </p:sp>
      <p:sp>
        <p:nvSpPr>
          <p:cNvPr id="6" name="TextBox 5"/>
          <p:cNvSpPr txBox="1"/>
          <p:nvPr/>
        </p:nvSpPr>
        <p:spPr>
          <a:xfrm>
            <a:off x="571500" y="1581150"/>
            <a:ext cx="11049000" cy="3619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68716B"/>
                </a:solidFill>
                <a:latin typeface="Manrope"/>
                <a:cs typeface="IBM Plex Sans Arabic Medium"/>
              </a:rPr>
              <a:t>فوائد عملية للموظف وتجربة خدمة العميل.</a:t>
            </a:r>
          </a:p>
        </p:txBody>
      </p:sp>
      <p:cxnSp>
        <p:nvCxnSpPr>
          <p:cNvPr id="7" name="Connector 6"/>
          <p:cNvCxnSpPr/>
          <p:nvPr/>
        </p:nvCxnSpPr>
        <p:spPr>
          <a:xfrm flipH="1">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2095500" y="6534150"/>
            <a:ext cx="9525000" cy="219075"/>
          </a:xfrm>
          <a:prstGeom prst="rect">
            <a:avLst/>
          </a:prstGeom>
          <a:noFill/>
          <a:effectLst/>
        </p:spPr>
        <p:txBody>
          <a:bodyPr wrap="square" lIns="0" rIns="0" tIns="0" bIns="0" anchor="t">
            <a:spAutoFit/>
          </a:bodyPr>
          <a:lstStyle/>
          <a:p>
            <a:pPr algn="r" rtl="1">
              <a:lnSpc>
                <a:spcPts val="1008"/>
              </a:lnSpc>
              <a:spcBef>
                <a:spcPts val="0"/>
              </a:spcBef>
              <a:spcAft>
                <a:spcPts val="0"/>
              </a:spcAft>
            </a:pPr>
            <a:r>
              <a:rPr sz="900" b="0" lang="ar-EG">
                <a:solidFill>
                  <a:srgbClr val="68716B"/>
                </a:solidFill>
                <a:latin typeface="Manrope"/>
                <a:cs typeface="IBM Plex Sans Arabic Medium"/>
              </a:rPr>
              <a:t>كونكريت · تعاون مقترح</a:t>
            </a:r>
          </a:p>
        </p:txBody>
      </p:sp>
      <p:sp>
        <p:nvSpPr>
          <p:cNvPr id="9" name="TextBox 8"/>
          <p:cNvSpPr txBox="1"/>
          <p:nvPr/>
        </p:nvSpPr>
        <p:spPr>
          <a:xfrm>
            <a:off x="571500" y="6515100"/>
            <a:ext cx="83820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716B"/>
                </a:solidFill>
                <a:latin typeface="Manrope"/>
                <a:cs typeface="IBM Plex Sans Arabic Medium"/>
              </a:rPr>
              <a:t>07 / 09</a:t>
            </a:r>
          </a:p>
        </p:txBody>
      </p:sp>
      <p:sp>
        <p:nvSpPr>
          <p:cNvPr id="10" name="Rounded Rectangle 9"/>
          <p:cNvSpPr/>
          <p:nvPr/>
        </p:nvSpPr>
        <p:spPr>
          <a:xfrm>
            <a:off x="6429375" y="2371725"/>
            <a:ext cx="5181600" cy="3181350"/>
          </a:xfrm>
          <a:prstGeom prst="roundRect">
            <a:avLst>
              <a:gd name="adj" fmla="val 4790"/>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6438900" y="2324100"/>
            <a:ext cx="5181600" cy="3181350"/>
          </a:xfrm>
          <a:prstGeom prst="roundRect">
            <a:avLst>
              <a:gd name="adj" fmla="val 4790"/>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10944225" y="2638425"/>
            <a:ext cx="400050" cy="400050"/>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0944225" y="2714625"/>
            <a:ext cx="400050" cy="361950"/>
          </a:xfrm>
          <a:prstGeom prst="rect">
            <a:avLst/>
          </a:prstGeom>
          <a:noFill/>
          <a:effectLst/>
        </p:spPr>
        <p:txBody>
          <a:bodyPr wrap="square" lIns="0" rIns="0" tIns="0" bIns="0" anchor="t">
            <a:spAutoFit/>
          </a:bodyPr>
          <a:lstStyle/>
          <a:p>
            <a:pPr algn="ctr" rtl="0">
              <a:lnSpc>
                <a:spcPts val="1932"/>
              </a:lnSpc>
              <a:spcBef>
                <a:spcPts val="0"/>
              </a:spcBef>
              <a:spcAft>
                <a:spcPts val="0"/>
              </a:spcAft>
            </a:pPr>
            <a:r>
              <a:rPr sz="1725" b="1" lang="ar-EG">
                <a:solidFill>
                  <a:srgbClr val="54745C"/>
                </a:solidFill>
                <a:latin typeface="Manrope"/>
                <a:cs typeface="IBM Plex Sans Arabic Medium"/>
              </a:rPr>
              <a:t>A</a:t>
            </a:r>
          </a:p>
        </p:txBody>
      </p:sp>
      <p:sp>
        <p:nvSpPr>
          <p:cNvPr id="14" name="TextBox 13"/>
          <p:cNvSpPr txBox="1"/>
          <p:nvPr/>
        </p:nvSpPr>
        <p:spPr>
          <a:xfrm>
            <a:off x="6791325" y="2686050"/>
            <a:ext cx="4010025" cy="333375"/>
          </a:xfrm>
          <a:prstGeom prst="rect">
            <a:avLst/>
          </a:prstGeom>
          <a:noFill/>
          <a:effectLst/>
        </p:spPr>
        <p:txBody>
          <a:bodyPr wrap="square" lIns="0" rIns="0" tIns="0" bIns="0" anchor="t">
            <a:spAutoFit/>
          </a:bodyPr>
          <a:lstStyle/>
          <a:p>
            <a:pPr algn="r" rtl="1">
              <a:lnSpc>
                <a:spcPts val="1848"/>
              </a:lnSpc>
              <a:spcBef>
                <a:spcPts val="0"/>
              </a:spcBef>
              <a:spcAft>
                <a:spcPts val="0"/>
              </a:spcAft>
            </a:pPr>
            <a:r>
              <a:rPr sz="1650" b="1" lang="ar-EG">
                <a:solidFill>
                  <a:srgbClr val="29302D"/>
                </a:solidFill>
                <a:latin typeface="Manrope"/>
                <a:cs typeface="IBM Plex Sans Arabic Medium"/>
              </a:rPr>
              <a:t>محادثة بمعلومات واضحة</a:t>
            </a:r>
          </a:p>
        </p:txBody>
      </p:sp>
      <p:sp>
        <p:nvSpPr>
          <p:cNvPr id="15" name="Rounded Rectangle 14"/>
          <p:cNvSpPr/>
          <p:nvPr/>
        </p:nvSpPr>
        <p:spPr>
          <a:xfrm>
            <a:off x="6705600" y="3305175"/>
            <a:ext cx="4648200" cy="1247775"/>
          </a:xfrm>
          <a:prstGeom prst="roundRect">
            <a:avLst>
              <a:gd name="adj" fmla="val 9160"/>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05625" y="3505200"/>
            <a:ext cx="4229100" cy="885825"/>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0" lang="ar-EG">
                <a:solidFill>
                  <a:srgbClr val="29302D"/>
                </a:solidFill>
                <a:latin typeface="Manrope"/>
                <a:cs typeface="IBM Plex Sans Arabic Medium"/>
              </a:rPr>
              <a:t>«شايف التذكرة السابقة لحضرتك.</a:t>
            </a:r>
          </a:p>
          <a:p>
            <a:pPr algn="r" rtl="1">
              <a:lnSpc>
                <a:spcPts val="1932"/>
              </a:lnSpc>
              <a:spcBef>
                <a:spcPts val="0"/>
              </a:spcBef>
              <a:spcAft>
                <a:spcPts val="0"/>
              </a:spcAft>
            </a:pPr>
            <a:r>
              <a:rPr sz="1725" b="0" lang="ar-EG">
                <a:solidFill>
                  <a:srgbClr val="29302D"/>
                </a:solidFill>
                <a:latin typeface="Manrope"/>
                <a:cs typeface="IBM Plex Sans Arabic Medium"/>
              </a:rPr>
              <a:t>مراجعة الفرع</a:t>
            </a:r>
          </a:p>
          <a:p>
            <a:pPr algn="r" rtl="1">
              <a:lnSpc>
                <a:spcPts val="1932"/>
              </a:lnSpc>
              <a:spcBef>
                <a:spcPts val="0"/>
              </a:spcBef>
              <a:spcAft>
                <a:spcPts val="0"/>
              </a:spcAft>
            </a:pPr>
            <a:r>
              <a:rPr sz="1725" b="0" lang="ar-EG">
                <a:solidFill>
                  <a:srgbClr val="29302D"/>
                </a:solidFill>
                <a:latin typeface="Manrope"/>
                <a:cs typeface="IBM Plex Sans Arabic Medium"/>
              </a:rPr>
              <a:t>لسه مطلوبة.»</a:t>
            </a:r>
          </a:p>
        </p:txBody>
      </p:sp>
      <p:pic>
        <p:nvPicPr>
          <p:cNvPr id="17" name="Picture 16" descr="zoho.png"/>
          <p:cNvPicPr>
            <a:picLocks noChangeAspect="1"/>
          </p:cNvPicPr>
          <p:nvPr/>
        </p:nvPicPr>
        <p:blipFill>
          <a:blip r:embed="rId3"/>
          <a:stretch>
            <a:fillRect/>
          </a:stretch>
        </p:blipFill>
        <p:spPr>
          <a:xfrm>
            <a:off x="10638646" y="4895850"/>
            <a:ext cx="620684" cy="266700"/>
          </a:xfrm>
          <a:prstGeom prst="rect">
            <a:avLst/>
          </a:prstGeom>
          <a:effectLst/>
        </p:spPr>
      </p:pic>
      <p:sp>
        <p:nvSpPr>
          <p:cNvPr id="18" name="TextBox 17"/>
          <p:cNvSpPr txBox="1"/>
          <p:nvPr/>
        </p:nvSpPr>
        <p:spPr>
          <a:xfrm>
            <a:off x="6715125" y="4905375"/>
            <a:ext cx="3629025" cy="3048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716B"/>
                </a:solidFill>
                <a:latin typeface="Manrope"/>
                <a:cs typeface="IBM Plex Sans Arabic Medium"/>
              </a:rPr>
              <a:t>بناءً على الملاحظة المسجلة</a:t>
            </a:r>
          </a:p>
        </p:txBody>
      </p:sp>
      <p:sp>
        <p:nvSpPr>
          <p:cNvPr id="19" name="Oval 18"/>
          <p:cNvSpPr/>
          <p:nvPr/>
        </p:nvSpPr>
        <p:spPr>
          <a:xfrm>
            <a:off x="5514975" y="2495550"/>
            <a:ext cx="419100" cy="41910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icon-clock.png"/>
          <p:cNvPicPr>
            <a:picLocks noChangeAspect="1"/>
          </p:cNvPicPr>
          <p:nvPr/>
        </p:nvPicPr>
        <p:blipFill>
          <a:blip r:embed="rId4"/>
          <a:stretch>
            <a:fillRect/>
          </a:stretch>
        </p:blipFill>
        <p:spPr>
          <a:xfrm>
            <a:off x="5610225" y="2590800"/>
            <a:ext cx="228600" cy="228600"/>
          </a:xfrm>
          <a:prstGeom prst="rect">
            <a:avLst/>
          </a:prstGeom>
          <a:effectLst/>
        </p:spPr>
      </p:pic>
      <p:sp>
        <p:nvSpPr>
          <p:cNvPr id="21" name="TextBox 20"/>
          <p:cNvSpPr txBox="1"/>
          <p:nvPr/>
        </p:nvSpPr>
        <p:spPr>
          <a:xfrm>
            <a:off x="685800" y="2466975"/>
            <a:ext cx="4638675" cy="371475"/>
          </a:xfrm>
          <a:prstGeom prst="rect">
            <a:avLst/>
          </a:prstGeom>
          <a:noFill/>
          <a:effectLst/>
        </p:spPr>
        <p:txBody>
          <a:bodyPr wrap="square" lIns="0" rIns="0" tIns="0" bIns="0" anchor="t">
            <a:spAutoFit/>
          </a:bodyPr>
          <a:lstStyle/>
          <a:p>
            <a:pPr algn="r" rtl="1">
              <a:lnSpc>
                <a:spcPts val="2100"/>
              </a:lnSpc>
              <a:spcBef>
                <a:spcPts val="0"/>
              </a:spcBef>
              <a:spcAft>
                <a:spcPts val="0"/>
              </a:spcAft>
            </a:pPr>
            <a:r>
              <a:rPr sz="1875" b="1" lang="ar-EG">
                <a:solidFill>
                  <a:srgbClr val="29302D"/>
                </a:solidFill>
                <a:latin typeface="Manrope"/>
                <a:cs typeface="IBM Plex Sans Arabic Medium"/>
              </a:rPr>
              <a:t>بحث يدوي أقل</a:t>
            </a:r>
          </a:p>
        </p:txBody>
      </p:sp>
      <p:sp>
        <p:nvSpPr>
          <p:cNvPr id="22" name="TextBox 21"/>
          <p:cNvSpPr txBox="1"/>
          <p:nvPr/>
        </p:nvSpPr>
        <p:spPr>
          <a:xfrm>
            <a:off x="685800" y="2924175"/>
            <a:ext cx="4638675" cy="47625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716B"/>
                </a:solidFill>
                <a:latin typeface="Manrope"/>
                <a:cs typeface="IBM Plex Sans Arabic Medium"/>
              </a:rPr>
              <a:t>خطوات أقل قبل الرد بمعلومات واضحة.</a:t>
            </a:r>
          </a:p>
        </p:txBody>
      </p:sp>
      <p:cxnSp>
        <p:nvCxnSpPr>
          <p:cNvPr id="23" name="Connector 22"/>
          <p:cNvCxnSpPr/>
          <p:nvPr/>
        </p:nvCxnSpPr>
        <p:spPr>
          <a:xfrm flipH="1">
            <a:off x="571500" y="3352800"/>
            <a:ext cx="4752975"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24" name="Oval 23"/>
          <p:cNvSpPr/>
          <p:nvPr/>
        </p:nvSpPr>
        <p:spPr>
          <a:xfrm>
            <a:off x="5514975" y="3562350"/>
            <a:ext cx="419100" cy="41910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icon-file.png"/>
          <p:cNvPicPr>
            <a:picLocks noChangeAspect="1"/>
          </p:cNvPicPr>
          <p:nvPr/>
        </p:nvPicPr>
        <p:blipFill>
          <a:blip r:embed="rId5"/>
          <a:stretch>
            <a:fillRect/>
          </a:stretch>
        </p:blipFill>
        <p:spPr>
          <a:xfrm>
            <a:off x="5610225" y="3657600"/>
            <a:ext cx="228600" cy="228600"/>
          </a:xfrm>
          <a:prstGeom prst="rect">
            <a:avLst/>
          </a:prstGeom>
          <a:effectLst/>
        </p:spPr>
      </p:pic>
      <p:sp>
        <p:nvSpPr>
          <p:cNvPr id="26" name="TextBox 25"/>
          <p:cNvSpPr txBox="1"/>
          <p:nvPr/>
        </p:nvSpPr>
        <p:spPr>
          <a:xfrm>
            <a:off x="685800" y="3533775"/>
            <a:ext cx="4638675" cy="371475"/>
          </a:xfrm>
          <a:prstGeom prst="rect">
            <a:avLst/>
          </a:prstGeom>
          <a:noFill/>
          <a:effectLst/>
        </p:spPr>
        <p:txBody>
          <a:bodyPr wrap="square" lIns="0" rIns="0" tIns="0" bIns="0" anchor="t">
            <a:spAutoFit/>
          </a:bodyPr>
          <a:lstStyle/>
          <a:p>
            <a:pPr algn="r" rtl="1">
              <a:lnSpc>
                <a:spcPts val="2100"/>
              </a:lnSpc>
              <a:spcBef>
                <a:spcPts val="0"/>
              </a:spcBef>
              <a:spcAft>
                <a:spcPts val="0"/>
              </a:spcAft>
            </a:pPr>
            <a:r>
              <a:rPr sz="1875" b="1" lang="ar-EG">
                <a:solidFill>
                  <a:srgbClr val="29302D"/>
                </a:solidFill>
                <a:latin typeface="Manrope"/>
                <a:cs typeface="IBM Plex Sans Arabic Medium"/>
              </a:rPr>
              <a:t>فهم أسرع للحالة</a:t>
            </a:r>
          </a:p>
        </p:txBody>
      </p:sp>
      <p:sp>
        <p:nvSpPr>
          <p:cNvPr id="27" name="TextBox 26"/>
          <p:cNvSpPr txBox="1"/>
          <p:nvPr/>
        </p:nvSpPr>
        <p:spPr>
          <a:xfrm>
            <a:off x="685800" y="3990975"/>
            <a:ext cx="4638675" cy="47625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716B"/>
                </a:solidFill>
                <a:latin typeface="Manrope"/>
                <a:cs typeface="IBM Plex Sans Arabic Medium"/>
              </a:rPr>
              <a:t>آخر ملاحظة في التذكرة ظاهرة للموظف.</a:t>
            </a:r>
          </a:p>
        </p:txBody>
      </p:sp>
      <p:cxnSp>
        <p:nvCxnSpPr>
          <p:cNvPr id="28" name="Connector 27"/>
          <p:cNvCxnSpPr/>
          <p:nvPr/>
        </p:nvCxnSpPr>
        <p:spPr>
          <a:xfrm flipH="1">
            <a:off x="571500" y="4419600"/>
            <a:ext cx="4752975"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29" name="Oval 28"/>
          <p:cNvSpPr/>
          <p:nvPr/>
        </p:nvSpPr>
        <p:spPr>
          <a:xfrm>
            <a:off x="5514975" y="4629150"/>
            <a:ext cx="419100" cy="41910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icon-actor.png"/>
          <p:cNvPicPr>
            <a:picLocks noChangeAspect="1"/>
          </p:cNvPicPr>
          <p:nvPr/>
        </p:nvPicPr>
        <p:blipFill>
          <a:blip r:embed="rId6"/>
          <a:stretch>
            <a:fillRect/>
          </a:stretch>
        </p:blipFill>
        <p:spPr>
          <a:xfrm>
            <a:off x="5610225" y="4724400"/>
            <a:ext cx="228600" cy="228600"/>
          </a:xfrm>
          <a:prstGeom prst="rect">
            <a:avLst/>
          </a:prstGeom>
          <a:effectLst/>
        </p:spPr>
      </p:pic>
      <p:sp>
        <p:nvSpPr>
          <p:cNvPr id="31" name="TextBox 30"/>
          <p:cNvSpPr txBox="1"/>
          <p:nvPr/>
        </p:nvSpPr>
        <p:spPr>
          <a:xfrm>
            <a:off x="685800" y="4600575"/>
            <a:ext cx="4638675" cy="371475"/>
          </a:xfrm>
          <a:prstGeom prst="rect">
            <a:avLst/>
          </a:prstGeom>
          <a:noFill/>
          <a:effectLst/>
        </p:spPr>
        <p:txBody>
          <a:bodyPr wrap="square" lIns="0" rIns="0" tIns="0" bIns="0" anchor="t">
            <a:spAutoFit/>
          </a:bodyPr>
          <a:lstStyle/>
          <a:p>
            <a:pPr algn="r" rtl="1">
              <a:lnSpc>
                <a:spcPts val="2100"/>
              </a:lnSpc>
              <a:spcBef>
                <a:spcPts val="0"/>
              </a:spcBef>
              <a:spcAft>
                <a:spcPts val="0"/>
              </a:spcAft>
            </a:pPr>
            <a:r>
              <a:rPr sz="1875" b="1" lang="ar-EG">
                <a:solidFill>
                  <a:srgbClr val="29302D"/>
                </a:solidFill>
                <a:latin typeface="Manrope"/>
                <a:cs typeface="IBM Plex Sans Arabic Medium"/>
              </a:rPr>
              <a:t>متابعة أسهل</a:t>
            </a:r>
          </a:p>
        </p:txBody>
      </p:sp>
      <p:sp>
        <p:nvSpPr>
          <p:cNvPr id="32" name="TextBox 31"/>
          <p:cNvSpPr txBox="1"/>
          <p:nvPr/>
        </p:nvSpPr>
        <p:spPr>
          <a:xfrm>
            <a:off x="685800" y="5057775"/>
            <a:ext cx="4638675" cy="47625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716B"/>
                </a:solidFill>
                <a:latin typeface="Manrope"/>
                <a:cs typeface="IBM Plex Sans Arabic Medium"/>
              </a:rPr>
              <a:t>نكمل من سجل الخدمة الموجود.</a:t>
            </a:r>
          </a:p>
        </p:txBody>
      </p:sp>
      <p:sp>
        <p:nvSpPr>
          <p:cNvPr id="33" name="TextBox 32"/>
          <p:cNvSpPr txBox="1"/>
          <p:nvPr/>
        </p:nvSpPr>
        <p:spPr>
          <a:xfrm>
            <a:off x="571500" y="5924550"/>
            <a:ext cx="11049000" cy="3048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716B"/>
                </a:solidFill>
                <a:latin typeface="Manrope"/>
                <a:cs typeface="IBM Plex Sans Arabic Medium"/>
              </a:rPr>
              <a:t>فوائد متوقعة · نقيس التغيير في تجربة نتفق عليها.</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2"/>
                                  </p:tgtEl>
                                  <p:attrNameLst>
                                    <p:attrName>style.visibility</p:attrName>
                                  </p:attrNameLst>
                                </p:cBhvr>
                                <p:to>
                                  <p:strVal val="visible"/>
                                </p:to>
                              </p:set>
                              <p:animEffect transition="in" filter="fade">
                                <p:cBhvr>
                                  <p:cTn id="6" dur="500"/>
                                  <p:tgtEl>
                                    <p:spTgt spid="12"/>
                                  </p:tgtEl>
                                </p:cBhvr>
                              </p:animEffect>
                            </p:childTnLst>
                          </p:cTn>
                        </p:par>
                        <p:par>
                          <p:cTn id="7" presetID="10" presetClass="entr" presetSubtype="0" fill="hold" nodeType="withEffect">
                            <p:stCondLst>
                              <p:cond delay="0"/>
                            </p:stCondLst>
                            <p:childTnLst>
                              <p:set>
                                <p:cBhvr>
                                  <p:cTn id="8" dur="1" fill="hold"/>
                                  <p:tgtEl>
                                    <p:spTgt spid="13"/>
                                  </p:tgtEl>
                                  <p:attrNameLst>
                                    <p:attrName>style.visibility</p:attrName>
                                  </p:attrNameLst>
                                </p:cBhvr>
                                <p:to>
                                  <p:strVal val="visible"/>
                                </p:to>
                              </p:set>
                              <p:animEffect transition="in" filter="fade">
                                <p:cBhvr>
                                  <p:cTn id="9" dur="500"/>
                                  <p:tgtEl>
                                    <p:spTgt spid="13"/>
                                  </p:tgtEl>
                                </p:cBhvr>
                              </p:animEffect>
                            </p:childTnLst>
                          </p:cTn>
                        </p:par>
                        <p:par>
                          <p:cTn id="10" presetID="10" presetClass="entr" presetSubtype="0" fill="hold" nodeType="withEffect">
                            <p:stCondLst>
                              <p:cond delay="0"/>
                            </p:stCondLst>
                            <p:childTnLst>
                              <p:set>
                                <p:cBhvr>
                                  <p:cTn id="11" dur="1" fill="hold"/>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nodeType="withEffect">
                            <p:stCondLst>
                              <p:cond delay="0"/>
                            </p:stCondLst>
                            <p:childTnLst>
                              <p:set>
                                <p:cBhvr>
                                  <p:cTn id="14" dur="1" fill="hold"/>
                                  <p:tgtEl>
                                    <p:spTgt spid="15"/>
                                  </p:tgtEl>
                                  <p:attrNameLst>
                                    <p:attrName>style.visibility</p:attrName>
                                  </p:attrNameLst>
                                </p:cBhvr>
                                <p:to>
                                  <p:strVal val="visible"/>
                                </p:to>
                              </p:set>
                              <p:animEffect transition="in" filter="fade">
                                <p:cBhvr>
                                  <p:cTn id="15" dur="500"/>
                                  <p:tgtEl>
                                    <p:spTgt spid="15"/>
                                  </p:tgtEl>
                                </p:cBhvr>
                              </p:animEffect>
                            </p:childTnLst>
                          </p:cTn>
                        </p:par>
                        <p:par>
                          <p:cTn id="16" presetID="10" presetClass="entr" presetSubtype="0" fill="hold" nodeType="withEffect">
                            <p:stCondLst>
                              <p:cond delay="0"/>
                            </p:stCondLst>
                            <p:childTnLst>
                              <p:set>
                                <p:cBhvr>
                                  <p:cTn id="17" dur="1" fill="hold"/>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nodeType="withEffect">
                            <p:stCondLst>
                              <p:cond delay="0"/>
                            </p:stCondLst>
                            <p:childTnLst>
                              <p:set>
                                <p:cBhvr>
                                  <p:cTn id="20" dur="1" fill="hold"/>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nodeType="withEffect">
                            <p:stCondLst>
                              <p:cond delay="0"/>
                            </p:stCondLst>
                            <p:childTnLst>
                              <p:set>
                                <p:cBhvr>
                                  <p:cTn id="23" dur="1" fill="hold"/>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nodeType="withEffect">
                            <p:stCondLst>
                              <p:cond delay="0"/>
                            </p:stCondLst>
                            <p:childTnLst>
                              <p:set>
                                <p:cBhvr>
                                  <p:cTn id="26" dur="1" fill="hold"/>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nodeType="withEffect">
                            <p:stCondLst>
                              <p:cond delay="0"/>
                            </p:stCondLst>
                            <p:childTnLst>
                              <p:set>
                                <p:cBhvr>
                                  <p:cTn id="29" dur="1" fill="hold"/>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nodeType="withEffect">
                            <p:stCondLst>
                              <p:cond delay="0"/>
                            </p:stCondLst>
                            <p:childTnLst>
                              <p:set>
                                <p:cBhvr>
                                  <p:cTn id="32" dur="1" fill="hold"/>
                                  <p:tgtEl>
                                    <p:spTgt spid="21"/>
                                  </p:tgtEl>
                                  <p:attrNameLst>
                                    <p:attrName>style.visibility</p:attrName>
                                  </p:attrNameLst>
                                </p:cBhvr>
                                <p:to>
                                  <p:strVal val="visible"/>
                                </p:to>
                              </p:set>
                              <p:animEffect transition="in" filter="fade">
                                <p:cBhvr>
                                  <p:cTn id="33" dur="500"/>
                                  <p:tgtEl>
                                    <p:spTgt spid="21"/>
                                  </p:tgtEl>
                                </p:cBhvr>
                              </p:animEffect>
                            </p:childTnLst>
                          </p:cTn>
                        </p:par>
                        <p:par>
                          <p:cTn id="34" presetID="10" presetClass="entr" presetSubtype="0" fill="hold" nodeType="withEffect">
                            <p:stCondLst>
                              <p:cond delay="0"/>
                            </p:stCondLst>
                            <p:childTnLst>
                              <p:set>
                                <p:cBhvr>
                                  <p:cTn id="35" dur="1" fill="hold"/>
                                  <p:tgtEl>
                                    <p:spTgt spid="22"/>
                                  </p:tgtEl>
                                  <p:attrNameLst>
                                    <p:attrName>style.visibility</p:attrName>
                                  </p:attrNameLst>
                                </p:cBhvr>
                                <p:to>
                                  <p:strVal val="visible"/>
                                </p:to>
                              </p:set>
                              <p:animEffect transition="in" filter="fade">
                                <p:cBhvr>
                                  <p:cTn id="36" dur="500"/>
                                  <p:tgtEl>
                                    <p:spTgt spid="22"/>
                                  </p:tgtEl>
                                </p:cBhvr>
                              </p:animEffect>
                            </p:childTnLst>
                          </p:cTn>
                        </p:par>
                        <p:par>
                          <p:cTn id="37" presetID="10" presetClass="entr" presetSubtype="0" fill="hold" nodeType="withEffect">
                            <p:stCondLst>
                              <p:cond delay="1250"/>
                            </p:stCondLst>
                            <p:childTnLst>
                              <p:set>
                                <p:cBhvr>
                                  <p:cTn id="38" dur="1" fill="hold"/>
                                  <p:tgtEl>
                                    <p:spTgt spid="24"/>
                                  </p:tgtEl>
                                  <p:attrNameLst>
                                    <p:attrName>style.visibility</p:attrName>
                                  </p:attrNameLst>
                                </p:cBhvr>
                                <p:to>
                                  <p:strVal val="visible"/>
                                </p:to>
                              </p:set>
                              <p:animEffect transition="in" filter="fade">
                                <p:cBhvr>
                                  <p:cTn id="39" dur="500"/>
                                  <p:tgtEl>
                                    <p:spTgt spid="24"/>
                                  </p:tgtEl>
                                </p:cBhvr>
                              </p:animEffect>
                            </p:childTnLst>
                          </p:cTn>
                        </p:par>
                        <p:par>
                          <p:cTn id="40" presetID="10" presetClass="entr" presetSubtype="0" fill="hold" nodeType="withEffect">
                            <p:stCondLst>
                              <p:cond delay="1250"/>
                            </p:stCondLst>
                            <p:childTnLst>
                              <p:set>
                                <p:cBhvr>
                                  <p:cTn id="41" dur="1" fill="hold"/>
                                  <p:tgtEl>
                                    <p:spTgt spid="25"/>
                                  </p:tgtEl>
                                  <p:attrNameLst>
                                    <p:attrName>style.visibility</p:attrName>
                                  </p:attrNameLst>
                                </p:cBhvr>
                                <p:to>
                                  <p:strVal val="visible"/>
                                </p:to>
                              </p:set>
                              <p:animEffect transition="in" filter="fade">
                                <p:cBhvr>
                                  <p:cTn id="42" dur="500"/>
                                  <p:tgtEl>
                                    <p:spTgt spid="25"/>
                                  </p:tgtEl>
                                </p:cBhvr>
                              </p:animEffect>
                            </p:childTnLst>
                          </p:cTn>
                        </p:par>
                        <p:par>
                          <p:cTn id="43" presetID="10" presetClass="entr" presetSubtype="0" fill="hold" nodeType="withEffect">
                            <p:stCondLst>
                              <p:cond delay="1250"/>
                            </p:stCondLst>
                            <p:childTnLst>
                              <p:set>
                                <p:cBhvr>
                                  <p:cTn id="44" dur="1" fill="hold"/>
                                  <p:tgtEl>
                                    <p:spTgt spid="26"/>
                                  </p:tgtEl>
                                  <p:attrNameLst>
                                    <p:attrName>style.visibility</p:attrName>
                                  </p:attrNameLst>
                                </p:cBhvr>
                                <p:to>
                                  <p:strVal val="visible"/>
                                </p:to>
                              </p:set>
                              <p:animEffect transition="in" filter="fade">
                                <p:cBhvr>
                                  <p:cTn id="45" dur="500"/>
                                  <p:tgtEl>
                                    <p:spTgt spid="26"/>
                                  </p:tgtEl>
                                </p:cBhvr>
                              </p:animEffect>
                            </p:childTnLst>
                          </p:cTn>
                        </p:par>
                        <p:par>
                          <p:cTn id="46" presetID="10" presetClass="entr" presetSubtype="0" fill="hold" nodeType="withEffect">
                            <p:stCondLst>
                              <p:cond delay="1250"/>
                            </p:stCondLst>
                            <p:childTnLst>
                              <p:set>
                                <p:cBhvr>
                                  <p:cTn id="47" dur="1" fill="hold"/>
                                  <p:tgtEl>
                                    <p:spTgt spid="27"/>
                                  </p:tgtEl>
                                  <p:attrNameLst>
                                    <p:attrName>style.visibility</p:attrName>
                                  </p:attrNameLst>
                                </p:cBhvr>
                                <p:to>
                                  <p:strVal val="visible"/>
                                </p:to>
                              </p:set>
                              <p:animEffect transition="in" filter="fade">
                                <p:cBhvr>
                                  <p:cTn id="48" dur="500"/>
                                  <p:tgtEl>
                                    <p:spTgt spid="27"/>
                                  </p:tgtEl>
                                </p:cBhvr>
                              </p:animEffect>
                            </p:childTnLst>
                          </p:cTn>
                        </p:par>
                        <p:par>
                          <p:cTn id="49" presetID="10" presetClass="entr" presetSubtype="0" fill="hold" nodeType="withEffect">
                            <p:stCondLst>
                              <p:cond delay="2500"/>
                            </p:stCondLst>
                            <p:childTnLst>
                              <p:set>
                                <p:cBhvr>
                                  <p:cTn id="50" dur="1" fill="hold"/>
                                  <p:tgtEl>
                                    <p:spTgt spid="29"/>
                                  </p:tgtEl>
                                  <p:attrNameLst>
                                    <p:attrName>style.visibility</p:attrName>
                                  </p:attrNameLst>
                                </p:cBhvr>
                                <p:to>
                                  <p:strVal val="visible"/>
                                </p:to>
                              </p:set>
                              <p:animEffect transition="in" filter="fade">
                                <p:cBhvr>
                                  <p:cTn id="51" dur="500"/>
                                  <p:tgtEl>
                                    <p:spTgt spid="29"/>
                                  </p:tgtEl>
                                </p:cBhvr>
                              </p:animEffect>
                            </p:childTnLst>
                          </p:cTn>
                        </p:par>
                        <p:par>
                          <p:cTn id="52" presetID="10" presetClass="entr" presetSubtype="0" fill="hold" nodeType="withEffect">
                            <p:stCondLst>
                              <p:cond delay="2500"/>
                            </p:stCondLst>
                            <p:childTnLst>
                              <p:set>
                                <p:cBhvr>
                                  <p:cTn id="53" dur="1" fill="hold"/>
                                  <p:tgtEl>
                                    <p:spTgt spid="30"/>
                                  </p:tgtEl>
                                  <p:attrNameLst>
                                    <p:attrName>style.visibility</p:attrName>
                                  </p:attrNameLst>
                                </p:cBhvr>
                                <p:to>
                                  <p:strVal val="visible"/>
                                </p:to>
                              </p:set>
                              <p:animEffect transition="in" filter="fade">
                                <p:cBhvr>
                                  <p:cTn id="54" dur="500"/>
                                  <p:tgtEl>
                                    <p:spTgt spid="30"/>
                                  </p:tgtEl>
                                </p:cBhvr>
                              </p:animEffect>
                            </p:childTnLst>
                          </p:cTn>
                        </p:par>
                        <p:par>
                          <p:cTn id="55" presetID="10" presetClass="entr" presetSubtype="0" fill="hold" nodeType="withEffect">
                            <p:stCondLst>
                              <p:cond delay="2500"/>
                            </p:stCondLst>
                            <p:childTnLst>
                              <p:set>
                                <p:cBhvr>
                                  <p:cTn id="56" dur="1" fill="hold"/>
                                  <p:tgtEl>
                                    <p:spTgt spid="31"/>
                                  </p:tgtEl>
                                  <p:attrNameLst>
                                    <p:attrName>style.visibility</p:attrName>
                                  </p:attrNameLst>
                                </p:cBhvr>
                                <p:to>
                                  <p:strVal val="visible"/>
                                </p:to>
                              </p:set>
                              <p:animEffect transition="in" filter="fade">
                                <p:cBhvr>
                                  <p:cTn id="57" dur="500"/>
                                  <p:tgtEl>
                                    <p:spTgt spid="31"/>
                                  </p:tgtEl>
                                </p:cBhvr>
                              </p:animEffect>
                            </p:childTnLst>
                          </p:cTn>
                        </p:par>
                        <p:par>
                          <p:cTn id="58" presetID="10" presetClass="entr" presetSubtype="0" fill="hold" nodeType="withEffect">
                            <p:stCondLst>
                              <p:cond delay="2500"/>
                            </p:stCondLst>
                            <p:childTnLst>
                              <p:set>
                                <p:cBhvr>
                                  <p:cTn id="59" dur="1" fill="hold"/>
                                  <p:tgtEl>
                                    <p:spTgt spid="32"/>
                                  </p:tgtEl>
                                  <p:attrNameLst>
                                    <p:attrName>style.visibility</p:attrName>
                                  </p:attrNameLst>
                                </p:cBhvr>
                                <p:to>
                                  <p:strVal val="visible"/>
                                </p:to>
                              </p:set>
                              <p:animEffect transition="in" filter="fade">
                                <p:cBhvr>
                                  <p:cTn id="60" dur="500"/>
                                  <p:tgtEl>
                                    <p:spTgt spid="3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210925" y="292100"/>
            <a:ext cx="409575" cy="273050"/>
          </a:xfrm>
          <a:prstGeom prst="rect">
            <a:avLst/>
          </a:prstGeom>
          <a:effectLst/>
        </p:spPr>
      </p:pic>
      <p:sp>
        <p:nvSpPr>
          <p:cNvPr id="3" name="TextBox 2"/>
          <p:cNvSpPr txBox="1"/>
          <p:nvPr/>
        </p:nvSpPr>
        <p:spPr>
          <a:xfrm>
            <a:off x="9629775" y="323850"/>
            <a:ext cx="1466850" cy="257175"/>
          </a:xfrm>
          <a:prstGeom prst="rect">
            <a:avLst/>
          </a:prstGeom>
          <a:noFill/>
          <a:effectLst/>
        </p:spPr>
        <p:txBody>
          <a:bodyPr wrap="square" lIns="0" rIns="0" tIns="0" bIns="0" anchor="t">
            <a:spAutoFit/>
          </a:bodyPr>
          <a:lstStyle/>
          <a:p>
            <a:pPr algn="r" rtl="0">
              <a:lnSpc>
                <a:spcPts val="1428"/>
              </a:lnSpc>
              <a:spcBef>
                <a:spcPts val="0"/>
              </a:spcBef>
              <a:spcAft>
                <a:spcPts val="0"/>
              </a:spcAft>
            </a:pPr>
            <a:r>
              <a:rPr sz="1275" b="1" lang="ar-EG">
                <a:solidFill>
                  <a:srgbClr val="29302D"/>
                </a:solidFill>
                <a:latin typeface="Manrope"/>
                <a:cs typeface="IBM Plex Sans Arabic Medium"/>
              </a:rPr>
              <a:t>GRINDCTRL</a:t>
            </a:r>
          </a:p>
        </p:txBody>
      </p:sp>
      <p:sp>
        <p:nvSpPr>
          <p:cNvPr id="4" name="TextBox 3"/>
          <p:cNvSpPr txBox="1"/>
          <p:nvPr/>
        </p:nvSpPr>
        <p:spPr>
          <a:xfrm>
            <a:off x="571500" y="333375"/>
            <a:ext cx="4171950" cy="247650"/>
          </a:xfrm>
          <a:prstGeom prst="rect">
            <a:avLst/>
          </a:prstGeom>
          <a:noFill/>
          <a:effectLst/>
        </p:spPr>
        <p:txBody>
          <a:bodyPr wrap="square" lIns="0" rIns="0" tIns="0" bIns="0" anchor="t">
            <a:spAutoFit/>
          </a:bodyPr>
          <a:lstStyle/>
          <a:p>
            <a:pPr algn="l" rtl="1">
              <a:lnSpc>
                <a:spcPts val="1176"/>
              </a:lnSpc>
              <a:spcBef>
                <a:spcPts val="0"/>
              </a:spcBef>
              <a:spcAft>
                <a:spcPts val="0"/>
              </a:spcAft>
            </a:pPr>
            <a:r>
              <a:rPr sz="1050" b="0" lang="ar-EG">
                <a:solidFill>
                  <a:srgbClr val="68716B"/>
                </a:solidFill>
                <a:latin typeface="Manrope"/>
                <a:cs typeface="IBM Plex Sans Arabic Medium"/>
              </a:rPr>
              <a:t>٠٧ · خطوة مستقبلية اختيارية</a:t>
            </a:r>
          </a:p>
        </p:txBody>
      </p:sp>
      <p:sp>
        <p:nvSpPr>
          <p:cNvPr id="5" name="TextBox 4"/>
          <p:cNvSpPr txBox="1"/>
          <p:nvPr/>
        </p:nvSpPr>
        <p:spPr>
          <a:xfrm>
            <a:off x="571500" y="895350"/>
            <a:ext cx="11049000" cy="609600"/>
          </a:xfrm>
          <a:prstGeom prst="rect">
            <a:avLst/>
          </a:prstGeom>
          <a:noFill/>
          <a:effectLst/>
        </p:spPr>
        <p:txBody>
          <a:bodyPr wrap="square" lIns="0" rIns="0" tIns="0" bIns="0" anchor="t">
            <a:spAutoFit/>
          </a:bodyPr>
          <a:lstStyle/>
          <a:p>
            <a:pPr algn="r" rtl="1">
              <a:lnSpc>
                <a:spcPts val="3528"/>
              </a:lnSpc>
              <a:spcBef>
                <a:spcPts val="0"/>
              </a:spcBef>
              <a:spcAft>
                <a:spcPts val="0"/>
              </a:spcAft>
            </a:pPr>
            <a:r>
              <a:rPr sz="3150" b="1" lang="ar-EG">
                <a:solidFill>
                  <a:srgbClr val="29302D"/>
                </a:solidFill>
                <a:latin typeface="Manrope"/>
                <a:cs typeface="IBM Plex Sans Arabic Medium"/>
              </a:rPr>
              <a:t>أساس لإضافات مستقبلية مفيدة.</a:t>
            </a:r>
          </a:p>
        </p:txBody>
      </p:sp>
      <p:sp>
        <p:nvSpPr>
          <p:cNvPr id="6" name="TextBox 5"/>
          <p:cNvSpPr txBox="1"/>
          <p:nvPr/>
        </p:nvSpPr>
        <p:spPr>
          <a:xfrm>
            <a:off x="571500" y="1581150"/>
            <a:ext cx="11049000" cy="3619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68716B"/>
                </a:solidFill>
                <a:latin typeface="Manrope"/>
                <a:cs typeface="IBM Plex Sans Arabic Medium"/>
              </a:rPr>
              <a:t>إمكانيات اختيارية، نتفق على نطاقها بشكل منفصل عن التسليم الأول.</a:t>
            </a:r>
          </a:p>
        </p:txBody>
      </p:sp>
      <p:cxnSp>
        <p:nvCxnSpPr>
          <p:cNvPr id="7" name="Connector 6"/>
          <p:cNvCxnSpPr/>
          <p:nvPr/>
        </p:nvCxnSpPr>
        <p:spPr>
          <a:xfrm flipH="1">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2095500" y="6534150"/>
            <a:ext cx="9525000" cy="219075"/>
          </a:xfrm>
          <a:prstGeom prst="rect">
            <a:avLst/>
          </a:prstGeom>
          <a:noFill/>
          <a:effectLst/>
        </p:spPr>
        <p:txBody>
          <a:bodyPr wrap="square" lIns="0" rIns="0" tIns="0" bIns="0" anchor="t">
            <a:spAutoFit/>
          </a:bodyPr>
          <a:lstStyle/>
          <a:p>
            <a:pPr algn="r" rtl="1">
              <a:lnSpc>
                <a:spcPts val="1008"/>
              </a:lnSpc>
              <a:spcBef>
                <a:spcPts val="0"/>
              </a:spcBef>
              <a:spcAft>
                <a:spcPts val="0"/>
              </a:spcAft>
            </a:pPr>
            <a:r>
              <a:rPr sz="900" b="0" lang="ar-EG">
                <a:solidFill>
                  <a:srgbClr val="68716B"/>
                </a:solidFill>
                <a:latin typeface="Manrope"/>
                <a:cs typeface="IBM Plex Sans Arabic Medium"/>
              </a:rPr>
              <a:t>كونكريت · تعاون مقترح</a:t>
            </a:r>
          </a:p>
        </p:txBody>
      </p:sp>
      <p:sp>
        <p:nvSpPr>
          <p:cNvPr id="9" name="TextBox 8"/>
          <p:cNvSpPr txBox="1"/>
          <p:nvPr/>
        </p:nvSpPr>
        <p:spPr>
          <a:xfrm>
            <a:off x="571500" y="6515100"/>
            <a:ext cx="83820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716B"/>
                </a:solidFill>
                <a:latin typeface="Manrope"/>
                <a:cs typeface="IBM Plex Sans Arabic Medium"/>
              </a:rPr>
              <a:t>08 / 09</a:t>
            </a:r>
          </a:p>
        </p:txBody>
      </p:sp>
      <p:sp>
        <p:nvSpPr>
          <p:cNvPr id="10" name="Rounded Rectangle 9"/>
          <p:cNvSpPr/>
          <p:nvPr/>
        </p:nvSpPr>
        <p:spPr>
          <a:xfrm>
            <a:off x="561975" y="2371725"/>
            <a:ext cx="11049000" cy="3409950"/>
          </a:xfrm>
          <a:prstGeom prst="roundRect">
            <a:avLst>
              <a:gd name="adj" fmla="val 4469"/>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571500" y="2324100"/>
            <a:ext cx="11049000" cy="3409950"/>
          </a:xfrm>
          <a:prstGeom prst="roundRect">
            <a:avLst>
              <a:gd name="adj" fmla="val 4469"/>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 name="Connector 11"/>
          <p:cNvCxnSpPr/>
          <p:nvPr/>
        </p:nvCxnSpPr>
        <p:spPr>
          <a:xfrm>
            <a:off x="6096000" y="2571750"/>
            <a:ext cx="0" cy="293370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flipH="1">
            <a:off x="828675" y="4029075"/>
            <a:ext cx="1053465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14" name="Oval 13"/>
          <p:cNvSpPr/>
          <p:nvPr/>
        </p:nvSpPr>
        <p:spPr>
          <a:xfrm>
            <a:off x="10906125" y="2638425"/>
            <a:ext cx="419100" cy="41910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icon-file.png"/>
          <p:cNvPicPr>
            <a:picLocks noChangeAspect="1"/>
          </p:cNvPicPr>
          <p:nvPr/>
        </p:nvPicPr>
        <p:blipFill>
          <a:blip r:embed="rId3"/>
          <a:stretch>
            <a:fillRect/>
          </a:stretch>
        </p:blipFill>
        <p:spPr>
          <a:xfrm>
            <a:off x="11001375" y="2733675"/>
            <a:ext cx="228600" cy="228600"/>
          </a:xfrm>
          <a:prstGeom prst="rect">
            <a:avLst/>
          </a:prstGeom>
          <a:effectLst/>
        </p:spPr>
      </p:pic>
      <p:sp>
        <p:nvSpPr>
          <p:cNvPr id="16" name="TextBox 15"/>
          <p:cNvSpPr txBox="1"/>
          <p:nvPr/>
        </p:nvSpPr>
        <p:spPr>
          <a:xfrm>
            <a:off x="6315075" y="2657475"/>
            <a:ext cx="4381500" cy="381000"/>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9302D"/>
                </a:solidFill>
                <a:latin typeface="Manrope"/>
                <a:cs typeface="IBM Plex Sans Arabic Medium"/>
              </a:rPr>
              <a:t>ملخصات AI للتذاكر</a:t>
            </a:r>
          </a:p>
        </p:txBody>
      </p:sp>
      <p:sp>
        <p:nvSpPr>
          <p:cNvPr id="17" name="TextBox 16"/>
          <p:cNvSpPr txBox="1"/>
          <p:nvPr/>
        </p:nvSpPr>
        <p:spPr>
          <a:xfrm>
            <a:off x="6315075" y="3171825"/>
            <a:ext cx="4381500" cy="68580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68716B"/>
                </a:solidFill>
                <a:latin typeface="Manrope"/>
                <a:cs typeface="IBM Plex Sans Arabic Medium"/>
              </a:rPr>
              <a:t>ملخصات قصيرة بمراجع للملاحظات الأصلية.</a:t>
            </a:r>
          </a:p>
        </p:txBody>
      </p:sp>
      <p:sp>
        <p:nvSpPr>
          <p:cNvPr id="18" name="Oval 17"/>
          <p:cNvSpPr/>
          <p:nvPr/>
        </p:nvSpPr>
        <p:spPr>
          <a:xfrm>
            <a:off x="5381625" y="2638425"/>
            <a:ext cx="419100" cy="41910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9" name="Picture 18" descr="icon-quality.png"/>
          <p:cNvPicPr>
            <a:picLocks noChangeAspect="1"/>
          </p:cNvPicPr>
          <p:nvPr/>
        </p:nvPicPr>
        <p:blipFill>
          <a:blip r:embed="rId4"/>
          <a:stretch>
            <a:fillRect/>
          </a:stretch>
        </p:blipFill>
        <p:spPr>
          <a:xfrm>
            <a:off x="5476875" y="2733675"/>
            <a:ext cx="228600" cy="228600"/>
          </a:xfrm>
          <a:prstGeom prst="rect">
            <a:avLst/>
          </a:prstGeom>
          <a:effectLst/>
        </p:spPr>
      </p:pic>
      <p:sp>
        <p:nvSpPr>
          <p:cNvPr id="20" name="TextBox 19"/>
          <p:cNvSpPr txBox="1"/>
          <p:nvPr/>
        </p:nvSpPr>
        <p:spPr>
          <a:xfrm>
            <a:off x="790575" y="2657475"/>
            <a:ext cx="4381500" cy="381000"/>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9302D"/>
                </a:solidFill>
                <a:latin typeface="Manrope"/>
                <a:cs typeface="IBM Plex Sans Arabic Medium"/>
              </a:rPr>
              <a:t>اكتشاف المشكلات المتكررة</a:t>
            </a:r>
          </a:p>
        </p:txBody>
      </p:sp>
      <p:sp>
        <p:nvSpPr>
          <p:cNvPr id="21" name="TextBox 20"/>
          <p:cNvSpPr txBox="1"/>
          <p:nvPr/>
        </p:nvSpPr>
        <p:spPr>
          <a:xfrm>
            <a:off x="790575" y="3171825"/>
            <a:ext cx="4381500" cy="68580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68716B"/>
                </a:solidFill>
                <a:latin typeface="Manrope"/>
                <a:cs typeface="IBM Plex Sans Arabic Medium"/>
              </a:rPr>
              <a:t>اكتشاف أنماط عبر تذاكر الخدمة الموجودة.</a:t>
            </a:r>
          </a:p>
        </p:txBody>
      </p:sp>
      <p:sp>
        <p:nvSpPr>
          <p:cNvPr id="22" name="Oval 21"/>
          <p:cNvSpPr/>
          <p:nvPr/>
        </p:nvSpPr>
        <p:spPr>
          <a:xfrm>
            <a:off x="10906125" y="4314825"/>
            <a:ext cx="419100" cy="41910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icon-actor.png"/>
          <p:cNvPicPr>
            <a:picLocks noChangeAspect="1"/>
          </p:cNvPicPr>
          <p:nvPr/>
        </p:nvPicPr>
        <p:blipFill>
          <a:blip r:embed="rId5"/>
          <a:stretch>
            <a:fillRect/>
          </a:stretch>
        </p:blipFill>
        <p:spPr>
          <a:xfrm>
            <a:off x="11001375" y="4410075"/>
            <a:ext cx="228600" cy="228600"/>
          </a:xfrm>
          <a:prstGeom prst="rect">
            <a:avLst/>
          </a:prstGeom>
          <a:effectLst/>
        </p:spPr>
      </p:pic>
      <p:sp>
        <p:nvSpPr>
          <p:cNvPr id="24" name="TextBox 23"/>
          <p:cNvSpPr txBox="1"/>
          <p:nvPr/>
        </p:nvSpPr>
        <p:spPr>
          <a:xfrm>
            <a:off x="6315075" y="4333875"/>
            <a:ext cx="4381500" cy="381000"/>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9302D"/>
                </a:solidFill>
                <a:latin typeface="Manrope"/>
                <a:cs typeface="IBM Plex Sans Arabic Medium"/>
              </a:rPr>
              <a:t>رؤية أوضح للإدارة</a:t>
            </a:r>
          </a:p>
        </p:txBody>
      </p:sp>
      <p:sp>
        <p:nvSpPr>
          <p:cNvPr id="25" name="TextBox 24"/>
          <p:cNvSpPr txBox="1"/>
          <p:nvPr/>
        </p:nvSpPr>
        <p:spPr>
          <a:xfrm>
            <a:off x="6315075" y="4848225"/>
            <a:ext cx="4381500" cy="68580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68716B"/>
                </a:solidFill>
                <a:latin typeface="Manrope"/>
                <a:cs typeface="IBM Plex Sans Arabic Medium"/>
              </a:rPr>
              <a:t>رؤية أوضح لأنماط الخدمة والمتابعة.</a:t>
            </a:r>
          </a:p>
        </p:txBody>
      </p:sp>
      <p:sp>
        <p:nvSpPr>
          <p:cNvPr id="26" name="Oval 25"/>
          <p:cNvSpPr/>
          <p:nvPr/>
        </p:nvSpPr>
        <p:spPr>
          <a:xfrm>
            <a:off x="5381625" y="4314825"/>
            <a:ext cx="419100" cy="419100"/>
          </a:xfrm>
          <a:prstGeom prst="ellipse">
            <a:avLst/>
          </a:prstGeom>
          <a:solidFill>
            <a:srgbClr val="F3F5F1"/>
          </a:solidFill>
          <a:ln w="9525">
            <a:solidFill>
              <a:srgbClr val="F3F5F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icon-clock.png"/>
          <p:cNvPicPr>
            <a:picLocks noChangeAspect="1"/>
          </p:cNvPicPr>
          <p:nvPr/>
        </p:nvPicPr>
        <p:blipFill>
          <a:blip r:embed="rId6"/>
          <a:stretch>
            <a:fillRect/>
          </a:stretch>
        </p:blipFill>
        <p:spPr>
          <a:xfrm>
            <a:off x="5476875" y="4410075"/>
            <a:ext cx="228600" cy="228600"/>
          </a:xfrm>
          <a:prstGeom prst="rect">
            <a:avLst/>
          </a:prstGeom>
          <a:effectLst/>
        </p:spPr>
      </p:pic>
      <p:sp>
        <p:nvSpPr>
          <p:cNvPr id="28" name="TextBox 27"/>
          <p:cNvSpPr txBox="1"/>
          <p:nvPr/>
        </p:nvSpPr>
        <p:spPr>
          <a:xfrm>
            <a:off x="790575" y="4333875"/>
            <a:ext cx="4381500" cy="381000"/>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1" lang="ar-EG">
                <a:solidFill>
                  <a:srgbClr val="29302D"/>
                </a:solidFill>
                <a:latin typeface="Manrope"/>
                <a:cs typeface="IBM Plex Sans Arabic Medium"/>
              </a:rPr>
              <a:t>مساعدة في المتابعة</a:t>
            </a:r>
          </a:p>
        </p:txBody>
      </p:sp>
      <p:sp>
        <p:nvSpPr>
          <p:cNvPr id="29" name="TextBox 28"/>
          <p:cNvSpPr txBox="1"/>
          <p:nvPr/>
        </p:nvSpPr>
        <p:spPr>
          <a:xfrm>
            <a:off x="790575" y="4848225"/>
            <a:ext cx="4381500" cy="68580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68716B"/>
                </a:solidFill>
                <a:latin typeface="Manrope"/>
                <a:cs typeface="IBM Plex Sans Arabic Medium"/>
              </a:rPr>
              <a:t>اقتراحات للخطوات التالية يراجعها الموظف.</a:t>
            </a:r>
          </a:p>
        </p:txBody>
      </p:sp>
      <p:sp>
        <p:nvSpPr>
          <p:cNvPr id="30" name="TextBox 29"/>
          <p:cNvSpPr txBox="1"/>
          <p:nvPr/>
        </p:nvSpPr>
        <p:spPr>
          <a:xfrm>
            <a:off x="571500" y="5962650"/>
            <a:ext cx="11049000" cy="304800"/>
          </a:xfrm>
          <a:prstGeom prst="rect">
            <a:avLst/>
          </a:prstGeom>
          <a:noFill/>
          <a:effectLst/>
        </p:spPr>
        <p:txBody>
          <a:bodyPr wrap="square" lIns="0" rIns="0" tIns="0" bIns="0" anchor="t">
            <a:spAutoFit/>
          </a:bodyPr>
          <a:lstStyle/>
          <a:p>
            <a:pPr algn="r" rtl="1">
              <a:lnSpc>
                <a:spcPts val="1596"/>
              </a:lnSpc>
              <a:spcBef>
                <a:spcPts val="0"/>
              </a:spcBef>
              <a:spcAft>
                <a:spcPts val="0"/>
              </a:spcAft>
            </a:pPr>
            <a:r>
              <a:rPr sz="1425" b="0" lang="ar-EG">
                <a:solidFill>
                  <a:srgbClr val="68716B"/>
                </a:solidFill>
                <a:latin typeface="Manrope"/>
                <a:cs typeface="IBM Plex Sans Arabic Medium"/>
              </a:rPr>
              <a:t>التسليم الأول يركز على ظهور معلومات المتصل.</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4"/>
                                  </p:tgtEl>
                                  <p:attrNameLst>
                                    <p:attrName>style.visibility</p:attrName>
                                  </p:attrNameLst>
                                </p:cBhvr>
                                <p:to>
                                  <p:strVal val="visible"/>
                                </p:to>
                              </p:set>
                              <p:animEffect transition="in" filter="fade">
                                <p:cBhvr>
                                  <p:cTn id="6" dur="500"/>
                                  <p:tgtEl>
                                    <p:spTgt spid="14"/>
                                  </p:tgtEl>
                                </p:cBhvr>
                              </p:animEffect>
                            </p:childTnLst>
                          </p:cTn>
                        </p:par>
                        <p:par>
                          <p:cTn id="7" presetID="10" presetClass="entr" presetSubtype="0" fill="hold" nodeType="withEffect">
                            <p:stCondLst>
                              <p:cond delay="0"/>
                            </p:stCondLst>
                            <p:childTnLst>
                              <p:set>
                                <p:cBhvr>
                                  <p:cTn id="8" dur="1" fill="hold"/>
                                  <p:tgtEl>
                                    <p:spTgt spid="15"/>
                                  </p:tgtEl>
                                  <p:attrNameLst>
                                    <p:attrName>style.visibility</p:attrName>
                                  </p:attrNameLst>
                                </p:cBhvr>
                                <p:to>
                                  <p:strVal val="visible"/>
                                </p:to>
                              </p:set>
                              <p:animEffect transition="in" filter="fade">
                                <p:cBhvr>
                                  <p:cTn id="9" dur="500"/>
                                  <p:tgtEl>
                                    <p:spTgt spid="15"/>
                                  </p:tgtEl>
                                </p:cBhvr>
                              </p:animEffect>
                            </p:childTnLst>
                          </p:cTn>
                        </p:par>
                        <p:par>
                          <p:cTn id="10" presetID="10" presetClass="entr" presetSubtype="0" fill="hold" nodeType="withEffect">
                            <p:stCondLst>
                              <p:cond delay="0"/>
                            </p:stCondLst>
                            <p:childTnLst>
                              <p:set>
                                <p:cBhvr>
                                  <p:cTn id="11" dur="1" fill="hold"/>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10" presetClass="entr" presetSubtype="0" fill="hold" nodeType="withEffect">
                            <p:stCondLst>
                              <p:cond delay="0"/>
                            </p:stCondLst>
                            <p:childTnLst>
                              <p:set>
                                <p:cBhvr>
                                  <p:cTn id="14" dur="1" fill="hold"/>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nodeType="withEffect">
                            <p:stCondLst>
                              <p:cond delay="1250"/>
                            </p:stCondLst>
                            <p:childTnLst>
                              <p:set>
                                <p:cBhvr>
                                  <p:cTn id="17" dur="1" fill="hold"/>
                                  <p:tgtEl>
                                    <p:spTgt spid="18"/>
                                  </p:tgtEl>
                                  <p:attrNameLst>
                                    <p:attrName>style.visibility</p:attrName>
                                  </p:attrNameLst>
                                </p:cBhvr>
                                <p:to>
                                  <p:strVal val="visible"/>
                                </p:to>
                              </p:set>
                              <p:animEffect transition="in" filter="fade">
                                <p:cBhvr>
                                  <p:cTn id="18" dur="500"/>
                                  <p:tgtEl>
                                    <p:spTgt spid="18"/>
                                  </p:tgtEl>
                                </p:cBhvr>
                              </p:animEffect>
                            </p:childTnLst>
                          </p:cTn>
                        </p:par>
                        <p:par>
                          <p:cTn id="19" presetID="10" presetClass="entr" presetSubtype="0" fill="hold" nodeType="withEffect">
                            <p:stCondLst>
                              <p:cond delay="1250"/>
                            </p:stCondLst>
                            <p:childTnLst>
                              <p:set>
                                <p:cBhvr>
                                  <p:cTn id="20" dur="1" fill="hold"/>
                                  <p:tgtEl>
                                    <p:spTgt spid="19"/>
                                  </p:tgtEl>
                                  <p:attrNameLst>
                                    <p:attrName>style.visibility</p:attrName>
                                  </p:attrNameLst>
                                </p:cBhvr>
                                <p:to>
                                  <p:strVal val="visible"/>
                                </p:to>
                              </p:set>
                              <p:animEffect transition="in" filter="fade">
                                <p:cBhvr>
                                  <p:cTn id="21" dur="500"/>
                                  <p:tgtEl>
                                    <p:spTgt spid="19"/>
                                  </p:tgtEl>
                                </p:cBhvr>
                              </p:animEffect>
                            </p:childTnLst>
                          </p:cTn>
                        </p:par>
                        <p:par>
                          <p:cTn id="22" presetID="10" presetClass="entr" presetSubtype="0" fill="hold" nodeType="withEffect">
                            <p:stCondLst>
                              <p:cond delay="1250"/>
                            </p:stCondLst>
                            <p:childTnLst>
                              <p:set>
                                <p:cBhvr>
                                  <p:cTn id="23" dur="1" fill="hold"/>
                                  <p:tgtEl>
                                    <p:spTgt spid="20"/>
                                  </p:tgtEl>
                                  <p:attrNameLst>
                                    <p:attrName>style.visibility</p:attrName>
                                  </p:attrNameLst>
                                </p:cBhvr>
                                <p:to>
                                  <p:strVal val="visible"/>
                                </p:to>
                              </p:set>
                              <p:animEffect transition="in" filter="fade">
                                <p:cBhvr>
                                  <p:cTn id="24" dur="500"/>
                                  <p:tgtEl>
                                    <p:spTgt spid="20"/>
                                  </p:tgtEl>
                                </p:cBhvr>
                              </p:animEffect>
                            </p:childTnLst>
                          </p:cTn>
                        </p:par>
                        <p:par>
                          <p:cTn id="25" presetID="10" presetClass="entr" presetSubtype="0" fill="hold" nodeType="withEffect">
                            <p:stCondLst>
                              <p:cond delay="1250"/>
                            </p:stCondLst>
                            <p:childTnLst>
                              <p:set>
                                <p:cBhvr>
                                  <p:cTn id="26" dur="1" fill="hold"/>
                                  <p:tgtEl>
                                    <p:spTgt spid="21"/>
                                  </p:tgtEl>
                                  <p:attrNameLst>
                                    <p:attrName>style.visibility</p:attrName>
                                  </p:attrNameLst>
                                </p:cBhvr>
                                <p:to>
                                  <p:strVal val="visible"/>
                                </p:to>
                              </p:set>
                              <p:animEffect transition="in" filter="fade">
                                <p:cBhvr>
                                  <p:cTn id="27" dur="500"/>
                                  <p:tgtEl>
                                    <p:spTgt spid="21"/>
                                  </p:tgtEl>
                                </p:cBhvr>
                              </p:animEffect>
                            </p:childTnLst>
                          </p:cTn>
                        </p:par>
                        <p:par>
                          <p:cTn id="28" presetID="10" presetClass="entr" presetSubtype="0" fill="hold" nodeType="withEffect">
                            <p:stCondLst>
                              <p:cond delay="2500"/>
                            </p:stCondLst>
                            <p:childTnLst>
                              <p:set>
                                <p:cBhvr>
                                  <p:cTn id="29" dur="1" fill="hold"/>
                                  <p:tgtEl>
                                    <p:spTgt spid="22"/>
                                  </p:tgtEl>
                                  <p:attrNameLst>
                                    <p:attrName>style.visibility</p:attrName>
                                  </p:attrNameLst>
                                </p:cBhvr>
                                <p:to>
                                  <p:strVal val="visible"/>
                                </p:to>
                              </p:set>
                              <p:animEffect transition="in" filter="fade">
                                <p:cBhvr>
                                  <p:cTn id="30" dur="500"/>
                                  <p:tgtEl>
                                    <p:spTgt spid="22"/>
                                  </p:tgtEl>
                                </p:cBhvr>
                              </p:animEffect>
                            </p:childTnLst>
                          </p:cTn>
                        </p:par>
                        <p:par>
                          <p:cTn id="31" presetID="10" presetClass="entr" presetSubtype="0" fill="hold" nodeType="withEffect">
                            <p:stCondLst>
                              <p:cond delay="2500"/>
                            </p:stCondLst>
                            <p:childTnLst>
                              <p:set>
                                <p:cBhvr>
                                  <p:cTn id="32" dur="1" fill="hold"/>
                                  <p:tgtEl>
                                    <p:spTgt spid="23"/>
                                  </p:tgtEl>
                                  <p:attrNameLst>
                                    <p:attrName>style.visibility</p:attrName>
                                  </p:attrNameLst>
                                </p:cBhvr>
                                <p:to>
                                  <p:strVal val="visible"/>
                                </p:to>
                              </p:set>
                              <p:animEffect transition="in" filter="fade">
                                <p:cBhvr>
                                  <p:cTn id="33" dur="500"/>
                                  <p:tgtEl>
                                    <p:spTgt spid="23"/>
                                  </p:tgtEl>
                                </p:cBhvr>
                              </p:animEffect>
                            </p:childTnLst>
                          </p:cTn>
                        </p:par>
                        <p:par>
                          <p:cTn id="34" presetID="10" presetClass="entr" presetSubtype="0" fill="hold" nodeType="withEffect">
                            <p:stCondLst>
                              <p:cond delay="2500"/>
                            </p:stCondLst>
                            <p:childTnLst>
                              <p:set>
                                <p:cBhvr>
                                  <p:cTn id="35" dur="1" fill="hold"/>
                                  <p:tgtEl>
                                    <p:spTgt spid="24"/>
                                  </p:tgtEl>
                                  <p:attrNameLst>
                                    <p:attrName>style.visibility</p:attrName>
                                  </p:attrNameLst>
                                </p:cBhvr>
                                <p:to>
                                  <p:strVal val="visible"/>
                                </p:to>
                              </p:set>
                              <p:animEffect transition="in" filter="fade">
                                <p:cBhvr>
                                  <p:cTn id="36" dur="500"/>
                                  <p:tgtEl>
                                    <p:spTgt spid="24"/>
                                  </p:tgtEl>
                                </p:cBhvr>
                              </p:animEffect>
                            </p:childTnLst>
                          </p:cTn>
                        </p:par>
                        <p:par>
                          <p:cTn id="37" presetID="10" presetClass="entr" presetSubtype="0" fill="hold" nodeType="withEffect">
                            <p:stCondLst>
                              <p:cond delay="2500"/>
                            </p:stCondLst>
                            <p:childTnLst>
                              <p:set>
                                <p:cBhvr>
                                  <p:cTn id="38" dur="1" fill="hold"/>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nodeType="withEffect">
                            <p:stCondLst>
                              <p:cond delay="3750"/>
                            </p:stCondLst>
                            <p:childTnLst>
                              <p:set>
                                <p:cBhvr>
                                  <p:cTn id="41" dur="1" fill="hold"/>
                                  <p:tgtEl>
                                    <p:spTgt spid="26"/>
                                  </p:tgtEl>
                                  <p:attrNameLst>
                                    <p:attrName>style.visibility</p:attrName>
                                  </p:attrNameLst>
                                </p:cBhvr>
                                <p:to>
                                  <p:strVal val="visible"/>
                                </p:to>
                              </p:set>
                              <p:animEffect transition="in" filter="fade">
                                <p:cBhvr>
                                  <p:cTn id="42" dur="500"/>
                                  <p:tgtEl>
                                    <p:spTgt spid="26"/>
                                  </p:tgtEl>
                                </p:cBhvr>
                              </p:animEffect>
                            </p:childTnLst>
                          </p:cTn>
                        </p:par>
                        <p:par>
                          <p:cTn id="43" presetID="10" presetClass="entr" presetSubtype="0" fill="hold" nodeType="withEffect">
                            <p:stCondLst>
                              <p:cond delay="3750"/>
                            </p:stCondLst>
                            <p:childTnLst>
                              <p:set>
                                <p:cBhvr>
                                  <p:cTn id="44" dur="1" fill="hold"/>
                                  <p:tgtEl>
                                    <p:spTgt spid="27"/>
                                  </p:tgtEl>
                                  <p:attrNameLst>
                                    <p:attrName>style.visibility</p:attrName>
                                  </p:attrNameLst>
                                </p:cBhvr>
                                <p:to>
                                  <p:strVal val="visible"/>
                                </p:to>
                              </p:set>
                              <p:animEffect transition="in" filter="fade">
                                <p:cBhvr>
                                  <p:cTn id="45" dur="500"/>
                                  <p:tgtEl>
                                    <p:spTgt spid="27"/>
                                  </p:tgtEl>
                                </p:cBhvr>
                              </p:animEffect>
                            </p:childTnLst>
                          </p:cTn>
                        </p:par>
                        <p:par>
                          <p:cTn id="46" presetID="10" presetClass="entr" presetSubtype="0" fill="hold" nodeType="withEffect">
                            <p:stCondLst>
                              <p:cond delay="3750"/>
                            </p:stCondLst>
                            <p:childTnLst>
                              <p:set>
                                <p:cBhvr>
                                  <p:cTn id="47" dur="1" fill="hold"/>
                                  <p:tgtEl>
                                    <p:spTgt spid="28"/>
                                  </p:tgtEl>
                                  <p:attrNameLst>
                                    <p:attrName>style.visibility</p:attrName>
                                  </p:attrNameLst>
                                </p:cBhvr>
                                <p:to>
                                  <p:strVal val="visible"/>
                                </p:to>
                              </p:set>
                              <p:animEffect transition="in" filter="fade">
                                <p:cBhvr>
                                  <p:cTn id="48" dur="500"/>
                                  <p:tgtEl>
                                    <p:spTgt spid="28"/>
                                  </p:tgtEl>
                                </p:cBhvr>
                              </p:animEffect>
                            </p:childTnLst>
                          </p:cTn>
                        </p:par>
                        <p:par>
                          <p:cTn id="49" presetID="10" presetClass="entr" presetSubtype="0" fill="hold" nodeType="withEffect">
                            <p:stCondLst>
                              <p:cond delay="3750"/>
                            </p:stCondLst>
                            <p:childTnLst>
                              <p:set>
                                <p:cBhvr>
                                  <p:cTn id="50" dur="1" fill="hold"/>
                                  <p:tgtEl>
                                    <p:spTgt spid="29"/>
                                  </p:tgtEl>
                                  <p:attrNameLst>
                                    <p:attrName>style.visibility</p:attrName>
                                  </p:attrNameLst>
                                </p:cBhvr>
                                <p:to>
                                  <p:strVal val="visible"/>
                                </p:to>
                              </p:set>
                              <p:animEffect transition="in" filter="fade">
                                <p:cBhvr>
                                  <p:cTn id="51" dur="500"/>
                                  <p:tgtEl>
                                    <p:spTgt spid="29"/>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pic>
        <p:nvPicPr>
          <p:cNvPr id="2" name="Picture 1" descr="brand.png"/>
          <p:cNvPicPr>
            <a:picLocks noChangeAspect="1"/>
          </p:cNvPicPr>
          <p:nvPr/>
        </p:nvPicPr>
        <p:blipFill>
          <a:blip r:embed="rId2"/>
          <a:stretch>
            <a:fillRect/>
          </a:stretch>
        </p:blipFill>
        <p:spPr>
          <a:xfrm>
            <a:off x="11210925" y="292100"/>
            <a:ext cx="409575" cy="273050"/>
          </a:xfrm>
          <a:prstGeom prst="rect">
            <a:avLst/>
          </a:prstGeom>
          <a:effectLst/>
        </p:spPr>
      </p:pic>
      <p:sp>
        <p:nvSpPr>
          <p:cNvPr id="3" name="TextBox 2"/>
          <p:cNvSpPr txBox="1"/>
          <p:nvPr/>
        </p:nvSpPr>
        <p:spPr>
          <a:xfrm>
            <a:off x="9629775" y="323850"/>
            <a:ext cx="1466850" cy="257175"/>
          </a:xfrm>
          <a:prstGeom prst="rect">
            <a:avLst/>
          </a:prstGeom>
          <a:noFill/>
          <a:effectLst/>
        </p:spPr>
        <p:txBody>
          <a:bodyPr wrap="square" lIns="0" rIns="0" tIns="0" bIns="0" anchor="t">
            <a:spAutoFit/>
          </a:bodyPr>
          <a:lstStyle/>
          <a:p>
            <a:pPr algn="r" rtl="0">
              <a:lnSpc>
                <a:spcPts val="1428"/>
              </a:lnSpc>
              <a:spcBef>
                <a:spcPts val="0"/>
              </a:spcBef>
              <a:spcAft>
                <a:spcPts val="0"/>
              </a:spcAft>
            </a:pPr>
            <a:r>
              <a:rPr sz="1275" b="1" lang="ar-EG">
                <a:solidFill>
                  <a:srgbClr val="29302D"/>
                </a:solidFill>
                <a:latin typeface="Manrope"/>
                <a:cs typeface="IBM Plex Sans Arabic Medium"/>
              </a:rPr>
              <a:t>GRINDCTRL</a:t>
            </a:r>
          </a:p>
        </p:txBody>
      </p:sp>
      <p:sp>
        <p:nvSpPr>
          <p:cNvPr id="4" name="TextBox 3"/>
          <p:cNvSpPr txBox="1"/>
          <p:nvPr/>
        </p:nvSpPr>
        <p:spPr>
          <a:xfrm>
            <a:off x="571500" y="333375"/>
            <a:ext cx="4171950" cy="247650"/>
          </a:xfrm>
          <a:prstGeom prst="rect">
            <a:avLst/>
          </a:prstGeom>
          <a:noFill/>
          <a:effectLst/>
        </p:spPr>
        <p:txBody>
          <a:bodyPr wrap="square" lIns="0" rIns="0" tIns="0" bIns="0" anchor="t">
            <a:spAutoFit/>
          </a:bodyPr>
          <a:lstStyle/>
          <a:p>
            <a:pPr algn="l" rtl="1">
              <a:lnSpc>
                <a:spcPts val="1176"/>
              </a:lnSpc>
              <a:spcBef>
                <a:spcPts val="0"/>
              </a:spcBef>
              <a:spcAft>
                <a:spcPts val="0"/>
              </a:spcAft>
            </a:pPr>
            <a:r>
              <a:rPr sz="1050" b="0" lang="ar-EG">
                <a:solidFill>
                  <a:srgbClr val="68716B"/>
                </a:solidFill>
                <a:latin typeface="Manrope"/>
                <a:cs typeface="IBM Plex Sans Arabic Medium"/>
              </a:rPr>
              <a:t>٠٨ · بداية تعاون محددة</a:t>
            </a:r>
          </a:p>
        </p:txBody>
      </p:sp>
      <p:cxnSp>
        <p:nvCxnSpPr>
          <p:cNvPr id="5" name="Connector 4"/>
          <p:cNvCxnSpPr/>
          <p:nvPr/>
        </p:nvCxnSpPr>
        <p:spPr>
          <a:xfrm flipH="1">
            <a:off x="571500" y="6400800"/>
            <a:ext cx="11049000" cy="0"/>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2095500" y="6534150"/>
            <a:ext cx="9525000" cy="219075"/>
          </a:xfrm>
          <a:prstGeom prst="rect">
            <a:avLst/>
          </a:prstGeom>
          <a:noFill/>
          <a:effectLst/>
        </p:spPr>
        <p:txBody>
          <a:bodyPr wrap="square" lIns="0" rIns="0" tIns="0" bIns="0" anchor="t">
            <a:spAutoFit/>
          </a:bodyPr>
          <a:lstStyle/>
          <a:p>
            <a:pPr algn="r" rtl="1">
              <a:lnSpc>
                <a:spcPts val="1008"/>
              </a:lnSpc>
              <a:spcBef>
                <a:spcPts val="0"/>
              </a:spcBef>
              <a:spcAft>
                <a:spcPts val="0"/>
              </a:spcAft>
            </a:pPr>
            <a:r>
              <a:rPr sz="900" b="0" lang="ar-EG">
                <a:solidFill>
                  <a:srgbClr val="68716B"/>
                </a:solidFill>
                <a:latin typeface="Manrope"/>
                <a:cs typeface="IBM Plex Sans Arabic Medium"/>
              </a:rPr>
              <a:t>كونكريت · تعاون مقترح</a:t>
            </a:r>
          </a:p>
        </p:txBody>
      </p:sp>
      <p:sp>
        <p:nvSpPr>
          <p:cNvPr id="7" name="TextBox 6"/>
          <p:cNvSpPr txBox="1"/>
          <p:nvPr/>
        </p:nvSpPr>
        <p:spPr>
          <a:xfrm>
            <a:off x="571500" y="6515100"/>
            <a:ext cx="838200" cy="238125"/>
          </a:xfrm>
          <a:prstGeom prst="rect">
            <a:avLst/>
          </a:prstGeom>
          <a:noFill/>
          <a:effectLst/>
        </p:spPr>
        <p:txBody>
          <a:bodyPr wrap="square" lIns="0" rIns="0" tIns="0" bIns="0" anchor="t">
            <a:spAutoFit/>
          </a:bodyPr>
          <a:lstStyle/>
          <a:p>
            <a:pPr algn="l" rtl="0">
              <a:lnSpc>
                <a:spcPts val="1176"/>
              </a:lnSpc>
              <a:spcBef>
                <a:spcPts val="0"/>
              </a:spcBef>
              <a:spcAft>
                <a:spcPts val="0"/>
              </a:spcAft>
            </a:pPr>
            <a:r>
              <a:rPr sz="1050" b="0" lang="ar-EG">
                <a:solidFill>
                  <a:srgbClr val="68716B"/>
                </a:solidFill>
                <a:latin typeface="Manrope"/>
                <a:cs typeface="IBM Plex Sans Arabic Medium"/>
              </a:rPr>
              <a:t>09 / 09</a:t>
            </a:r>
          </a:p>
        </p:txBody>
      </p:sp>
      <p:sp>
        <p:nvSpPr>
          <p:cNvPr id="8" name="TextBox 7"/>
          <p:cNvSpPr txBox="1"/>
          <p:nvPr/>
        </p:nvSpPr>
        <p:spPr>
          <a:xfrm>
            <a:off x="6610350" y="1600200"/>
            <a:ext cx="5010150" cy="285750"/>
          </a:xfrm>
          <a:prstGeom prst="rect">
            <a:avLst/>
          </a:prstGeom>
          <a:noFill/>
          <a:effectLst/>
        </p:spPr>
        <p:txBody>
          <a:bodyPr wrap="square" lIns="0" rIns="0" tIns="0" bIns="0" anchor="t">
            <a:spAutoFit/>
          </a:bodyPr>
          <a:lstStyle/>
          <a:p>
            <a:pPr algn="r" rtl="1">
              <a:lnSpc>
                <a:spcPts val="1344"/>
              </a:lnSpc>
              <a:spcBef>
                <a:spcPts val="0"/>
              </a:spcBef>
              <a:spcAft>
                <a:spcPts val="0"/>
              </a:spcAft>
            </a:pPr>
            <a:r>
              <a:rPr sz="1200" b="1" lang="ar-EG">
                <a:solidFill>
                  <a:srgbClr val="9F5836"/>
                </a:solidFill>
                <a:latin typeface="Manrope"/>
                <a:cs typeface="IBM Plex Sans Arabic Medium"/>
              </a:rPr>
              <a:t>التسليم الأول</a:t>
            </a:r>
          </a:p>
        </p:txBody>
      </p:sp>
      <p:sp>
        <p:nvSpPr>
          <p:cNvPr id="9" name="TextBox 8"/>
          <p:cNvSpPr txBox="1"/>
          <p:nvPr/>
        </p:nvSpPr>
        <p:spPr>
          <a:xfrm>
            <a:off x="6438900" y="2143125"/>
            <a:ext cx="5181600" cy="1257300"/>
          </a:xfrm>
          <a:prstGeom prst="rect">
            <a:avLst/>
          </a:prstGeom>
          <a:noFill/>
          <a:effectLst/>
        </p:spPr>
        <p:txBody>
          <a:bodyPr wrap="square" lIns="0" rIns="0" tIns="0" bIns="0" anchor="t">
            <a:spAutoFit/>
          </a:bodyPr>
          <a:lstStyle/>
          <a:p>
            <a:pPr algn="r" rtl="1">
              <a:lnSpc>
                <a:spcPts val="3864"/>
              </a:lnSpc>
              <a:spcBef>
                <a:spcPts val="0"/>
              </a:spcBef>
              <a:spcAft>
                <a:spcPts val="0"/>
              </a:spcAft>
            </a:pPr>
            <a:r>
              <a:rPr sz="3450" b="1" lang="ar-EG">
                <a:solidFill>
                  <a:srgbClr val="29302D"/>
                </a:solidFill>
                <a:latin typeface="Manrope"/>
                <a:cs typeface="IBM Plex Sans Arabic Medium"/>
              </a:rPr>
              <a:t>نبدأ المكالمة</a:t>
            </a:r>
          </a:p>
          <a:p>
            <a:pPr algn="r" rtl="1">
              <a:lnSpc>
                <a:spcPts val="3864"/>
              </a:lnSpc>
              <a:spcBef>
                <a:spcPts val="0"/>
              </a:spcBef>
              <a:spcAft>
                <a:spcPts val="0"/>
              </a:spcAft>
            </a:pPr>
            <a:r>
              <a:rPr sz="3450" b="1" lang="ar-EG">
                <a:solidFill>
                  <a:srgbClr val="29302D"/>
                </a:solidFill>
                <a:latin typeface="Manrope"/>
                <a:cs typeface="IBM Plex Sans Arabic Medium"/>
              </a:rPr>
              <a:t>بمعلومات العميل.</a:t>
            </a:r>
          </a:p>
        </p:txBody>
      </p:sp>
      <p:sp>
        <p:nvSpPr>
          <p:cNvPr id="10" name="TextBox 9"/>
          <p:cNvSpPr txBox="1"/>
          <p:nvPr/>
        </p:nvSpPr>
        <p:spPr>
          <a:xfrm>
            <a:off x="6953250" y="3676650"/>
            <a:ext cx="4667250" cy="742950"/>
          </a:xfrm>
          <a:prstGeom prst="rect">
            <a:avLst/>
          </a:prstGeom>
          <a:noFill/>
          <a:effectLst/>
        </p:spPr>
        <p:txBody>
          <a:bodyPr wrap="square" lIns="0" rIns="0" tIns="0" bIns="0" anchor="t">
            <a:spAutoFit/>
          </a:bodyPr>
          <a:lstStyle/>
          <a:p>
            <a:pPr algn="r" rtl="1">
              <a:lnSpc>
                <a:spcPts val="2016"/>
              </a:lnSpc>
              <a:spcBef>
                <a:spcPts val="0"/>
              </a:spcBef>
              <a:spcAft>
                <a:spcPts val="0"/>
              </a:spcAft>
            </a:pPr>
            <a:r>
              <a:rPr sz="1800" b="0" lang="ar-EG">
                <a:solidFill>
                  <a:srgbClr val="68716B"/>
                </a:solidFill>
                <a:latin typeface="Manrope"/>
                <a:cs typeface="IBM Plex Sans Arabic Medium"/>
              </a:rPr>
              <a:t>بداية أوضح للموظف.</a:t>
            </a:r>
          </a:p>
          <a:p>
            <a:pPr algn="r" rtl="1">
              <a:lnSpc>
                <a:spcPts val="2016"/>
              </a:lnSpc>
              <a:spcBef>
                <a:spcPts val="0"/>
              </a:spcBef>
              <a:spcAft>
                <a:spcPts val="0"/>
              </a:spcAft>
            </a:pPr>
            <a:r>
              <a:rPr sz="1800" b="0" lang="ar-EG">
                <a:solidFill>
                  <a:srgbClr val="68716B"/>
                </a:solidFill>
                <a:latin typeface="Manrope"/>
                <a:cs typeface="IBM Plex Sans Arabic Medium"/>
              </a:rPr>
              <a:t>واستمرارية أفضل للعميل.</a:t>
            </a:r>
          </a:p>
        </p:txBody>
      </p:sp>
      <p:pic>
        <p:nvPicPr>
          <p:cNvPr id="11" name="Picture 10" descr="genesys.png"/>
          <p:cNvPicPr>
            <a:picLocks noChangeAspect="1"/>
          </p:cNvPicPr>
          <p:nvPr/>
        </p:nvPicPr>
        <p:blipFill>
          <a:blip r:embed="rId3"/>
          <a:stretch>
            <a:fillRect/>
          </a:stretch>
        </p:blipFill>
        <p:spPr>
          <a:xfrm>
            <a:off x="10106025" y="4991224"/>
            <a:ext cx="1514475" cy="295028"/>
          </a:xfrm>
          <a:prstGeom prst="rect">
            <a:avLst/>
          </a:prstGeom>
          <a:effectLst/>
        </p:spPr>
      </p:pic>
      <p:pic>
        <p:nvPicPr>
          <p:cNvPr id="12" name="Picture 11" descr="zoho.png"/>
          <p:cNvPicPr>
            <a:picLocks noChangeAspect="1"/>
          </p:cNvPicPr>
          <p:nvPr/>
        </p:nvPicPr>
        <p:blipFill>
          <a:blip r:embed="rId4"/>
          <a:stretch>
            <a:fillRect/>
          </a:stretch>
        </p:blipFill>
        <p:spPr>
          <a:xfrm>
            <a:off x="8618133" y="4943475"/>
            <a:ext cx="908858" cy="390525"/>
          </a:xfrm>
          <a:prstGeom prst="rect">
            <a:avLst/>
          </a:prstGeom>
          <a:effectLst/>
        </p:spPr>
      </p:pic>
      <p:sp>
        <p:nvSpPr>
          <p:cNvPr id="13" name="Rounded Rectangle 12"/>
          <p:cNvSpPr/>
          <p:nvPr/>
        </p:nvSpPr>
        <p:spPr>
          <a:xfrm>
            <a:off x="561975" y="1628775"/>
            <a:ext cx="5429250" cy="3924300"/>
          </a:xfrm>
          <a:prstGeom prst="roundRect">
            <a:avLst>
              <a:gd name="adj" fmla="val 3883"/>
            </a:avLst>
          </a:prstGeom>
          <a:solidFill>
            <a:srgbClr val="EFF1EC"/>
          </a:solidFill>
          <a:ln w="9525">
            <a:solidFill>
              <a:srgbClr val="EFF1EC"/>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571500" y="1581150"/>
            <a:ext cx="5429250" cy="3924300"/>
          </a:xfrm>
          <a:prstGeom prst="roundRect">
            <a:avLst>
              <a:gd name="adj" fmla="val 3883"/>
            </a:avLst>
          </a:prstGeom>
          <a:solidFill>
            <a:srgbClr val="FFFFFF"/>
          </a:solidFill>
          <a:ln w="9525">
            <a:solidFill>
              <a:srgbClr val="E3E7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5276850" y="1914525"/>
            <a:ext cx="447675" cy="447675"/>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icon-file.png"/>
          <p:cNvPicPr>
            <a:picLocks noChangeAspect="1"/>
          </p:cNvPicPr>
          <p:nvPr/>
        </p:nvPicPr>
        <p:blipFill>
          <a:blip r:embed="rId5"/>
          <a:stretch>
            <a:fillRect/>
          </a:stretch>
        </p:blipFill>
        <p:spPr>
          <a:xfrm>
            <a:off x="5372100" y="2009775"/>
            <a:ext cx="257175" cy="257175"/>
          </a:xfrm>
          <a:prstGeom prst="rect">
            <a:avLst/>
          </a:prstGeom>
          <a:effectLst/>
        </p:spPr>
      </p:pic>
      <p:cxnSp>
        <p:nvCxnSpPr>
          <p:cNvPr id="17" name="Connector 16"/>
          <p:cNvCxnSpPr/>
          <p:nvPr/>
        </p:nvCxnSpPr>
        <p:spPr>
          <a:xfrm>
            <a:off x="5505450" y="2419350"/>
            <a:ext cx="0" cy="504825"/>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866775" y="1924050"/>
            <a:ext cx="4219575" cy="41910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9302D"/>
                </a:solidFill>
                <a:latin typeface="Manrope"/>
                <a:cs typeface="IBM Plex Sans Arabic Medium"/>
              </a:rPr>
              <a:t>نفحص الـpop-up الموجود</a:t>
            </a:r>
          </a:p>
        </p:txBody>
      </p:sp>
      <p:sp>
        <p:nvSpPr>
          <p:cNvPr id="19" name="TextBox 18"/>
          <p:cNvSpPr txBox="1"/>
          <p:nvPr/>
        </p:nvSpPr>
        <p:spPr>
          <a:xfrm>
            <a:off x="866775" y="2381250"/>
            <a:ext cx="4219575" cy="5334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716B"/>
                </a:solidFill>
                <a:latin typeface="Manrope"/>
                <a:cs typeface="IBM Plex Sans Arabic Medium"/>
              </a:rPr>
              <a:t>نتأكد من طريقة عمل الإعدادات الحالية.</a:t>
            </a:r>
          </a:p>
        </p:txBody>
      </p:sp>
      <p:sp>
        <p:nvSpPr>
          <p:cNvPr id="20" name="Oval 19"/>
          <p:cNvSpPr/>
          <p:nvPr/>
        </p:nvSpPr>
        <p:spPr>
          <a:xfrm>
            <a:off x="5276850" y="3067050"/>
            <a:ext cx="447675" cy="447675"/>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icon-link.png"/>
          <p:cNvPicPr>
            <a:picLocks noChangeAspect="1"/>
          </p:cNvPicPr>
          <p:nvPr/>
        </p:nvPicPr>
        <p:blipFill>
          <a:blip r:embed="rId6"/>
          <a:stretch>
            <a:fillRect/>
          </a:stretch>
        </p:blipFill>
        <p:spPr>
          <a:xfrm>
            <a:off x="5372100" y="3162300"/>
            <a:ext cx="257175" cy="257175"/>
          </a:xfrm>
          <a:prstGeom prst="rect">
            <a:avLst/>
          </a:prstGeom>
          <a:effectLst/>
        </p:spPr>
      </p:pic>
      <p:cxnSp>
        <p:nvCxnSpPr>
          <p:cNvPr id="22" name="Connector 21"/>
          <p:cNvCxnSpPr/>
          <p:nvPr/>
        </p:nvCxnSpPr>
        <p:spPr>
          <a:xfrm>
            <a:off x="5505450" y="3571875"/>
            <a:ext cx="0" cy="504825"/>
          </a:xfrm>
          <a:prstGeom prst="line">
            <a:avLst/>
          </a:prstGeom>
          <a:ln w="9525">
            <a:solidFill>
              <a:srgbClr val="E3E7E1"/>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866775" y="3076575"/>
            <a:ext cx="4219575" cy="41910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9302D"/>
                </a:solidFill>
                <a:latin typeface="Manrope"/>
                <a:cs typeface="IBM Plex Sans Arabic Medium"/>
              </a:rPr>
              <a:t>نكمّل الربط المدعوم</a:t>
            </a:r>
          </a:p>
        </p:txBody>
      </p:sp>
      <p:sp>
        <p:nvSpPr>
          <p:cNvPr id="24" name="TextBox 23"/>
          <p:cNvSpPr txBox="1"/>
          <p:nvPr/>
        </p:nvSpPr>
        <p:spPr>
          <a:xfrm>
            <a:off x="866775" y="3533775"/>
            <a:ext cx="4219575" cy="5334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716B"/>
                </a:solidFill>
                <a:latin typeface="Manrope"/>
                <a:cs typeface="IBM Plex Sans Arabic Medium"/>
              </a:rPr>
              <a:t>نحدد الإعداد المناسب أو وسيط الربط.</a:t>
            </a:r>
          </a:p>
        </p:txBody>
      </p:sp>
      <p:sp>
        <p:nvSpPr>
          <p:cNvPr id="25" name="Oval 24"/>
          <p:cNvSpPr/>
          <p:nvPr/>
        </p:nvSpPr>
        <p:spPr>
          <a:xfrm>
            <a:off x="5276850" y="4219575"/>
            <a:ext cx="447675" cy="447675"/>
          </a:xfrm>
          <a:prstGeom prst="ellipse">
            <a:avLst/>
          </a:prstGeom>
          <a:solidFill>
            <a:srgbClr val="EEF4EB"/>
          </a:solidFill>
          <a:ln w="9525">
            <a:solidFill>
              <a:srgbClr val="EEF4E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icon-check.png"/>
          <p:cNvPicPr>
            <a:picLocks noChangeAspect="1"/>
          </p:cNvPicPr>
          <p:nvPr/>
        </p:nvPicPr>
        <p:blipFill>
          <a:blip r:embed="rId7"/>
          <a:stretch>
            <a:fillRect/>
          </a:stretch>
        </p:blipFill>
        <p:spPr>
          <a:xfrm>
            <a:off x="5372100" y="4314825"/>
            <a:ext cx="257175" cy="257175"/>
          </a:xfrm>
          <a:prstGeom prst="rect">
            <a:avLst/>
          </a:prstGeom>
          <a:effectLst/>
        </p:spPr>
      </p:pic>
      <p:sp>
        <p:nvSpPr>
          <p:cNvPr id="27" name="TextBox 26"/>
          <p:cNvSpPr txBox="1"/>
          <p:nvPr/>
        </p:nvSpPr>
        <p:spPr>
          <a:xfrm>
            <a:off x="866775" y="4229100"/>
            <a:ext cx="4219575" cy="419100"/>
          </a:xfrm>
          <a:prstGeom prst="rect">
            <a:avLst/>
          </a:prstGeom>
          <a:noFill/>
          <a:effectLst/>
        </p:spPr>
        <p:txBody>
          <a:bodyPr wrap="square" lIns="0" rIns="0" tIns="0" bIns="0" anchor="t">
            <a:spAutoFit/>
          </a:bodyPr>
          <a:lstStyle/>
          <a:p>
            <a:pPr algn="r" rtl="1">
              <a:lnSpc>
                <a:spcPts val="1932"/>
              </a:lnSpc>
              <a:spcBef>
                <a:spcPts val="0"/>
              </a:spcBef>
              <a:spcAft>
                <a:spcPts val="0"/>
              </a:spcAft>
            </a:pPr>
            <a:r>
              <a:rPr sz="1725" b="1" lang="ar-EG">
                <a:solidFill>
                  <a:srgbClr val="29302D"/>
                </a:solidFill>
                <a:latin typeface="Manrope"/>
                <a:cs typeface="IBM Plex Sans Arabic Medium"/>
              </a:rPr>
              <a:t>نختبر مكالمات متفق عليها</a:t>
            </a:r>
          </a:p>
        </p:txBody>
      </p:sp>
      <p:sp>
        <p:nvSpPr>
          <p:cNvPr id="28" name="TextBox 27"/>
          <p:cNvSpPr txBox="1"/>
          <p:nvPr/>
        </p:nvSpPr>
        <p:spPr>
          <a:xfrm>
            <a:off x="866775" y="4686300"/>
            <a:ext cx="4219575" cy="533400"/>
          </a:xfrm>
          <a:prstGeom prst="rect">
            <a:avLst/>
          </a:prstGeom>
          <a:noFill/>
          <a:effectLst/>
        </p:spPr>
        <p:txBody>
          <a:bodyPr wrap="square" lIns="0" rIns="0" tIns="0" bIns="0" anchor="t">
            <a:spAutoFit/>
          </a:bodyPr>
          <a:lstStyle/>
          <a:p>
            <a:pPr algn="r" rtl="1">
              <a:lnSpc>
                <a:spcPts val="1512"/>
              </a:lnSpc>
              <a:spcBef>
                <a:spcPts val="0"/>
              </a:spcBef>
              <a:spcAft>
                <a:spcPts val="0"/>
              </a:spcAft>
            </a:pPr>
            <a:r>
              <a:rPr sz="1350" b="0" lang="ar-EG">
                <a:solidFill>
                  <a:srgbClr val="68716B"/>
                </a:solidFill>
                <a:latin typeface="Manrope"/>
                <a:cs typeface="IBM Plex Sans Arabic Medium"/>
              </a:rPr>
              <a:t>نتأكد من المعلومات والتعامل مع الاستثناءات.</a:t>
            </a:r>
          </a:p>
        </p:txBody>
      </p:sp>
      <p:sp>
        <p:nvSpPr>
          <p:cNvPr id="29" name="TextBox 28"/>
          <p:cNvSpPr txBox="1"/>
          <p:nvPr/>
        </p:nvSpPr>
        <p:spPr>
          <a:xfrm>
            <a:off x="571500" y="5848350"/>
            <a:ext cx="11049000" cy="361950"/>
          </a:xfrm>
          <a:prstGeom prst="rect">
            <a:avLst/>
          </a:prstGeom>
          <a:noFill/>
          <a:effectLst/>
        </p:spPr>
        <p:txBody>
          <a:bodyPr wrap="square" lIns="0" rIns="0" tIns="0" bIns="0" anchor="t">
            <a:spAutoFit/>
          </a:bodyPr>
          <a:lstStyle/>
          <a:p>
            <a:pPr algn="r" rtl="1">
              <a:lnSpc>
                <a:spcPts val="1764"/>
              </a:lnSpc>
              <a:spcBef>
                <a:spcPts val="0"/>
              </a:spcBef>
              <a:spcAft>
                <a:spcPts val="0"/>
              </a:spcAft>
            </a:pPr>
            <a:r>
              <a:rPr sz="1575" b="0" lang="ar-EG">
                <a:solidFill>
                  <a:srgbClr val="54745C"/>
                </a:solidFill>
                <a:latin typeface="Manrope"/>
                <a:cs typeface="IBM Plex Sans Arabic Medium"/>
              </a:rPr>
              <a:t>أنظمة موجودة. وسجلات موجودة. ومحادثة بمعلومات أوضح.</a:t>
            </a:r>
          </a:p>
        </p:txBody>
      </p:sp>
    </p:spTree>
  </p:cSld>
  <p:clrMapOvr>
    <a:masterClrMapping/>
  </p:clrMapOvr>
  <p:transition spd="med"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0"/>
                            </p:stCondLst>
                            <p:childTnLst>
                              <p:set>
                                <p:cBhvr>
                                  <p:cTn id="5" dur="1" fill="hold"/>
                                  <p:tgtEl>
                                    <p:spTgt spid="15"/>
                                  </p:tgtEl>
                                  <p:attrNameLst>
                                    <p:attrName>style.visibility</p:attrName>
                                  </p:attrNameLst>
                                </p:cBhvr>
                                <p:to>
                                  <p:strVal val="visible"/>
                                </p:to>
                              </p:set>
                              <p:animEffect transition="in" filter="fade">
                                <p:cBhvr>
                                  <p:cTn id="6" dur="500"/>
                                  <p:tgtEl>
                                    <p:spTgt spid="15"/>
                                  </p:tgtEl>
                                </p:cBhvr>
                              </p:animEffect>
                            </p:childTnLst>
                          </p:cTn>
                        </p:par>
                        <p:par>
                          <p:cTn id="7" presetID="10" presetClass="entr" presetSubtype="0" fill="hold" nodeType="withEffect">
                            <p:stCondLst>
                              <p:cond delay="0"/>
                            </p:stCondLst>
                            <p:childTnLst>
                              <p:set>
                                <p:cBhvr>
                                  <p:cTn id="8" dur="1" fill="hold"/>
                                  <p:tgtEl>
                                    <p:spTgt spid="16"/>
                                  </p:tgtEl>
                                  <p:attrNameLst>
                                    <p:attrName>style.visibility</p:attrName>
                                  </p:attrNameLst>
                                </p:cBhvr>
                                <p:to>
                                  <p:strVal val="visible"/>
                                </p:to>
                              </p:set>
                              <p:animEffect transition="in" filter="fade">
                                <p:cBhvr>
                                  <p:cTn id="9" dur="500"/>
                                  <p:tgtEl>
                                    <p:spTgt spid="16"/>
                                  </p:tgtEl>
                                </p:cBhvr>
                              </p:animEffect>
                            </p:childTnLst>
                          </p:cTn>
                        </p:par>
                        <p:par>
                          <p:cTn id="10" presetID="10" presetClass="entr" presetSubtype="0" fill="hold" nodeType="withEffect">
                            <p:stCondLst>
                              <p:cond delay="1250"/>
                            </p:stCondLst>
                            <p:childTnLst>
                              <p:set>
                                <p:cBhvr>
                                  <p:cTn id="11" dur="1" fill="hold"/>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nodeType="withEffect">
                            <p:stCondLst>
                              <p:cond delay="0"/>
                            </p:stCondLst>
                            <p:childTnLst>
                              <p:set>
                                <p:cBhvr>
                                  <p:cTn id="14" dur="1" fill="hold"/>
                                  <p:tgtEl>
                                    <p:spTgt spid="18"/>
                                  </p:tgtEl>
                                  <p:attrNameLst>
                                    <p:attrName>style.visibility</p:attrName>
                                  </p:attrNameLst>
                                </p:cBhvr>
                                <p:to>
                                  <p:strVal val="visible"/>
                                </p:to>
                              </p:set>
                              <p:animEffect transition="in" filter="fade">
                                <p:cBhvr>
                                  <p:cTn id="15" dur="500"/>
                                  <p:tgtEl>
                                    <p:spTgt spid="18"/>
                                  </p:tgtEl>
                                </p:cBhvr>
                              </p:animEffect>
                            </p:childTnLst>
                          </p:cTn>
                        </p:par>
                        <p:par>
                          <p:cTn id="16" presetID="10" presetClass="entr" presetSubtype="0" fill="hold" nodeType="withEffect">
                            <p:stCondLst>
                              <p:cond delay="0"/>
                            </p:stCondLst>
                            <p:childTnLst>
                              <p:set>
                                <p:cBhvr>
                                  <p:cTn id="17" dur="1" fill="hold"/>
                                  <p:tgtEl>
                                    <p:spTgt spid="19"/>
                                  </p:tgtEl>
                                  <p:attrNameLst>
                                    <p:attrName>style.visibility</p:attrName>
                                  </p:attrNameLst>
                                </p:cBhvr>
                                <p:to>
                                  <p:strVal val="visible"/>
                                </p:to>
                              </p:set>
                              <p:animEffect transition="in" filter="fade">
                                <p:cBhvr>
                                  <p:cTn id="18" dur="500"/>
                                  <p:tgtEl>
                                    <p:spTgt spid="19"/>
                                  </p:tgtEl>
                                </p:cBhvr>
                              </p:animEffect>
                            </p:childTnLst>
                          </p:cTn>
                        </p:par>
                        <p:par>
                          <p:cTn id="19" presetID="10" presetClass="entr" presetSubtype="0" fill="hold" nodeType="withEffect">
                            <p:stCondLst>
                              <p:cond delay="1250"/>
                            </p:stCondLst>
                            <p:childTnLst>
                              <p:set>
                                <p:cBhvr>
                                  <p:cTn id="20" dur="1" fill="hold"/>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10" presetClass="entr" presetSubtype="0" fill="hold" nodeType="withEffect">
                            <p:stCondLst>
                              <p:cond delay="1250"/>
                            </p:stCondLst>
                            <p:childTnLst>
                              <p:set>
                                <p:cBhvr>
                                  <p:cTn id="23" dur="1" fill="hold"/>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10" presetClass="entr" presetSubtype="0" fill="hold" nodeType="withEffect">
                            <p:stCondLst>
                              <p:cond delay="2500"/>
                            </p:stCondLst>
                            <p:childTnLst>
                              <p:set>
                                <p:cBhvr>
                                  <p:cTn id="26" dur="1" fill="hold"/>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nodeType="withEffect">
                            <p:stCondLst>
                              <p:cond delay="1250"/>
                            </p:stCondLst>
                            <p:childTnLst>
                              <p:set>
                                <p:cBhvr>
                                  <p:cTn id="29" dur="1" fill="hold"/>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nodeType="withEffect">
                            <p:stCondLst>
                              <p:cond delay="1250"/>
                            </p:stCondLst>
                            <p:childTnLst>
                              <p:set>
                                <p:cBhvr>
                                  <p:cTn id="32" dur="1" fill="hold"/>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nodeType="withEffect">
                            <p:stCondLst>
                              <p:cond delay="2500"/>
                            </p:stCondLst>
                            <p:childTnLst>
                              <p:set>
                                <p:cBhvr>
                                  <p:cTn id="35" dur="1" fill="hold"/>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nodeType="withEffect">
                            <p:stCondLst>
                              <p:cond delay="2500"/>
                            </p:stCondLst>
                            <p:childTnLst>
                              <p:set>
                                <p:cBhvr>
                                  <p:cTn id="38" dur="1" fill="hold"/>
                                  <p:tgtEl>
                                    <p:spTgt spid="26"/>
                                  </p:tgtEl>
                                  <p:attrNameLst>
                                    <p:attrName>style.visibility</p:attrName>
                                  </p:attrNameLst>
                                </p:cBhvr>
                                <p:to>
                                  <p:strVal val="visible"/>
                                </p:to>
                              </p:set>
                              <p:animEffect transition="in" filter="fade">
                                <p:cBhvr>
                                  <p:cTn id="39" dur="500"/>
                                  <p:tgtEl>
                                    <p:spTgt spid="26"/>
                                  </p:tgtEl>
                                </p:cBhvr>
                              </p:animEffect>
                            </p:childTnLst>
                          </p:cTn>
                        </p:par>
                        <p:par>
                          <p:cTn id="40" presetID="10" presetClass="entr" presetSubtype="0" fill="hold" nodeType="withEffect">
                            <p:stCondLst>
                              <p:cond delay="2500"/>
                            </p:stCondLst>
                            <p:childTnLst>
                              <p:set>
                                <p:cBhvr>
                                  <p:cTn id="41" dur="1" fill="hold"/>
                                  <p:tgtEl>
                                    <p:spTgt spid="27"/>
                                  </p:tgtEl>
                                  <p:attrNameLst>
                                    <p:attrName>style.visibility</p:attrName>
                                  </p:attrNameLst>
                                </p:cBhvr>
                                <p:to>
                                  <p:strVal val="visible"/>
                                </p:to>
                              </p:set>
                              <p:animEffect transition="in" filter="fade">
                                <p:cBhvr>
                                  <p:cTn id="42" dur="500"/>
                                  <p:tgtEl>
                                    <p:spTgt spid="27"/>
                                  </p:tgtEl>
                                </p:cBhvr>
                              </p:animEffect>
                            </p:childTnLst>
                          </p:cTn>
                        </p:par>
                        <p:par>
                          <p:cTn id="43" presetID="10" presetClass="entr" presetSubtype="0" fill="hold" nodeType="withEffect">
                            <p:stCondLst>
                              <p:cond delay="2500"/>
                            </p:stCondLst>
                            <p:childTnLst>
                              <p:set>
                                <p:cBhvr>
                                  <p:cTn id="44" dur="1" fill="hold"/>
                                  <p:tgtEl>
                                    <p:spTgt spid="28"/>
                                  </p:tgtEl>
                                  <p:attrNameLst>
                                    <p:attrName>style.visibility</p:attrName>
                                  </p:attrNameLst>
                                </p:cBhvr>
                                <p:to>
                                  <p:strVal val="visible"/>
                                </p:to>
                              </p:set>
                              <p:animEffect transition="in" filter="fade">
                                <p:cBhvr>
                                  <p:cTn id="45" dur="500"/>
                                  <p:tgtEl>
                                    <p:spTgt spid="2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GRINDCTRL · معلومات العميل مع كل مكالمة</dc:title>
  <dc:subject>Reported caller-context gap: Genesys call assignment and Zoho Desk ticket lookup. Proposed workflow; fictional records.</dc:subject>
  <dc:creator>GRINDCTRL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