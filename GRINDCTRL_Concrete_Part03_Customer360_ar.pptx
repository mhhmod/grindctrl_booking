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grindctrl-part03-voiceover-ar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C001 · 0.000–0.873s · في الفيديو الأول،</a:t>
            </a:r>
          </a:p>
          <a:p/>
          <a:p>
            <a:r>
              <a:t>C002 · 1.034–5.559s · شوفنا إزاي نقدر نخلي الـAgent يبدأ المكالمة وهو شايف الـCustomer Context</a:t>
            </a:r>
          </a:p>
          <a:p/>
          <a:p>
            <a:r>
              <a:t>C003 · 5.712–6.711s · والـTickets السابقة،</a:t>
            </a:r>
          </a:p>
          <a:p/>
          <a:p>
            <a:r>
              <a:t>C004 · 7.104–9.279s · بدل ما يضطر يدور على كل حاجة بنفسه.</a:t>
            </a:r>
          </a:p>
          <a:p/>
          <a:p>
            <a:r>
              <a:t>C005 · 9.884–10.714s · وفي الفيديو التاني،</a:t>
            </a:r>
          </a:p>
          <a:p/>
          <a:p>
            <a:r>
              <a:t>C006 · 10.957–12.782s · دخلنا أكتر في تفاصيل الـWorkflow،</a:t>
            </a:r>
          </a:p>
          <a:p/>
          <a:p>
            <a:r>
              <a:t>C007 · 13.260–14.682s · وشوفنا إزاي الـLookup بيتم،</a:t>
            </a:r>
          </a:p>
          <a:p/>
          <a:p>
            <a:r>
              <a:t>C008 · 15.002–17.500s · وإزاي الـAgent يقدر يتابع الـCases المختلفة.</a:t>
            </a:r>
          </a:p>
          <a:p/>
          <a:p>
            <a:r>
              <a:t>C009 · 18.302–18.775s · النهارده،</a:t>
            </a:r>
          </a:p>
          <a:p/>
          <a:p>
            <a:r>
              <a:t>C010 · 19.014–20.178s · هنكمل خطوة أبعد،</a:t>
            </a:r>
          </a:p>
          <a:p/>
          <a:p>
            <a:r>
              <a:t>C011 · 20.397–23.262s · بفكرة جاية من احتياج فريق المبيعات في Concrete نفسه.</a:t>
            </a:r>
          </a:p>
          <a:p/>
          <a:p>
            <a:r>
              <a:t>C012 · 23.954–25.700s · تخيلوا إن أول ما الـCall توصل،</a:t>
            </a:r>
          </a:p>
          <a:p/>
          <a:p>
            <a:r>
              <a:t>C013 · 25.953–28.530s · الـAgent يلاقي قدامه مش بس الـTickets السابقة،</a:t>
            </a:r>
          </a:p>
          <a:p/>
          <a:p>
            <a:r>
              <a:t>C014 · 28.825–31.128s · لكن كمان الـCustomer Profile بالكامل،</a:t>
            </a:r>
          </a:p>
          <a:p/>
          <a:p>
            <a:r>
              <a:t>C015 · 31.642–34.377s · وتاريخ كل المكالمات اللي حصلت مع العميل قبل كده،</a:t>
            </a:r>
          </a:p>
          <a:p/>
          <a:p>
            <a:r>
              <a:t>C016 · 34.784–36.781s · والـNotes اللي اتكتبت خلال كل مكالمة.</a:t>
            </a:r>
          </a:p>
          <a:p/>
          <a:p>
            <a:r>
              <a:t>C017 · 37.409–38.926s · خلينا نشوف التجربة دي بالتفصيل.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C018 · 39.719–42.220s · أول ما العميل يتصل على الـHotline بتاع Concrete،</a:t>
            </a:r>
          </a:p>
          <a:p/>
          <a:p>
            <a:r>
              <a:t>C019 · 42.495–44.510s · الـCall بتوصل للـAgent على Genesys.</a:t>
            </a:r>
          </a:p>
          <a:p/>
          <a:p>
            <a:r>
              <a:t>C020 · 45.021–45.686s · وفي اللحظة دي،</a:t>
            </a:r>
          </a:p>
          <a:p/>
          <a:p>
            <a:r>
              <a:t>C021 · 45.936–51.554s · بنقترح إن النظام يستخدم رقم المتصل عشان يعمل Automatic Lookup عن الـCustomer Record المناسب.</a:t>
            </a:r>
          </a:p>
          <a:p/>
          <a:p>
            <a:r>
              <a:t>C022 · 52.280–54.577s · وبمجرد ما يتم تحديد الـCustomer الصحيح،</a:t>
            </a:r>
          </a:p>
          <a:p/>
          <a:p>
            <a:r>
              <a:t>C023 · 54.993–56.128s · يظهر قدام الموظف</a:t>
            </a:r>
          </a:p>
          <a:p/>
          <a:p>
            <a:r>
              <a:t>C024 · 56.281–57.484s · أربع معلومات أساسية.</a:t>
            </a:r>
          </a:p>
          <a:p/>
          <a:p>
            <a:r>
              <a:t>C025 · 58.101–58.663s · أول حاجة،</a:t>
            </a:r>
          </a:p>
          <a:p/>
          <a:p>
            <a:r>
              <a:t>C026 · 58.838–59.569s · الـMobile Number.</a:t>
            </a:r>
          </a:p>
          <a:p/>
          <a:p>
            <a:r>
              <a:t>C027 · 60.118–61.581s · تاني حاجة، الـCustomer Name.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C028 · 62.167–62.767s · تالت حاجة،</a:t>
            </a:r>
          </a:p>
          <a:p/>
          <a:p>
            <a:r>
              <a:t>C029 · 62.922–63.923s · الـCustomer Segment،</a:t>
            </a:r>
          </a:p>
          <a:p/>
          <a:p>
            <a:r>
              <a:t>C030 · 64.121–66.722s · سواء كان Lifestyle أو Prestige أو Elite،</a:t>
            </a:r>
          </a:p>
          <a:p/>
          <a:p>
            <a:r>
              <a:t>C031 · 67.058–70.378s · حسب الـMembership Level المسجل للعميل في Concrete Icons Club.</a:t>
            </a:r>
          </a:p>
          <a:p/>
          <a:p>
            <a:r>
              <a:t>C032 · 71.055–71.765s · ورابع حاجة،</a:t>
            </a:r>
          </a:p>
          <a:p/>
          <a:p>
            <a:r>
              <a:t>C033 · 71.941–74.724s · الـEmail Address، لو موجود بالفعل في بيانات العميل.</a:t>
            </a:r>
          </a:p>
          <a:p/>
          <a:p>
            <a:r>
              <a:t>C034 · 75.534–79.664s · كل المعلومات دي هتبقى متجمعة في Customer Profile واضح ومنظم،</a:t>
            </a:r>
          </a:p>
          <a:p/>
          <a:p>
            <a:r>
              <a:t>C035 · 79.977–82.507s · وسهل جدًا إن الموظف يقراه أثناء المكالمة.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C036 · 83.110–86.117s · لكن القيمة الحقيقية مش بس إننا نعرف مين العميل.</a:t>
            </a:r>
          </a:p>
          <a:p/>
          <a:p>
            <a:r>
              <a:t>C037 · 86.653–87.471s · القيمة الأكبر،</a:t>
            </a:r>
          </a:p>
          <a:p/>
          <a:p>
            <a:r>
              <a:t>C038 · 87.674–89.622s · إننا نعرف إيه اللي حصل معاه قبل كده.</a:t>
            </a:r>
          </a:p>
          <a:p/>
          <a:p>
            <a:r>
              <a:t>C039 · 90.203–92.041s · وهنا بييجي دور الـCall Activity.</a:t>
            </a:r>
          </a:p>
          <a:p/>
          <a:p>
            <a:r>
              <a:t>C040 · 92.738–96.396s · بدل ما الموظف يشوف مجرد قايمة بأرقام أو تواريخ مكالمات،</a:t>
            </a:r>
          </a:p>
          <a:p/>
          <a:p>
            <a:r>
              <a:t>C041 · 96.808–99.016s · إحنا بنقترح إنه يشوف Timeline واضحة،</a:t>
            </a:r>
          </a:p>
          <a:p/>
          <a:p>
            <a:r>
              <a:t>C042 · 99.260–101.495s · فيها كل الـPrevious Calls المتاحة للعميل.</a:t>
            </a:r>
          </a:p>
          <a:p/>
          <a:p>
            <a:r>
              <a:t>C043 · 102.208–104.495s · كل Call يكون لها تاريخها ووقتها،</a:t>
            </a:r>
          </a:p>
          <a:p/>
          <a:p>
            <a:r>
              <a:t>C044 · 104.942–107.547s · والـAgent اللي اتعامل معاها، لو البيانات دي متسجلة.</a:t>
            </a:r>
          </a:p>
          <a:p/>
          <a:p>
            <a:r>
              <a:t>C045 · 108.062–108.554s · والأهم،</a:t>
            </a:r>
          </a:p>
          <a:p/>
          <a:p>
            <a:r>
              <a:t>C046 · 108.940–110.924s · الـNotes الخاصة بالمكالمة دي تحديدًا.</a:t>
            </a:r>
          </a:p>
          <a:p/>
          <a:p>
            <a:r>
              <a:t>C047 · 111.467–113.628s · يعني كل مكالمة لها الـHistory بتاعتها،</a:t>
            </a:r>
          </a:p>
          <a:p/>
          <a:p>
            <a:r>
              <a:t>C048 · 113.875–115.144s · والـNotes اللي اتكتبت فيها،</a:t>
            </a:r>
          </a:p>
          <a:p/>
          <a:p>
            <a:r>
              <a:t>C049 · 115.461–117.013s · بشكل منفصل ومنظم.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C050 · 117.618–118.792s · خلينا ناخد مثال عملي.</a:t>
            </a:r>
          </a:p>
          <a:p/>
          <a:p>
            <a:r>
              <a:t>C051 · 119.394–123.406s · عميل من الـElite Segment اتصل الأسبوع اللي فات بخصوص Exchange Request.</a:t>
            </a:r>
          </a:p>
          <a:p/>
          <a:p>
            <a:r>
              <a:t>C052 · 123.935–124.718s · خلال المكالمة،</a:t>
            </a:r>
          </a:p>
          <a:p/>
          <a:p>
            <a:r>
              <a:t>C053 · 124.923–127.764s · الـAgent كتب Note إن الطلب محتاج مراجعة من الفرع،</a:t>
            </a:r>
          </a:p>
          <a:p/>
          <a:p>
            <a:r>
              <a:t>C054 · 128.010–129.221s · وإن فيه Follow-up مطلوب.</a:t>
            </a:r>
          </a:p>
          <a:p/>
          <a:p>
            <a:r>
              <a:t>C055 · 129.934–130.412s · النهارده،</a:t>
            </a:r>
          </a:p>
          <a:p/>
          <a:p>
            <a:r>
              <a:t>C056 · 130.601–133.413s · نفس العميل بيتصل تاني يسأل عن آخر Update.</a:t>
            </a:r>
          </a:p>
          <a:p/>
          <a:p>
            <a:r>
              <a:t>C057 · 133.984–137.340s · بدل ما الموظف الجديد يبدأ يسأله عن كل التفاصيل من الأول،</a:t>
            </a:r>
          </a:p>
          <a:p/>
          <a:p>
            <a:r>
              <a:t>C058 · 137.735–139.186s · يقدر يفتح الـPrevious Call،</a:t>
            </a:r>
          </a:p>
          <a:p/>
          <a:p>
            <a:r>
              <a:t>C059 · 139.358–140.788s · ويشوف الـNote اللي زميله كتبها.</a:t>
            </a:r>
          </a:p>
          <a:p/>
          <a:p>
            <a:r>
              <a:t>C060 · 141.401–143.060s · يعرف العميل كان بيتكلم في إيه،</a:t>
            </a:r>
          </a:p>
          <a:p/>
          <a:p>
            <a:r>
              <a:t>C061 · 143.393–144.807s · وإيه آخر خطوة تسجلت،</a:t>
            </a:r>
          </a:p>
          <a:p/>
          <a:p>
            <a:r>
              <a:t>C062 · 144.964–146.632s · وإيه الموضوع اللي محتاج Follow-up.</a:t>
            </a:r>
          </a:p>
          <a:p/>
          <a:p>
            <a:r>
              <a:t>C063 · 147.129–147.657s · وبالتالي،</a:t>
            </a:r>
          </a:p>
          <a:p/>
          <a:p>
            <a:r>
              <a:t>C064 · 147.880–150.005s · يبدأ المحادثة وهو فاهم الـContext،</a:t>
            </a:r>
          </a:p>
          <a:p/>
          <a:p>
            <a:r>
              <a:t>C065 · 150.331–153.005s · من غير ما العميل يضطر يعيد نفس الشرح كل مرة.</a:t>
            </a:r>
          </a:p>
          <a:p/>
          <a:p>
            <a:r>
              <a:t>C066 · 153.658–154.086s · وطبعًا،</a:t>
            </a:r>
          </a:p>
          <a:p/>
          <a:p>
            <a:r>
              <a:t>C067 · 154.315–156.202s · الـNote بتوضح اللي تسجل في المكالمة،</a:t>
            </a:r>
          </a:p>
          <a:p/>
          <a:p>
            <a:r>
              <a:t>C068 · 156.442–158.993s · مش بالضرورة إن الإجراء المطلوب اتنفذ بالفعل.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C069 · 160.266–162.928s · خلينا نشوف إيه اللي هيحصل أثناء الـCurrent Call نفسها.</a:t>
            </a:r>
          </a:p>
          <a:p/>
          <a:p>
            <a:r>
              <a:t>C070 · 163.323–164.919s · الـAgent بيتكلم مع العميل،</a:t>
            </a:r>
          </a:p>
          <a:p/>
          <a:p>
            <a:r>
              <a:t>C071 · 165.234–168.767s · وفي نفس الوقت يقدر يسجل Notes جديدة عن تفاصيل المحادثة،</a:t>
            </a:r>
          </a:p>
          <a:p/>
          <a:p>
            <a:r>
              <a:t>C072 · 169.235–170.899s · والإجراء اللي تم الاتفاق عليه،</a:t>
            </a:r>
          </a:p>
          <a:p/>
          <a:p>
            <a:r>
              <a:t>C073 · 171.076–172.306s · أو الـFollow-up المطلوب.</a:t>
            </a:r>
          </a:p>
          <a:p/>
          <a:p>
            <a:r>
              <a:t>C074 · 172.626–173.833s · وبعد ما الـCall تخلص،</a:t>
            </a:r>
          </a:p>
          <a:p/>
          <a:p>
            <a:r>
              <a:t>C075 · 174.027–176.839s · الملاحظات تتحفظ مرتبطة بنفس الـCall Activity،</a:t>
            </a:r>
          </a:p>
          <a:p/>
          <a:p>
            <a:r>
              <a:t>C076 · 177.357–179.936s · حسب طريقة التسجيل والـIntegration اللي هنعتمدها.</a:t>
            </a:r>
          </a:p>
          <a:p/>
          <a:p>
            <a:r>
              <a:t>C077 · 180.367–182.003s · ولما العميل يتصل مرة تانية،</a:t>
            </a:r>
          </a:p>
          <a:p/>
          <a:p>
            <a:r>
              <a:t>C078 · 182.301–183.259s · الـAgent التالي،</a:t>
            </a:r>
          </a:p>
          <a:p/>
          <a:p>
            <a:r>
              <a:t>C079 · 183.440–187.394s · يقدر يرجع للـPrevious Calls ويشوف الـNotes الخاصة بكل مكالمة،</a:t>
            </a:r>
          </a:p>
          <a:p/>
          <a:p>
            <a:r>
              <a:t>C080 · 187.781–189.220s · حسب الصلاحيات المتاحة له.</a:t>
            </a:r>
          </a:p>
          <a:p/>
          <a:p>
            <a:r>
              <a:t>C081 · 189.526–191.645s · يعني بدل ما كل مكالمة تبدأ من الصفر،</a:t>
            </a:r>
          </a:p>
          <a:p/>
          <a:p>
            <a:r>
              <a:t>C082 · 192.053–193.574s · كل Call بتضيف معلومات،</a:t>
            </a:r>
          </a:p>
          <a:p/>
          <a:p>
            <a:r>
              <a:t>C083 · 193.732–195.106s ·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C093 · 219.327–222.836s · إزاي هنطبق التجربة دي على الأنظمة الموجودة بالفعل في Concrete؟</a:t>
            </a:r>
          </a:p>
          <a:p/>
          <a:p>
            <a:r>
              <a:t>C094 · 223.379–225.237s · هنبدأ بمراجعة الـGenesys Setup،</a:t>
            </a:r>
          </a:p>
          <a:p/>
          <a:p>
            <a:r>
              <a:t>C095 · 225.401–226.405s · والـZoho Integration،</a:t>
            </a:r>
          </a:p>
          <a:p/>
          <a:p>
            <a:r>
              <a:t>C096 · 226.905–229.926s · ونحدد مكان تخزين الـCall Activities والـAgent Notes،</a:t>
            </a:r>
          </a:p>
          <a:p/>
          <a:p>
            <a:r>
              <a:t>C097 · 230.088–231.909s · ومصدر بيانات الـCustomer Segment.</a:t>
            </a:r>
          </a:p>
          <a:p/>
          <a:p>
            <a:r>
              <a:t>C098 · 232.144–232.593s · بعدها،</a:t>
            </a:r>
          </a:p>
          <a:p/>
          <a:p>
            <a:r>
              <a:t>C099 · 232.759–235.859s · نشوف إيه اللي نقدر نستخدمه من الـNative Features الموجودة،</a:t>
            </a:r>
          </a:p>
          <a:p/>
          <a:p>
            <a:r>
              <a:t>C100 · 236.108–237.835s · وإيه اللي محتاج Integration إضافية،</a:t>
            </a:r>
          </a:p>
          <a:p/>
          <a:p>
            <a:r>
              <a:t>C101 · 238.211–240.381s · من غير ما نبني System جديد لو مش محتاجينه.</a:t>
            </a:r>
          </a:p>
          <a:p/>
          <a:p>
            <a:r>
              <a:t>C102 · 240.697–243.010s · وهنختبر التجربة باستخدام Test Calls،</a:t>
            </a:r>
          </a:p>
          <a:p/>
          <a:p>
            <a:r>
              <a:t>C103 · 243.204–246.090s · عشان نتأكد إن بيانات العميل بتظهر بشكل صحيح،</a:t>
            </a:r>
          </a:p>
          <a:p/>
          <a:p>
            <a:r>
              <a:t>C104 · 246.647–249.041s · وإن كل Call مرتبطة بالـNotes الخاصة بيها،</a:t>
            </a:r>
          </a:p>
          <a:p/>
          <a:p>
            <a:r>
              <a:t>C105 · 249.631–251.892s · وإن المعلومات بتوصل للـAgent المناسب،</a:t>
            </a:r>
          </a:p>
          <a:p/>
          <a:p>
            <a:r>
              <a:t>C106 · 252.044–252.895s · بصلاحيات واضحة.</a:t>
            </a:r>
          </a:p>
          <a:p/>
          <a:p>
            <a:r>
              <a:t>C107 · 253.389–254.038s · وفي النهاية،</a:t>
            </a:r>
          </a:p>
          <a:p/>
          <a:p>
            <a:r>
              <a:t>C108 · 254.293–257.035s · إحنا مش بنتكلم عن مجرد شاشة فيها بيانات أكتر.</a:t>
            </a:r>
          </a:p>
          <a:p/>
          <a:p>
            <a:r>
              <a:t>C109 · 257.652–261.954s · إحنا بنتكلم عن تجربة بتساعد موظف خدمة العملاء يعرف مين العميل،</a:t>
            </a:r>
          </a:p>
          <a:p/>
          <a:p>
            <a:r>
              <a:t>C110 · 262.382–263.422s · ومستوى عضويته،</a:t>
            </a:r>
          </a:p>
          <a:p/>
          <a:p>
            <a:r>
              <a:t>C111 · 263.618–264.999s · وتاريخ تواصله مع الشركة،</a:t>
            </a:r>
          </a:p>
          <a:p/>
          <a:p>
            <a:r>
              <a:t>C112 · 265.365–267.115s · وآخر ملاحظات تسجلت عنه.</a:t>
            </a:r>
          </a:p>
          <a:p/>
          <a:p>
            <a:r>
              <a:t>C113 · 267.473–269.983s · وده يفتح فرصة حقيقية لتحسين الـFollow-up،</a:t>
            </a:r>
          </a:p>
          <a:p/>
          <a:p>
            <a:r>
              <a:t>C114 · 270.264–271.543s · وتسهيل شغل الـAgents،</a:t>
            </a:r>
          </a:p>
          <a:p/>
          <a:p>
            <a:r>
              <a:t>C115 · 271.876–275.044s · وتقديم Customer Experience أكتر تنظيمًا واستمرارية.</a:t>
            </a:r>
          </a:p>
          <a:p/>
          <a:p>
            <a:r>
              <a:t>C116 · 275.422–279.735s · وده بالضبط اللي GRINDCTRL بتقترح تقدمه لـConcrete:</a:t>
            </a:r>
          </a:p>
          <a:p/>
          <a:p>
            <a:r>
              <a:t>C117 · 280.192–281.428s · إن كل Call جديدة،</a:t>
            </a:r>
          </a:p>
          <a:p/>
          <a:p>
            <a:r>
              <a:t>C118 · 281.695–284.821s · تبدأ من آخر نقطة وصلت لها علاقة العميل بالشركة،</a:t>
            </a:r>
          </a:p>
          <a:p/>
          <a:p>
            <a:r>
              <a:t>C119 · 285.207–285.760s · مش من الصفر.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C069 · 160.266–162.928s · خلينا نشوف إيه اللي هيحصل أثناء الـCurrent Call نفسها.</a:t>
            </a:r>
          </a:p>
          <a:p/>
          <a:p>
            <a:r>
              <a:t>C070 · 163.323–164.919s · الـAgent بيتكلم مع العميل،</a:t>
            </a:r>
          </a:p>
          <a:p/>
          <a:p>
            <a:r>
              <a:t>C071 · 165.234–168.767s · وفي نفس الوقت يقدر يسجل Notes جديدة عن تفاصيل المحادثة،</a:t>
            </a:r>
          </a:p>
          <a:p/>
          <a:p>
            <a:r>
              <a:t>C072 · 169.235–170.899s · والإجراء اللي تم الاتفاق عليه،</a:t>
            </a:r>
          </a:p>
          <a:p/>
          <a:p>
            <a:r>
              <a:t>C073 · 171.076–172.306s · أو الـFollow-up المطلوب.</a:t>
            </a:r>
          </a:p>
          <a:p/>
          <a:p>
            <a:r>
              <a:t>C074 · 172.626–173.833s · وبعد ما الـCall تخلص،</a:t>
            </a:r>
          </a:p>
          <a:p/>
          <a:p>
            <a:r>
              <a:t>C075 · 174.027–176.839s · الملاحظات تتحفظ مرتبطة بنفس الـCall Activity،</a:t>
            </a:r>
          </a:p>
          <a:p/>
          <a:p>
            <a:r>
              <a:t>C076 · 177.357–179.936s · حسب طريقة التسجيل والـIntegration اللي هنعتمدها.</a:t>
            </a:r>
          </a:p>
          <a:p/>
          <a:p>
            <a:r>
              <a:t>C077 · 180.367–182.003s · ولما العميل يتصل مرة تانية،</a:t>
            </a:r>
          </a:p>
          <a:p/>
          <a:p>
            <a:r>
              <a:t>C078 · 182.301–183.259s · الـAgent التالي،</a:t>
            </a:r>
          </a:p>
          <a:p/>
          <a:p>
            <a:r>
              <a:t>C079 · 183.440–187.394s · يقدر يرجع للـPrevious Calls ويشوف الـNotes الخاصة بكل مكالمة،</a:t>
            </a:r>
          </a:p>
          <a:p/>
          <a:p>
            <a:r>
              <a:t>C080 · 187.781–189.220s · حسب الصلاحيات المتاحة له.</a:t>
            </a:r>
          </a:p>
          <a:p/>
          <a:p>
            <a:r>
              <a:t>C081 · 189.526–191.645s · يعني بدل ما كل مكالمة تبدأ من الصفر،</a:t>
            </a:r>
          </a:p>
          <a:p/>
          <a:p>
            <a:r>
              <a:t>C082 · 192.053–193.574s · كل Call بتضيف معلومات،</a:t>
            </a:r>
          </a:p>
          <a:p/>
          <a:p>
            <a:r>
              <a:t>C083 · 193.732–195.106s ·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تعاون جديد مقترح من GRINDCTRL. السجلات خيالية. طريقة العمل بحسب الإفادة ولم تُختبر مستقلًا. لم يتم فحص واجهات العميل الفعلية أو الإعدادات أو API أو التراخيص أو نتائج الأداء.</a:t>
            </a:r>
          </a:p>
          <a:p/>
          <a:p>
            <a:r>
              <a:t>الشكل المنفصل للمكالمة والمعلومات توضيحي ولا يضمن شريطًا مدمجًا. نفحص بند CRM URL pop up integration في عقد نوفمبر ٢٠٢٣ صفحة ٤ وشكل العرض والصلاحيات قبل التنفيذ. مطابقة الرقم لا تثبت الهوية.</a:t>
            </a:r>
          </a:p>
          <a:p/>
          <a:p>
            <a:r>
              <a:t>الجزء ٠٣ عن ملاحظات بشرية مرتبطة بمكالماتها، وليس التذاكر أو الملاحظات العامة أو التسجيلات أو ملخصات AI. التواريخ والأوقات والموظفون خياليون. الملاحظة الجديدة للمكالمة DEMO-1012 وتقرأها المكالمة اللاحقة DEMO-1015 دون تغيير مصدرها. حفظ البيانات والصلاحيات والاحتفاظ الفعلي تحتاج تحققًا.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audio" Target="../media/grindctrl-part03-voiceover-ar.mp3"/><Relationship Id="rId12" Type="http://schemas.microsoft.com/office/2007/relationships/media" Target="../media/grindctrl-part03-voiceover-ar.mp3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0.png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1.png"/><Relationship Id="rId9" Type="http://schemas.openxmlformats.org/officeDocument/2006/relationships/image" Target="../media/image7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3.png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معرفة العميل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المكالمة تبقى بداية لفهم العميل.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01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629150" y="3686175"/>
            <a:ext cx="43434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سجل المكالمات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275" y="3724275"/>
            <a:ext cx="37623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محفوظة · مرتبطة · مسموحة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275" y="40862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9025" y="41624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0" y="44481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14:32 · Inbound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91200" y="41624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200" y="44481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pic>
        <p:nvPicPr>
          <p:cNvPr id="49" name="Picture 48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171950"/>
            <a:ext cx="209550" cy="20955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857250" y="41529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Followed up on the exchange. Branch review requested.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275" y="471487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39025" y="479107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0" y="507682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11:08 · Inbound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1200" y="479107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1200" y="507682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pic>
        <p:nvPicPr>
          <p:cNvPr id="56" name="Picture 55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800600"/>
            <a:ext cx="209550" cy="2095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857250" y="478155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requested a size exchange.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6275" y="53435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39025" y="54197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29500" y="57054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16:45 · Inbound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91200" y="54197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91200" y="57054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DEMO-0926</a:t>
            </a:r>
          </a:p>
        </p:txBody>
      </p:sp>
      <p:pic>
        <p:nvPicPr>
          <p:cNvPr id="63" name="Picture 62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5429250"/>
            <a:ext cx="209550" cy="2095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857250" y="54102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asked about product availability.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1525" y="4124325"/>
            <a:ext cx="4972050" cy="5048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Original Arabic narration — 286 seconds" descr="icon-mic.png">
            <a:hlinkClick action="ppaction://media" r:id=""/>
          </p:cNvPr>
          <p:cNvPicPr>
            <a:picLocks noChangeAspect="1"/>
          </p:cNvPicPr>
          <p:nvPr>
            <a:audioFile r:link="rId11"/>
            <p:extLst>
              <p:ext uri="{DAA4B4D4-6D71-4841-9C94-3DE7FCFB45AD}">
                <p14:media xmlns:p14="http://schemas.microsoft.com/office/powerpoint/2010/main" r:embed="rId1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09700" y="6486525"/>
            <a:ext cx="209550" cy="209550"/>
          </a:xfrm>
          <a:prstGeom prst="rect">
            <a:avLst/>
          </a:prstGeom>
        </p:spPr>
      </p:pic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numSld="8" showWhenStopped="1">
                <p:cTn id="4" dur="286160" fill="hold" nodeType="withEffect">
                  <p:stCondLst>
                    <p:cond delay="0"/>
                  </p:stCondLst>
                </p:cTn>
                <p:tgtEl>
                  <p:spTgt spid="6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الهوية وبيانات التواصل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نبدأ برقم المتصل. ونحدد السجل المناسب.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781425" y="2333625"/>
            <a:ext cx="5219700" cy="120015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فئة العضوية في مكانها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الاسم والرقم والعضوية والبريد الإلكتروني.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3790950"/>
            <a:ext cx="82867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305300"/>
            <a:ext cx="8286750" cy="600075"/>
          </a:xfrm>
          <a:prstGeom prst="roundRect">
            <a:avLst>
              <a:gd name="adj" fmla="val 952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486275"/>
            <a:ext cx="23622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LIFESTYLE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96025" y="4429125"/>
            <a:ext cx="0" cy="3524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657600" y="4486275"/>
            <a:ext cx="23622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PRESTIGE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552825" y="4429125"/>
            <a:ext cx="0" cy="3524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14400" y="4486275"/>
            <a:ext cx="23622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ELITE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5825" y="4314825"/>
            <a:ext cx="2600325" cy="5810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con-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8225" y="5267325"/>
            <a:ext cx="257175" cy="257175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828675" y="5257800"/>
            <a:ext cx="763905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مطلوب مصدر عضوية موثوق.</a:t>
            </a:r>
          </a:p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لا نستنتج الفئة من رقم التليفون.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سجل كل مكالمة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كل مكالمة ليها الملاحظات اللي كتبها الموظف.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629150" y="3686175"/>
            <a:ext cx="43434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سجل المكالمات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275" y="3724275"/>
            <a:ext cx="37623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محفوظة · مرتبطة · مسموحة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275" y="40862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9025" y="41624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9500" y="44481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14:32 · Inbound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91200" y="41624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200" y="44481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pic>
        <p:nvPicPr>
          <p:cNvPr id="49" name="Picture 48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171950"/>
            <a:ext cx="209550" cy="20955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857250" y="41529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Followed up on the exchange. Branch review requested.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275" y="471487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39025" y="479107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0" y="507682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11:08 · Inbound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91200" y="479107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91200" y="507682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pic>
        <p:nvPicPr>
          <p:cNvPr id="56" name="Picture 55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800600"/>
            <a:ext cx="209550" cy="2095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857250" y="478155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requested a size exchange.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6275" y="53435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39025" y="54197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29500" y="57054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16:45 · Inbound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91200" y="54197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91200" y="57054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DEMO-0926</a:t>
            </a:r>
          </a:p>
        </p:txBody>
      </p:sp>
      <p:pic>
        <p:nvPicPr>
          <p:cNvPr id="63" name="Picture 62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5429250"/>
            <a:ext cx="209550" cy="2095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857250" y="54102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asked about product availability.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4375" y="5343525"/>
            <a:ext cx="5010150" cy="5810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متابعة مكالمة ٨ أكتوبر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نفتح المكالمة السابقة. ونقرأ الملاحظة الأصلية.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10350" y="3705225"/>
            <a:ext cx="23622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المكالمات السابقة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19875" y="4095750"/>
            <a:ext cx="2371725" cy="523875"/>
          </a:xfrm>
          <a:prstGeom prst="roundRect">
            <a:avLst>
              <a:gd name="adj" fmla="val 9090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0025" y="41529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2275" y="41719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1325" y="4410075"/>
            <a:ext cx="204787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19875" y="4695825"/>
            <a:ext cx="2371725" cy="523875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20025" y="4752975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72275" y="4772025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91325" y="5010150"/>
            <a:ext cx="204787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19875" y="5295900"/>
            <a:ext cx="2371725" cy="523875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20025" y="535305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2275" y="537210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91325" y="5610225"/>
            <a:ext cx="204787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DEMO-0926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67475" y="3714750"/>
            <a:ext cx="0" cy="22669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14375" y="3714750"/>
            <a:ext cx="55054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 2026 · 14:32 · Inbound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2300" y="4076700"/>
            <a:ext cx="30575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 · DEMO-1008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4375" y="4114800"/>
            <a:ext cx="23241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Note: 08 Oct · 14:36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4850" y="4495800"/>
            <a:ext cx="5524500" cy="1133475"/>
          </a:xfrm>
          <a:prstGeom prst="roundRect">
            <a:avLst>
              <a:gd name="adj" fmla="val 504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0" y="4676775"/>
            <a:ext cx="238125" cy="238125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990600" y="4638675"/>
            <a:ext cx="464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965318"/>
                </a:solidFill>
                <a:latin typeface="Manrope"/>
                <a:cs typeface="IBM Plex Sans Arabic Medium"/>
              </a:rPr>
              <a:t>ملاحظة كتبها الموظف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" y="5038725"/>
            <a:ext cx="51435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Followed up on the exchange. Branch review requested.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4375" y="5781675"/>
            <a:ext cx="5505450" cy="219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المصدر: هذه المكالمة فقط · سجل خيالي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7700" y="5676900"/>
            <a:ext cx="5619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3900" y="5724525"/>
            <a:ext cx="54959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طلب مسجل · التنفيذ غير مؤكد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ملاحظة جديدة ثم الرجوع لها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نكتبها للمكالمة دي. ونرجع لها من نفس المكالمة.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لاحقة (DEMO)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15 Oct · 09:10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10350" y="3705225"/>
            <a:ext cx="23622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المكالمات السابقة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19875" y="40957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20025" y="41529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2275" y="41719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9875" y="45529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20025" y="46101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72275" y="46291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19875" y="50101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20025" y="50673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72275" y="50863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19875" y="54673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20025" y="55245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72275" y="55435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C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67475" y="3714750"/>
            <a:ext cx="0" cy="22669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14375" y="3714750"/>
            <a:ext cx="55054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 2026 · 10:24 · Inbound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2300" y="4076700"/>
            <a:ext cx="30575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 · DEMO-1012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4375" y="4114800"/>
            <a:ext cx="23241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Note: 12 Oct · 10:29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4850" y="4495800"/>
            <a:ext cx="5524500" cy="1133475"/>
          </a:xfrm>
          <a:prstGeom prst="roundRect">
            <a:avLst>
              <a:gd name="adj" fmla="val 504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0" y="4676775"/>
            <a:ext cx="238125" cy="238125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990600" y="4638675"/>
            <a:ext cx="464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965318"/>
                </a:solidFill>
                <a:latin typeface="Manrope"/>
                <a:cs typeface="IBM Plex Sans Arabic Medium"/>
              </a:rPr>
              <a:t>ملاحظة كتبها الموظف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4875" y="5038725"/>
            <a:ext cx="51435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called again; awaiting a confirmed branch update.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4375" y="5781675"/>
            <a:ext cx="5505450" cy="219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المصدر: هذه المكالمة فقط · سجل خيالي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التعامل مع الحالات المختلفة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نوضح الحقيقة. والمكالمة تستمر.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pic>
        <p:nvPicPr>
          <p:cNvPr id="31" name="Picture 30" descr="icon-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33675"/>
            <a:ext cx="409575" cy="409575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1143000" y="2733675"/>
            <a:ext cx="695325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أكثر من عميل محتمل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200" y="3705225"/>
            <a:ext cx="7924800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39125" y="3810000"/>
            <a:ext cx="371475" cy="371475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a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8279" y="3899154"/>
            <a:ext cx="193167" cy="193167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4429125" y="3838575"/>
            <a:ext cx="36195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175" y="3838575"/>
            <a:ext cx="29908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8200" y="4448175"/>
            <a:ext cx="7924800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39125" y="4552950"/>
            <a:ext cx="371475" cy="371475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con-a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8279" y="4642104"/>
            <a:ext cx="193167" cy="193167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4429125" y="4581525"/>
            <a:ext cx="36195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B (DEMO)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175" y="4581525"/>
            <a:ext cx="29908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43" name="Picture 42" descr="icon-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7725" y="5448300"/>
            <a:ext cx="247650" cy="247650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838200" y="5438775"/>
            <a:ext cx="7439025" cy="4095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التحقق المتفق عليه أولًا. تاريخ المرشحين لا يظهر.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الإمكانيات الحالية والتجربة الأولية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لاحقة (DEMO)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15 Oct · 09:10</a:t>
            </a:r>
          </a:p>
        </p:txBody>
      </p:sp>
      <p:sp>
        <p:nvSpPr>
          <p:cNvPr id="23" name="Oval 22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5" name="Oval 24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7" name="Oval 26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0" name="Oval 29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3" name="Picture 32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(Illustrative)</a:t>
            </a:r>
          </a:p>
        </p:txBody>
      </p:sp>
      <p:pic>
        <p:nvPicPr>
          <p:cNvPr id="37" name="Picture 36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10350" y="3705225"/>
            <a:ext cx="23622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المكالمات السابقة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19875" y="40957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20025" y="41529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72275" y="41719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19875" y="45529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20025" y="46101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72275" y="46291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19875" y="50101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20025" y="50673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72275" y="50863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19875" y="54673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20025" y="55245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2275" y="55435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C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67475" y="3714750"/>
            <a:ext cx="0" cy="22669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14375" y="3714750"/>
            <a:ext cx="55054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 2026 · 10:24 · Inbound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2300" y="4076700"/>
            <a:ext cx="30575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 · DEMO-1012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4375" y="4114800"/>
            <a:ext cx="23241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Note: 12 Oct · 10:29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4850" y="4495800"/>
            <a:ext cx="5524500" cy="1133475"/>
          </a:xfrm>
          <a:prstGeom prst="roundRect">
            <a:avLst>
              <a:gd name="adj" fmla="val 504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0" y="4676775"/>
            <a:ext cx="238125" cy="238125"/>
          </a:xfrm>
          <a:prstGeom prst="rect">
            <a:avLst/>
          </a:prstGeom>
          <a:effectLst/>
        </p:spPr>
      </p:pic>
      <p:sp>
        <p:nvSpPr>
          <p:cNvPr id="60" name="TextBox 59"/>
          <p:cNvSpPr txBox="1"/>
          <p:nvPr/>
        </p:nvSpPr>
        <p:spPr>
          <a:xfrm>
            <a:off x="990600" y="4638675"/>
            <a:ext cx="464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965318"/>
                </a:solidFill>
                <a:latin typeface="Manrope"/>
                <a:cs typeface="IBM Plex Sans Arabic Medium"/>
              </a:rPr>
              <a:t>ملاحظة كتبها الموظف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4875" y="5038725"/>
            <a:ext cx="51435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called again; awaiting a confirmed branch update.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4375" y="5781675"/>
            <a:ext cx="5505450" cy="219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المصدر: هذه المكالمة فقط · سجل خيالي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7225" y="4467225"/>
            <a:ext cx="5600700" cy="11811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نبدأ من آخر تواصل مسجل مع العميل.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ملاحظة جديدة ثم الرجوع لها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ملاحظة بشرية للمكالمة الحالية.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52475" y="3705225"/>
            <a:ext cx="82200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ملاحظة المكالمة الحالية · الموظف 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2475" y="4086225"/>
            <a:ext cx="82200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2026 · 10:24 · DEMO-1012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76750"/>
            <a:ext cx="828675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5350" y="4648200"/>
            <a:ext cx="7896225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called again; awaiting a confirmed branch update.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619750"/>
            <a:ext cx="1866900" cy="409575"/>
          </a:xfrm>
          <a:prstGeom prst="roundRect">
            <a:avLst>
              <a:gd name="adj" fmla="val 11627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7725" y="5705475"/>
            <a:ext cx="15430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حفظ الملاحظة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5100" y="5667375"/>
            <a:ext cx="62674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مسودة · خطوة تسجيل مقترحة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التعامل مع الحالات المختلفة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لا يوجد سجل مطابق: الإجراء اليدوي.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pic>
        <p:nvPicPr>
          <p:cNvPr id="31" name="Picture 30" descr="icon-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33675"/>
            <a:ext cx="409575" cy="409575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1143000" y="2733675"/>
            <a:ext cx="695325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لا يوجد سجل مطابق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50" y="3476625"/>
            <a:ext cx="7820025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نكمل باستخدام إجراء البحث اليدوي الحالي.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00700" y="4552950"/>
            <a:ext cx="3162300" cy="561975"/>
          </a:xfrm>
          <a:prstGeom prst="roundRect">
            <a:avLst>
              <a:gd name="adj" fmla="val 8474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4733925"/>
            <a:ext cx="228600" cy="22860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5810250" y="4695825"/>
            <a:ext cx="23336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بحث يدوي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التعامل مع الحالات المختلفة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البريد والفئة غير المتاحين يظلان كذلك.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sp>
        <p:nvSpPr>
          <p:cNvPr id="31" name="Oval 30"/>
          <p:cNvSpPr/>
          <p:nvPr/>
        </p:nvSpPr>
        <p:spPr>
          <a:xfrm>
            <a:off x="853440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955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57625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35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19650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68645E"/>
                </a:solidFill>
                <a:latin typeface="Manrope"/>
                <a:cs typeface="IBM Plex Sans Arabic Medium"/>
              </a:rPr>
              <a:t>الفئة غير متاحة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0010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غير متاح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7275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سجل مرتبط · لا يثبت هوية المتصل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76275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icon-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8225" y="3943350"/>
            <a:ext cx="266700" cy="266700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819150" y="3933825"/>
            <a:ext cx="7648575" cy="723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لا نخمن البيانات غير المتاحة أو غير المرتبطة.</a:t>
            </a:r>
          </a:p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تظل صلاحيات السجل والملاحظات مطلوبة.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8772525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الجزء ٠٣ · التعامل مع الحالات المختلفة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البحث غير متاح؛ والمكالمة تستمر.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تجربة مقترحة · سجلات خيالية · الواجهة والمصادر وطريقة الحفظ تحتاج تحققًا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0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8486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مساحة المكالمة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360° · نموذج توضيحي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202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06125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941070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رقم المتصل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16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49654E"/>
                </a:solidFill>
                <a:latin typeface="Manrope"/>
                <a:cs typeface="IBM Plex Sans Arabic Medium"/>
              </a:rPr>
              <a:t>مكالمة جارية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16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الموظف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16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111252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997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05156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37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990600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077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3916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مكالمة خيالية</a:t>
            </a:r>
          </a:p>
        </p:txBody>
      </p:sp>
      <p:pic>
        <p:nvPicPr>
          <p:cNvPr id="31" name="Picture 30" descr="icon-warn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33675"/>
            <a:ext cx="409575" cy="409575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1143000" y="2733675"/>
            <a:ext cx="695325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البحث غير متاح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450" y="3476625"/>
            <a:ext cx="7820025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خطأ إتاحة · وليس سجل مكالمات فارغًا.</a:t>
            </a:r>
          </a:p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المكالمة الجارية تستمر.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4114800"/>
            <a:ext cx="2200275" cy="381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GRINDCTRL × كونكريت — الجزء ٠٣: تجربة العميل والمكالمات</dc:title>
  <dc:subject>Customer 360 call experience and source-linked human interaction notes. Proposed workflow; synthetic records.</dc:subject>
  <dc:creator>GRINDCTRL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