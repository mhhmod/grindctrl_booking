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reports that Zoho is used for ticketing only, and that callers’ records/history do not pop up for employees in Genesys. The user also confirmed that manually searching the phone number finds the previous Zoho tickets. These are reported observations, not independently verified logs.</a:t>
            </a:r>
          </a:p>
          <a:p/>
          <a:p>
            <a:r>
              <a:t>The initial offer is to inspect the existing contracted pop-up and make caller/ticket context appear at call assignment, using supported native configuration where suitable. No active Zoho CRM product is assumed.</a:t>
            </a:r>
          </a:p>
          <a:p/>
          <a:p>
            <a:r>
              <a:t>This is a proposed first collaboration. GRINDCTRL has no existing Concrete/Centro relationship and has not delivered this integration. All contact, phone and ticket examples are fictional. The UI is an independent mock-up, not an official vendor screenshot.</a:t>
            </a:r>
          </a:p>
          <a:p/>
          <a:p>
            <a:r>
              <a:t>The animation demonstrates the proposed sequence. Its timing is presentation pacing, not measured lookup latency. This deck and browser preview have no vendor connector, backend or live model.</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reports that Zoho is used for ticketing only, and that callers’ records/history do not pop up for employees in Genesys. The user also confirmed that manually searching the phone number finds the previous Zoho tickets. These are reported observations, not independently verified logs.</a:t>
            </a:r>
          </a:p>
          <a:p/>
          <a:p>
            <a:r>
              <a:t>The initial offer is to inspect the existing contracted pop-up and make caller/ticket context appear at call assignment, using supported native configuration where suitable. No active Zoho CRM product is assumed.</a:t>
            </a:r>
          </a:p>
          <a:p/>
          <a:p>
            <a:r>
              <a:t>The before sequence represents the user-reported missing automatic context and working manual phone search. The after sequence is a proposed experience with synthetic records. It does not claim that the current employee interface has been inspected.</a:t>
            </a:r>
          </a:p>
          <a:p/>
          <a:p>
            <a:r>
              <a:t>Expected value: fewer manual search steps and earlier access to prior notes. Handling time, retrieval latency, match reliability and any quality/cost effect must be measured during an authorized pilot; no percentage or cost saving is promised.</a:t>
            </a:r>
          </a:p>
          <a:p/>
          <a:p>
            <a:r>
              <a:t>This is a proposed first collaboration. GRINDCTRL has no existing Concrete/Centro relationship and has not delivered this integration. All contact, phone and ticket examples are fictional. The UI is an independent mock-up, not an official vendor screenshot.</a:t>
            </a:r>
          </a:p>
          <a:p/>
          <a:p>
            <a:r>
              <a:t>The animation demonstrates the proposed sequence. Its timing is presentation pacing, not measured lookup latency. This deck and browser preview have no vendor connector, backend or live model.</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reports that Zoho is used for ticketing only, and that callers’ records/history do not pop up for employees in Genesys. The user also confirmed that manually searching the phone number finds the previous Zoho tickets. These are reported observations, not independently verified logs.</a:t>
            </a:r>
          </a:p>
          <a:p/>
          <a:p>
            <a:r>
              <a:t>The initial offer is to inspect the existing contracted pop-up and make caller/ticket context appear at call assignment, using supported native configuration where suitable. No active Zoho CRM product is assumed.</a:t>
            </a:r>
          </a:p>
          <a:p/>
          <a:p>
            <a:r>
              <a:t>The agent preview is an independent proposed workspace, not an official Genesys/Zoho screenshot. The implementation may use an existing URL pop-up or a supported embedded panel after assessing the actual desktop. It reads Desk contacts/tickets rather than assuming Zoho CRM.</a:t>
            </a:r>
          </a:p>
          <a:p/>
          <a:p>
            <a:r>
              <a:t>The sample shows Contact A, two open tickets and one closed ticket. T101 is waiting on Branch B01. Selecting a ticket shows its recorded notes. Attaching this call is an explicit employee action to the selected open ticket; no automatic closure, reopening or commercial decision is proposed.</a:t>
            </a:r>
          </a:p>
          <a:p/>
          <a:p>
            <a:r>
              <a:t>Production design depends on the Genesys edition/desktop and its supported URL pop-up, event/SDK and caller-number availability, plus Zoho Desk permissions/API/search behavior. No unverified API endpoint or license entitlement is asserted. The UI fixture does not run a vendor connector or a backend.</a:t>
            </a:r>
          </a:p>
          <a:p/>
          <a:p>
            <a:r>
              <a:t>Normalize equivalent phone forms under agreed numbering rules. A phone match is a candidate association, not authentication. Only the assigned employee’s permitted Desk records should be accessible. Record linking is explicit and should be idempotent for conversation/ticket in live implementation.</a:t>
            </a:r>
          </a:p>
          <a:p/>
          <a:p>
            <a:r>
              <a:t>The demo covers a single contact, a phone shared by two contacts, an unknown phone and an unavailable Desk lookup. Multiple candidates need an employee choice. Unknown phone offers manual phone/name/ticket reference search. Lookup failure is shown as unavailable, not as no tickets. Calls continue.</a:t>
            </a:r>
          </a:p>
          <a:p/>
          <a:p>
            <a:r>
              <a:t>Do not equate a phone number with verified identity. Follow the client’s caller-confirmation and record-access policy. Linking creates one synthetic event per demo call/ticket and does not modify the ticket state. Actual write permissions and target fields remain to be agreed.</a:t>
            </a:r>
          </a:p>
          <a:p/>
          <a:p>
            <a:r>
              <a:t>This is a proposed first collaboration. GRINDCTRL has no existing Concrete/Centro relationship and has not delivered this integration. All contact, phone and ticket examples are fictional. The UI is an independent mock-up, not an official vendor screenshot.</a:t>
            </a:r>
          </a:p>
          <a:p/>
          <a:p>
            <a:r>
              <a:t>The animation demonstrates the proposed sequence. Its timing is presentation pacing, not measured lookup latency. This deck and browser preview have no vendor connector, backend or live model.</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design depends on the Genesys edition/desktop and its supported URL pop-up, event/SDK and caller-number availability, plus Zoho Desk permissions/API/search behavior. No unverified API endpoint or license entitlement is asserted. The UI fixture does not run a vendor connector or a backend.</a:t>
            </a:r>
          </a:p>
          <a:p/>
          <a:p>
            <a:r>
              <a:t>Normalize equivalent phone forms under agreed numbering rules. A phone match is a candidate association, not authentication. Only the assigned employee’s permitted Desk records should be accessible. Record linking is explicit and should be idempotent for conversation/ticket in live implementation.</a:t>
            </a:r>
          </a:p>
          <a:p/>
          <a:p>
            <a:r>
              <a:t>The November 2023 contract, PDF page 4, explicitly lists “CRM URL pop up integration.” That proves it was in scope, not that it currently works, or that it includes two-way data synchronization. The reported symptom could arise from configuration, mapping, user access or another cause; inspect the actual setup before deciding whether to repair native configuration or build an adapter.</a:t>
            </a:r>
          </a:p>
          <a:p/>
          <a:p>
            <a:r>
              <a:t>Acceptance should cover real approved test calls, correct caller candidates and ticket visibility, duplicate/missing-number behavior, error fallback, permitted employee access and explicit nonduplicate call linking if included. Compare manual search actions/time with the delivered workflow and check actual lookup latency and match results. Agree thresholds and pilot scope with Concrete rather than inventing them.</a:t>
            </a:r>
          </a:p>
          <a:p/>
          <a:p>
            <a:r>
              <a:t>After context works, an optional AI summary can cite existing ticket notes and show missing/conflicting information for review. It must not invent actions, promises or case status. No live model, savings result or SaaS product validation exists yet.</a:t>
            </a:r>
          </a:p>
          <a:p/>
          <a:p>
            <a:r>
              <a:t>This is a proposed first collaboration. GRINDCTRL has no existing Concrete/Centro relationship and has not delivered this integration. All contact, phone and ticket examples are fictional. The UI is an independent mock-up, not an official vendor screenshot.</a:t>
            </a:r>
          </a:p>
          <a:p/>
          <a:p>
            <a:r>
              <a:t>The animation demonstrates the proposed sequence. Its timing is presentation pacing, not measured lookup latency. This deck and browser preview have no vendor connector, backend or live model.</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preview is an independent proposed workspace, not an official Genesys/Zoho screenshot. The implementation may use an existing URL pop-up or a supported embedded panel after assessing the actual desktop. It reads Desk contacts/tickets rather than assuming Zoho CRM.</a:t>
            </a:r>
          </a:p>
          <a:p/>
          <a:p>
            <a:r>
              <a:t>The sample shows Contact A, two open tickets and one closed ticket. T101 is waiting on Branch B01. Selecting a ticket shows its recorded notes. Attaching this call is an explicit employee action to the selected open ticket; no automatic closure, reopening or commercial decision is proposed.</a:t>
            </a:r>
          </a:p>
          <a:p/>
          <a:p>
            <a:r>
              <a:t>The demo covers a single contact, a phone shared by two contacts, an unknown phone and an unavailable Desk lookup. Multiple candidates need an employee choice. Unknown phone offers manual phone/name/ticket reference search. Lookup failure is shown as unavailable, not as no tickets. Calls continue.</a:t>
            </a:r>
          </a:p>
          <a:p/>
          <a:p>
            <a:r>
              <a:t>Do not equate a phone number with verified identity. Follow the client’s caller-confirmation and record-access policy. Linking creates one synthetic event per demo call/ticket and does not modify the ticket state. Actual write permissions and target fields remain to be agreed.</a:t>
            </a:r>
          </a:p>
          <a:p/>
          <a:p>
            <a:r>
              <a:t>This is a proposed first collaboration. GRINDCTRL has no existing Concrete/Centro relationship and has not delivered this integration. All contact, phone and ticket examples are fictional. The UI is an independent mock-up, not an official vendor screenshot.</a:t>
            </a:r>
          </a:p>
          <a:p/>
          <a:p>
            <a:r>
              <a:t>The animation demonstrates the proposed sequence. Its timing is presentation pacing, not measured lookup latency. This deck and browser preview have no vendor connector, backend or live model.</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before sequence represents the user-reported missing automatic context and working manual phone search. The after sequence is a proposed experience with synthetic records. It does not claim that the current employee interface has been inspected.</a:t>
            </a:r>
          </a:p>
          <a:p/>
          <a:p>
            <a:r>
              <a:t>Expected value: fewer manual search steps and earlier access to prior notes. Handling time, retrieval latency, match reliability and any quality/cost effect must be measured during an authorized pilot; no percentage or cost saving is promised.</a:t>
            </a:r>
          </a:p>
          <a:p/>
          <a:p>
            <a:r>
              <a:t>The agent preview is an independent proposed workspace, not an official Genesys/Zoho screenshot. The implementation may use an existing URL pop-up or a supported embedded panel after assessing the actual desktop. It reads Desk contacts/tickets rather than assuming Zoho CRM.</a:t>
            </a:r>
          </a:p>
          <a:p/>
          <a:p>
            <a:r>
              <a:t>The sample shows Contact A, two open tickets and one closed ticket. T101 is waiting on Branch B01. Selecting a ticket shows its recorded notes. Attaching this call is an explicit employee action to the selected open ticket; no automatic closure, reopening or commercial decision is proposed.</a:t>
            </a:r>
          </a:p>
          <a:p/>
          <a:p>
            <a:r>
              <a:t>This is a proposed first collaboration. GRINDCTRL has no existing Concrete/Centro relationship and has not delivered this integration. All contact, phone and ticket examples are fictional. The UI is an independent mock-up, not an official vendor screenshot.</a:t>
            </a:r>
          </a:p>
          <a:p/>
          <a:p>
            <a:r>
              <a:t>The animation demonstrates the proposed sequence. Its timing is presentation pacing, not measured lookup latency. This deck and browser preview have no vendor connector, backend or live model.</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before sequence represents the user-reported missing automatic context and working manual phone search. The after sequence is a proposed experience with synthetic records. It does not claim that the current employee interface has been inspected.</a:t>
            </a:r>
          </a:p>
          <a:p/>
          <a:p>
            <a:r>
              <a:t>Expected value: fewer manual search steps and earlier access to prior notes. Handling time, retrieval latency, match reliability and any quality/cost effect must be measured during an authorized pilot; no percentage or cost saving is promised.</a:t>
            </a:r>
          </a:p>
          <a:p/>
          <a:p>
            <a:r>
              <a:t>The November 2023 contract, PDF page 4, explicitly lists “CRM URL pop up integration.” That proves it was in scope, not that it currently works, or that it includes two-way data synchronization. The reported symptom could arise from configuration, mapping, user access or another cause; inspect the actual setup before deciding whether to repair native configuration or build an adapter.</a:t>
            </a:r>
          </a:p>
          <a:p/>
          <a:p>
            <a:r>
              <a:t>Acceptance should cover real approved test calls, correct caller candidates and ticket visibility, duplicate/missing-number behavior, error fallback, permitted employee access and explicit nonduplicate call linking if included. Compare manual search actions/time with the delivered workflow and check actual lookup latency and match results. Agree thresholds and pilot scope with Concrete rather than inventing them.</a:t>
            </a:r>
          </a:p>
          <a:p/>
          <a:p>
            <a:r>
              <a:t>After context works, an optional AI summary can cite existing ticket notes and show missing/conflicting information for review. It must not invent actions, promises or case status. No live model, savings result or SaaS product validation exists yet.</a:t>
            </a:r>
          </a:p>
          <a:p/>
          <a:p>
            <a:r>
              <a:t>This is a proposed first collaboration. GRINDCTRL has no existing Concrete/Centro relationship and has not delivered this integration. All contact, phone and ticket examples are fictional. The UI is an independent mock-up, not an official vendor screenshot.</a:t>
            </a:r>
          </a:p>
          <a:p/>
          <a:p>
            <a:r>
              <a:t>The animation demonstrates the proposed sequence. Its timing is presentation pacing, not measured lookup latency. This deck and browser preview have no vendor connector, backend or live model.</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November 2023 contract, PDF page 4, explicitly lists “CRM URL pop up integration.” That proves it was in scope, not that it currently works, or that it includes two-way data synchronization. The reported symptom could arise from configuration, mapping, user access or another cause; inspect the actual setup before deciding whether to repair native configuration or build an adapter.</a:t>
            </a:r>
          </a:p>
          <a:p/>
          <a:p>
            <a:r>
              <a:t>Acceptance should cover real approved test calls, correct caller candidates and ticket visibility, duplicate/missing-number behavior, error fallback, permitted employee access and explicit nonduplicate call linking if included. Compare manual search actions/time with the delivered workflow and check actual lookup latency and match results. Agree thresholds and pilot scope with Concrete rather than inventing them.</a:t>
            </a:r>
          </a:p>
          <a:p/>
          <a:p>
            <a:r>
              <a:t>After context works, an optional AI summary can cite existing ticket notes and show missing/conflicting information for review. It must not invent actions, promises or case status. No live model, savings result or SaaS product validation exists yet.</a:t>
            </a:r>
          </a:p>
          <a:p/>
          <a:p>
            <a:r>
              <a:t>This is a proposed first collaboration. GRINDCTRL has no existing Concrete/Centro relationship and has not delivered this integration. All contact, phone and ticket examples are fictional. The UI is an independent mock-up, not an official vendor screenshot.</a:t>
            </a:r>
          </a:p>
          <a:p/>
          <a:p>
            <a:r>
              <a:t>The animation demonstrates the proposed sequence. Its timing is presentation pacing, not measured lookup latency. This deck and browser preview have no vendor connector, backend or live model.</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covers a single contact, a phone shared by two contacts, an unknown phone and an unavailable Desk lookup. Multiple candidates need an employee choice. Unknown phone offers manual phone/name/ticket reference search. Lookup failure is shown as unavailable, not as no tickets. Calls continue.</a:t>
            </a:r>
          </a:p>
          <a:p/>
          <a:p>
            <a:r>
              <a:t>Do not equate a phone number with verified identity. Follow the client’s caller-confirmation and record-access policy. Linking creates one synthetic event per demo call/ticket and does not modify the ticket state. Actual write permissions and target fields remain to be agreed.</a:t>
            </a:r>
          </a:p>
          <a:p/>
          <a:p>
            <a:r>
              <a:t>The November 2023 contract, PDF page 4, explicitly lists “CRM URL pop up integration.” That proves it was in scope, not that it currently works, or that it includes two-way data synchronization. The reported symptom could arise from configuration, mapping, user access or another cause; inspect the actual setup before deciding whether to repair native configuration or build an adapter.</a:t>
            </a:r>
          </a:p>
          <a:p/>
          <a:p>
            <a:r>
              <a:t>Acceptance should cover real approved test calls, correct caller candidates and ticket visibility, duplicate/missing-number behavior, error fallback, permitted employee access and explicit nonduplicate call linking if included. Compare manual search actions/time with the delivered workflow and check actual lookup latency and match results. Agree thresholds and pilot scope with Concrete rather than inventing them.</a:t>
            </a:r>
          </a:p>
          <a:p/>
          <a:p>
            <a:r>
              <a:t>After context works, an optional AI summary can cite existing ticket notes and show missing/conflicting information for review. It must not invent actions, promises or case status. No live model, savings result or SaaS product validation exists yet.</a:t>
            </a:r>
          </a:p>
          <a:p/>
          <a:p>
            <a:r>
              <a:t>This is a proposed first collaboration. GRINDCTRL has no existing Concrete/Centro relationship and has not delivered this integration. All contact, phone and ticket examples are fictional. The UI is an independent mock-up, not an official vendor screenshot.</a:t>
            </a:r>
          </a:p>
          <a:p/>
          <a:p>
            <a:r>
              <a:t>The animation demonstrates the proposed sequence. Its timing is presentation pacing, not measured lookup latency. This deck and browser preview have no vendor connector, backend or live model.</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2.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01D"/>
        </a:solidFill>
        <a:effectLst/>
      </p:bgPr>
    </p:bg>
    <p:spTree>
      <p:nvGrpSpPr>
        <p:cNvPr id="1" name=""/>
        <p:cNvGrpSpPr/>
        <p:nvPr/>
      </p:nvGrpSpPr>
      <p:grpSpPr/>
      <p:sp>
        <p:nvSpPr>
          <p:cNvPr id="2" name="TextBox 1"/>
          <p:cNvSpPr txBox="1"/>
          <p:nvPr/>
        </p:nvSpPr>
        <p:spPr>
          <a:xfrm>
            <a:off x="457200" y="266700"/>
            <a:ext cx="8572500" cy="2667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D5CFC6"/>
                </a:solidFill>
                <a:latin typeface="Manrope"/>
              </a:rPr>
              <a:t>CONCRETE · CUSTOMER SERVICE PROPOSAL</a:t>
            </a:r>
          </a:p>
        </p:txBody>
      </p:sp>
      <p:pic>
        <p:nvPicPr>
          <p:cNvPr id="3" name="Picture 2" descr="brand-white.png"/>
          <p:cNvPicPr>
            <a:picLocks noChangeAspect="1"/>
          </p:cNvPicPr>
          <p:nvPr/>
        </p:nvPicPr>
        <p:blipFill>
          <a:blip r:embed="rId2"/>
          <a:stretch>
            <a:fillRect/>
          </a:stretch>
        </p:blipFill>
        <p:spPr>
          <a:xfrm>
            <a:off x="9915525" y="220662"/>
            <a:ext cx="495300" cy="330200"/>
          </a:xfrm>
          <a:prstGeom prst="rect">
            <a:avLst/>
          </a:prstGeom>
          <a:effectLst/>
        </p:spPr>
      </p:pic>
      <p:sp>
        <p:nvSpPr>
          <p:cNvPr id="4" name="TextBox 3"/>
          <p:cNvSpPr txBox="1"/>
          <p:nvPr/>
        </p:nvSpPr>
        <p:spPr>
          <a:xfrm>
            <a:off x="10515600" y="266700"/>
            <a:ext cx="1219200" cy="276225"/>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1" lang="en-US">
                <a:solidFill>
                  <a:srgbClr val="FCFAF6"/>
                </a:solidFill>
                <a:latin typeface="Manrope"/>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l" rtl="0">
              <a:lnSpc>
                <a:spcPts val="5544"/>
              </a:lnSpc>
              <a:spcBef>
                <a:spcPts val="0"/>
              </a:spcBef>
              <a:spcAft>
                <a:spcPts val="0"/>
              </a:spcAft>
            </a:pPr>
            <a:r>
              <a:rPr sz="4950" b="1" lang="en-US">
                <a:solidFill>
                  <a:srgbClr val="FCFAF6"/>
                </a:solidFill>
                <a:latin typeface="Manrope"/>
              </a:rPr>
              <a:t>Smarter customer calls</a:t>
            </a:r>
          </a:p>
          <a:p>
            <a:pPr algn="l" rtl="0">
              <a:lnSpc>
                <a:spcPts val="5544"/>
              </a:lnSpc>
              <a:spcBef>
                <a:spcPts val="0"/>
              </a:spcBef>
              <a:spcAft>
                <a:spcPts val="0"/>
              </a:spcAft>
            </a:pPr>
            <a:r>
              <a:rPr sz="4950" b="1" lang="en-US">
                <a:solidFill>
                  <a:srgbClr val="FCFAF6"/>
                </a:solidFill>
                <a:latin typeface="Manrope"/>
              </a:rPr>
              <a:t>for Concrete.</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0" lang="en-US">
                <a:solidFill>
                  <a:srgbClr val="D5CFC6"/>
                </a:solidFill>
                <a:latin typeface="Manrope"/>
              </a:rPr>
              <a:t>Zoho Desk history, visible with the Genesys call.</a:t>
            </a:r>
          </a:p>
        </p:txBody>
      </p:sp>
      <p:cxnSp>
        <p:nvCxnSpPr>
          <p:cNvPr id="7" name="Connector 6"/>
          <p:cNvCxnSpPr/>
          <p:nvPr/>
        </p:nvCxnSpPr>
        <p:spPr>
          <a:xfrm>
            <a:off x="457200" y="6334125"/>
            <a:ext cx="11277600" cy="0"/>
          </a:xfrm>
          <a:prstGeom prst="line">
            <a:avLst/>
          </a:prstGeom>
          <a:ln w="9525">
            <a:solidFill>
              <a:srgbClr val="675E55"/>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457200" y="6496050"/>
            <a:ext cx="10287000"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D5CFC6"/>
                </a:solidFill>
                <a:latin typeface="Manrope"/>
              </a:rPr>
              <a:t>PROPOSED COLLABORATION · ILLUSTRATIVE RECORDS</a:t>
            </a:r>
          </a:p>
        </p:txBody>
      </p:sp>
      <p:sp>
        <p:nvSpPr>
          <p:cNvPr id="9" name="TextBox 8"/>
          <p:cNvSpPr txBox="1"/>
          <p:nvPr/>
        </p:nvSpPr>
        <p:spPr>
          <a:xfrm>
            <a:off x="10906125" y="6496050"/>
            <a:ext cx="828675" cy="209550"/>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D5CFC6"/>
                </a:solidFill>
                <a:latin typeface="Manrope"/>
              </a:rPr>
              <a:t>01 / 09</a:t>
            </a:r>
          </a:p>
        </p:txBody>
      </p:sp>
      <p:sp>
        <p:nvSpPr>
          <p:cNvPr id="10" name="Rounded Rectangle 9"/>
          <p:cNvSpPr/>
          <p:nvPr/>
        </p:nvSpPr>
        <p:spPr>
          <a:xfrm>
            <a:off x="457200" y="3114675"/>
            <a:ext cx="3314700" cy="2724150"/>
          </a:xfrm>
          <a:prstGeom prst="roundRect">
            <a:avLst>
              <a:gd name="adj" fmla="val 5594"/>
            </a:avLst>
          </a:prstGeom>
          <a:solidFill>
            <a:srgbClr val="302B26"/>
          </a:solidFill>
          <a:ln w="9525">
            <a:solidFill>
              <a:srgbClr val="675E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white.png"/>
          <p:cNvPicPr>
            <a:picLocks noChangeAspect="1"/>
          </p:cNvPicPr>
          <p:nvPr/>
        </p:nvPicPr>
        <p:blipFill>
          <a:blip r:embed="rId3"/>
          <a:stretch>
            <a:fillRect/>
          </a:stretch>
        </p:blipFill>
        <p:spPr>
          <a:xfrm>
            <a:off x="714375" y="3443968"/>
            <a:ext cx="2095500" cy="408214"/>
          </a:xfrm>
          <a:prstGeom prst="rect">
            <a:avLst/>
          </a:prstGeom>
          <a:effectLst/>
        </p:spPr>
      </p:pic>
      <p:sp>
        <p:nvSpPr>
          <p:cNvPr id="12" name="TextBox 11"/>
          <p:cNvSpPr txBox="1"/>
          <p:nvPr/>
        </p:nvSpPr>
        <p:spPr>
          <a:xfrm>
            <a:off x="714375" y="4324350"/>
            <a:ext cx="2800350" cy="923925"/>
          </a:xfrm>
          <a:prstGeom prst="rect">
            <a:avLst/>
          </a:prstGeom>
          <a:noFill/>
          <a:effectLst/>
        </p:spPr>
        <p:txBody>
          <a:bodyPr wrap="square" lIns="0" rIns="0" tIns="0" bIns="0" anchor="t">
            <a:spAutoFit/>
          </a:bodyPr>
          <a:lstStyle/>
          <a:p>
            <a:pPr algn="l" rtl="0">
              <a:lnSpc>
                <a:spcPts val="3192"/>
              </a:lnSpc>
              <a:spcBef>
                <a:spcPts val="0"/>
              </a:spcBef>
              <a:spcAft>
                <a:spcPts val="0"/>
              </a:spcAft>
            </a:pPr>
            <a:r>
              <a:rPr sz="2850" b="1" lang="en-US">
                <a:solidFill>
                  <a:srgbClr val="FCFAF6"/>
                </a:solidFill>
                <a:latin typeface="Manrope"/>
              </a:rPr>
              <a:t>The call</a:t>
            </a:r>
          </a:p>
        </p:txBody>
      </p:sp>
      <p:sp>
        <p:nvSpPr>
          <p:cNvPr id="13" name="TextBox 12"/>
          <p:cNvSpPr txBox="1"/>
          <p:nvPr/>
        </p:nvSpPr>
        <p:spPr>
          <a:xfrm>
            <a:off x="714375" y="5314950"/>
            <a:ext cx="2800350" cy="409575"/>
          </a:xfrm>
          <a:prstGeom prst="rect">
            <a:avLst/>
          </a:prstGeom>
          <a:noFill/>
          <a:effectLst/>
        </p:spPr>
        <p:txBody>
          <a:bodyPr wrap="square" lIns="0" rIns="0" tIns="0" bIns="0" anchor="t">
            <a:spAutoFit/>
          </a:bodyPr>
          <a:lstStyle/>
          <a:p>
            <a:pPr algn="l" rtl="0">
              <a:lnSpc>
                <a:spcPts val="2520"/>
              </a:lnSpc>
              <a:spcBef>
                <a:spcPts val="0"/>
              </a:spcBef>
              <a:spcAft>
                <a:spcPts val="0"/>
              </a:spcAft>
            </a:pPr>
            <a:r>
              <a:rPr sz="2250" b="0" lang="en-US">
                <a:solidFill>
                  <a:srgbClr val="D5CFC6"/>
                </a:solidFill>
                <a:latin typeface="Manrope"/>
              </a:rPr>
              <a:t>Arrives in Genesys</a:t>
            </a:r>
          </a:p>
        </p:txBody>
      </p:sp>
      <p:cxnSp>
        <p:nvCxnSpPr>
          <p:cNvPr id="14" name="Connector 13"/>
          <p:cNvCxnSpPr/>
          <p:nvPr/>
        </p:nvCxnSpPr>
        <p:spPr>
          <a:xfrm>
            <a:off x="3886200" y="4429125"/>
            <a:ext cx="37147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4438650" y="3114675"/>
            <a:ext cx="3314700" cy="2724150"/>
          </a:xfrm>
          <a:prstGeom prst="roundRect">
            <a:avLst>
              <a:gd name="adj" fmla="val 5594"/>
            </a:avLst>
          </a:prstGeom>
          <a:solidFill>
            <a:srgbClr val="302B26"/>
          </a:solidFill>
          <a:ln w="9525">
            <a:solidFill>
              <a:srgbClr val="675E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4695825" y="3333750"/>
            <a:ext cx="1466850" cy="647700"/>
          </a:xfrm>
          <a:prstGeom prst="roundRect">
            <a:avLst>
              <a:gd name="adj" fmla="val 12000"/>
            </a:avLst>
          </a:prstGeom>
          <a:solidFill>
            <a:srgbClr val="FCFAF6"/>
          </a:solidFill>
          <a:ln w="9525">
            <a:solidFill>
              <a:srgbClr val="FCFA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zoho.png"/>
          <p:cNvPicPr>
            <a:picLocks noChangeAspect="1"/>
          </p:cNvPicPr>
          <p:nvPr/>
        </p:nvPicPr>
        <p:blipFill>
          <a:blip r:embed="rId4"/>
          <a:stretch>
            <a:fillRect/>
          </a:stretch>
        </p:blipFill>
        <p:spPr>
          <a:xfrm>
            <a:off x="4847965" y="3429000"/>
            <a:ext cx="1019695" cy="438150"/>
          </a:xfrm>
          <a:prstGeom prst="rect">
            <a:avLst/>
          </a:prstGeom>
          <a:effectLst/>
        </p:spPr>
      </p:pic>
      <p:sp>
        <p:nvSpPr>
          <p:cNvPr id="18" name="TextBox 17"/>
          <p:cNvSpPr txBox="1"/>
          <p:nvPr/>
        </p:nvSpPr>
        <p:spPr>
          <a:xfrm>
            <a:off x="4695825" y="4324350"/>
            <a:ext cx="2800350" cy="923925"/>
          </a:xfrm>
          <a:prstGeom prst="rect">
            <a:avLst/>
          </a:prstGeom>
          <a:noFill/>
          <a:effectLst/>
        </p:spPr>
        <p:txBody>
          <a:bodyPr wrap="square" lIns="0" rIns="0" tIns="0" bIns="0" anchor="t">
            <a:spAutoFit/>
          </a:bodyPr>
          <a:lstStyle/>
          <a:p>
            <a:pPr algn="l" rtl="0">
              <a:lnSpc>
                <a:spcPts val="3192"/>
              </a:lnSpc>
              <a:spcBef>
                <a:spcPts val="0"/>
              </a:spcBef>
              <a:spcAft>
                <a:spcPts val="0"/>
              </a:spcAft>
            </a:pPr>
            <a:r>
              <a:rPr sz="2850" b="1" lang="en-US">
                <a:solidFill>
                  <a:srgbClr val="FCFAF6"/>
                </a:solidFill>
                <a:latin typeface="Manrope"/>
              </a:rPr>
              <a:t>The history</a:t>
            </a:r>
          </a:p>
        </p:txBody>
      </p:sp>
      <p:sp>
        <p:nvSpPr>
          <p:cNvPr id="19" name="TextBox 18"/>
          <p:cNvSpPr txBox="1"/>
          <p:nvPr/>
        </p:nvSpPr>
        <p:spPr>
          <a:xfrm>
            <a:off x="4695825" y="5314950"/>
            <a:ext cx="2800350" cy="409575"/>
          </a:xfrm>
          <a:prstGeom prst="rect">
            <a:avLst/>
          </a:prstGeom>
          <a:noFill/>
          <a:effectLst/>
        </p:spPr>
        <p:txBody>
          <a:bodyPr wrap="square" lIns="0" rIns="0" tIns="0" bIns="0" anchor="t">
            <a:spAutoFit/>
          </a:bodyPr>
          <a:lstStyle/>
          <a:p>
            <a:pPr algn="l" rtl="0">
              <a:lnSpc>
                <a:spcPts val="2520"/>
              </a:lnSpc>
              <a:spcBef>
                <a:spcPts val="0"/>
              </a:spcBef>
              <a:spcAft>
                <a:spcPts val="0"/>
              </a:spcAft>
            </a:pPr>
            <a:r>
              <a:rPr sz="2250" b="0" lang="en-US">
                <a:solidFill>
                  <a:srgbClr val="D5CFC6"/>
                </a:solidFill>
                <a:latin typeface="Manrope"/>
              </a:rPr>
              <a:t>From Zoho Desk</a:t>
            </a:r>
          </a:p>
        </p:txBody>
      </p:sp>
      <p:cxnSp>
        <p:nvCxnSpPr>
          <p:cNvPr id="20" name="Connector 19"/>
          <p:cNvCxnSpPr/>
          <p:nvPr/>
        </p:nvCxnSpPr>
        <p:spPr>
          <a:xfrm>
            <a:off x="7867650" y="4429125"/>
            <a:ext cx="37147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420100" y="3114675"/>
            <a:ext cx="3314700" cy="2724150"/>
          </a:xfrm>
          <a:prstGeom prst="roundRect">
            <a:avLst>
              <a:gd name="adj" fmla="val 5594"/>
            </a:avLst>
          </a:prstGeom>
          <a:solidFill>
            <a:srgbClr val="302B26"/>
          </a:solidFill>
          <a:ln w="9525">
            <a:solidFill>
              <a:srgbClr val="675E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8677275" y="3267075"/>
            <a:ext cx="742950" cy="742950"/>
          </a:xfrm>
          <a:prstGeom prst="ellipse">
            <a:avLst/>
          </a:prstGeom>
          <a:solidFill>
            <a:srgbClr val="FCFAF6"/>
          </a:solidFill>
          <a:ln w="9525">
            <a:solidFill>
              <a:srgbClr val="FCFA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actor.png"/>
          <p:cNvPicPr>
            <a:picLocks noChangeAspect="1"/>
          </p:cNvPicPr>
          <p:nvPr/>
        </p:nvPicPr>
        <p:blipFill>
          <a:blip r:embed="rId5"/>
          <a:stretch>
            <a:fillRect/>
          </a:stretch>
        </p:blipFill>
        <p:spPr>
          <a:xfrm>
            <a:off x="8820150" y="3409950"/>
            <a:ext cx="457200" cy="457200"/>
          </a:xfrm>
          <a:prstGeom prst="rect">
            <a:avLst/>
          </a:prstGeom>
          <a:effectLst/>
        </p:spPr>
      </p:pic>
      <p:sp>
        <p:nvSpPr>
          <p:cNvPr id="24" name="TextBox 23"/>
          <p:cNvSpPr txBox="1"/>
          <p:nvPr/>
        </p:nvSpPr>
        <p:spPr>
          <a:xfrm>
            <a:off x="8677275" y="4324350"/>
            <a:ext cx="2800350" cy="923925"/>
          </a:xfrm>
          <a:prstGeom prst="rect">
            <a:avLst/>
          </a:prstGeom>
          <a:noFill/>
          <a:effectLst/>
        </p:spPr>
        <p:txBody>
          <a:bodyPr wrap="square" lIns="0" rIns="0" tIns="0" bIns="0" anchor="t">
            <a:spAutoFit/>
          </a:bodyPr>
          <a:lstStyle/>
          <a:p>
            <a:pPr algn="l" rtl="0">
              <a:lnSpc>
                <a:spcPts val="3192"/>
              </a:lnSpc>
              <a:spcBef>
                <a:spcPts val="0"/>
              </a:spcBef>
              <a:spcAft>
                <a:spcPts val="0"/>
              </a:spcAft>
            </a:pPr>
            <a:r>
              <a:rPr sz="2850" b="1" lang="en-US">
                <a:solidFill>
                  <a:srgbClr val="FCFAF6"/>
                </a:solidFill>
                <a:latin typeface="Manrope"/>
              </a:rPr>
              <a:t>The conversation</a:t>
            </a:r>
          </a:p>
        </p:txBody>
      </p:sp>
      <p:sp>
        <p:nvSpPr>
          <p:cNvPr id="25" name="TextBox 24"/>
          <p:cNvSpPr txBox="1"/>
          <p:nvPr/>
        </p:nvSpPr>
        <p:spPr>
          <a:xfrm>
            <a:off x="8677275" y="5314950"/>
            <a:ext cx="2800350" cy="409575"/>
          </a:xfrm>
          <a:prstGeom prst="rect">
            <a:avLst/>
          </a:prstGeom>
          <a:noFill/>
          <a:effectLst/>
        </p:spPr>
        <p:txBody>
          <a:bodyPr wrap="square" lIns="0" rIns="0" tIns="0" bIns="0" anchor="t">
            <a:spAutoFit/>
          </a:bodyPr>
          <a:lstStyle/>
          <a:p>
            <a:pPr algn="l" rtl="0">
              <a:lnSpc>
                <a:spcPts val="2520"/>
              </a:lnSpc>
              <a:spcBef>
                <a:spcPts val="0"/>
              </a:spcBef>
              <a:spcAft>
                <a:spcPts val="0"/>
              </a:spcAft>
            </a:pPr>
            <a:r>
              <a:rPr sz="2250" b="0" lang="en-US">
                <a:solidFill>
                  <a:srgbClr val="D5CFC6"/>
                </a:solidFill>
                <a:latin typeface="Manrope"/>
              </a:rPr>
              <a:t>Starts with context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0"/>
                                  </p:tgtEl>
                                  <p:attrNameLst>
                                    <p:attrName>style.visibility</p:attrName>
                                  </p:attrNameLst>
                                </p:cBhvr>
                                <p:to>
                                  <p:strVal val="visible"/>
                                </p:to>
                              </p:set>
                              <p:animEffect transition="in" filter="fade">
                                <p:cBhvr>
                                  <p:cTn id="6" dur="550"/>
                                  <p:tgtEl>
                                    <p:spTgt spid="10"/>
                                  </p:tgtEl>
                                </p:cBhvr>
                              </p:animEffect>
                            </p:childTnLst>
                          </p:cTn>
                        </p:par>
                        <p:par>
                          <p:cTn id="7" presetID="10" presetClass="entr" presetSubtype="0" fill="hold" nodeType="withEffect">
                            <p:stCondLst>
                              <p:cond delay="0"/>
                            </p:stCondLst>
                            <p:childTnLst>
                              <p:set>
                                <p:cBhvr>
                                  <p:cTn id="8" dur="1" fill="hold"/>
                                  <p:tgtEl>
                                    <p:spTgt spid="11"/>
                                  </p:tgtEl>
                                  <p:attrNameLst>
                                    <p:attrName>style.visibility</p:attrName>
                                  </p:attrNameLst>
                                </p:cBhvr>
                                <p:to>
                                  <p:strVal val="visible"/>
                                </p:to>
                              </p:set>
                              <p:animEffect transition="in" filter="fade">
                                <p:cBhvr>
                                  <p:cTn id="9" dur="550"/>
                                  <p:tgtEl>
                                    <p:spTgt spid="11"/>
                                  </p:tgtEl>
                                </p:cBhvr>
                              </p:animEffect>
                            </p:childTnLst>
                          </p:cTn>
                        </p:par>
                        <p:par>
                          <p:cTn id="10" presetID="10" presetClass="entr" presetSubtype="0" fill="hold" nodeType="withEffect">
                            <p:stCondLst>
                              <p:cond delay="0"/>
                            </p:stCondLst>
                            <p:childTnLst>
                              <p:set>
                                <p:cBhvr>
                                  <p:cTn id="11" dur="1" fill="hold"/>
                                  <p:tgtEl>
                                    <p:spTgt spid="12"/>
                                  </p:tgtEl>
                                  <p:attrNameLst>
                                    <p:attrName>style.visibility</p:attrName>
                                  </p:attrNameLst>
                                </p:cBhvr>
                                <p:to>
                                  <p:strVal val="visible"/>
                                </p:to>
                              </p:set>
                              <p:animEffect transition="in" filter="fade">
                                <p:cBhvr>
                                  <p:cTn id="12" dur="550"/>
                                  <p:tgtEl>
                                    <p:spTgt spid="12"/>
                                  </p:tgtEl>
                                </p:cBhvr>
                              </p:animEffect>
                            </p:childTnLst>
                          </p:cTn>
                        </p:par>
                        <p:par>
                          <p:cTn id="13" presetID="10" presetClass="entr" presetSubtype="0" fill="hold" nodeType="withEffect">
                            <p:stCondLst>
                              <p:cond delay="0"/>
                            </p:stCondLst>
                            <p:childTnLst>
                              <p:set>
                                <p:cBhvr>
                                  <p:cTn id="14" dur="1" fill="hold"/>
                                  <p:tgtEl>
                                    <p:spTgt spid="13"/>
                                  </p:tgtEl>
                                  <p:attrNameLst>
                                    <p:attrName>style.visibility</p:attrName>
                                  </p:attrNameLst>
                                </p:cBhvr>
                                <p:to>
                                  <p:strVal val="visible"/>
                                </p:to>
                              </p:set>
                              <p:animEffect transition="in" filter="fade">
                                <p:cBhvr>
                                  <p:cTn id="15" dur="550"/>
                                  <p:tgtEl>
                                    <p:spTgt spid="13"/>
                                  </p:tgtEl>
                                </p:cBhvr>
                              </p:animEffect>
                            </p:childTnLst>
                          </p:cTn>
                        </p:par>
                        <p:par>
                          <p:cTn id="16" presetID="10" presetClass="entr" presetSubtype="0" fill="hold" nodeType="withEffect">
                            <p:stCondLst>
                              <p:cond delay="1250"/>
                            </p:stCondLst>
                            <p:childTnLst>
                              <p:set>
                                <p:cBhvr>
                                  <p:cTn id="17" dur="1" fill="hold"/>
                                  <p:tgtEl>
                                    <p:spTgt spid="14"/>
                                  </p:tgtEl>
                                  <p:attrNameLst>
                                    <p:attrName>style.visibility</p:attrName>
                                  </p:attrNameLst>
                                </p:cBhvr>
                                <p:to>
                                  <p:strVal val="visible"/>
                                </p:to>
                              </p:set>
                              <p:animEffect transition="in" filter="fade">
                                <p:cBhvr>
                                  <p:cTn id="18" dur="550"/>
                                  <p:tgtEl>
                                    <p:spTgt spid="14"/>
                                  </p:tgtEl>
                                </p:cBhvr>
                              </p:animEffect>
                            </p:childTnLst>
                          </p:cTn>
                        </p:par>
                        <p:par>
                          <p:cTn id="19" presetID="10" presetClass="entr" presetSubtype="0" fill="hold" nodeType="withEffect">
                            <p:stCondLst>
                              <p:cond delay="1250"/>
                            </p:stCondLst>
                            <p:childTnLst>
                              <p:set>
                                <p:cBhvr>
                                  <p:cTn id="20" dur="1" fill="hold"/>
                                  <p:tgtEl>
                                    <p:spTgt spid="15"/>
                                  </p:tgtEl>
                                  <p:attrNameLst>
                                    <p:attrName>style.visibility</p:attrName>
                                  </p:attrNameLst>
                                </p:cBhvr>
                                <p:to>
                                  <p:strVal val="visible"/>
                                </p:to>
                              </p:set>
                              <p:animEffect transition="in" filter="fade">
                                <p:cBhvr>
                                  <p:cTn id="21" dur="550"/>
                                  <p:tgtEl>
                                    <p:spTgt spid="15"/>
                                  </p:tgtEl>
                                </p:cBhvr>
                              </p:animEffect>
                            </p:childTnLst>
                          </p:cTn>
                        </p:par>
                        <p:par>
                          <p:cTn id="22" presetID="10" presetClass="entr" presetSubtype="0" fill="hold" nodeType="withEffect">
                            <p:stCondLst>
                              <p:cond delay="1250"/>
                            </p:stCondLst>
                            <p:childTnLst>
                              <p:set>
                                <p:cBhvr>
                                  <p:cTn id="23" dur="1" fill="hold"/>
                                  <p:tgtEl>
                                    <p:spTgt spid="16"/>
                                  </p:tgtEl>
                                  <p:attrNameLst>
                                    <p:attrName>style.visibility</p:attrName>
                                  </p:attrNameLst>
                                </p:cBhvr>
                                <p:to>
                                  <p:strVal val="visible"/>
                                </p:to>
                              </p:set>
                              <p:animEffect transition="in" filter="fade">
                                <p:cBhvr>
                                  <p:cTn id="24" dur="550"/>
                                  <p:tgtEl>
                                    <p:spTgt spid="16"/>
                                  </p:tgtEl>
                                </p:cBhvr>
                              </p:animEffect>
                            </p:childTnLst>
                          </p:cTn>
                        </p:par>
                        <p:par>
                          <p:cTn id="25" presetID="10" presetClass="entr" presetSubtype="0" fill="hold" nodeType="withEffect">
                            <p:stCondLst>
                              <p:cond delay="1250"/>
                            </p:stCondLst>
                            <p:childTnLst>
                              <p:set>
                                <p:cBhvr>
                                  <p:cTn id="26" dur="1" fill="hold"/>
                                  <p:tgtEl>
                                    <p:spTgt spid="17"/>
                                  </p:tgtEl>
                                  <p:attrNameLst>
                                    <p:attrName>style.visibility</p:attrName>
                                  </p:attrNameLst>
                                </p:cBhvr>
                                <p:to>
                                  <p:strVal val="visible"/>
                                </p:to>
                              </p:set>
                              <p:animEffect transition="in" filter="fade">
                                <p:cBhvr>
                                  <p:cTn id="27" dur="550"/>
                                  <p:tgtEl>
                                    <p:spTgt spid="17"/>
                                  </p:tgtEl>
                                </p:cBhvr>
                              </p:animEffect>
                            </p:childTnLst>
                          </p:cTn>
                        </p:par>
                        <p:par>
                          <p:cTn id="28" presetID="10" presetClass="entr" presetSubtype="0" fill="hold" nodeType="withEffect">
                            <p:stCondLst>
                              <p:cond delay="1250"/>
                            </p:stCondLst>
                            <p:childTnLst>
                              <p:set>
                                <p:cBhvr>
                                  <p:cTn id="29" dur="1" fill="hold"/>
                                  <p:tgtEl>
                                    <p:spTgt spid="18"/>
                                  </p:tgtEl>
                                  <p:attrNameLst>
                                    <p:attrName>style.visibility</p:attrName>
                                  </p:attrNameLst>
                                </p:cBhvr>
                                <p:to>
                                  <p:strVal val="visible"/>
                                </p:to>
                              </p:set>
                              <p:animEffect transition="in" filter="fade">
                                <p:cBhvr>
                                  <p:cTn id="30" dur="550"/>
                                  <p:tgtEl>
                                    <p:spTgt spid="18"/>
                                  </p:tgtEl>
                                </p:cBhvr>
                              </p:animEffect>
                            </p:childTnLst>
                          </p:cTn>
                        </p:par>
                        <p:par>
                          <p:cTn id="31" presetID="10" presetClass="entr" presetSubtype="0" fill="hold" nodeType="withEffect">
                            <p:stCondLst>
                              <p:cond delay="1250"/>
                            </p:stCondLst>
                            <p:childTnLst>
                              <p:set>
                                <p:cBhvr>
                                  <p:cTn id="32" dur="1" fill="hold"/>
                                  <p:tgtEl>
                                    <p:spTgt spid="19"/>
                                  </p:tgtEl>
                                  <p:attrNameLst>
                                    <p:attrName>style.visibility</p:attrName>
                                  </p:attrNameLst>
                                </p:cBhvr>
                                <p:to>
                                  <p:strVal val="visible"/>
                                </p:to>
                              </p:set>
                              <p:animEffect transition="in" filter="fade">
                                <p:cBhvr>
                                  <p:cTn id="33" dur="550"/>
                                  <p:tgtEl>
                                    <p:spTgt spid="19"/>
                                  </p:tgtEl>
                                </p:cBhvr>
                              </p:animEffect>
                            </p:childTnLst>
                          </p:cTn>
                        </p:par>
                        <p:par>
                          <p:cTn id="34" presetID="10" presetClass="entr" presetSubtype="0" fill="hold" nodeType="withEffect">
                            <p:stCondLst>
                              <p:cond delay="2500"/>
                            </p:stCondLst>
                            <p:childTnLst>
                              <p:set>
                                <p:cBhvr>
                                  <p:cTn id="35" dur="1" fill="hold"/>
                                  <p:tgtEl>
                                    <p:spTgt spid="20"/>
                                  </p:tgtEl>
                                  <p:attrNameLst>
                                    <p:attrName>style.visibility</p:attrName>
                                  </p:attrNameLst>
                                </p:cBhvr>
                                <p:to>
                                  <p:strVal val="visible"/>
                                </p:to>
                              </p:set>
                              <p:animEffect transition="in" filter="fade">
                                <p:cBhvr>
                                  <p:cTn id="36" dur="550"/>
                                  <p:tgtEl>
                                    <p:spTgt spid="20"/>
                                  </p:tgtEl>
                                </p:cBhvr>
                              </p:animEffect>
                            </p:childTnLst>
                          </p:cTn>
                        </p:par>
                        <p:par>
                          <p:cTn id="37" presetID="10" presetClass="entr" presetSubtype="0" fill="hold" nodeType="withEffect">
                            <p:stCondLst>
                              <p:cond delay="2500"/>
                            </p:stCondLst>
                            <p:childTnLst>
                              <p:set>
                                <p:cBhvr>
                                  <p:cTn id="38" dur="1" fill="hold"/>
                                  <p:tgtEl>
                                    <p:spTgt spid="21"/>
                                  </p:tgtEl>
                                  <p:attrNameLst>
                                    <p:attrName>style.visibility</p:attrName>
                                  </p:attrNameLst>
                                </p:cBhvr>
                                <p:to>
                                  <p:strVal val="visible"/>
                                </p:to>
                              </p:set>
                              <p:animEffect transition="in" filter="fade">
                                <p:cBhvr>
                                  <p:cTn id="39" dur="550"/>
                                  <p:tgtEl>
                                    <p:spTgt spid="21"/>
                                  </p:tgtEl>
                                </p:cBhvr>
                              </p:animEffect>
                            </p:childTnLst>
                          </p:cTn>
                        </p:par>
                        <p:par>
                          <p:cTn id="40" presetID="10" presetClass="entr" presetSubtype="0" fill="hold" nodeType="withEffect">
                            <p:stCondLst>
                              <p:cond delay="2500"/>
                            </p:stCondLst>
                            <p:childTnLst>
                              <p:set>
                                <p:cBhvr>
                                  <p:cTn id="41" dur="1" fill="hold"/>
                                  <p:tgtEl>
                                    <p:spTgt spid="22"/>
                                  </p:tgtEl>
                                  <p:attrNameLst>
                                    <p:attrName>style.visibility</p:attrName>
                                  </p:attrNameLst>
                                </p:cBhvr>
                                <p:to>
                                  <p:strVal val="visible"/>
                                </p:to>
                              </p:set>
                              <p:animEffect transition="in" filter="fade">
                                <p:cBhvr>
                                  <p:cTn id="42" dur="550"/>
                                  <p:tgtEl>
                                    <p:spTgt spid="22"/>
                                  </p:tgtEl>
                                </p:cBhvr>
                              </p:animEffect>
                            </p:childTnLst>
                          </p:cTn>
                        </p:par>
                        <p:par>
                          <p:cTn id="43" presetID="10" presetClass="entr" presetSubtype="0" fill="hold" nodeType="withEffect">
                            <p:stCondLst>
                              <p:cond delay="2500"/>
                            </p:stCondLst>
                            <p:childTnLst>
                              <p:set>
                                <p:cBhvr>
                                  <p:cTn id="44" dur="1" fill="hold"/>
                                  <p:tgtEl>
                                    <p:spTgt spid="23"/>
                                  </p:tgtEl>
                                  <p:attrNameLst>
                                    <p:attrName>style.visibility</p:attrName>
                                  </p:attrNameLst>
                                </p:cBhvr>
                                <p:to>
                                  <p:strVal val="visible"/>
                                </p:to>
                              </p:set>
                              <p:animEffect transition="in" filter="fade">
                                <p:cBhvr>
                                  <p:cTn id="45" dur="550"/>
                                  <p:tgtEl>
                                    <p:spTgt spid="23"/>
                                  </p:tgtEl>
                                </p:cBhvr>
                              </p:animEffect>
                            </p:childTnLst>
                          </p:cTn>
                        </p:par>
                        <p:par>
                          <p:cTn id="46" presetID="10" presetClass="entr" presetSubtype="0" fill="hold" nodeType="withEffect">
                            <p:stCondLst>
                              <p:cond delay="2500"/>
                            </p:stCondLst>
                            <p:childTnLst>
                              <p:set>
                                <p:cBhvr>
                                  <p:cTn id="47" dur="1" fill="hold"/>
                                  <p:tgtEl>
                                    <p:spTgt spid="24"/>
                                  </p:tgtEl>
                                  <p:attrNameLst>
                                    <p:attrName>style.visibility</p:attrName>
                                  </p:attrNameLst>
                                </p:cBhvr>
                                <p:to>
                                  <p:strVal val="visible"/>
                                </p:to>
                              </p:set>
                              <p:animEffect transition="in" filter="fade">
                                <p:cBhvr>
                                  <p:cTn id="48" dur="550"/>
                                  <p:tgtEl>
                                    <p:spTgt spid="24"/>
                                  </p:tgtEl>
                                </p:cBhvr>
                              </p:animEffect>
                            </p:childTnLst>
                          </p:cTn>
                        </p:par>
                        <p:par>
                          <p:cTn id="49" presetID="10" presetClass="entr" presetSubtype="0" fill="hold" nodeType="withEffect">
                            <p:stCondLst>
                              <p:cond delay="2500"/>
                            </p:stCondLst>
                            <p:childTnLst>
                              <p:set>
                                <p:cBhvr>
                                  <p:cTn id="50" dur="1" fill="hold"/>
                                  <p:tgtEl>
                                    <p:spTgt spid="25"/>
                                  </p:tgtEl>
                                  <p:attrNameLst>
                                    <p:attrName>style.visibility</p:attrName>
                                  </p:attrNameLst>
                                </p:cBhvr>
                                <p:to>
                                  <p:strVal val="visible"/>
                                </p:to>
                              </p:set>
                              <p:animEffect transition="in" filter="fade">
                                <p:cBhvr>
                                  <p:cTn id="51" dur="550"/>
                                  <p:tgtEl>
                                    <p:spTgt spid="2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457200" y="266700"/>
            <a:ext cx="8572500" cy="2667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69635C"/>
                </a:solidFill>
                <a:latin typeface="Manrope"/>
              </a:rPr>
              <a:t>01 · THE CURRENT PROBLEM</a:t>
            </a:r>
          </a:p>
        </p:txBody>
      </p:sp>
      <p:pic>
        <p:nvPicPr>
          <p:cNvPr id="3" name="Picture 2" descr="brand.png"/>
          <p:cNvPicPr>
            <a:picLocks noChangeAspect="1"/>
          </p:cNvPicPr>
          <p:nvPr/>
        </p:nvPicPr>
        <p:blipFill>
          <a:blip r:embed="rId2"/>
          <a:stretch>
            <a:fillRect/>
          </a:stretch>
        </p:blipFill>
        <p:spPr>
          <a:xfrm>
            <a:off x="9915525" y="220662"/>
            <a:ext cx="495300" cy="330200"/>
          </a:xfrm>
          <a:prstGeom prst="rect">
            <a:avLst/>
          </a:prstGeom>
          <a:effectLst/>
        </p:spPr>
      </p:pic>
      <p:sp>
        <p:nvSpPr>
          <p:cNvPr id="4" name="TextBox 3"/>
          <p:cNvSpPr txBox="1"/>
          <p:nvPr/>
        </p:nvSpPr>
        <p:spPr>
          <a:xfrm>
            <a:off x="10515600" y="266700"/>
            <a:ext cx="1219200" cy="276225"/>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1" lang="en-US">
                <a:solidFill>
                  <a:srgbClr val="23201D"/>
                </a:solidFill>
                <a:latin typeface="Manrope"/>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l" rtl="0">
              <a:lnSpc>
                <a:spcPts val="5376"/>
              </a:lnSpc>
              <a:spcBef>
                <a:spcPts val="0"/>
              </a:spcBef>
              <a:spcAft>
                <a:spcPts val="0"/>
              </a:spcAft>
            </a:pPr>
            <a:r>
              <a:rPr sz="4800" b="1" lang="en-US">
                <a:solidFill>
                  <a:srgbClr val="23201D"/>
                </a:solidFill>
                <a:latin typeface="Manrope"/>
              </a:rPr>
              <a:t>The information exists.</a:t>
            </a:r>
          </a:p>
          <a:p>
            <a:pPr algn="l" rtl="0">
              <a:lnSpc>
                <a:spcPts val="5376"/>
              </a:lnSpc>
              <a:spcBef>
                <a:spcPts val="0"/>
              </a:spcBef>
              <a:spcAft>
                <a:spcPts val="0"/>
              </a:spcAft>
            </a:pPr>
            <a:r>
              <a:rPr sz="4800" b="1" lang="en-US">
                <a:solidFill>
                  <a:srgbClr val="23201D"/>
                </a:solidFill>
                <a:latin typeface="Manrope"/>
              </a:rPr>
              <a:t>The employee has to find it.</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0" lang="en-US">
                <a:solidFill>
                  <a:srgbClr val="69635C"/>
                </a:solidFill>
                <a:latin typeface="Manrope"/>
              </a:rPr>
              <a:t>Manual phone-number search already finds the tickets.</a:t>
            </a:r>
          </a:p>
        </p:txBody>
      </p:sp>
      <p:cxnSp>
        <p:nvCxnSpPr>
          <p:cNvPr id="7" name="Connector 6"/>
          <p:cNvCxnSpPr/>
          <p:nvPr/>
        </p:nvCxnSpPr>
        <p:spPr>
          <a:xfrm>
            <a:off x="457200" y="6334125"/>
            <a:ext cx="11277600" cy="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457200" y="6496050"/>
            <a:ext cx="10287000"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9635C"/>
                </a:solidFill>
                <a:latin typeface="Manrope"/>
              </a:rPr>
              <a:t>PROPOSED COLLABORATION · ILLUSTRATIVE RECORDS</a:t>
            </a:r>
          </a:p>
        </p:txBody>
      </p:sp>
      <p:sp>
        <p:nvSpPr>
          <p:cNvPr id="9" name="TextBox 8"/>
          <p:cNvSpPr txBox="1"/>
          <p:nvPr/>
        </p:nvSpPr>
        <p:spPr>
          <a:xfrm>
            <a:off x="10906125" y="6496050"/>
            <a:ext cx="828675" cy="209550"/>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9635C"/>
                </a:solidFill>
                <a:latin typeface="Manrope"/>
              </a:rPr>
              <a:t>02 / 09</a:t>
            </a:r>
          </a:p>
        </p:txBody>
      </p:sp>
      <p:sp>
        <p:nvSpPr>
          <p:cNvPr id="10" name="Rounded Rectangle 9"/>
          <p:cNvSpPr/>
          <p:nvPr/>
        </p:nvSpPr>
        <p:spPr>
          <a:xfrm>
            <a:off x="457200" y="3124200"/>
            <a:ext cx="2533650" cy="2686050"/>
          </a:xfrm>
          <a:prstGeom prst="roundRect">
            <a:avLst>
              <a:gd name="adj" fmla="val 601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676275" y="3506313"/>
            <a:ext cx="1895475" cy="369248"/>
          </a:xfrm>
          <a:prstGeom prst="rect">
            <a:avLst/>
          </a:prstGeom>
          <a:effectLst/>
        </p:spPr>
      </p:pic>
      <p:sp>
        <p:nvSpPr>
          <p:cNvPr id="12" name="TextBox 11"/>
          <p:cNvSpPr txBox="1"/>
          <p:nvPr/>
        </p:nvSpPr>
        <p:spPr>
          <a:xfrm>
            <a:off x="676275" y="4229100"/>
            <a:ext cx="2095500" cy="923925"/>
          </a:xfrm>
          <a:prstGeom prst="rect">
            <a:avLst/>
          </a:prstGeom>
          <a:noFill/>
          <a:effectLst/>
        </p:spPr>
        <p:txBody>
          <a:bodyPr wrap="square" lIns="0" rIns="0" tIns="0" bIns="0" anchor="t">
            <a:spAutoFit/>
          </a:bodyPr>
          <a:lstStyle/>
          <a:p>
            <a:pPr algn="l" rtl="0">
              <a:lnSpc>
                <a:spcPts val="3024"/>
              </a:lnSpc>
              <a:spcBef>
                <a:spcPts val="0"/>
              </a:spcBef>
              <a:spcAft>
                <a:spcPts val="0"/>
              </a:spcAft>
            </a:pPr>
            <a:r>
              <a:rPr sz="2700" b="1" lang="en-US">
                <a:solidFill>
                  <a:srgbClr val="23201D"/>
                </a:solidFill>
                <a:latin typeface="Manrope"/>
              </a:rPr>
              <a:t>Receive</a:t>
            </a:r>
          </a:p>
          <a:p>
            <a:pPr algn="l" rtl="0">
              <a:lnSpc>
                <a:spcPts val="3024"/>
              </a:lnSpc>
              <a:spcBef>
                <a:spcPts val="0"/>
              </a:spcBef>
              <a:spcAft>
                <a:spcPts val="0"/>
              </a:spcAft>
            </a:pPr>
            <a:r>
              <a:rPr sz="2700" b="1" lang="en-US">
                <a:solidFill>
                  <a:srgbClr val="23201D"/>
                </a:solidFill>
                <a:latin typeface="Manrope"/>
              </a:rPr>
              <a:t>the call</a:t>
            </a:r>
          </a:p>
        </p:txBody>
      </p:sp>
      <p:sp>
        <p:nvSpPr>
          <p:cNvPr id="13" name="TextBox 12"/>
          <p:cNvSpPr txBox="1"/>
          <p:nvPr/>
        </p:nvSpPr>
        <p:spPr>
          <a:xfrm>
            <a:off x="676275" y="5286375"/>
            <a:ext cx="2095500" cy="40957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69635C"/>
                </a:solidFill>
                <a:latin typeface="Manrope"/>
              </a:rPr>
              <a:t>History hidden</a:t>
            </a:r>
          </a:p>
        </p:txBody>
      </p:sp>
      <p:cxnSp>
        <p:nvCxnSpPr>
          <p:cNvPr id="14" name="Connector 13"/>
          <p:cNvCxnSpPr/>
          <p:nvPr/>
        </p:nvCxnSpPr>
        <p:spPr>
          <a:xfrm>
            <a:off x="3076575" y="4543425"/>
            <a:ext cx="20002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3371850" y="3124200"/>
            <a:ext cx="2533650" cy="2686050"/>
          </a:xfrm>
          <a:prstGeom prst="roundRect">
            <a:avLst>
              <a:gd name="adj" fmla="val 6015"/>
            </a:avLst>
          </a:prstGeom>
          <a:solidFill>
            <a:srgbClr val="FCFAF6"/>
          </a:solidFill>
          <a:ln w="9525">
            <a:solidFill>
              <a:srgbClr val="BA4C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3590925" y="3305175"/>
            <a:ext cx="742950" cy="742950"/>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copy.png"/>
          <p:cNvPicPr>
            <a:picLocks noChangeAspect="1"/>
          </p:cNvPicPr>
          <p:nvPr/>
        </p:nvPicPr>
        <p:blipFill>
          <a:blip r:embed="rId4"/>
          <a:stretch>
            <a:fillRect/>
          </a:stretch>
        </p:blipFill>
        <p:spPr>
          <a:xfrm>
            <a:off x="3733800" y="3448050"/>
            <a:ext cx="457200" cy="457200"/>
          </a:xfrm>
          <a:prstGeom prst="rect">
            <a:avLst/>
          </a:prstGeom>
          <a:effectLst/>
        </p:spPr>
      </p:pic>
      <p:sp>
        <p:nvSpPr>
          <p:cNvPr id="18" name="TextBox 17"/>
          <p:cNvSpPr txBox="1"/>
          <p:nvPr/>
        </p:nvSpPr>
        <p:spPr>
          <a:xfrm>
            <a:off x="3590925" y="4229100"/>
            <a:ext cx="2095500" cy="923925"/>
          </a:xfrm>
          <a:prstGeom prst="rect">
            <a:avLst/>
          </a:prstGeom>
          <a:noFill/>
          <a:effectLst/>
        </p:spPr>
        <p:txBody>
          <a:bodyPr wrap="square" lIns="0" rIns="0" tIns="0" bIns="0" anchor="t">
            <a:spAutoFit/>
          </a:bodyPr>
          <a:lstStyle/>
          <a:p>
            <a:pPr algn="l" rtl="0">
              <a:lnSpc>
                <a:spcPts val="3024"/>
              </a:lnSpc>
              <a:spcBef>
                <a:spcPts val="0"/>
              </a:spcBef>
              <a:spcAft>
                <a:spcPts val="0"/>
              </a:spcAft>
            </a:pPr>
            <a:r>
              <a:rPr sz="2700" b="1" lang="en-US">
                <a:solidFill>
                  <a:srgbClr val="23201D"/>
                </a:solidFill>
                <a:latin typeface="Manrope"/>
              </a:rPr>
              <a:t>Use the</a:t>
            </a:r>
          </a:p>
          <a:p>
            <a:pPr algn="l" rtl="0">
              <a:lnSpc>
                <a:spcPts val="3024"/>
              </a:lnSpc>
              <a:spcBef>
                <a:spcPts val="0"/>
              </a:spcBef>
              <a:spcAft>
                <a:spcPts val="0"/>
              </a:spcAft>
            </a:pPr>
            <a:r>
              <a:rPr sz="2700" b="1" lang="en-US">
                <a:solidFill>
                  <a:srgbClr val="23201D"/>
                </a:solidFill>
                <a:latin typeface="Manrope"/>
              </a:rPr>
              <a:t>number</a:t>
            </a:r>
          </a:p>
        </p:txBody>
      </p:sp>
      <p:sp>
        <p:nvSpPr>
          <p:cNvPr id="19" name="TextBox 18"/>
          <p:cNvSpPr txBox="1"/>
          <p:nvPr/>
        </p:nvSpPr>
        <p:spPr>
          <a:xfrm>
            <a:off x="3590925" y="5286375"/>
            <a:ext cx="2095500" cy="40957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69635C"/>
                </a:solidFill>
                <a:latin typeface="Manrope"/>
              </a:rPr>
              <a:t>Manual step</a:t>
            </a:r>
          </a:p>
        </p:txBody>
      </p:sp>
      <p:cxnSp>
        <p:nvCxnSpPr>
          <p:cNvPr id="20" name="Connector 19"/>
          <p:cNvCxnSpPr/>
          <p:nvPr/>
        </p:nvCxnSpPr>
        <p:spPr>
          <a:xfrm>
            <a:off x="5991225" y="4543425"/>
            <a:ext cx="20002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6286500" y="3124200"/>
            <a:ext cx="2533650" cy="2686050"/>
          </a:xfrm>
          <a:prstGeom prst="roundRect">
            <a:avLst>
              <a:gd name="adj" fmla="val 6015"/>
            </a:avLst>
          </a:prstGeom>
          <a:solidFill>
            <a:srgbClr val="FCFAF6"/>
          </a:solidFill>
          <a:ln w="9525">
            <a:solidFill>
              <a:srgbClr val="BA4C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6505575" y="3305175"/>
            <a:ext cx="742950" cy="742950"/>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search.png"/>
          <p:cNvPicPr>
            <a:picLocks noChangeAspect="1"/>
          </p:cNvPicPr>
          <p:nvPr/>
        </p:nvPicPr>
        <p:blipFill>
          <a:blip r:embed="rId5"/>
          <a:stretch>
            <a:fillRect/>
          </a:stretch>
        </p:blipFill>
        <p:spPr>
          <a:xfrm>
            <a:off x="6648450" y="3448050"/>
            <a:ext cx="457200" cy="457200"/>
          </a:xfrm>
          <a:prstGeom prst="rect">
            <a:avLst/>
          </a:prstGeom>
          <a:effectLst/>
        </p:spPr>
      </p:pic>
      <p:sp>
        <p:nvSpPr>
          <p:cNvPr id="24" name="TextBox 23"/>
          <p:cNvSpPr txBox="1"/>
          <p:nvPr/>
        </p:nvSpPr>
        <p:spPr>
          <a:xfrm>
            <a:off x="6505575" y="4229100"/>
            <a:ext cx="2095500" cy="923925"/>
          </a:xfrm>
          <a:prstGeom prst="rect">
            <a:avLst/>
          </a:prstGeom>
          <a:noFill/>
          <a:effectLst/>
        </p:spPr>
        <p:txBody>
          <a:bodyPr wrap="square" lIns="0" rIns="0" tIns="0" bIns="0" anchor="t">
            <a:spAutoFit/>
          </a:bodyPr>
          <a:lstStyle/>
          <a:p>
            <a:pPr algn="l" rtl="0">
              <a:lnSpc>
                <a:spcPts val="3024"/>
              </a:lnSpc>
              <a:spcBef>
                <a:spcPts val="0"/>
              </a:spcBef>
              <a:spcAft>
                <a:spcPts val="0"/>
              </a:spcAft>
            </a:pPr>
            <a:r>
              <a:rPr sz="2700" b="1" lang="en-US">
                <a:solidFill>
                  <a:srgbClr val="23201D"/>
                </a:solidFill>
                <a:latin typeface="Manrope"/>
              </a:rPr>
              <a:t>Search</a:t>
            </a:r>
          </a:p>
          <a:p>
            <a:pPr algn="l" rtl="0">
              <a:lnSpc>
                <a:spcPts val="3024"/>
              </a:lnSpc>
              <a:spcBef>
                <a:spcPts val="0"/>
              </a:spcBef>
              <a:spcAft>
                <a:spcPts val="0"/>
              </a:spcAft>
            </a:pPr>
            <a:r>
              <a:rPr sz="2700" b="1" lang="en-US">
                <a:solidFill>
                  <a:srgbClr val="23201D"/>
                </a:solidFill>
                <a:latin typeface="Manrope"/>
              </a:rPr>
              <a:t>Zoho Desk</a:t>
            </a:r>
          </a:p>
        </p:txBody>
      </p:sp>
      <p:sp>
        <p:nvSpPr>
          <p:cNvPr id="25" name="TextBox 24"/>
          <p:cNvSpPr txBox="1"/>
          <p:nvPr/>
        </p:nvSpPr>
        <p:spPr>
          <a:xfrm>
            <a:off x="6505575" y="5286375"/>
            <a:ext cx="2095500" cy="40957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69635C"/>
                </a:solidFill>
                <a:latin typeface="Manrope"/>
              </a:rPr>
              <a:t>Manual step</a:t>
            </a:r>
          </a:p>
        </p:txBody>
      </p:sp>
      <p:cxnSp>
        <p:nvCxnSpPr>
          <p:cNvPr id="26" name="Connector 25"/>
          <p:cNvCxnSpPr/>
          <p:nvPr/>
        </p:nvCxnSpPr>
        <p:spPr>
          <a:xfrm>
            <a:off x="8905875" y="4543425"/>
            <a:ext cx="20002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9201150" y="3124200"/>
            <a:ext cx="2533650" cy="2686050"/>
          </a:xfrm>
          <a:prstGeom prst="roundRect">
            <a:avLst>
              <a:gd name="adj" fmla="val 601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zoho.png"/>
          <p:cNvPicPr>
            <a:picLocks noChangeAspect="1"/>
          </p:cNvPicPr>
          <p:nvPr/>
        </p:nvPicPr>
        <p:blipFill>
          <a:blip r:embed="rId6"/>
          <a:stretch>
            <a:fillRect/>
          </a:stretch>
        </p:blipFill>
        <p:spPr>
          <a:xfrm>
            <a:off x="9540586" y="3476625"/>
            <a:ext cx="997527" cy="428625"/>
          </a:xfrm>
          <a:prstGeom prst="rect">
            <a:avLst/>
          </a:prstGeom>
          <a:effectLst/>
        </p:spPr>
      </p:pic>
      <p:sp>
        <p:nvSpPr>
          <p:cNvPr id="29" name="TextBox 28"/>
          <p:cNvSpPr txBox="1"/>
          <p:nvPr/>
        </p:nvSpPr>
        <p:spPr>
          <a:xfrm>
            <a:off x="9420225" y="4229100"/>
            <a:ext cx="2095500" cy="923925"/>
          </a:xfrm>
          <a:prstGeom prst="rect">
            <a:avLst/>
          </a:prstGeom>
          <a:noFill/>
          <a:effectLst/>
        </p:spPr>
        <p:txBody>
          <a:bodyPr wrap="square" lIns="0" rIns="0" tIns="0" bIns="0" anchor="t">
            <a:spAutoFit/>
          </a:bodyPr>
          <a:lstStyle/>
          <a:p>
            <a:pPr algn="l" rtl="0">
              <a:lnSpc>
                <a:spcPts val="3024"/>
              </a:lnSpc>
              <a:spcBef>
                <a:spcPts val="0"/>
              </a:spcBef>
              <a:spcAft>
                <a:spcPts val="0"/>
              </a:spcAft>
            </a:pPr>
            <a:r>
              <a:rPr sz="2700" b="1" lang="en-US">
                <a:solidFill>
                  <a:srgbClr val="23201D"/>
                </a:solidFill>
                <a:latin typeface="Manrope"/>
              </a:rPr>
              <a:t>Read the</a:t>
            </a:r>
          </a:p>
          <a:p>
            <a:pPr algn="l" rtl="0">
              <a:lnSpc>
                <a:spcPts val="3024"/>
              </a:lnSpc>
              <a:spcBef>
                <a:spcPts val="0"/>
              </a:spcBef>
              <a:spcAft>
                <a:spcPts val="0"/>
              </a:spcAft>
            </a:pPr>
            <a:r>
              <a:rPr sz="2700" b="1" lang="en-US">
                <a:solidFill>
                  <a:srgbClr val="23201D"/>
                </a:solidFill>
                <a:latin typeface="Manrope"/>
              </a:rPr>
              <a:t>history</a:t>
            </a:r>
          </a:p>
        </p:txBody>
      </p:sp>
      <p:sp>
        <p:nvSpPr>
          <p:cNvPr id="30" name="TextBox 29"/>
          <p:cNvSpPr txBox="1"/>
          <p:nvPr/>
        </p:nvSpPr>
        <p:spPr>
          <a:xfrm>
            <a:off x="9420225" y="5286375"/>
            <a:ext cx="2095500" cy="40957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69635C"/>
                </a:solidFill>
                <a:latin typeface="Manrope"/>
              </a:rPr>
              <a:t>Existing records</a:t>
            </a:r>
          </a:p>
        </p:txBody>
      </p:sp>
      <p:sp>
        <p:nvSpPr>
          <p:cNvPr id="31" name="TextBox 30"/>
          <p:cNvSpPr txBox="1"/>
          <p:nvPr/>
        </p:nvSpPr>
        <p:spPr>
          <a:xfrm>
            <a:off x="457200" y="5924550"/>
            <a:ext cx="11277600" cy="361950"/>
          </a:xfrm>
          <a:prstGeom prst="rect">
            <a:avLst/>
          </a:prstGeom>
          <a:noFill/>
          <a:effectLst/>
        </p:spPr>
        <p:txBody>
          <a:bodyPr wrap="square" lIns="0" rIns="0" tIns="0" bIns="0" anchor="t">
            <a:spAutoFit/>
          </a:bodyPr>
          <a:lstStyle/>
          <a:p>
            <a:pPr algn="l" rtl="0">
              <a:lnSpc>
                <a:spcPts val="2604"/>
              </a:lnSpc>
              <a:spcBef>
                <a:spcPts val="0"/>
              </a:spcBef>
              <a:spcAft>
                <a:spcPts val="0"/>
              </a:spcAft>
            </a:pPr>
            <a:r>
              <a:rPr sz="2325" b="1" lang="en-US">
                <a:solidFill>
                  <a:srgbClr val="BA4C24"/>
                </a:solidFill>
                <a:latin typeface="Manrope"/>
              </a:rPr>
              <a:t>The conversation starts with a search.</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0"/>
                                  </p:tgtEl>
                                  <p:attrNameLst>
                                    <p:attrName>style.visibility</p:attrName>
                                  </p:attrNameLst>
                                </p:cBhvr>
                                <p:to>
                                  <p:strVal val="visible"/>
                                </p:to>
                              </p:set>
                              <p:animEffect transition="in" filter="fade">
                                <p:cBhvr>
                                  <p:cTn id="6" dur="550"/>
                                  <p:tgtEl>
                                    <p:spTgt spid="10"/>
                                  </p:tgtEl>
                                </p:cBhvr>
                              </p:animEffect>
                            </p:childTnLst>
                          </p:cTn>
                        </p:par>
                        <p:par>
                          <p:cTn id="7" presetID="10" presetClass="entr" presetSubtype="0" fill="hold" nodeType="withEffect">
                            <p:stCondLst>
                              <p:cond delay="0"/>
                            </p:stCondLst>
                            <p:childTnLst>
                              <p:set>
                                <p:cBhvr>
                                  <p:cTn id="8" dur="1" fill="hold"/>
                                  <p:tgtEl>
                                    <p:spTgt spid="11"/>
                                  </p:tgtEl>
                                  <p:attrNameLst>
                                    <p:attrName>style.visibility</p:attrName>
                                  </p:attrNameLst>
                                </p:cBhvr>
                                <p:to>
                                  <p:strVal val="visible"/>
                                </p:to>
                              </p:set>
                              <p:animEffect transition="in" filter="fade">
                                <p:cBhvr>
                                  <p:cTn id="9" dur="550"/>
                                  <p:tgtEl>
                                    <p:spTgt spid="11"/>
                                  </p:tgtEl>
                                </p:cBhvr>
                              </p:animEffect>
                            </p:childTnLst>
                          </p:cTn>
                        </p:par>
                        <p:par>
                          <p:cTn id="10" presetID="10" presetClass="entr" presetSubtype="0" fill="hold" nodeType="withEffect">
                            <p:stCondLst>
                              <p:cond delay="0"/>
                            </p:stCondLst>
                            <p:childTnLst>
                              <p:set>
                                <p:cBhvr>
                                  <p:cTn id="11" dur="1" fill="hold"/>
                                  <p:tgtEl>
                                    <p:spTgt spid="12"/>
                                  </p:tgtEl>
                                  <p:attrNameLst>
                                    <p:attrName>style.visibility</p:attrName>
                                  </p:attrNameLst>
                                </p:cBhvr>
                                <p:to>
                                  <p:strVal val="visible"/>
                                </p:to>
                              </p:set>
                              <p:animEffect transition="in" filter="fade">
                                <p:cBhvr>
                                  <p:cTn id="12" dur="550"/>
                                  <p:tgtEl>
                                    <p:spTgt spid="12"/>
                                  </p:tgtEl>
                                </p:cBhvr>
                              </p:animEffect>
                            </p:childTnLst>
                          </p:cTn>
                        </p:par>
                        <p:par>
                          <p:cTn id="13" presetID="10" presetClass="entr" presetSubtype="0" fill="hold" nodeType="withEffect">
                            <p:stCondLst>
                              <p:cond delay="0"/>
                            </p:stCondLst>
                            <p:childTnLst>
                              <p:set>
                                <p:cBhvr>
                                  <p:cTn id="14" dur="1" fill="hold"/>
                                  <p:tgtEl>
                                    <p:spTgt spid="13"/>
                                  </p:tgtEl>
                                  <p:attrNameLst>
                                    <p:attrName>style.visibility</p:attrName>
                                  </p:attrNameLst>
                                </p:cBhvr>
                                <p:to>
                                  <p:strVal val="visible"/>
                                </p:to>
                              </p:set>
                              <p:animEffect transition="in" filter="fade">
                                <p:cBhvr>
                                  <p:cTn id="15" dur="550"/>
                                  <p:tgtEl>
                                    <p:spTgt spid="13"/>
                                  </p:tgtEl>
                                </p:cBhvr>
                              </p:animEffect>
                            </p:childTnLst>
                          </p:cTn>
                        </p:par>
                        <p:par>
                          <p:cTn id="16" presetID="10" presetClass="entr" presetSubtype="0" fill="hold" nodeType="withEffect">
                            <p:stCondLst>
                              <p:cond delay="1250"/>
                            </p:stCondLst>
                            <p:childTnLst>
                              <p:set>
                                <p:cBhvr>
                                  <p:cTn id="17" dur="1" fill="hold"/>
                                  <p:tgtEl>
                                    <p:spTgt spid="14"/>
                                  </p:tgtEl>
                                  <p:attrNameLst>
                                    <p:attrName>style.visibility</p:attrName>
                                  </p:attrNameLst>
                                </p:cBhvr>
                                <p:to>
                                  <p:strVal val="visible"/>
                                </p:to>
                              </p:set>
                              <p:animEffect transition="in" filter="fade">
                                <p:cBhvr>
                                  <p:cTn id="18" dur="550"/>
                                  <p:tgtEl>
                                    <p:spTgt spid="14"/>
                                  </p:tgtEl>
                                </p:cBhvr>
                              </p:animEffect>
                            </p:childTnLst>
                          </p:cTn>
                        </p:par>
                        <p:par>
                          <p:cTn id="19" presetID="10" presetClass="entr" presetSubtype="0" fill="hold" nodeType="withEffect">
                            <p:stCondLst>
                              <p:cond delay="1250"/>
                            </p:stCondLst>
                            <p:childTnLst>
                              <p:set>
                                <p:cBhvr>
                                  <p:cTn id="20" dur="1" fill="hold"/>
                                  <p:tgtEl>
                                    <p:spTgt spid="15"/>
                                  </p:tgtEl>
                                  <p:attrNameLst>
                                    <p:attrName>style.visibility</p:attrName>
                                  </p:attrNameLst>
                                </p:cBhvr>
                                <p:to>
                                  <p:strVal val="visible"/>
                                </p:to>
                              </p:set>
                              <p:animEffect transition="in" filter="fade">
                                <p:cBhvr>
                                  <p:cTn id="21" dur="550"/>
                                  <p:tgtEl>
                                    <p:spTgt spid="15"/>
                                  </p:tgtEl>
                                </p:cBhvr>
                              </p:animEffect>
                            </p:childTnLst>
                          </p:cTn>
                        </p:par>
                        <p:par>
                          <p:cTn id="22" presetID="10" presetClass="entr" presetSubtype="0" fill="hold" nodeType="withEffect">
                            <p:stCondLst>
                              <p:cond delay="1250"/>
                            </p:stCondLst>
                            <p:childTnLst>
                              <p:set>
                                <p:cBhvr>
                                  <p:cTn id="23" dur="1" fill="hold"/>
                                  <p:tgtEl>
                                    <p:spTgt spid="16"/>
                                  </p:tgtEl>
                                  <p:attrNameLst>
                                    <p:attrName>style.visibility</p:attrName>
                                  </p:attrNameLst>
                                </p:cBhvr>
                                <p:to>
                                  <p:strVal val="visible"/>
                                </p:to>
                              </p:set>
                              <p:animEffect transition="in" filter="fade">
                                <p:cBhvr>
                                  <p:cTn id="24" dur="550"/>
                                  <p:tgtEl>
                                    <p:spTgt spid="16"/>
                                  </p:tgtEl>
                                </p:cBhvr>
                              </p:animEffect>
                            </p:childTnLst>
                          </p:cTn>
                        </p:par>
                        <p:par>
                          <p:cTn id="25" presetID="10" presetClass="entr" presetSubtype="0" fill="hold" nodeType="withEffect">
                            <p:stCondLst>
                              <p:cond delay="1250"/>
                            </p:stCondLst>
                            <p:childTnLst>
                              <p:set>
                                <p:cBhvr>
                                  <p:cTn id="26" dur="1" fill="hold"/>
                                  <p:tgtEl>
                                    <p:spTgt spid="17"/>
                                  </p:tgtEl>
                                  <p:attrNameLst>
                                    <p:attrName>style.visibility</p:attrName>
                                  </p:attrNameLst>
                                </p:cBhvr>
                                <p:to>
                                  <p:strVal val="visible"/>
                                </p:to>
                              </p:set>
                              <p:animEffect transition="in" filter="fade">
                                <p:cBhvr>
                                  <p:cTn id="27" dur="550"/>
                                  <p:tgtEl>
                                    <p:spTgt spid="17"/>
                                  </p:tgtEl>
                                </p:cBhvr>
                              </p:animEffect>
                            </p:childTnLst>
                          </p:cTn>
                        </p:par>
                        <p:par>
                          <p:cTn id="28" presetID="10" presetClass="entr" presetSubtype="0" fill="hold" nodeType="withEffect">
                            <p:stCondLst>
                              <p:cond delay="1250"/>
                            </p:stCondLst>
                            <p:childTnLst>
                              <p:set>
                                <p:cBhvr>
                                  <p:cTn id="29" dur="1" fill="hold"/>
                                  <p:tgtEl>
                                    <p:spTgt spid="18"/>
                                  </p:tgtEl>
                                  <p:attrNameLst>
                                    <p:attrName>style.visibility</p:attrName>
                                  </p:attrNameLst>
                                </p:cBhvr>
                                <p:to>
                                  <p:strVal val="visible"/>
                                </p:to>
                              </p:set>
                              <p:animEffect transition="in" filter="fade">
                                <p:cBhvr>
                                  <p:cTn id="30" dur="550"/>
                                  <p:tgtEl>
                                    <p:spTgt spid="18"/>
                                  </p:tgtEl>
                                </p:cBhvr>
                              </p:animEffect>
                            </p:childTnLst>
                          </p:cTn>
                        </p:par>
                        <p:par>
                          <p:cTn id="31" presetID="10" presetClass="entr" presetSubtype="0" fill="hold" nodeType="withEffect">
                            <p:stCondLst>
                              <p:cond delay="1250"/>
                            </p:stCondLst>
                            <p:childTnLst>
                              <p:set>
                                <p:cBhvr>
                                  <p:cTn id="32" dur="1" fill="hold"/>
                                  <p:tgtEl>
                                    <p:spTgt spid="19"/>
                                  </p:tgtEl>
                                  <p:attrNameLst>
                                    <p:attrName>style.visibility</p:attrName>
                                  </p:attrNameLst>
                                </p:cBhvr>
                                <p:to>
                                  <p:strVal val="visible"/>
                                </p:to>
                              </p:set>
                              <p:animEffect transition="in" filter="fade">
                                <p:cBhvr>
                                  <p:cTn id="33" dur="550"/>
                                  <p:tgtEl>
                                    <p:spTgt spid="19"/>
                                  </p:tgtEl>
                                </p:cBhvr>
                              </p:animEffect>
                            </p:childTnLst>
                          </p:cTn>
                        </p:par>
                        <p:par>
                          <p:cTn id="34" presetID="10" presetClass="entr" presetSubtype="0" fill="hold" nodeType="withEffect">
                            <p:stCondLst>
                              <p:cond delay="2500"/>
                            </p:stCondLst>
                            <p:childTnLst>
                              <p:set>
                                <p:cBhvr>
                                  <p:cTn id="35" dur="1" fill="hold"/>
                                  <p:tgtEl>
                                    <p:spTgt spid="20"/>
                                  </p:tgtEl>
                                  <p:attrNameLst>
                                    <p:attrName>style.visibility</p:attrName>
                                  </p:attrNameLst>
                                </p:cBhvr>
                                <p:to>
                                  <p:strVal val="visible"/>
                                </p:to>
                              </p:set>
                              <p:animEffect transition="in" filter="fade">
                                <p:cBhvr>
                                  <p:cTn id="36" dur="550"/>
                                  <p:tgtEl>
                                    <p:spTgt spid="20"/>
                                  </p:tgtEl>
                                </p:cBhvr>
                              </p:animEffect>
                            </p:childTnLst>
                          </p:cTn>
                        </p:par>
                        <p:par>
                          <p:cTn id="37" presetID="10" presetClass="entr" presetSubtype="0" fill="hold" nodeType="withEffect">
                            <p:stCondLst>
                              <p:cond delay="2500"/>
                            </p:stCondLst>
                            <p:childTnLst>
                              <p:set>
                                <p:cBhvr>
                                  <p:cTn id="38" dur="1" fill="hold"/>
                                  <p:tgtEl>
                                    <p:spTgt spid="21"/>
                                  </p:tgtEl>
                                  <p:attrNameLst>
                                    <p:attrName>style.visibility</p:attrName>
                                  </p:attrNameLst>
                                </p:cBhvr>
                                <p:to>
                                  <p:strVal val="visible"/>
                                </p:to>
                              </p:set>
                              <p:animEffect transition="in" filter="fade">
                                <p:cBhvr>
                                  <p:cTn id="39" dur="550"/>
                                  <p:tgtEl>
                                    <p:spTgt spid="21"/>
                                  </p:tgtEl>
                                </p:cBhvr>
                              </p:animEffect>
                            </p:childTnLst>
                          </p:cTn>
                        </p:par>
                        <p:par>
                          <p:cTn id="40" presetID="10" presetClass="entr" presetSubtype="0" fill="hold" nodeType="withEffect">
                            <p:stCondLst>
                              <p:cond delay="2500"/>
                            </p:stCondLst>
                            <p:childTnLst>
                              <p:set>
                                <p:cBhvr>
                                  <p:cTn id="41" dur="1" fill="hold"/>
                                  <p:tgtEl>
                                    <p:spTgt spid="22"/>
                                  </p:tgtEl>
                                  <p:attrNameLst>
                                    <p:attrName>style.visibility</p:attrName>
                                  </p:attrNameLst>
                                </p:cBhvr>
                                <p:to>
                                  <p:strVal val="visible"/>
                                </p:to>
                              </p:set>
                              <p:animEffect transition="in" filter="fade">
                                <p:cBhvr>
                                  <p:cTn id="42" dur="550"/>
                                  <p:tgtEl>
                                    <p:spTgt spid="22"/>
                                  </p:tgtEl>
                                </p:cBhvr>
                              </p:animEffect>
                            </p:childTnLst>
                          </p:cTn>
                        </p:par>
                        <p:par>
                          <p:cTn id="43" presetID="10" presetClass="entr" presetSubtype="0" fill="hold" nodeType="withEffect">
                            <p:stCondLst>
                              <p:cond delay="2500"/>
                            </p:stCondLst>
                            <p:childTnLst>
                              <p:set>
                                <p:cBhvr>
                                  <p:cTn id="44" dur="1" fill="hold"/>
                                  <p:tgtEl>
                                    <p:spTgt spid="23"/>
                                  </p:tgtEl>
                                  <p:attrNameLst>
                                    <p:attrName>style.visibility</p:attrName>
                                  </p:attrNameLst>
                                </p:cBhvr>
                                <p:to>
                                  <p:strVal val="visible"/>
                                </p:to>
                              </p:set>
                              <p:animEffect transition="in" filter="fade">
                                <p:cBhvr>
                                  <p:cTn id="45" dur="550"/>
                                  <p:tgtEl>
                                    <p:spTgt spid="23"/>
                                  </p:tgtEl>
                                </p:cBhvr>
                              </p:animEffect>
                            </p:childTnLst>
                          </p:cTn>
                        </p:par>
                        <p:par>
                          <p:cTn id="46" presetID="10" presetClass="entr" presetSubtype="0" fill="hold" nodeType="withEffect">
                            <p:stCondLst>
                              <p:cond delay="2500"/>
                            </p:stCondLst>
                            <p:childTnLst>
                              <p:set>
                                <p:cBhvr>
                                  <p:cTn id="47" dur="1" fill="hold"/>
                                  <p:tgtEl>
                                    <p:spTgt spid="24"/>
                                  </p:tgtEl>
                                  <p:attrNameLst>
                                    <p:attrName>style.visibility</p:attrName>
                                  </p:attrNameLst>
                                </p:cBhvr>
                                <p:to>
                                  <p:strVal val="visible"/>
                                </p:to>
                              </p:set>
                              <p:animEffect transition="in" filter="fade">
                                <p:cBhvr>
                                  <p:cTn id="48" dur="550"/>
                                  <p:tgtEl>
                                    <p:spTgt spid="24"/>
                                  </p:tgtEl>
                                </p:cBhvr>
                              </p:animEffect>
                            </p:childTnLst>
                          </p:cTn>
                        </p:par>
                        <p:par>
                          <p:cTn id="49" presetID="10" presetClass="entr" presetSubtype="0" fill="hold" nodeType="withEffect">
                            <p:stCondLst>
                              <p:cond delay="2500"/>
                            </p:stCondLst>
                            <p:childTnLst>
                              <p:set>
                                <p:cBhvr>
                                  <p:cTn id="50" dur="1" fill="hold"/>
                                  <p:tgtEl>
                                    <p:spTgt spid="25"/>
                                  </p:tgtEl>
                                  <p:attrNameLst>
                                    <p:attrName>style.visibility</p:attrName>
                                  </p:attrNameLst>
                                </p:cBhvr>
                                <p:to>
                                  <p:strVal val="visible"/>
                                </p:to>
                              </p:set>
                              <p:animEffect transition="in" filter="fade">
                                <p:cBhvr>
                                  <p:cTn id="51" dur="550"/>
                                  <p:tgtEl>
                                    <p:spTgt spid="25"/>
                                  </p:tgtEl>
                                </p:cBhvr>
                              </p:animEffect>
                            </p:childTnLst>
                          </p:cTn>
                        </p:par>
                        <p:par>
                          <p:cTn id="52" presetID="10" presetClass="entr" presetSubtype="0" fill="hold" nodeType="withEffect">
                            <p:stCondLst>
                              <p:cond delay="3750"/>
                            </p:stCondLst>
                            <p:childTnLst>
                              <p:set>
                                <p:cBhvr>
                                  <p:cTn id="53" dur="1" fill="hold"/>
                                  <p:tgtEl>
                                    <p:spTgt spid="26"/>
                                  </p:tgtEl>
                                  <p:attrNameLst>
                                    <p:attrName>style.visibility</p:attrName>
                                  </p:attrNameLst>
                                </p:cBhvr>
                                <p:to>
                                  <p:strVal val="visible"/>
                                </p:to>
                              </p:set>
                              <p:animEffect transition="in" filter="fade">
                                <p:cBhvr>
                                  <p:cTn id="54" dur="550"/>
                                  <p:tgtEl>
                                    <p:spTgt spid="26"/>
                                  </p:tgtEl>
                                </p:cBhvr>
                              </p:animEffect>
                            </p:childTnLst>
                          </p:cTn>
                        </p:par>
                        <p:par>
                          <p:cTn id="55" presetID="10" presetClass="entr" presetSubtype="0" fill="hold" nodeType="withEffect">
                            <p:stCondLst>
                              <p:cond delay="3750"/>
                            </p:stCondLst>
                            <p:childTnLst>
                              <p:set>
                                <p:cBhvr>
                                  <p:cTn id="56" dur="1" fill="hold"/>
                                  <p:tgtEl>
                                    <p:spTgt spid="27"/>
                                  </p:tgtEl>
                                  <p:attrNameLst>
                                    <p:attrName>style.visibility</p:attrName>
                                  </p:attrNameLst>
                                </p:cBhvr>
                                <p:to>
                                  <p:strVal val="visible"/>
                                </p:to>
                              </p:set>
                              <p:animEffect transition="in" filter="fade">
                                <p:cBhvr>
                                  <p:cTn id="57" dur="550"/>
                                  <p:tgtEl>
                                    <p:spTgt spid="27"/>
                                  </p:tgtEl>
                                </p:cBhvr>
                              </p:animEffect>
                            </p:childTnLst>
                          </p:cTn>
                        </p:par>
                        <p:par>
                          <p:cTn id="58" presetID="10" presetClass="entr" presetSubtype="0" fill="hold" nodeType="withEffect">
                            <p:stCondLst>
                              <p:cond delay="3750"/>
                            </p:stCondLst>
                            <p:childTnLst>
                              <p:set>
                                <p:cBhvr>
                                  <p:cTn id="59" dur="1" fill="hold"/>
                                  <p:tgtEl>
                                    <p:spTgt spid="28"/>
                                  </p:tgtEl>
                                  <p:attrNameLst>
                                    <p:attrName>style.visibility</p:attrName>
                                  </p:attrNameLst>
                                </p:cBhvr>
                                <p:to>
                                  <p:strVal val="visible"/>
                                </p:to>
                              </p:set>
                              <p:animEffect transition="in" filter="fade">
                                <p:cBhvr>
                                  <p:cTn id="60" dur="550"/>
                                  <p:tgtEl>
                                    <p:spTgt spid="28"/>
                                  </p:tgtEl>
                                </p:cBhvr>
                              </p:animEffect>
                            </p:childTnLst>
                          </p:cTn>
                        </p:par>
                        <p:par>
                          <p:cTn id="61" presetID="10" presetClass="entr" presetSubtype="0" fill="hold" nodeType="withEffect">
                            <p:stCondLst>
                              <p:cond delay="3750"/>
                            </p:stCondLst>
                            <p:childTnLst>
                              <p:set>
                                <p:cBhvr>
                                  <p:cTn id="62" dur="1" fill="hold"/>
                                  <p:tgtEl>
                                    <p:spTgt spid="29"/>
                                  </p:tgtEl>
                                  <p:attrNameLst>
                                    <p:attrName>style.visibility</p:attrName>
                                  </p:attrNameLst>
                                </p:cBhvr>
                                <p:to>
                                  <p:strVal val="visible"/>
                                </p:to>
                              </p:set>
                              <p:animEffect transition="in" filter="fade">
                                <p:cBhvr>
                                  <p:cTn id="63" dur="550"/>
                                  <p:tgtEl>
                                    <p:spTgt spid="29"/>
                                  </p:tgtEl>
                                </p:cBhvr>
                              </p:animEffect>
                            </p:childTnLst>
                          </p:cTn>
                        </p:par>
                        <p:par>
                          <p:cTn id="64" presetID="10" presetClass="entr" presetSubtype="0" fill="hold" nodeType="withEffect">
                            <p:stCondLst>
                              <p:cond delay="3750"/>
                            </p:stCondLst>
                            <p:childTnLst>
                              <p:set>
                                <p:cBhvr>
                                  <p:cTn id="65" dur="1" fill="hold"/>
                                  <p:tgtEl>
                                    <p:spTgt spid="30"/>
                                  </p:tgtEl>
                                  <p:attrNameLst>
                                    <p:attrName>style.visibility</p:attrName>
                                  </p:attrNameLst>
                                </p:cBhvr>
                                <p:to>
                                  <p:strVal val="visible"/>
                                </p:to>
                              </p:set>
                              <p:animEffect transition="in" filter="fade">
                                <p:cBhvr>
                                  <p:cTn id="66" dur="550"/>
                                  <p:tgtEl>
                                    <p:spTgt spid="30"/>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457200" y="266700"/>
            <a:ext cx="8572500" cy="2667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69635C"/>
                </a:solidFill>
                <a:latin typeface="Manrope"/>
              </a:rPr>
              <a:t>02 · THE PROPOSED EXPERIENCE</a:t>
            </a:r>
          </a:p>
        </p:txBody>
      </p:sp>
      <p:pic>
        <p:nvPicPr>
          <p:cNvPr id="3" name="Picture 2" descr="brand.png"/>
          <p:cNvPicPr>
            <a:picLocks noChangeAspect="1"/>
          </p:cNvPicPr>
          <p:nvPr/>
        </p:nvPicPr>
        <p:blipFill>
          <a:blip r:embed="rId2"/>
          <a:stretch>
            <a:fillRect/>
          </a:stretch>
        </p:blipFill>
        <p:spPr>
          <a:xfrm>
            <a:off x="9915525" y="220662"/>
            <a:ext cx="495300" cy="330200"/>
          </a:xfrm>
          <a:prstGeom prst="rect">
            <a:avLst/>
          </a:prstGeom>
          <a:effectLst/>
        </p:spPr>
      </p:pic>
      <p:sp>
        <p:nvSpPr>
          <p:cNvPr id="4" name="TextBox 3"/>
          <p:cNvSpPr txBox="1"/>
          <p:nvPr/>
        </p:nvSpPr>
        <p:spPr>
          <a:xfrm>
            <a:off x="10515600" y="266700"/>
            <a:ext cx="1219200" cy="276225"/>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1" lang="en-US">
                <a:solidFill>
                  <a:srgbClr val="23201D"/>
                </a:solidFill>
                <a:latin typeface="Manrope"/>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l" rtl="0">
              <a:lnSpc>
                <a:spcPts val="5376"/>
              </a:lnSpc>
              <a:spcBef>
                <a:spcPts val="0"/>
              </a:spcBef>
              <a:spcAft>
                <a:spcPts val="0"/>
              </a:spcAft>
            </a:pPr>
            <a:r>
              <a:rPr sz="4800" b="1" lang="en-US">
                <a:solidFill>
                  <a:srgbClr val="23201D"/>
                </a:solidFill>
                <a:latin typeface="Manrope"/>
              </a:rPr>
              <a:t>Call arrives.</a:t>
            </a:r>
          </a:p>
          <a:p>
            <a:pPr algn="l" rtl="0">
              <a:lnSpc>
                <a:spcPts val="5376"/>
              </a:lnSpc>
              <a:spcBef>
                <a:spcPts val="0"/>
              </a:spcBef>
              <a:spcAft>
                <a:spcPts val="0"/>
              </a:spcAft>
            </a:pPr>
            <a:r>
              <a:rPr sz="4800" b="1" lang="en-US">
                <a:solidFill>
                  <a:srgbClr val="23201D"/>
                </a:solidFill>
                <a:latin typeface="Manrope"/>
              </a:rPr>
              <a:t>Context appears alongside it.</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0" lang="en-US">
                <a:solidFill>
                  <a:srgbClr val="69635C"/>
                </a:solidFill>
                <a:latin typeface="Manrope"/>
              </a:rPr>
              <a:t>A caller-number lookup connects the two experiences.</a:t>
            </a:r>
          </a:p>
        </p:txBody>
      </p:sp>
      <p:cxnSp>
        <p:nvCxnSpPr>
          <p:cNvPr id="7" name="Connector 6"/>
          <p:cNvCxnSpPr/>
          <p:nvPr/>
        </p:nvCxnSpPr>
        <p:spPr>
          <a:xfrm>
            <a:off x="457200" y="6334125"/>
            <a:ext cx="11277600" cy="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457200" y="6496050"/>
            <a:ext cx="10287000"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9635C"/>
                </a:solidFill>
                <a:latin typeface="Manrope"/>
              </a:rPr>
              <a:t>PROPOSED COLLABORATION · ILLUSTRATIVE RECORDS</a:t>
            </a:r>
          </a:p>
        </p:txBody>
      </p:sp>
      <p:sp>
        <p:nvSpPr>
          <p:cNvPr id="9" name="TextBox 8"/>
          <p:cNvSpPr txBox="1"/>
          <p:nvPr/>
        </p:nvSpPr>
        <p:spPr>
          <a:xfrm>
            <a:off x="10906125" y="6496050"/>
            <a:ext cx="828675" cy="209550"/>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9635C"/>
                </a:solidFill>
                <a:latin typeface="Manrope"/>
              </a:rPr>
              <a:t>03 / 09</a:t>
            </a:r>
          </a:p>
        </p:txBody>
      </p:sp>
      <p:sp>
        <p:nvSpPr>
          <p:cNvPr id="10" name="Rounded Rectangle 9"/>
          <p:cNvSpPr/>
          <p:nvPr/>
        </p:nvSpPr>
        <p:spPr>
          <a:xfrm>
            <a:off x="457200" y="3028950"/>
            <a:ext cx="2667000" cy="2095500"/>
          </a:xfrm>
          <a:prstGeom prst="roundRect">
            <a:avLst>
              <a:gd name="adj" fmla="val 7272"/>
            </a:avLst>
          </a:prstGeom>
          <a:solidFill>
            <a:srgbClr val="23201D"/>
          </a:solidFill>
          <a:ln w="9525">
            <a:solidFill>
              <a:srgbClr val="23201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white.png"/>
          <p:cNvPicPr>
            <a:picLocks noChangeAspect="1"/>
          </p:cNvPicPr>
          <p:nvPr/>
        </p:nvPicPr>
        <p:blipFill>
          <a:blip r:embed="rId3"/>
          <a:stretch>
            <a:fillRect/>
          </a:stretch>
        </p:blipFill>
        <p:spPr>
          <a:xfrm>
            <a:off x="685800" y="3271466"/>
            <a:ext cx="2057400" cy="400792"/>
          </a:xfrm>
          <a:prstGeom prst="rect">
            <a:avLst/>
          </a:prstGeom>
          <a:effectLst/>
        </p:spPr>
      </p:pic>
      <p:sp>
        <p:nvSpPr>
          <p:cNvPr id="12" name="Oval 11"/>
          <p:cNvSpPr/>
          <p:nvPr/>
        </p:nvSpPr>
        <p:spPr>
          <a:xfrm>
            <a:off x="685800" y="3867150"/>
            <a:ext cx="666750" cy="666750"/>
          </a:xfrm>
          <a:prstGeom prst="ellipse">
            <a:avLst/>
          </a:prstGeom>
          <a:solidFill>
            <a:srgbClr val="FCFAF6"/>
          </a:solidFill>
          <a:ln w="9525">
            <a:solidFill>
              <a:srgbClr val="FCFA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icon-call.png"/>
          <p:cNvPicPr>
            <a:picLocks noChangeAspect="1"/>
          </p:cNvPicPr>
          <p:nvPr/>
        </p:nvPicPr>
        <p:blipFill>
          <a:blip r:embed="rId4"/>
          <a:stretch>
            <a:fillRect/>
          </a:stretch>
        </p:blipFill>
        <p:spPr>
          <a:xfrm>
            <a:off x="828675" y="4010025"/>
            <a:ext cx="381000" cy="381000"/>
          </a:xfrm>
          <a:prstGeom prst="rect">
            <a:avLst/>
          </a:prstGeom>
          <a:effectLst/>
        </p:spPr>
      </p:pic>
      <p:sp>
        <p:nvSpPr>
          <p:cNvPr id="14" name="TextBox 13"/>
          <p:cNvSpPr txBox="1"/>
          <p:nvPr/>
        </p:nvSpPr>
        <p:spPr>
          <a:xfrm>
            <a:off x="1524000" y="3981450"/>
            <a:ext cx="1362075" cy="457200"/>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1" lang="en-US">
                <a:solidFill>
                  <a:srgbClr val="FCFAF6"/>
                </a:solidFill>
                <a:latin typeface="Manrope"/>
              </a:rPr>
              <a:t>Call in</a:t>
            </a:r>
          </a:p>
        </p:txBody>
      </p:sp>
      <p:sp>
        <p:nvSpPr>
          <p:cNvPr id="15" name="TextBox 14"/>
          <p:cNvSpPr txBox="1"/>
          <p:nvPr/>
        </p:nvSpPr>
        <p:spPr>
          <a:xfrm>
            <a:off x="685800" y="4600575"/>
            <a:ext cx="2171700" cy="409575"/>
          </a:xfrm>
          <a:prstGeom prst="rect">
            <a:avLst/>
          </a:prstGeom>
          <a:noFill/>
          <a:effectLst/>
        </p:spPr>
        <p:txBody>
          <a:bodyPr wrap="square" lIns="0" rIns="0" tIns="0" bIns="0" anchor="t">
            <a:spAutoFit/>
          </a:bodyPr>
          <a:lstStyle/>
          <a:p>
            <a:pPr algn="l" rtl="0">
              <a:lnSpc>
                <a:spcPts val="2772"/>
              </a:lnSpc>
              <a:spcBef>
                <a:spcPts val="0"/>
              </a:spcBef>
              <a:spcAft>
                <a:spcPts val="0"/>
              </a:spcAft>
            </a:pPr>
            <a:r>
              <a:rPr sz="2475" b="0" lang="en-US">
                <a:solidFill>
                  <a:srgbClr val="FCFAF6"/>
                </a:solidFill>
                <a:latin typeface="Manrope"/>
              </a:rPr>
              <a:t>+20 ••• 410</a:t>
            </a:r>
          </a:p>
        </p:txBody>
      </p:sp>
      <p:cxnSp>
        <p:nvCxnSpPr>
          <p:cNvPr id="16" name="Connector 15"/>
          <p:cNvCxnSpPr/>
          <p:nvPr/>
        </p:nvCxnSpPr>
        <p:spPr>
          <a:xfrm>
            <a:off x="3257550" y="4105275"/>
            <a:ext cx="29527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3733800" y="3028950"/>
            <a:ext cx="2047875" cy="2095500"/>
          </a:xfrm>
          <a:prstGeom prst="roundRect">
            <a:avLst>
              <a:gd name="adj" fmla="val 7441"/>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zoho.png"/>
          <p:cNvPicPr>
            <a:picLocks noChangeAspect="1"/>
          </p:cNvPicPr>
          <p:nvPr/>
        </p:nvPicPr>
        <p:blipFill>
          <a:blip r:embed="rId5"/>
          <a:stretch>
            <a:fillRect/>
          </a:stretch>
        </p:blipFill>
        <p:spPr>
          <a:xfrm>
            <a:off x="4112982" y="3209925"/>
            <a:ext cx="1041862" cy="447675"/>
          </a:xfrm>
          <a:prstGeom prst="rect">
            <a:avLst/>
          </a:prstGeom>
          <a:effectLst/>
        </p:spPr>
      </p:pic>
      <p:sp>
        <p:nvSpPr>
          <p:cNvPr id="19" name="TextBox 18"/>
          <p:cNvSpPr txBox="1"/>
          <p:nvPr/>
        </p:nvSpPr>
        <p:spPr>
          <a:xfrm>
            <a:off x="3952875" y="3895725"/>
            <a:ext cx="1638300" cy="742950"/>
          </a:xfrm>
          <a:prstGeom prst="rect">
            <a:avLst/>
          </a:prstGeom>
          <a:noFill/>
          <a:effectLst/>
        </p:spPr>
        <p:txBody>
          <a:bodyPr wrap="square" lIns="0" rIns="0" tIns="0" bIns="0" anchor="t">
            <a:spAutoFit/>
          </a:bodyPr>
          <a:lstStyle/>
          <a:p>
            <a:pPr algn="l" rtl="0">
              <a:lnSpc>
                <a:spcPts val="2772"/>
              </a:lnSpc>
              <a:spcBef>
                <a:spcPts val="0"/>
              </a:spcBef>
              <a:spcAft>
                <a:spcPts val="0"/>
              </a:spcAft>
            </a:pPr>
            <a:r>
              <a:rPr sz="2475" b="1" lang="en-US">
                <a:solidFill>
                  <a:srgbClr val="23201D"/>
                </a:solidFill>
                <a:latin typeface="Manrope"/>
              </a:rPr>
              <a:t>Auto</a:t>
            </a:r>
          </a:p>
          <a:p>
            <a:pPr algn="l" rtl="0">
              <a:lnSpc>
                <a:spcPts val="2772"/>
              </a:lnSpc>
              <a:spcBef>
                <a:spcPts val="0"/>
              </a:spcBef>
              <a:spcAft>
                <a:spcPts val="0"/>
              </a:spcAft>
            </a:pPr>
            <a:r>
              <a:rPr sz="2475" b="1" lang="en-US">
                <a:solidFill>
                  <a:srgbClr val="23201D"/>
                </a:solidFill>
                <a:latin typeface="Manrope"/>
              </a:rPr>
              <a:t>search</a:t>
            </a:r>
          </a:p>
        </p:txBody>
      </p:sp>
      <p:pic>
        <p:nvPicPr>
          <p:cNvPr id="20" name="Picture 19" descr="icon-case.png"/>
          <p:cNvPicPr>
            <a:picLocks noChangeAspect="1"/>
          </p:cNvPicPr>
          <p:nvPr/>
        </p:nvPicPr>
        <p:blipFill>
          <a:blip r:embed="rId6"/>
          <a:stretch>
            <a:fillRect/>
          </a:stretch>
        </p:blipFill>
        <p:spPr>
          <a:xfrm>
            <a:off x="3990975" y="4686300"/>
            <a:ext cx="276225" cy="276225"/>
          </a:xfrm>
          <a:prstGeom prst="rect">
            <a:avLst/>
          </a:prstGeom>
          <a:effectLst/>
        </p:spPr>
      </p:pic>
      <p:sp>
        <p:nvSpPr>
          <p:cNvPr id="21" name="TextBox 20"/>
          <p:cNvSpPr txBox="1"/>
          <p:nvPr/>
        </p:nvSpPr>
        <p:spPr>
          <a:xfrm>
            <a:off x="4362450" y="4686300"/>
            <a:ext cx="1257300" cy="381000"/>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1" lang="en-US">
                <a:solidFill>
                  <a:srgbClr val="526750"/>
                </a:solidFill>
                <a:latin typeface="Manrope"/>
              </a:rPr>
              <a:t>History</a:t>
            </a:r>
          </a:p>
        </p:txBody>
      </p:sp>
      <p:cxnSp>
        <p:nvCxnSpPr>
          <p:cNvPr id="22" name="Connector 21"/>
          <p:cNvCxnSpPr/>
          <p:nvPr/>
        </p:nvCxnSpPr>
        <p:spPr>
          <a:xfrm>
            <a:off x="5915025" y="4105275"/>
            <a:ext cx="29527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6400800" y="3028950"/>
            <a:ext cx="5334000" cy="2095500"/>
          </a:xfrm>
          <a:prstGeom prst="roundRect">
            <a:avLst>
              <a:gd name="adj" fmla="val 7272"/>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6629400" y="3228975"/>
            <a:ext cx="638175" cy="638175"/>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actor.png"/>
          <p:cNvPicPr>
            <a:picLocks noChangeAspect="1"/>
          </p:cNvPicPr>
          <p:nvPr/>
        </p:nvPicPr>
        <p:blipFill>
          <a:blip r:embed="rId7"/>
          <a:stretch>
            <a:fillRect/>
          </a:stretch>
        </p:blipFill>
        <p:spPr>
          <a:xfrm>
            <a:off x="6772275" y="3371850"/>
            <a:ext cx="352425" cy="352425"/>
          </a:xfrm>
          <a:prstGeom prst="rect">
            <a:avLst/>
          </a:prstGeom>
          <a:effectLst/>
        </p:spPr>
      </p:pic>
      <p:sp>
        <p:nvSpPr>
          <p:cNvPr id="26" name="TextBox 25"/>
          <p:cNvSpPr txBox="1"/>
          <p:nvPr/>
        </p:nvSpPr>
        <p:spPr>
          <a:xfrm>
            <a:off x="7477125" y="3333750"/>
            <a:ext cx="3990975" cy="438150"/>
          </a:xfrm>
          <a:prstGeom prst="rect">
            <a:avLst/>
          </a:prstGeom>
          <a:noFill/>
          <a:effectLst/>
        </p:spPr>
        <p:txBody>
          <a:bodyPr wrap="square" lIns="0" rIns="0" tIns="0" bIns="0" anchor="t">
            <a:spAutoFit/>
          </a:bodyPr>
          <a:lstStyle/>
          <a:p>
            <a:pPr algn="l" rtl="0">
              <a:lnSpc>
                <a:spcPts val="3108"/>
              </a:lnSpc>
              <a:spcBef>
                <a:spcPts val="0"/>
              </a:spcBef>
              <a:spcAft>
                <a:spcPts val="0"/>
              </a:spcAft>
            </a:pPr>
            <a:r>
              <a:rPr sz="2775" b="1" lang="en-US">
                <a:solidFill>
                  <a:srgbClr val="23201D"/>
                </a:solidFill>
                <a:latin typeface="Manrope"/>
              </a:rPr>
              <a:t>Contact A</a:t>
            </a:r>
          </a:p>
        </p:txBody>
      </p:sp>
      <p:sp>
        <p:nvSpPr>
          <p:cNvPr id="27" name="Rounded Rectangle 26"/>
          <p:cNvSpPr/>
          <p:nvPr/>
        </p:nvSpPr>
        <p:spPr>
          <a:xfrm>
            <a:off x="6629400" y="4019550"/>
            <a:ext cx="4876800" cy="876300"/>
          </a:xfrm>
          <a:prstGeom prst="roundRect">
            <a:avLst>
              <a:gd name="adj" fmla="val 10869"/>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829425" y="4124325"/>
            <a:ext cx="4486275" cy="428625"/>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1" lang="en-US">
                <a:solidFill>
                  <a:srgbClr val="23201D"/>
                </a:solidFill>
                <a:latin typeface="Manrope"/>
              </a:rPr>
              <a:t>T101 · Exchange follow-up</a:t>
            </a:r>
          </a:p>
        </p:txBody>
      </p:sp>
      <p:sp>
        <p:nvSpPr>
          <p:cNvPr id="29" name="TextBox 28"/>
          <p:cNvSpPr txBox="1"/>
          <p:nvPr/>
        </p:nvSpPr>
        <p:spPr>
          <a:xfrm>
            <a:off x="6829425" y="4543425"/>
            <a:ext cx="4486275" cy="371475"/>
          </a:xfrm>
          <a:prstGeom prst="rect">
            <a:avLst/>
          </a:prstGeom>
          <a:noFill/>
          <a:effectLst/>
        </p:spPr>
        <p:txBody>
          <a:bodyPr wrap="square" lIns="0" rIns="0" tIns="0" bIns="0" anchor="t">
            <a:spAutoFit/>
          </a:bodyPr>
          <a:lstStyle/>
          <a:p>
            <a:pPr algn="l" rtl="0">
              <a:lnSpc>
                <a:spcPts val="2520"/>
              </a:lnSpc>
              <a:spcBef>
                <a:spcPts val="0"/>
              </a:spcBef>
              <a:spcAft>
                <a:spcPts val="0"/>
              </a:spcAft>
            </a:pPr>
            <a:r>
              <a:rPr sz="2250" b="0" lang="en-US">
                <a:solidFill>
                  <a:srgbClr val="BA4C24"/>
                </a:solidFill>
                <a:latin typeface="Manrope"/>
              </a:rPr>
              <a:t>Branch review pending</a:t>
            </a:r>
          </a:p>
        </p:txBody>
      </p:sp>
      <p:sp>
        <p:nvSpPr>
          <p:cNvPr id="30" name="Rounded Rectangle 29"/>
          <p:cNvSpPr/>
          <p:nvPr/>
        </p:nvSpPr>
        <p:spPr>
          <a:xfrm>
            <a:off x="6400800" y="5238750"/>
            <a:ext cx="5334000" cy="457200"/>
          </a:xfrm>
          <a:prstGeom prst="roundRect">
            <a:avLst>
              <a:gd name="adj" fmla="val 12000"/>
            </a:avLst>
          </a:prstGeom>
          <a:solidFill>
            <a:srgbClr val="23201D"/>
          </a:solidFill>
          <a:ln w="9525">
            <a:solidFill>
              <a:srgbClr val="23201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562725" y="5305425"/>
            <a:ext cx="5010150" cy="361950"/>
          </a:xfrm>
          <a:prstGeom prst="rect">
            <a:avLst/>
          </a:prstGeom>
          <a:noFill/>
          <a:effectLst/>
        </p:spPr>
        <p:txBody>
          <a:bodyPr wrap="square" lIns="0" rIns="0" tIns="0" bIns="0" anchor="t">
            <a:spAutoFit/>
          </a:bodyPr>
          <a:lstStyle/>
          <a:p>
            <a:pPr algn="ctr" rtl="0">
              <a:lnSpc>
                <a:spcPts val="2436"/>
              </a:lnSpc>
              <a:spcBef>
                <a:spcPts val="0"/>
              </a:spcBef>
              <a:spcAft>
                <a:spcPts val="0"/>
              </a:spcAft>
            </a:pPr>
            <a:r>
              <a:rPr sz="2175" b="0" lang="en-US">
                <a:solidFill>
                  <a:srgbClr val="FCFAF6"/>
                </a:solidFill>
                <a:latin typeface="Manrope"/>
              </a:rPr>
              <a:t>“I can see your earlier ticket.”</a:t>
            </a:r>
          </a:p>
        </p:txBody>
      </p:sp>
      <p:sp>
        <p:nvSpPr>
          <p:cNvPr id="32" name="Rounded Rectangle 31"/>
          <p:cNvSpPr/>
          <p:nvPr/>
        </p:nvSpPr>
        <p:spPr>
          <a:xfrm>
            <a:off x="457200" y="5838825"/>
            <a:ext cx="11277600" cy="419100"/>
          </a:xfrm>
          <a:prstGeom prst="roundRect">
            <a:avLst>
              <a:gd name="adj" fmla="val 12000"/>
            </a:avLst>
          </a:prstGeom>
          <a:solidFill>
            <a:srgbClr val="E4E9DF"/>
          </a:solidFill>
          <a:ln w="9525">
            <a:solidFill>
              <a:srgbClr val="E4E9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28650" y="5867400"/>
            <a:ext cx="10934700" cy="390525"/>
          </a:xfrm>
          <a:prstGeom prst="rect">
            <a:avLst/>
          </a:prstGeom>
          <a:noFill/>
          <a:effectLst/>
        </p:spPr>
        <p:txBody>
          <a:bodyPr wrap="square" lIns="0" rIns="0" tIns="0" bIns="0" anchor="t">
            <a:spAutoFit/>
          </a:bodyPr>
          <a:lstStyle/>
          <a:p>
            <a:pPr algn="ctr" rtl="0">
              <a:lnSpc>
                <a:spcPts val="2520"/>
              </a:lnSpc>
              <a:spcBef>
                <a:spcPts val="0"/>
              </a:spcBef>
              <a:spcAft>
                <a:spcPts val="0"/>
              </a:spcAft>
            </a:pPr>
            <a:r>
              <a:rPr sz="2250" b="1" lang="en-US">
                <a:solidFill>
                  <a:srgbClr val="526750"/>
                </a:solidFill>
                <a:latin typeface="Manrope"/>
              </a:rPr>
              <a:t>Less searching. A more informed conversation.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0"/>
                                  </p:tgtEl>
                                  <p:attrNameLst>
                                    <p:attrName>style.visibility</p:attrName>
                                  </p:attrNameLst>
                                </p:cBhvr>
                                <p:to>
                                  <p:strVal val="visible"/>
                                </p:to>
                              </p:set>
                              <p:animEffect transition="in" filter="fade">
                                <p:cBhvr>
                                  <p:cTn id="6" dur="550"/>
                                  <p:tgtEl>
                                    <p:spTgt spid="10"/>
                                  </p:tgtEl>
                                </p:cBhvr>
                              </p:animEffect>
                            </p:childTnLst>
                          </p:cTn>
                        </p:par>
                        <p:par>
                          <p:cTn id="7" presetID="10" presetClass="entr" presetSubtype="0" fill="hold" nodeType="withEffect">
                            <p:stCondLst>
                              <p:cond delay="0"/>
                            </p:stCondLst>
                            <p:childTnLst>
                              <p:set>
                                <p:cBhvr>
                                  <p:cTn id="8" dur="1" fill="hold"/>
                                  <p:tgtEl>
                                    <p:spTgt spid="11"/>
                                  </p:tgtEl>
                                  <p:attrNameLst>
                                    <p:attrName>style.visibility</p:attrName>
                                  </p:attrNameLst>
                                </p:cBhvr>
                                <p:to>
                                  <p:strVal val="visible"/>
                                </p:to>
                              </p:set>
                              <p:animEffect transition="in" filter="fade">
                                <p:cBhvr>
                                  <p:cTn id="9" dur="550"/>
                                  <p:tgtEl>
                                    <p:spTgt spid="11"/>
                                  </p:tgtEl>
                                </p:cBhvr>
                              </p:animEffect>
                            </p:childTnLst>
                          </p:cTn>
                        </p:par>
                        <p:par>
                          <p:cTn id="10" presetID="10" presetClass="entr" presetSubtype="0" fill="hold" nodeType="withEffect">
                            <p:stCondLst>
                              <p:cond delay="0"/>
                            </p:stCondLst>
                            <p:childTnLst>
                              <p:set>
                                <p:cBhvr>
                                  <p:cTn id="11" dur="1" fill="hold"/>
                                  <p:tgtEl>
                                    <p:spTgt spid="12"/>
                                  </p:tgtEl>
                                  <p:attrNameLst>
                                    <p:attrName>style.visibility</p:attrName>
                                  </p:attrNameLst>
                                </p:cBhvr>
                                <p:to>
                                  <p:strVal val="visible"/>
                                </p:to>
                              </p:set>
                              <p:animEffect transition="in" filter="fade">
                                <p:cBhvr>
                                  <p:cTn id="12" dur="550"/>
                                  <p:tgtEl>
                                    <p:spTgt spid="12"/>
                                  </p:tgtEl>
                                </p:cBhvr>
                              </p:animEffect>
                            </p:childTnLst>
                          </p:cTn>
                        </p:par>
                        <p:par>
                          <p:cTn id="13" presetID="10" presetClass="entr" presetSubtype="0" fill="hold" nodeType="withEffect">
                            <p:stCondLst>
                              <p:cond delay="0"/>
                            </p:stCondLst>
                            <p:childTnLst>
                              <p:set>
                                <p:cBhvr>
                                  <p:cTn id="14" dur="1" fill="hold"/>
                                  <p:tgtEl>
                                    <p:spTgt spid="13"/>
                                  </p:tgtEl>
                                  <p:attrNameLst>
                                    <p:attrName>style.visibility</p:attrName>
                                  </p:attrNameLst>
                                </p:cBhvr>
                                <p:to>
                                  <p:strVal val="visible"/>
                                </p:to>
                              </p:set>
                              <p:animEffect transition="in" filter="fade">
                                <p:cBhvr>
                                  <p:cTn id="15" dur="550"/>
                                  <p:tgtEl>
                                    <p:spTgt spid="13"/>
                                  </p:tgtEl>
                                </p:cBhvr>
                              </p:animEffect>
                            </p:childTnLst>
                          </p:cTn>
                        </p:par>
                        <p:par>
                          <p:cTn id="16" presetID="10" presetClass="entr" presetSubtype="0" fill="hold" nodeType="withEffect">
                            <p:stCondLst>
                              <p:cond delay="0"/>
                            </p:stCondLst>
                            <p:childTnLst>
                              <p:set>
                                <p:cBhvr>
                                  <p:cTn id="17" dur="1" fill="hold"/>
                                  <p:tgtEl>
                                    <p:spTgt spid="14"/>
                                  </p:tgtEl>
                                  <p:attrNameLst>
                                    <p:attrName>style.visibility</p:attrName>
                                  </p:attrNameLst>
                                </p:cBhvr>
                                <p:to>
                                  <p:strVal val="visible"/>
                                </p:to>
                              </p:set>
                              <p:animEffect transition="in" filter="fade">
                                <p:cBhvr>
                                  <p:cTn id="18" dur="550"/>
                                  <p:tgtEl>
                                    <p:spTgt spid="14"/>
                                  </p:tgtEl>
                                </p:cBhvr>
                              </p:animEffect>
                            </p:childTnLst>
                          </p:cTn>
                        </p:par>
                        <p:par>
                          <p:cTn id="19" presetID="10" presetClass="entr" presetSubtype="0" fill="hold" nodeType="withEffect">
                            <p:stCondLst>
                              <p:cond delay="1250"/>
                            </p:stCondLst>
                            <p:childTnLst>
                              <p:set>
                                <p:cBhvr>
                                  <p:cTn id="20" dur="1" fill="hold"/>
                                  <p:tgtEl>
                                    <p:spTgt spid="15"/>
                                  </p:tgtEl>
                                  <p:attrNameLst>
                                    <p:attrName>style.visibility</p:attrName>
                                  </p:attrNameLst>
                                </p:cBhvr>
                                <p:to>
                                  <p:strVal val="visible"/>
                                </p:to>
                              </p:set>
                              <p:animEffect transition="in" filter="fade">
                                <p:cBhvr>
                                  <p:cTn id="21" dur="550"/>
                                  <p:tgtEl>
                                    <p:spTgt spid="15"/>
                                  </p:tgtEl>
                                </p:cBhvr>
                              </p:animEffect>
                            </p:childTnLst>
                          </p:cTn>
                        </p:par>
                        <p:par>
                          <p:cTn id="22" presetID="10" presetClass="entr" presetSubtype="0" fill="hold" nodeType="withEffect">
                            <p:stCondLst>
                              <p:cond delay="2500"/>
                            </p:stCondLst>
                            <p:childTnLst>
                              <p:set>
                                <p:cBhvr>
                                  <p:cTn id="23" dur="1" fill="hold"/>
                                  <p:tgtEl>
                                    <p:spTgt spid="16"/>
                                  </p:tgtEl>
                                  <p:attrNameLst>
                                    <p:attrName>style.visibility</p:attrName>
                                  </p:attrNameLst>
                                </p:cBhvr>
                                <p:to>
                                  <p:strVal val="visible"/>
                                </p:to>
                              </p:set>
                              <p:animEffect transition="in" filter="fade">
                                <p:cBhvr>
                                  <p:cTn id="24" dur="550"/>
                                  <p:tgtEl>
                                    <p:spTgt spid="16"/>
                                  </p:tgtEl>
                                </p:cBhvr>
                              </p:animEffect>
                            </p:childTnLst>
                          </p:cTn>
                        </p:par>
                        <p:par>
                          <p:cTn id="25" presetID="10" presetClass="entr" presetSubtype="0" fill="hold" nodeType="withEffect">
                            <p:stCondLst>
                              <p:cond delay="2500"/>
                            </p:stCondLst>
                            <p:childTnLst>
                              <p:set>
                                <p:cBhvr>
                                  <p:cTn id="26" dur="1" fill="hold"/>
                                  <p:tgtEl>
                                    <p:spTgt spid="17"/>
                                  </p:tgtEl>
                                  <p:attrNameLst>
                                    <p:attrName>style.visibility</p:attrName>
                                  </p:attrNameLst>
                                </p:cBhvr>
                                <p:to>
                                  <p:strVal val="visible"/>
                                </p:to>
                              </p:set>
                              <p:animEffect transition="in" filter="fade">
                                <p:cBhvr>
                                  <p:cTn id="27" dur="550"/>
                                  <p:tgtEl>
                                    <p:spTgt spid="17"/>
                                  </p:tgtEl>
                                </p:cBhvr>
                              </p:animEffect>
                            </p:childTnLst>
                          </p:cTn>
                        </p:par>
                        <p:par>
                          <p:cTn id="28" presetID="10" presetClass="entr" presetSubtype="0" fill="hold" nodeType="withEffect">
                            <p:stCondLst>
                              <p:cond delay="2500"/>
                            </p:stCondLst>
                            <p:childTnLst>
                              <p:set>
                                <p:cBhvr>
                                  <p:cTn id="29" dur="1" fill="hold"/>
                                  <p:tgtEl>
                                    <p:spTgt spid="18"/>
                                  </p:tgtEl>
                                  <p:attrNameLst>
                                    <p:attrName>style.visibility</p:attrName>
                                  </p:attrNameLst>
                                </p:cBhvr>
                                <p:to>
                                  <p:strVal val="visible"/>
                                </p:to>
                              </p:set>
                              <p:animEffect transition="in" filter="fade">
                                <p:cBhvr>
                                  <p:cTn id="30" dur="550"/>
                                  <p:tgtEl>
                                    <p:spTgt spid="18"/>
                                  </p:tgtEl>
                                </p:cBhvr>
                              </p:animEffect>
                            </p:childTnLst>
                          </p:cTn>
                        </p:par>
                        <p:par>
                          <p:cTn id="31" presetID="10" presetClass="entr" presetSubtype="0" fill="hold" nodeType="withEffect">
                            <p:stCondLst>
                              <p:cond delay="2500"/>
                            </p:stCondLst>
                            <p:childTnLst>
                              <p:set>
                                <p:cBhvr>
                                  <p:cTn id="32" dur="1" fill="hold"/>
                                  <p:tgtEl>
                                    <p:spTgt spid="19"/>
                                  </p:tgtEl>
                                  <p:attrNameLst>
                                    <p:attrName>style.visibility</p:attrName>
                                  </p:attrNameLst>
                                </p:cBhvr>
                                <p:to>
                                  <p:strVal val="visible"/>
                                </p:to>
                              </p:set>
                              <p:animEffect transition="in" filter="fade">
                                <p:cBhvr>
                                  <p:cTn id="33" dur="550"/>
                                  <p:tgtEl>
                                    <p:spTgt spid="19"/>
                                  </p:tgtEl>
                                </p:cBhvr>
                              </p:animEffect>
                            </p:childTnLst>
                          </p:cTn>
                        </p:par>
                        <p:par>
                          <p:cTn id="34" presetID="10" presetClass="entr" presetSubtype="0" fill="hold" nodeType="withEffect">
                            <p:stCondLst>
                              <p:cond delay="3750"/>
                            </p:stCondLst>
                            <p:childTnLst>
                              <p:set>
                                <p:cBhvr>
                                  <p:cTn id="35" dur="1" fill="hold"/>
                                  <p:tgtEl>
                                    <p:spTgt spid="20"/>
                                  </p:tgtEl>
                                  <p:attrNameLst>
                                    <p:attrName>style.visibility</p:attrName>
                                  </p:attrNameLst>
                                </p:cBhvr>
                                <p:to>
                                  <p:strVal val="visible"/>
                                </p:to>
                              </p:set>
                              <p:animEffect transition="in" filter="fade">
                                <p:cBhvr>
                                  <p:cTn id="36" dur="550"/>
                                  <p:tgtEl>
                                    <p:spTgt spid="20"/>
                                  </p:tgtEl>
                                </p:cBhvr>
                              </p:animEffect>
                            </p:childTnLst>
                          </p:cTn>
                        </p:par>
                        <p:par>
                          <p:cTn id="37" presetID="10" presetClass="entr" presetSubtype="0" fill="hold" nodeType="withEffect">
                            <p:stCondLst>
                              <p:cond delay="3750"/>
                            </p:stCondLst>
                            <p:childTnLst>
                              <p:set>
                                <p:cBhvr>
                                  <p:cTn id="38" dur="1" fill="hold"/>
                                  <p:tgtEl>
                                    <p:spTgt spid="21"/>
                                  </p:tgtEl>
                                  <p:attrNameLst>
                                    <p:attrName>style.visibility</p:attrName>
                                  </p:attrNameLst>
                                </p:cBhvr>
                                <p:to>
                                  <p:strVal val="visible"/>
                                </p:to>
                              </p:set>
                              <p:animEffect transition="in" filter="fade">
                                <p:cBhvr>
                                  <p:cTn id="39" dur="550"/>
                                  <p:tgtEl>
                                    <p:spTgt spid="21"/>
                                  </p:tgtEl>
                                </p:cBhvr>
                              </p:animEffect>
                            </p:childTnLst>
                          </p:cTn>
                        </p:par>
                        <p:par>
                          <p:cTn id="40" presetID="10" presetClass="entr" presetSubtype="0" fill="hold" nodeType="withEffect">
                            <p:stCondLst>
                              <p:cond delay="5000"/>
                            </p:stCondLst>
                            <p:childTnLst>
                              <p:set>
                                <p:cBhvr>
                                  <p:cTn id="41" dur="1" fill="hold"/>
                                  <p:tgtEl>
                                    <p:spTgt spid="22"/>
                                  </p:tgtEl>
                                  <p:attrNameLst>
                                    <p:attrName>style.visibility</p:attrName>
                                  </p:attrNameLst>
                                </p:cBhvr>
                                <p:to>
                                  <p:strVal val="visible"/>
                                </p:to>
                              </p:set>
                              <p:animEffect transition="in" filter="fade">
                                <p:cBhvr>
                                  <p:cTn id="42" dur="550"/>
                                  <p:tgtEl>
                                    <p:spTgt spid="22"/>
                                  </p:tgtEl>
                                </p:cBhvr>
                              </p:animEffect>
                            </p:childTnLst>
                          </p:cTn>
                        </p:par>
                        <p:par>
                          <p:cTn id="43" presetID="10" presetClass="entr" presetSubtype="0" fill="hold" nodeType="withEffect">
                            <p:stCondLst>
                              <p:cond delay="5000"/>
                            </p:stCondLst>
                            <p:childTnLst>
                              <p:set>
                                <p:cBhvr>
                                  <p:cTn id="44" dur="1" fill="hold"/>
                                  <p:tgtEl>
                                    <p:spTgt spid="23"/>
                                  </p:tgtEl>
                                  <p:attrNameLst>
                                    <p:attrName>style.visibility</p:attrName>
                                  </p:attrNameLst>
                                </p:cBhvr>
                                <p:to>
                                  <p:strVal val="visible"/>
                                </p:to>
                              </p:set>
                              <p:animEffect transition="in" filter="fade">
                                <p:cBhvr>
                                  <p:cTn id="45" dur="550"/>
                                  <p:tgtEl>
                                    <p:spTgt spid="23"/>
                                  </p:tgtEl>
                                </p:cBhvr>
                              </p:animEffect>
                            </p:childTnLst>
                          </p:cTn>
                        </p:par>
                        <p:par>
                          <p:cTn id="46" presetID="10" presetClass="entr" presetSubtype="0" fill="hold" nodeType="withEffect">
                            <p:stCondLst>
                              <p:cond delay="5000"/>
                            </p:stCondLst>
                            <p:childTnLst>
                              <p:set>
                                <p:cBhvr>
                                  <p:cTn id="47" dur="1" fill="hold"/>
                                  <p:tgtEl>
                                    <p:spTgt spid="24"/>
                                  </p:tgtEl>
                                  <p:attrNameLst>
                                    <p:attrName>style.visibility</p:attrName>
                                  </p:attrNameLst>
                                </p:cBhvr>
                                <p:to>
                                  <p:strVal val="visible"/>
                                </p:to>
                              </p:set>
                              <p:animEffect transition="in" filter="fade">
                                <p:cBhvr>
                                  <p:cTn id="48" dur="550"/>
                                  <p:tgtEl>
                                    <p:spTgt spid="24"/>
                                  </p:tgtEl>
                                </p:cBhvr>
                              </p:animEffect>
                            </p:childTnLst>
                          </p:cTn>
                        </p:par>
                        <p:par>
                          <p:cTn id="49" presetID="10" presetClass="entr" presetSubtype="0" fill="hold" nodeType="withEffect">
                            <p:stCondLst>
                              <p:cond delay="5000"/>
                            </p:stCondLst>
                            <p:childTnLst>
                              <p:set>
                                <p:cBhvr>
                                  <p:cTn id="50" dur="1" fill="hold"/>
                                  <p:tgtEl>
                                    <p:spTgt spid="25"/>
                                  </p:tgtEl>
                                  <p:attrNameLst>
                                    <p:attrName>style.visibility</p:attrName>
                                  </p:attrNameLst>
                                </p:cBhvr>
                                <p:to>
                                  <p:strVal val="visible"/>
                                </p:to>
                              </p:set>
                              <p:animEffect transition="in" filter="fade">
                                <p:cBhvr>
                                  <p:cTn id="51" dur="550"/>
                                  <p:tgtEl>
                                    <p:spTgt spid="25"/>
                                  </p:tgtEl>
                                </p:cBhvr>
                              </p:animEffect>
                            </p:childTnLst>
                          </p:cTn>
                        </p:par>
                        <p:par>
                          <p:cTn id="52" presetID="10" presetClass="entr" presetSubtype="0" fill="hold" nodeType="withEffect">
                            <p:stCondLst>
                              <p:cond delay="5000"/>
                            </p:stCondLst>
                            <p:childTnLst>
                              <p:set>
                                <p:cBhvr>
                                  <p:cTn id="53" dur="1" fill="hold"/>
                                  <p:tgtEl>
                                    <p:spTgt spid="26"/>
                                  </p:tgtEl>
                                  <p:attrNameLst>
                                    <p:attrName>style.visibility</p:attrName>
                                  </p:attrNameLst>
                                </p:cBhvr>
                                <p:to>
                                  <p:strVal val="visible"/>
                                </p:to>
                              </p:set>
                              <p:animEffect transition="in" filter="fade">
                                <p:cBhvr>
                                  <p:cTn id="54" dur="550"/>
                                  <p:tgtEl>
                                    <p:spTgt spid="26"/>
                                  </p:tgtEl>
                                </p:cBhvr>
                              </p:animEffect>
                            </p:childTnLst>
                          </p:cTn>
                        </p:par>
                        <p:par>
                          <p:cTn id="55" presetID="10" presetClass="entr" presetSubtype="0" fill="hold" nodeType="withEffect">
                            <p:stCondLst>
                              <p:cond delay="5000"/>
                            </p:stCondLst>
                            <p:childTnLst>
                              <p:set>
                                <p:cBhvr>
                                  <p:cTn id="56" dur="1" fill="hold"/>
                                  <p:tgtEl>
                                    <p:spTgt spid="27"/>
                                  </p:tgtEl>
                                  <p:attrNameLst>
                                    <p:attrName>style.visibility</p:attrName>
                                  </p:attrNameLst>
                                </p:cBhvr>
                                <p:to>
                                  <p:strVal val="visible"/>
                                </p:to>
                              </p:set>
                              <p:animEffect transition="in" filter="fade">
                                <p:cBhvr>
                                  <p:cTn id="57" dur="550"/>
                                  <p:tgtEl>
                                    <p:spTgt spid="27"/>
                                  </p:tgtEl>
                                </p:cBhvr>
                              </p:animEffect>
                            </p:childTnLst>
                          </p:cTn>
                        </p:par>
                        <p:par>
                          <p:cTn id="58" presetID="10" presetClass="entr" presetSubtype="0" fill="hold" nodeType="withEffect">
                            <p:stCondLst>
                              <p:cond delay="5000"/>
                            </p:stCondLst>
                            <p:childTnLst>
                              <p:set>
                                <p:cBhvr>
                                  <p:cTn id="59" dur="1" fill="hold"/>
                                  <p:tgtEl>
                                    <p:spTgt spid="28"/>
                                  </p:tgtEl>
                                  <p:attrNameLst>
                                    <p:attrName>style.visibility</p:attrName>
                                  </p:attrNameLst>
                                </p:cBhvr>
                                <p:to>
                                  <p:strVal val="visible"/>
                                </p:to>
                              </p:set>
                              <p:animEffect transition="in" filter="fade">
                                <p:cBhvr>
                                  <p:cTn id="60" dur="550"/>
                                  <p:tgtEl>
                                    <p:spTgt spid="28"/>
                                  </p:tgtEl>
                                </p:cBhvr>
                              </p:animEffect>
                            </p:childTnLst>
                          </p:cTn>
                        </p:par>
                        <p:par>
                          <p:cTn id="61" presetID="10" presetClass="entr" presetSubtype="0" fill="hold" nodeType="withEffect">
                            <p:stCondLst>
                              <p:cond delay="5000"/>
                            </p:stCondLst>
                            <p:childTnLst>
                              <p:set>
                                <p:cBhvr>
                                  <p:cTn id="62" dur="1" fill="hold"/>
                                  <p:tgtEl>
                                    <p:spTgt spid="29"/>
                                  </p:tgtEl>
                                  <p:attrNameLst>
                                    <p:attrName>style.visibility</p:attrName>
                                  </p:attrNameLst>
                                </p:cBhvr>
                                <p:to>
                                  <p:strVal val="visible"/>
                                </p:to>
                              </p:set>
                              <p:animEffect transition="in" filter="fade">
                                <p:cBhvr>
                                  <p:cTn id="63" dur="550"/>
                                  <p:tgtEl>
                                    <p:spTgt spid="29"/>
                                  </p:tgtEl>
                                </p:cBhvr>
                              </p:animEffect>
                            </p:childTnLst>
                          </p:cTn>
                        </p:par>
                        <p:par>
                          <p:cTn id="64" presetID="10" presetClass="entr" presetSubtype="0" fill="hold" nodeType="withEffect">
                            <p:stCondLst>
                              <p:cond delay="6250"/>
                            </p:stCondLst>
                            <p:childTnLst>
                              <p:set>
                                <p:cBhvr>
                                  <p:cTn id="65" dur="1" fill="hold"/>
                                  <p:tgtEl>
                                    <p:spTgt spid="30"/>
                                  </p:tgtEl>
                                  <p:attrNameLst>
                                    <p:attrName>style.visibility</p:attrName>
                                  </p:attrNameLst>
                                </p:cBhvr>
                                <p:to>
                                  <p:strVal val="visible"/>
                                </p:to>
                              </p:set>
                              <p:animEffect transition="in" filter="fade">
                                <p:cBhvr>
                                  <p:cTn id="66" dur="550"/>
                                  <p:tgtEl>
                                    <p:spTgt spid="30"/>
                                  </p:tgtEl>
                                </p:cBhvr>
                              </p:animEffect>
                            </p:childTnLst>
                          </p:cTn>
                        </p:par>
                        <p:par>
                          <p:cTn id="67" presetID="10" presetClass="entr" presetSubtype="0" fill="hold" nodeType="withEffect">
                            <p:stCondLst>
                              <p:cond delay="6250"/>
                            </p:stCondLst>
                            <p:childTnLst>
                              <p:set>
                                <p:cBhvr>
                                  <p:cTn id="68" dur="1" fill="hold"/>
                                  <p:tgtEl>
                                    <p:spTgt spid="31"/>
                                  </p:tgtEl>
                                  <p:attrNameLst>
                                    <p:attrName>style.visibility</p:attrName>
                                  </p:attrNameLst>
                                </p:cBhvr>
                                <p:to>
                                  <p:strVal val="visible"/>
                                </p:to>
                              </p:set>
                              <p:animEffect transition="in" filter="fade">
                                <p:cBhvr>
                                  <p:cTn id="69" dur="550"/>
                                  <p:tgtEl>
                                    <p:spTgt spid="31"/>
                                  </p:tgtEl>
                                </p:cBhvr>
                              </p:animEffect>
                            </p:childTnLst>
                          </p:cTn>
                        </p:par>
                        <p:par>
                          <p:cTn id="70" presetID="10" presetClass="entr" presetSubtype="0" fill="hold" nodeType="withEffect">
                            <p:stCondLst>
                              <p:cond delay="7500"/>
                            </p:stCondLst>
                            <p:childTnLst>
                              <p:set>
                                <p:cBhvr>
                                  <p:cTn id="71" dur="1" fill="hold"/>
                                  <p:tgtEl>
                                    <p:spTgt spid="32"/>
                                  </p:tgtEl>
                                  <p:attrNameLst>
                                    <p:attrName>style.visibility</p:attrName>
                                  </p:attrNameLst>
                                </p:cBhvr>
                                <p:to>
                                  <p:strVal val="visible"/>
                                </p:to>
                              </p:set>
                              <p:animEffect transition="in" filter="fade">
                                <p:cBhvr>
                                  <p:cTn id="72" dur="550"/>
                                  <p:tgtEl>
                                    <p:spTgt spid="32"/>
                                  </p:tgtEl>
                                </p:cBhvr>
                              </p:animEffect>
                            </p:childTnLst>
                          </p:cTn>
                        </p:par>
                        <p:par>
                          <p:cTn id="73" presetID="10" presetClass="entr" presetSubtype="0" fill="hold" nodeType="withEffect">
                            <p:stCondLst>
                              <p:cond delay="7500"/>
                            </p:stCondLst>
                            <p:childTnLst>
                              <p:set>
                                <p:cBhvr>
                                  <p:cTn id="74" dur="1" fill="hold"/>
                                  <p:tgtEl>
                                    <p:spTgt spid="33"/>
                                  </p:tgtEl>
                                  <p:attrNameLst>
                                    <p:attrName>style.visibility</p:attrName>
                                  </p:attrNameLst>
                                </p:cBhvr>
                                <p:to>
                                  <p:strVal val="visible"/>
                                </p:to>
                              </p:set>
                              <p:animEffect transition="in" filter="fade">
                                <p:cBhvr>
                                  <p:cTn id="75" dur="550"/>
                                  <p:tgtEl>
                                    <p:spTgt spid="3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457200" y="266700"/>
            <a:ext cx="8572500" cy="2667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69635C"/>
                </a:solidFill>
                <a:latin typeface="Manrope"/>
              </a:rPr>
              <a:t>03 · HOW IT WORKS</a:t>
            </a:r>
          </a:p>
        </p:txBody>
      </p:sp>
      <p:pic>
        <p:nvPicPr>
          <p:cNvPr id="3" name="Picture 2" descr="brand.png"/>
          <p:cNvPicPr>
            <a:picLocks noChangeAspect="1"/>
          </p:cNvPicPr>
          <p:nvPr/>
        </p:nvPicPr>
        <p:blipFill>
          <a:blip r:embed="rId2"/>
          <a:stretch>
            <a:fillRect/>
          </a:stretch>
        </p:blipFill>
        <p:spPr>
          <a:xfrm>
            <a:off x="9915525" y="220662"/>
            <a:ext cx="495300" cy="330200"/>
          </a:xfrm>
          <a:prstGeom prst="rect">
            <a:avLst/>
          </a:prstGeom>
          <a:effectLst/>
        </p:spPr>
      </p:pic>
      <p:sp>
        <p:nvSpPr>
          <p:cNvPr id="4" name="TextBox 3"/>
          <p:cNvSpPr txBox="1"/>
          <p:nvPr/>
        </p:nvSpPr>
        <p:spPr>
          <a:xfrm>
            <a:off x="10515600" y="266700"/>
            <a:ext cx="1219200" cy="276225"/>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1" lang="en-US">
                <a:solidFill>
                  <a:srgbClr val="23201D"/>
                </a:solidFill>
                <a:latin typeface="Manrope"/>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l" rtl="0">
              <a:lnSpc>
                <a:spcPts val="5376"/>
              </a:lnSpc>
              <a:spcBef>
                <a:spcPts val="0"/>
              </a:spcBef>
              <a:spcAft>
                <a:spcPts val="0"/>
              </a:spcAft>
            </a:pPr>
            <a:r>
              <a:rPr sz="4800" b="1" lang="en-US">
                <a:solidFill>
                  <a:srgbClr val="23201D"/>
                </a:solidFill>
                <a:latin typeface="Manrope"/>
              </a:rPr>
              <a:t>Make the existing systems</a:t>
            </a:r>
          </a:p>
          <a:p>
            <a:pPr algn="l" rtl="0">
              <a:lnSpc>
                <a:spcPts val="5376"/>
              </a:lnSpc>
              <a:spcBef>
                <a:spcPts val="0"/>
              </a:spcBef>
              <a:spcAft>
                <a:spcPts val="0"/>
              </a:spcAft>
            </a:pPr>
            <a:r>
              <a:rPr sz="4800" b="1" lang="en-US">
                <a:solidFill>
                  <a:srgbClr val="23201D"/>
                </a:solidFill>
                <a:latin typeface="Manrope"/>
              </a:rPr>
              <a:t>work together.</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0" lang="en-US">
                <a:solidFill>
                  <a:srgbClr val="69635C"/>
                </a:solidFill>
                <a:latin typeface="Manrope"/>
              </a:rPr>
              <a:t>Bring Desk records into the employee’s call experience.</a:t>
            </a:r>
          </a:p>
        </p:txBody>
      </p:sp>
      <p:cxnSp>
        <p:nvCxnSpPr>
          <p:cNvPr id="7" name="Connector 6"/>
          <p:cNvCxnSpPr/>
          <p:nvPr/>
        </p:nvCxnSpPr>
        <p:spPr>
          <a:xfrm>
            <a:off x="457200" y="6334125"/>
            <a:ext cx="11277600" cy="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457200" y="6496050"/>
            <a:ext cx="10287000"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9635C"/>
                </a:solidFill>
                <a:latin typeface="Manrope"/>
              </a:rPr>
              <a:t>PROPOSED COLLABORATION · ILLUSTRATIVE RECORDS</a:t>
            </a:r>
          </a:p>
        </p:txBody>
      </p:sp>
      <p:sp>
        <p:nvSpPr>
          <p:cNvPr id="9" name="TextBox 8"/>
          <p:cNvSpPr txBox="1"/>
          <p:nvPr/>
        </p:nvSpPr>
        <p:spPr>
          <a:xfrm>
            <a:off x="10906125" y="6496050"/>
            <a:ext cx="828675" cy="209550"/>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9635C"/>
                </a:solidFill>
                <a:latin typeface="Manrope"/>
              </a:rPr>
              <a:t>04 / 09</a:t>
            </a:r>
          </a:p>
        </p:txBody>
      </p:sp>
      <p:sp>
        <p:nvSpPr>
          <p:cNvPr id="10" name="Rounded Rectangle 9"/>
          <p:cNvSpPr/>
          <p:nvPr/>
        </p:nvSpPr>
        <p:spPr>
          <a:xfrm>
            <a:off x="457200" y="3095625"/>
            <a:ext cx="2533650" cy="2676525"/>
          </a:xfrm>
          <a:prstGeom prst="roundRect">
            <a:avLst>
              <a:gd name="adj" fmla="val 601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676275" y="3439762"/>
            <a:ext cx="1943100" cy="378526"/>
          </a:xfrm>
          <a:prstGeom prst="rect">
            <a:avLst/>
          </a:prstGeom>
          <a:effectLst/>
        </p:spPr>
      </p:pic>
      <p:sp>
        <p:nvSpPr>
          <p:cNvPr id="12" name="TextBox 11"/>
          <p:cNvSpPr txBox="1"/>
          <p:nvPr/>
        </p:nvSpPr>
        <p:spPr>
          <a:xfrm>
            <a:off x="676275" y="4305300"/>
            <a:ext cx="2095500" cy="781050"/>
          </a:xfrm>
          <a:prstGeom prst="rect">
            <a:avLst/>
          </a:prstGeom>
          <a:noFill/>
          <a:effectLst/>
        </p:spPr>
        <p:txBody>
          <a:bodyPr wrap="square" lIns="0" rIns="0" tIns="0" bIns="0" anchor="t">
            <a:spAutoFit/>
          </a:bodyPr>
          <a:lstStyle/>
          <a:p>
            <a:pPr algn="l" rtl="0">
              <a:lnSpc>
                <a:spcPts val="2940"/>
              </a:lnSpc>
              <a:spcBef>
                <a:spcPts val="0"/>
              </a:spcBef>
              <a:spcAft>
                <a:spcPts val="0"/>
              </a:spcAft>
            </a:pPr>
            <a:r>
              <a:rPr sz="2625" b="1" lang="en-US">
                <a:solidFill>
                  <a:srgbClr val="23201D"/>
                </a:solidFill>
                <a:latin typeface="Manrope"/>
              </a:rPr>
              <a:t>Call event</a:t>
            </a:r>
          </a:p>
        </p:txBody>
      </p:sp>
      <p:sp>
        <p:nvSpPr>
          <p:cNvPr id="13" name="TextBox 12"/>
          <p:cNvSpPr txBox="1"/>
          <p:nvPr/>
        </p:nvSpPr>
        <p:spPr>
          <a:xfrm>
            <a:off x="676275" y="5248275"/>
            <a:ext cx="2095500" cy="44767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69635C"/>
                </a:solidFill>
                <a:latin typeface="Manrope"/>
              </a:rPr>
              <a:t>Caller number</a:t>
            </a:r>
          </a:p>
        </p:txBody>
      </p:sp>
      <p:cxnSp>
        <p:nvCxnSpPr>
          <p:cNvPr id="14" name="Connector 13"/>
          <p:cNvCxnSpPr/>
          <p:nvPr/>
        </p:nvCxnSpPr>
        <p:spPr>
          <a:xfrm>
            <a:off x="3076575" y="4524375"/>
            <a:ext cx="20002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3371850" y="3095625"/>
            <a:ext cx="2533650" cy="2676525"/>
          </a:xfrm>
          <a:prstGeom prst="roundRect">
            <a:avLst>
              <a:gd name="adj" fmla="val 601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brand.png"/>
          <p:cNvPicPr>
            <a:picLocks noChangeAspect="1"/>
          </p:cNvPicPr>
          <p:nvPr/>
        </p:nvPicPr>
        <p:blipFill>
          <a:blip r:embed="rId2"/>
          <a:stretch>
            <a:fillRect/>
          </a:stretch>
        </p:blipFill>
        <p:spPr>
          <a:xfrm>
            <a:off x="3590925" y="3336925"/>
            <a:ext cx="904875" cy="603250"/>
          </a:xfrm>
          <a:prstGeom prst="rect">
            <a:avLst/>
          </a:prstGeom>
          <a:effectLst/>
        </p:spPr>
      </p:pic>
      <p:sp>
        <p:nvSpPr>
          <p:cNvPr id="17" name="TextBox 16"/>
          <p:cNvSpPr txBox="1"/>
          <p:nvPr/>
        </p:nvSpPr>
        <p:spPr>
          <a:xfrm>
            <a:off x="3590925" y="4305300"/>
            <a:ext cx="2095500" cy="781050"/>
          </a:xfrm>
          <a:prstGeom prst="rect">
            <a:avLst/>
          </a:prstGeom>
          <a:noFill/>
          <a:effectLst/>
        </p:spPr>
        <p:txBody>
          <a:bodyPr wrap="square" lIns="0" rIns="0" tIns="0" bIns="0" anchor="t">
            <a:spAutoFit/>
          </a:bodyPr>
          <a:lstStyle/>
          <a:p>
            <a:pPr algn="l" rtl="0">
              <a:lnSpc>
                <a:spcPts val="2940"/>
              </a:lnSpc>
              <a:spcBef>
                <a:spcPts val="0"/>
              </a:spcBef>
              <a:spcAft>
                <a:spcPts val="0"/>
              </a:spcAft>
            </a:pPr>
            <a:r>
              <a:rPr sz="2625" b="1" lang="en-US">
                <a:solidFill>
                  <a:srgbClr val="23201D"/>
                </a:solidFill>
                <a:latin typeface="Manrope"/>
              </a:rPr>
              <a:t>GRINDCTRL</a:t>
            </a:r>
          </a:p>
        </p:txBody>
      </p:sp>
      <p:sp>
        <p:nvSpPr>
          <p:cNvPr id="18" name="TextBox 17"/>
          <p:cNvSpPr txBox="1"/>
          <p:nvPr/>
        </p:nvSpPr>
        <p:spPr>
          <a:xfrm>
            <a:off x="3590925" y="5248275"/>
            <a:ext cx="2095500" cy="44767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69635C"/>
                </a:solidFill>
                <a:latin typeface="Manrope"/>
              </a:rPr>
              <a:t>Caller context</a:t>
            </a:r>
          </a:p>
        </p:txBody>
      </p:sp>
      <p:cxnSp>
        <p:nvCxnSpPr>
          <p:cNvPr id="19" name="Connector 18"/>
          <p:cNvCxnSpPr/>
          <p:nvPr/>
        </p:nvCxnSpPr>
        <p:spPr>
          <a:xfrm>
            <a:off x="5991225" y="4524375"/>
            <a:ext cx="20002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6286500" y="3095625"/>
            <a:ext cx="2533650" cy="2676525"/>
          </a:xfrm>
          <a:prstGeom prst="roundRect">
            <a:avLst>
              <a:gd name="adj" fmla="val 601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zoho.png"/>
          <p:cNvPicPr>
            <a:picLocks noChangeAspect="1"/>
          </p:cNvPicPr>
          <p:nvPr/>
        </p:nvPicPr>
        <p:blipFill>
          <a:blip r:embed="rId4"/>
          <a:stretch>
            <a:fillRect/>
          </a:stretch>
        </p:blipFill>
        <p:spPr>
          <a:xfrm>
            <a:off x="6587923" y="3400425"/>
            <a:ext cx="1064029" cy="457200"/>
          </a:xfrm>
          <a:prstGeom prst="rect">
            <a:avLst/>
          </a:prstGeom>
          <a:effectLst/>
        </p:spPr>
      </p:pic>
      <p:sp>
        <p:nvSpPr>
          <p:cNvPr id="22" name="TextBox 21"/>
          <p:cNvSpPr txBox="1"/>
          <p:nvPr/>
        </p:nvSpPr>
        <p:spPr>
          <a:xfrm>
            <a:off x="6505575" y="4305300"/>
            <a:ext cx="2095500" cy="781050"/>
          </a:xfrm>
          <a:prstGeom prst="rect">
            <a:avLst/>
          </a:prstGeom>
          <a:noFill/>
          <a:effectLst/>
        </p:spPr>
        <p:txBody>
          <a:bodyPr wrap="square" lIns="0" rIns="0" tIns="0" bIns="0" anchor="t">
            <a:spAutoFit/>
          </a:bodyPr>
          <a:lstStyle/>
          <a:p>
            <a:pPr algn="l" rtl="0">
              <a:lnSpc>
                <a:spcPts val="2940"/>
              </a:lnSpc>
              <a:spcBef>
                <a:spcPts val="0"/>
              </a:spcBef>
              <a:spcAft>
                <a:spcPts val="0"/>
              </a:spcAft>
            </a:pPr>
            <a:r>
              <a:rPr sz="2625" b="1" lang="en-US">
                <a:solidFill>
                  <a:srgbClr val="23201D"/>
                </a:solidFill>
                <a:latin typeface="Manrope"/>
              </a:rPr>
              <a:t>Zoho Desk</a:t>
            </a:r>
          </a:p>
        </p:txBody>
      </p:sp>
      <p:sp>
        <p:nvSpPr>
          <p:cNvPr id="23" name="TextBox 22"/>
          <p:cNvSpPr txBox="1"/>
          <p:nvPr/>
        </p:nvSpPr>
        <p:spPr>
          <a:xfrm>
            <a:off x="6505575" y="5248275"/>
            <a:ext cx="2095500" cy="44767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69635C"/>
                </a:solidFill>
                <a:latin typeface="Manrope"/>
              </a:rPr>
              <a:t>Existing tickets</a:t>
            </a:r>
          </a:p>
        </p:txBody>
      </p:sp>
      <p:cxnSp>
        <p:nvCxnSpPr>
          <p:cNvPr id="24" name="Connector 23"/>
          <p:cNvCxnSpPr/>
          <p:nvPr/>
        </p:nvCxnSpPr>
        <p:spPr>
          <a:xfrm>
            <a:off x="8905875" y="4524375"/>
            <a:ext cx="20002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9201150" y="3095625"/>
            <a:ext cx="2533650" cy="2676525"/>
          </a:xfrm>
          <a:prstGeom prst="roundRect">
            <a:avLst>
              <a:gd name="adj" fmla="val 601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9420225" y="3305175"/>
            <a:ext cx="742950" cy="742950"/>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actor.png"/>
          <p:cNvPicPr>
            <a:picLocks noChangeAspect="1"/>
          </p:cNvPicPr>
          <p:nvPr/>
        </p:nvPicPr>
        <p:blipFill>
          <a:blip r:embed="rId5"/>
          <a:stretch>
            <a:fillRect/>
          </a:stretch>
        </p:blipFill>
        <p:spPr>
          <a:xfrm>
            <a:off x="9563100" y="3448050"/>
            <a:ext cx="457200" cy="457200"/>
          </a:xfrm>
          <a:prstGeom prst="rect">
            <a:avLst/>
          </a:prstGeom>
          <a:effectLst/>
        </p:spPr>
      </p:pic>
      <p:sp>
        <p:nvSpPr>
          <p:cNvPr id="28" name="TextBox 27"/>
          <p:cNvSpPr txBox="1"/>
          <p:nvPr/>
        </p:nvSpPr>
        <p:spPr>
          <a:xfrm>
            <a:off x="9420225" y="4305300"/>
            <a:ext cx="2095500" cy="781050"/>
          </a:xfrm>
          <a:prstGeom prst="rect">
            <a:avLst/>
          </a:prstGeom>
          <a:noFill/>
          <a:effectLst/>
        </p:spPr>
        <p:txBody>
          <a:bodyPr wrap="square" lIns="0" rIns="0" tIns="0" bIns="0" anchor="t">
            <a:spAutoFit/>
          </a:bodyPr>
          <a:lstStyle/>
          <a:p>
            <a:pPr algn="l" rtl="0">
              <a:lnSpc>
                <a:spcPts val="2940"/>
              </a:lnSpc>
              <a:spcBef>
                <a:spcPts val="0"/>
              </a:spcBef>
              <a:spcAft>
                <a:spcPts val="0"/>
              </a:spcAft>
            </a:pPr>
            <a:r>
              <a:rPr sz="2625" b="1" lang="en-US">
                <a:solidFill>
                  <a:srgbClr val="23201D"/>
                </a:solidFill>
                <a:latin typeface="Manrope"/>
              </a:rPr>
              <a:t>Employee</a:t>
            </a:r>
          </a:p>
        </p:txBody>
      </p:sp>
      <p:sp>
        <p:nvSpPr>
          <p:cNvPr id="29" name="TextBox 28"/>
          <p:cNvSpPr txBox="1"/>
          <p:nvPr/>
        </p:nvSpPr>
        <p:spPr>
          <a:xfrm>
            <a:off x="9420225" y="5248275"/>
            <a:ext cx="2095500" cy="44767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69635C"/>
                </a:solidFill>
                <a:latin typeface="Manrope"/>
              </a:rPr>
              <a:t>Call + history</a:t>
            </a:r>
          </a:p>
        </p:txBody>
      </p:sp>
      <p:sp>
        <p:nvSpPr>
          <p:cNvPr id="30" name="TextBox 29"/>
          <p:cNvSpPr txBox="1"/>
          <p:nvPr/>
        </p:nvSpPr>
        <p:spPr>
          <a:xfrm>
            <a:off x="457200" y="5895975"/>
            <a:ext cx="11277600" cy="400050"/>
          </a:xfrm>
          <a:prstGeom prst="rect">
            <a:avLst/>
          </a:prstGeom>
          <a:noFill/>
          <a:effectLst/>
        </p:spPr>
        <p:txBody>
          <a:bodyPr wrap="square" lIns="0" rIns="0" tIns="0" bIns="0" anchor="t">
            <a:spAutoFit/>
          </a:bodyPr>
          <a:lstStyle/>
          <a:p>
            <a:pPr algn="l" rtl="0">
              <a:lnSpc>
                <a:spcPts val="2604"/>
              </a:lnSpc>
              <a:spcBef>
                <a:spcPts val="0"/>
              </a:spcBef>
              <a:spcAft>
                <a:spcPts val="0"/>
              </a:spcAft>
            </a:pPr>
            <a:r>
              <a:rPr sz="2325" b="1" lang="en-US">
                <a:solidFill>
                  <a:srgbClr val="BA4C24"/>
                </a:solidFill>
                <a:latin typeface="Manrope"/>
              </a:rPr>
              <a:t>Start with the pop-up already listed in the contract.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0"/>
                                  </p:tgtEl>
                                  <p:attrNameLst>
                                    <p:attrName>style.visibility</p:attrName>
                                  </p:attrNameLst>
                                </p:cBhvr>
                                <p:to>
                                  <p:strVal val="visible"/>
                                </p:to>
                              </p:set>
                              <p:animEffect transition="in" filter="fade">
                                <p:cBhvr>
                                  <p:cTn id="6" dur="550"/>
                                  <p:tgtEl>
                                    <p:spTgt spid="10"/>
                                  </p:tgtEl>
                                </p:cBhvr>
                              </p:animEffect>
                            </p:childTnLst>
                          </p:cTn>
                        </p:par>
                        <p:par>
                          <p:cTn id="7" presetID="10" presetClass="entr" presetSubtype="0" fill="hold" nodeType="withEffect">
                            <p:stCondLst>
                              <p:cond delay="0"/>
                            </p:stCondLst>
                            <p:childTnLst>
                              <p:set>
                                <p:cBhvr>
                                  <p:cTn id="8" dur="1" fill="hold"/>
                                  <p:tgtEl>
                                    <p:spTgt spid="11"/>
                                  </p:tgtEl>
                                  <p:attrNameLst>
                                    <p:attrName>style.visibility</p:attrName>
                                  </p:attrNameLst>
                                </p:cBhvr>
                                <p:to>
                                  <p:strVal val="visible"/>
                                </p:to>
                              </p:set>
                              <p:animEffect transition="in" filter="fade">
                                <p:cBhvr>
                                  <p:cTn id="9" dur="550"/>
                                  <p:tgtEl>
                                    <p:spTgt spid="11"/>
                                  </p:tgtEl>
                                </p:cBhvr>
                              </p:animEffect>
                            </p:childTnLst>
                          </p:cTn>
                        </p:par>
                        <p:par>
                          <p:cTn id="10" presetID="10" presetClass="entr" presetSubtype="0" fill="hold" nodeType="withEffect">
                            <p:stCondLst>
                              <p:cond delay="0"/>
                            </p:stCondLst>
                            <p:childTnLst>
                              <p:set>
                                <p:cBhvr>
                                  <p:cTn id="11" dur="1" fill="hold"/>
                                  <p:tgtEl>
                                    <p:spTgt spid="12"/>
                                  </p:tgtEl>
                                  <p:attrNameLst>
                                    <p:attrName>style.visibility</p:attrName>
                                  </p:attrNameLst>
                                </p:cBhvr>
                                <p:to>
                                  <p:strVal val="visible"/>
                                </p:to>
                              </p:set>
                              <p:animEffect transition="in" filter="fade">
                                <p:cBhvr>
                                  <p:cTn id="12" dur="550"/>
                                  <p:tgtEl>
                                    <p:spTgt spid="12"/>
                                  </p:tgtEl>
                                </p:cBhvr>
                              </p:animEffect>
                            </p:childTnLst>
                          </p:cTn>
                        </p:par>
                        <p:par>
                          <p:cTn id="13" presetID="10" presetClass="entr" presetSubtype="0" fill="hold" nodeType="withEffect">
                            <p:stCondLst>
                              <p:cond delay="0"/>
                            </p:stCondLst>
                            <p:childTnLst>
                              <p:set>
                                <p:cBhvr>
                                  <p:cTn id="14" dur="1" fill="hold"/>
                                  <p:tgtEl>
                                    <p:spTgt spid="13"/>
                                  </p:tgtEl>
                                  <p:attrNameLst>
                                    <p:attrName>style.visibility</p:attrName>
                                  </p:attrNameLst>
                                </p:cBhvr>
                                <p:to>
                                  <p:strVal val="visible"/>
                                </p:to>
                              </p:set>
                              <p:animEffect transition="in" filter="fade">
                                <p:cBhvr>
                                  <p:cTn id="15" dur="550"/>
                                  <p:tgtEl>
                                    <p:spTgt spid="13"/>
                                  </p:tgtEl>
                                </p:cBhvr>
                              </p:animEffect>
                            </p:childTnLst>
                          </p:cTn>
                        </p:par>
                        <p:par>
                          <p:cTn id="16" presetID="10" presetClass="entr" presetSubtype="0" fill="hold" nodeType="withEffect">
                            <p:stCondLst>
                              <p:cond delay="1250"/>
                            </p:stCondLst>
                            <p:childTnLst>
                              <p:set>
                                <p:cBhvr>
                                  <p:cTn id="17" dur="1" fill="hold"/>
                                  <p:tgtEl>
                                    <p:spTgt spid="14"/>
                                  </p:tgtEl>
                                  <p:attrNameLst>
                                    <p:attrName>style.visibility</p:attrName>
                                  </p:attrNameLst>
                                </p:cBhvr>
                                <p:to>
                                  <p:strVal val="visible"/>
                                </p:to>
                              </p:set>
                              <p:animEffect transition="in" filter="fade">
                                <p:cBhvr>
                                  <p:cTn id="18" dur="550"/>
                                  <p:tgtEl>
                                    <p:spTgt spid="14"/>
                                  </p:tgtEl>
                                </p:cBhvr>
                              </p:animEffect>
                            </p:childTnLst>
                          </p:cTn>
                        </p:par>
                        <p:par>
                          <p:cTn id="19" presetID="10" presetClass="entr" presetSubtype="0" fill="hold" nodeType="withEffect">
                            <p:stCondLst>
                              <p:cond delay="1250"/>
                            </p:stCondLst>
                            <p:childTnLst>
                              <p:set>
                                <p:cBhvr>
                                  <p:cTn id="20" dur="1" fill="hold"/>
                                  <p:tgtEl>
                                    <p:spTgt spid="15"/>
                                  </p:tgtEl>
                                  <p:attrNameLst>
                                    <p:attrName>style.visibility</p:attrName>
                                  </p:attrNameLst>
                                </p:cBhvr>
                                <p:to>
                                  <p:strVal val="visible"/>
                                </p:to>
                              </p:set>
                              <p:animEffect transition="in" filter="fade">
                                <p:cBhvr>
                                  <p:cTn id="21" dur="550"/>
                                  <p:tgtEl>
                                    <p:spTgt spid="15"/>
                                  </p:tgtEl>
                                </p:cBhvr>
                              </p:animEffect>
                            </p:childTnLst>
                          </p:cTn>
                        </p:par>
                        <p:par>
                          <p:cTn id="22" presetID="10" presetClass="entr" presetSubtype="0" fill="hold" nodeType="withEffect">
                            <p:stCondLst>
                              <p:cond delay="1250"/>
                            </p:stCondLst>
                            <p:childTnLst>
                              <p:set>
                                <p:cBhvr>
                                  <p:cTn id="23" dur="1" fill="hold"/>
                                  <p:tgtEl>
                                    <p:spTgt spid="16"/>
                                  </p:tgtEl>
                                  <p:attrNameLst>
                                    <p:attrName>style.visibility</p:attrName>
                                  </p:attrNameLst>
                                </p:cBhvr>
                                <p:to>
                                  <p:strVal val="visible"/>
                                </p:to>
                              </p:set>
                              <p:animEffect transition="in" filter="fade">
                                <p:cBhvr>
                                  <p:cTn id="24" dur="550"/>
                                  <p:tgtEl>
                                    <p:spTgt spid="16"/>
                                  </p:tgtEl>
                                </p:cBhvr>
                              </p:animEffect>
                            </p:childTnLst>
                          </p:cTn>
                        </p:par>
                        <p:par>
                          <p:cTn id="25" presetID="10" presetClass="entr" presetSubtype="0" fill="hold" nodeType="withEffect">
                            <p:stCondLst>
                              <p:cond delay="1250"/>
                            </p:stCondLst>
                            <p:childTnLst>
                              <p:set>
                                <p:cBhvr>
                                  <p:cTn id="26" dur="1" fill="hold"/>
                                  <p:tgtEl>
                                    <p:spTgt spid="17"/>
                                  </p:tgtEl>
                                  <p:attrNameLst>
                                    <p:attrName>style.visibility</p:attrName>
                                  </p:attrNameLst>
                                </p:cBhvr>
                                <p:to>
                                  <p:strVal val="visible"/>
                                </p:to>
                              </p:set>
                              <p:animEffect transition="in" filter="fade">
                                <p:cBhvr>
                                  <p:cTn id="27" dur="550"/>
                                  <p:tgtEl>
                                    <p:spTgt spid="17"/>
                                  </p:tgtEl>
                                </p:cBhvr>
                              </p:animEffect>
                            </p:childTnLst>
                          </p:cTn>
                        </p:par>
                        <p:par>
                          <p:cTn id="28" presetID="10" presetClass="entr" presetSubtype="0" fill="hold" nodeType="withEffect">
                            <p:stCondLst>
                              <p:cond delay="1250"/>
                            </p:stCondLst>
                            <p:childTnLst>
                              <p:set>
                                <p:cBhvr>
                                  <p:cTn id="29" dur="1" fill="hold"/>
                                  <p:tgtEl>
                                    <p:spTgt spid="18"/>
                                  </p:tgtEl>
                                  <p:attrNameLst>
                                    <p:attrName>style.visibility</p:attrName>
                                  </p:attrNameLst>
                                </p:cBhvr>
                                <p:to>
                                  <p:strVal val="visible"/>
                                </p:to>
                              </p:set>
                              <p:animEffect transition="in" filter="fade">
                                <p:cBhvr>
                                  <p:cTn id="30" dur="550"/>
                                  <p:tgtEl>
                                    <p:spTgt spid="18"/>
                                  </p:tgtEl>
                                </p:cBhvr>
                              </p:animEffect>
                            </p:childTnLst>
                          </p:cTn>
                        </p:par>
                        <p:par>
                          <p:cTn id="31" presetID="10" presetClass="entr" presetSubtype="0" fill="hold" nodeType="withEffect">
                            <p:stCondLst>
                              <p:cond delay="2500"/>
                            </p:stCondLst>
                            <p:childTnLst>
                              <p:set>
                                <p:cBhvr>
                                  <p:cTn id="32" dur="1" fill="hold"/>
                                  <p:tgtEl>
                                    <p:spTgt spid="19"/>
                                  </p:tgtEl>
                                  <p:attrNameLst>
                                    <p:attrName>style.visibility</p:attrName>
                                  </p:attrNameLst>
                                </p:cBhvr>
                                <p:to>
                                  <p:strVal val="visible"/>
                                </p:to>
                              </p:set>
                              <p:animEffect transition="in" filter="fade">
                                <p:cBhvr>
                                  <p:cTn id="33" dur="550"/>
                                  <p:tgtEl>
                                    <p:spTgt spid="19"/>
                                  </p:tgtEl>
                                </p:cBhvr>
                              </p:animEffect>
                            </p:childTnLst>
                          </p:cTn>
                        </p:par>
                        <p:par>
                          <p:cTn id="34" presetID="10" presetClass="entr" presetSubtype="0" fill="hold" nodeType="withEffect">
                            <p:stCondLst>
                              <p:cond delay="2500"/>
                            </p:stCondLst>
                            <p:childTnLst>
                              <p:set>
                                <p:cBhvr>
                                  <p:cTn id="35" dur="1" fill="hold"/>
                                  <p:tgtEl>
                                    <p:spTgt spid="20"/>
                                  </p:tgtEl>
                                  <p:attrNameLst>
                                    <p:attrName>style.visibility</p:attrName>
                                  </p:attrNameLst>
                                </p:cBhvr>
                                <p:to>
                                  <p:strVal val="visible"/>
                                </p:to>
                              </p:set>
                              <p:animEffect transition="in" filter="fade">
                                <p:cBhvr>
                                  <p:cTn id="36" dur="550"/>
                                  <p:tgtEl>
                                    <p:spTgt spid="20"/>
                                  </p:tgtEl>
                                </p:cBhvr>
                              </p:animEffect>
                            </p:childTnLst>
                          </p:cTn>
                        </p:par>
                        <p:par>
                          <p:cTn id="37" presetID="10" presetClass="entr" presetSubtype="0" fill="hold" nodeType="withEffect">
                            <p:stCondLst>
                              <p:cond delay="2500"/>
                            </p:stCondLst>
                            <p:childTnLst>
                              <p:set>
                                <p:cBhvr>
                                  <p:cTn id="38" dur="1" fill="hold"/>
                                  <p:tgtEl>
                                    <p:spTgt spid="21"/>
                                  </p:tgtEl>
                                  <p:attrNameLst>
                                    <p:attrName>style.visibility</p:attrName>
                                  </p:attrNameLst>
                                </p:cBhvr>
                                <p:to>
                                  <p:strVal val="visible"/>
                                </p:to>
                              </p:set>
                              <p:animEffect transition="in" filter="fade">
                                <p:cBhvr>
                                  <p:cTn id="39" dur="550"/>
                                  <p:tgtEl>
                                    <p:spTgt spid="21"/>
                                  </p:tgtEl>
                                </p:cBhvr>
                              </p:animEffect>
                            </p:childTnLst>
                          </p:cTn>
                        </p:par>
                        <p:par>
                          <p:cTn id="40" presetID="10" presetClass="entr" presetSubtype="0" fill="hold" nodeType="withEffect">
                            <p:stCondLst>
                              <p:cond delay="2500"/>
                            </p:stCondLst>
                            <p:childTnLst>
                              <p:set>
                                <p:cBhvr>
                                  <p:cTn id="41" dur="1" fill="hold"/>
                                  <p:tgtEl>
                                    <p:spTgt spid="22"/>
                                  </p:tgtEl>
                                  <p:attrNameLst>
                                    <p:attrName>style.visibility</p:attrName>
                                  </p:attrNameLst>
                                </p:cBhvr>
                                <p:to>
                                  <p:strVal val="visible"/>
                                </p:to>
                              </p:set>
                              <p:animEffect transition="in" filter="fade">
                                <p:cBhvr>
                                  <p:cTn id="42" dur="550"/>
                                  <p:tgtEl>
                                    <p:spTgt spid="22"/>
                                  </p:tgtEl>
                                </p:cBhvr>
                              </p:animEffect>
                            </p:childTnLst>
                          </p:cTn>
                        </p:par>
                        <p:par>
                          <p:cTn id="43" presetID="10" presetClass="entr" presetSubtype="0" fill="hold" nodeType="withEffect">
                            <p:stCondLst>
                              <p:cond delay="2500"/>
                            </p:stCondLst>
                            <p:childTnLst>
                              <p:set>
                                <p:cBhvr>
                                  <p:cTn id="44" dur="1" fill="hold"/>
                                  <p:tgtEl>
                                    <p:spTgt spid="23"/>
                                  </p:tgtEl>
                                  <p:attrNameLst>
                                    <p:attrName>style.visibility</p:attrName>
                                  </p:attrNameLst>
                                </p:cBhvr>
                                <p:to>
                                  <p:strVal val="visible"/>
                                </p:to>
                              </p:set>
                              <p:animEffect transition="in" filter="fade">
                                <p:cBhvr>
                                  <p:cTn id="45" dur="550"/>
                                  <p:tgtEl>
                                    <p:spTgt spid="23"/>
                                  </p:tgtEl>
                                </p:cBhvr>
                              </p:animEffect>
                            </p:childTnLst>
                          </p:cTn>
                        </p:par>
                        <p:par>
                          <p:cTn id="46" presetID="10" presetClass="entr" presetSubtype="0" fill="hold" nodeType="withEffect">
                            <p:stCondLst>
                              <p:cond delay="3750"/>
                            </p:stCondLst>
                            <p:childTnLst>
                              <p:set>
                                <p:cBhvr>
                                  <p:cTn id="47" dur="1" fill="hold"/>
                                  <p:tgtEl>
                                    <p:spTgt spid="24"/>
                                  </p:tgtEl>
                                  <p:attrNameLst>
                                    <p:attrName>style.visibility</p:attrName>
                                  </p:attrNameLst>
                                </p:cBhvr>
                                <p:to>
                                  <p:strVal val="visible"/>
                                </p:to>
                              </p:set>
                              <p:animEffect transition="in" filter="fade">
                                <p:cBhvr>
                                  <p:cTn id="48" dur="550"/>
                                  <p:tgtEl>
                                    <p:spTgt spid="24"/>
                                  </p:tgtEl>
                                </p:cBhvr>
                              </p:animEffect>
                            </p:childTnLst>
                          </p:cTn>
                        </p:par>
                        <p:par>
                          <p:cTn id="49" presetID="10" presetClass="entr" presetSubtype="0" fill="hold" nodeType="withEffect">
                            <p:stCondLst>
                              <p:cond delay="3750"/>
                            </p:stCondLst>
                            <p:childTnLst>
                              <p:set>
                                <p:cBhvr>
                                  <p:cTn id="50" dur="1" fill="hold"/>
                                  <p:tgtEl>
                                    <p:spTgt spid="25"/>
                                  </p:tgtEl>
                                  <p:attrNameLst>
                                    <p:attrName>style.visibility</p:attrName>
                                  </p:attrNameLst>
                                </p:cBhvr>
                                <p:to>
                                  <p:strVal val="visible"/>
                                </p:to>
                              </p:set>
                              <p:animEffect transition="in" filter="fade">
                                <p:cBhvr>
                                  <p:cTn id="51" dur="550"/>
                                  <p:tgtEl>
                                    <p:spTgt spid="25"/>
                                  </p:tgtEl>
                                </p:cBhvr>
                              </p:animEffect>
                            </p:childTnLst>
                          </p:cTn>
                        </p:par>
                        <p:par>
                          <p:cTn id="52" presetID="10" presetClass="entr" presetSubtype="0" fill="hold" nodeType="withEffect">
                            <p:stCondLst>
                              <p:cond delay="3750"/>
                            </p:stCondLst>
                            <p:childTnLst>
                              <p:set>
                                <p:cBhvr>
                                  <p:cTn id="53" dur="1" fill="hold"/>
                                  <p:tgtEl>
                                    <p:spTgt spid="26"/>
                                  </p:tgtEl>
                                  <p:attrNameLst>
                                    <p:attrName>style.visibility</p:attrName>
                                  </p:attrNameLst>
                                </p:cBhvr>
                                <p:to>
                                  <p:strVal val="visible"/>
                                </p:to>
                              </p:set>
                              <p:animEffect transition="in" filter="fade">
                                <p:cBhvr>
                                  <p:cTn id="54" dur="550"/>
                                  <p:tgtEl>
                                    <p:spTgt spid="26"/>
                                  </p:tgtEl>
                                </p:cBhvr>
                              </p:animEffect>
                            </p:childTnLst>
                          </p:cTn>
                        </p:par>
                        <p:par>
                          <p:cTn id="55" presetID="10" presetClass="entr" presetSubtype="0" fill="hold" nodeType="withEffect">
                            <p:stCondLst>
                              <p:cond delay="3750"/>
                            </p:stCondLst>
                            <p:childTnLst>
                              <p:set>
                                <p:cBhvr>
                                  <p:cTn id="56" dur="1" fill="hold"/>
                                  <p:tgtEl>
                                    <p:spTgt spid="27"/>
                                  </p:tgtEl>
                                  <p:attrNameLst>
                                    <p:attrName>style.visibility</p:attrName>
                                  </p:attrNameLst>
                                </p:cBhvr>
                                <p:to>
                                  <p:strVal val="visible"/>
                                </p:to>
                              </p:set>
                              <p:animEffect transition="in" filter="fade">
                                <p:cBhvr>
                                  <p:cTn id="57" dur="550"/>
                                  <p:tgtEl>
                                    <p:spTgt spid="27"/>
                                  </p:tgtEl>
                                </p:cBhvr>
                              </p:animEffect>
                            </p:childTnLst>
                          </p:cTn>
                        </p:par>
                        <p:par>
                          <p:cTn id="58" presetID="10" presetClass="entr" presetSubtype="0" fill="hold" nodeType="withEffect">
                            <p:stCondLst>
                              <p:cond delay="3750"/>
                            </p:stCondLst>
                            <p:childTnLst>
                              <p:set>
                                <p:cBhvr>
                                  <p:cTn id="59" dur="1" fill="hold"/>
                                  <p:tgtEl>
                                    <p:spTgt spid="28"/>
                                  </p:tgtEl>
                                  <p:attrNameLst>
                                    <p:attrName>style.visibility</p:attrName>
                                  </p:attrNameLst>
                                </p:cBhvr>
                                <p:to>
                                  <p:strVal val="visible"/>
                                </p:to>
                              </p:set>
                              <p:animEffect transition="in" filter="fade">
                                <p:cBhvr>
                                  <p:cTn id="60" dur="550"/>
                                  <p:tgtEl>
                                    <p:spTgt spid="28"/>
                                  </p:tgtEl>
                                </p:cBhvr>
                              </p:animEffect>
                            </p:childTnLst>
                          </p:cTn>
                        </p:par>
                        <p:par>
                          <p:cTn id="61" presetID="10" presetClass="entr" presetSubtype="0" fill="hold" nodeType="withEffect">
                            <p:stCondLst>
                              <p:cond delay="3750"/>
                            </p:stCondLst>
                            <p:childTnLst>
                              <p:set>
                                <p:cBhvr>
                                  <p:cTn id="62" dur="1" fill="hold"/>
                                  <p:tgtEl>
                                    <p:spTgt spid="29"/>
                                  </p:tgtEl>
                                  <p:attrNameLst>
                                    <p:attrName>style.visibility</p:attrName>
                                  </p:attrNameLst>
                                </p:cBhvr>
                                <p:to>
                                  <p:strVal val="visible"/>
                                </p:to>
                              </p:set>
                              <p:animEffect transition="in" filter="fade">
                                <p:cBhvr>
                                  <p:cTn id="63" dur="5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457200" y="266700"/>
            <a:ext cx="8572500" cy="2667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69635C"/>
                </a:solidFill>
                <a:latin typeface="Manrope"/>
              </a:rPr>
              <a:t>04 · THE EMPLOYEE EXPERIENCE</a:t>
            </a:r>
          </a:p>
        </p:txBody>
      </p:sp>
      <p:pic>
        <p:nvPicPr>
          <p:cNvPr id="3" name="Picture 2" descr="brand.png"/>
          <p:cNvPicPr>
            <a:picLocks noChangeAspect="1"/>
          </p:cNvPicPr>
          <p:nvPr/>
        </p:nvPicPr>
        <p:blipFill>
          <a:blip r:embed="rId2"/>
          <a:stretch>
            <a:fillRect/>
          </a:stretch>
        </p:blipFill>
        <p:spPr>
          <a:xfrm>
            <a:off x="9915525" y="220662"/>
            <a:ext cx="495300" cy="330200"/>
          </a:xfrm>
          <a:prstGeom prst="rect">
            <a:avLst/>
          </a:prstGeom>
          <a:effectLst/>
        </p:spPr>
      </p:pic>
      <p:sp>
        <p:nvSpPr>
          <p:cNvPr id="4" name="TextBox 3"/>
          <p:cNvSpPr txBox="1"/>
          <p:nvPr/>
        </p:nvSpPr>
        <p:spPr>
          <a:xfrm>
            <a:off x="10515600" y="266700"/>
            <a:ext cx="1219200" cy="276225"/>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1" lang="en-US">
                <a:solidFill>
                  <a:srgbClr val="23201D"/>
                </a:solidFill>
                <a:latin typeface="Manrope"/>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l" rtl="0">
              <a:lnSpc>
                <a:spcPts val="5376"/>
              </a:lnSpc>
              <a:spcBef>
                <a:spcPts val="0"/>
              </a:spcBef>
              <a:spcAft>
                <a:spcPts val="0"/>
              </a:spcAft>
            </a:pPr>
            <a:r>
              <a:rPr sz="4800" b="1" lang="en-US">
                <a:solidFill>
                  <a:srgbClr val="23201D"/>
                </a:solidFill>
                <a:latin typeface="Manrope"/>
              </a:rPr>
              <a:t>See the history.</a:t>
            </a:r>
          </a:p>
          <a:p>
            <a:pPr algn="l" rtl="0">
              <a:lnSpc>
                <a:spcPts val="5376"/>
              </a:lnSpc>
              <a:spcBef>
                <a:spcPts val="0"/>
              </a:spcBef>
              <a:spcAft>
                <a:spcPts val="0"/>
              </a:spcAft>
            </a:pPr>
            <a:r>
              <a:rPr sz="4800" b="1" lang="en-US">
                <a:solidFill>
                  <a:srgbClr val="23201D"/>
                </a:solidFill>
                <a:latin typeface="Manrope"/>
              </a:rPr>
              <a:t>Pick up from the last update.</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0" lang="en-US">
                <a:solidFill>
                  <a:srgbClr val="69635C"/>
                </a:solidFill>
                <a:latin typeface="Manrope"/>
              </a:rPr>
              <a:t>Customer details. Previous tickets. Latest recorded note.</a:t>
            </a:r>
          </a:p>
        </p:txBody>
      </p:sp>
      <p:cxnSp>
        <p:nvCxnSpPr>
          <p:cNvPr id="7" name="Connector 6"/>
          <p:cNvCxnSpPr/>
          <p:nvPr/>
        </p:nvCxnSpPr>
        <p:spPr>
          <a:xfrm>
            <a:off x="457200" y="6334125"/>
            <a:ext cx="11277600" cy="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457200" y="6496050"/>
            <a:ext cx="10287000"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9635C"/>
                </a:solidFill>
                <a:latin typeface="Manrope"/>
              </a:rPr>
              <a:t>PROPOSED COLLABORATION · ILLUSTRATIVE RECORDS</a:t>
            </a:r>
          </a:p>
        </p:txBody>
      </p:sp>
      <p:sp>
        <p:nvSpPr>
          <p:cNvPr id="9" name="TextBox 8"/>
          <p:cNvSpPr txBox="1"/>
          <p:nvPr/>
        </p:nvSpPr>
        <p:spPr>
          <a:xfrm>
            <a:off x="10906125" y="6496050"/>
            <a:ext cx="828675" cy="209550"/>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9635C"/>
                </a:solidFill>
                <a:latin typeface="Manrope"/>
              </a:rPr>
              <a:t>05 / 09</a:t>
            </a:r>
          </a:p>
        </p:txBody>
      </p:sp>
      <p:sp>
        <p:nvSpPr>
          <p:cNvPr id="10" name="Rounded Rectangle 9"/>
          <p:cNvSpPr/>
          <p:nvPr/>
        </p:nvSpPr>
        <p:spPr>
          <a:xfrm>
            <a:off x="457200" y="3009900"/>
            <a:ext cx="11277600" cy="2981325"/>
          </a:xfrm>
          <a:prstGeom prst="roundRect">
            <a:avLst>
              <a:gd name="adj" fmla="val 5750"/>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457200" y="3009900"/>
            <a:ext cx="2695575" cy="2981325"/>
          </a:xfrm>
          <a:prstGeom prst="roundRect">
            <a:avLst>
              <a:gd name="adj" fmla="val 6360"/>
            </a:avLst>
          </a:prstGeom>
          <a:solidFill>
            <a:srgbClr val="23201D"/>
          </a:solidFill>
          <a:ln w="9525">
            <a:solidFill>
              <a:srgbClr val="23201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genesys-white.png"/>
          <p:cNvPicPr>
            <a:picLocks noChangeAspect="1"/>
          </p:cNvPicPr>
          <p:nvPr/>
        </p:nvPicPr>
        <p:blipFill>
          <a:blip r:embed="rId3"/>
          <a:stretch>
            <a:fillRect/>
          </a:stretch>
        </p:blipFill>
        <p:spPr>
          <a:xfrm>
            <a:off x="666750" y="3266024"/>
            <a:ext cx="2162175" cy="421203"/>
          </a:xfrm>
          <a:prstGeom prst="rect">
            <a:avLst/>
          </a:prstGeom>
          <a:effectLst/>
        </p:spPr>
      </p:pic>
      <p:sp>
        <p:nvSpPr>
          <p:cNvPr id="13" name="Oval 12"/>
          <p:cNvSpPr/>
          <p:nvPr/>
        </p:nvSpPr>
        <p:spPr>
          <a:xfrm>
            <a:off x="666750" y="3914775"/>
            <a:ext cx="647700" cy="647700"/>
          </a:xfrm>
          <a:prstGeom prst="ellipse">
            <a:avLst/>
          </a:prstGeom>
          <a:solidFill>
            <a:srgbClr val="FCFAF6"/>
          </a:solidFill>
          <a:ln w="9525">
            <a:solidFill>
              <a:srgbClr val="FCFA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4" name="Picture 13" descr="icon-call.png"/>
          <p:cNvPicPr>
            <a:picLocks noChangeAspect="1"/>
          </p:cNvPicPr>
          <p:nvPr/>
        </p:nvPicPr>
        <p:blipFill>
          <a:blip r:embed="rId4"/>
          <a:stretch>
            <a:fillRect/>
          </a:stretch>
        </p:blipFill>
        <p:spPr>
          <a:xfrm>
            <a:off x="809625" y="4057650"/>
            <a:ext cx="361950" cy="361950"/>
          </a:xfrm>
          <a:prstGeom prst="rect">
            <a:avLst/>
          </a:prstGeom>
          <a:effectLst/>
        </p:spPr>
      </p:pic>
      <p:sp>
        <p:nvSpPr>
          <p:cNvPr id="15" name="TextBox 14"/>
          <p:cNvSpPr txBox="1"/>
          <p:nvPr/>
        </p:nvSpPr>
        <p:spPr>
          <a:xfrm>
            <a:off x="1466850" y="4048125"/>
            <a:ext cx="1447800" cy="428625"/>
          </a:xfrm>
          <a:prstGeom prst="rect">
            <a:avLst/>
          </a:prstGeom>
          <a:noFill/>
          <a:effectLst/>
        </p:spPr>
        <p:txBody>
          <a:bodyPr wrap="square" lIns="0" rIns="0" tIns="0" bIns="0" anchor="t">
            <a:spAutoFit/>
          </a:bodyPr>
          <a:lstStyle/>
          <a:p>
            <a:pPr algn="l" rtl="0">
              <a:lnSpc>
                <a:spcPts val="2604"/>
              </a:lnSpc>
              <a:spcBef>
                <a:spcPts val="0"/>
              </a:spcBef>
              <a:spcAft>
                <a:spcPts val="0"/>
              </a:spcAft>
            </a:pPr>
            <a:r>
              <a:rPr sz="2325" b="0" lang="en-US">
                <a:solidFill>
                  <a:srgbClr val="FCFAF6"/>
                </a:solidFill>
                <a:latin typeface="Manrope"/>
              </a:rPr>
              <a:t>On call</a:t>
            </a:r>
          </a:p>
        </p:txBody>
      </p:sp>
      <p:sp>
        <p:nvSpPr>
          <p:cNvPr id="16" name="TextBox 15"/>
          <p:cNvSpPr txBox="1"/>
          <p:nvPr/>
        </p:nvSpPr>
        <p:spPr>
          <a:xfrm>
            <a:off x="666750" y="4724400"/>
            <a:ext cx="2257425" cy="466725"/>
          </a:xfrm>
          <a:prstGeom prst="rect">
            <a:avLst/>
          </a:prstGeom>
          <a:noFill/>
          <a:effectLst/>
        </p:spPr>
        <p:txBody>
          <a:bodyPr wrap="square" lIns="0" rIns="0" tIns="0" bIns="0" anchor="t">
            <a:spAutoFit/>
          </a:bodyPr>
          <a:lstStyle/>
          <a:p>
            <a:pPr algn="l" rtl="0">
              <a:lnSpc>
                <a:spcPts val="3192"/>
              </a:lnSpc>
              <a:spcBef>
                <a:spcPts val="0"/>
              </a:spcBef>
              <a:spcAft>
                <a:spcPts val="0"/>
              </a:spcAft>
            </a:pPr>
            <a:r>
              <a:rPr sz="2850" b="1" lang="en-US">
                <a:solidFill>
                  <a:srgbClr val="FCFAF6"/>
                </a:solidFill>
                <a:latin typeface="Manrope"/>
              </a:rPr>
              <a:t>Contact A</a:t>
            </a:r>
          </a:p>
        </p:txBody>
      </p:sp>
      <p:sp>
        <p:nvSpPr>
          <p:cNvPr id="17" name="TextBox 16"/>
          <p:cNvSpPr txBox="1"/>
          <p:nvPr/>
        </p:nvSpPr>
        <p:spPr>
          <a:xfrm>
            <a:off x="666750" y="5295900"/>
            <a:ext cx="2257425" cy="419100"/>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0" lang="en-US">
                <a:solidFill>
                  <a:srgbClr val="D5CFC6"/>
                </a:solidFill>
                <a:latin typeface="Manrope"/>
              </a:rPr>
              <a:t>+20 ••• 410</a:t>
            </a:r>
          </a:p>
        </p:txBody>
      </p:sp>
      <p:pic>
        <p:nvPicPr>
          <p:cNvPr id="18" name="Picture 17" descr="zoho.png"/>
          <p:cNvPicPr>
            <a:picLocks noChangeAspect="1"/>
          </p:cNvPicPr>
          <p:nvPr/>
        </p:nvPicPr>
        <p:blipFill>
          <a:blip r:embed="rId5"/>
          <a:stretch>
            <a:fillRect/>
          </a:stretch>
        </p:blipFill>
        <p:spPr>
          <a:xfrm>
            <a:off x="3519314" y="3209925"/>
            <a:ext cx="1086196" cy="466725"/>
          </a:xfrm>
          <a:prstGeom prst="rect">
            <a:avLst/>
          </a:prstGeom>
          <a:effectLst/>
        </p:spPr>
      </p:pic>
      <p:sp>
        <p:nvSpPr>
          <p:cNvPr id="19" name="TextBox 18"/>
          <p:cNvSpPr txBox="1"/>
          <p:nvPr/>
        </p:nvSpPr>
        <p:spPr>
          <a:xfrm>
            <a:off x="4962525" y="3305175"/>
            <a:ext cx="1809750" cy="447675"/>
          </a:xfrm>
          <a:prstGeom prst="rect">
            <a:avLst/>
          </a:prstGeom>
          <a:noFill/>
          <a:effectLst/>
        </p:spPr>
        <p:txBody>
          <a:bodyPr wrap="square" lIns="0" rIns="0" tIns="0" bIns="0" anchor="t">
            <a:spAutoFit/>
          </a:bodyPr>
          <a:lstStyle/>
          <a:p>
            <a:pPr algn="l" rtl="0">
              <a:lnSpc>
                <a:spcPts val="2520"/>
              </a:lnSpc>
              <a:spcBef>
                <a:spcPts val="0"/>
              </a:spcBef>
              <a:spcAft>
                <a:spcPts val="0"/>
              </a:spcAft>
            </a:pPr>
            <a:r>
              <a:rPr sz="2250" b="1" lang="en-US">
                <a:solidFill>
                  <a:srgbClr val="23201D"/>
                </a:solidFill>
                <a:latin typeface="Manrope"/>
              </a:rPr>
              <a:t>Desk history</a:t>
            </a:r>
          </a:p>
        </p:txBody>
      </p:sp>
      <p:sp>
        <p:nvSpPr>
          <p:cNvPr id="20" name="TextBox 19"/>
          <p:cNvSpPr txBox="1"/>
          <p:nvPr/>
        </p:nvSpPr>
        <p:spPr>
          <a:xfrm>
            <a:off x="3400425" y="3886200"/>
            <a:ext cx="3429000" cy="400050"/>
          </a:xfrm>
          <a:prstGeom prst="rect">
            <a:avLst/>
          </a:prstGeom>
          <a:noFill/>
          <a:effectLst/>
        </p:spPr>
        <p:txBody>
          <a:bodyPr wrap="square" lIns="0" rIns="0" tIns="0" bIns="0" anchor="t">
            <a:spAutoFit/>
          </a:bodyPr>
          <a:lstStyle/>
          <a:p>
            <a:pPr algn="l" rtl="0">
              <a:lnSpc>
                <a:spcPts val="2604"/>
              </a:lnSpc>
              <a:spcBef>
                <a:spcPts val="0"/>
              </a:spcBef>
              <a:spcAft>
                <a:spcPts val="0"/>
              </a:spcAft>
            </a:pPr>
            <a:r>
              <a:rPr sz="2325" b="0" lang="en-US">
                <a:solidFill>
                  <a:srgbClr val="69635C"/>
                </a:solidFill>
                <a:latin typeface="Manrope"/>
              </a:rPr>
              <a:t>2 open · 1 closed</a:t>
            </a:r>
          </a:p>
        </p:txBody>
      </p:sp>
      <p:sp>
        <p:nvSpPr>
          <p:cNvPr id="21" name="Rounded Rectangle 20"/>
          <p:cNvSpPr/>
          <p:nvPr/>
        </p:nvSpPr>
        <p:spPr>
          <a:xfrm>
            <a:off x="3400425" y="4429125"/>
            <a:ext cx="3486150" cy="581025"/>
          </a:xfrm>
          <a:prstGeom prst="roundRect">
            <a:avLst>
              <a:gd name="adj" fmla="val 12000"/>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3562350" y="4543425"/>
            <a:ext cx="3162300" cy="438150"/>
          </a:xfrm>
          <a:prstGeom prst="rect">
            <a:avLst/>
          </a:prstGeom>
          <a:noFill/>
          <a:effectLst/>
        </p:spPr>
        <p:txBody>
          <a:bodyPr wrap="square" lIns="0" rIns="0" tIns="0" bIns="0" anchor="t">
            <a:spAutoFit/>
          </a:bodyPr>
          <a:lstStyle/>
          <a:p>
            <a:pPr algn="l" rtl="0">
              <a:lnSpc>
                <a:spcPts val="2604"/>
              </a:lnSpc>
              <a:spcBef>
                <a:spcPts val="0"/>
              </a:spcBef>
              <a:spcAft>
                <a:spcPts val="0"/>
              </a:spcAft>
            </a:pPr>
            <a:r>
              <a:rPr sz="2325" b="1" lang="en-US">
                <a:solidFill>
                  <a:srgbClr val="23201D"/>
                </a:solidFill>
                <a:latin typeface="Manrope"/>
              </a:rPr>
              <a:t>T101 · Exchange</a:t>
            </a:r>
          </a:p>
        </p:txBody>
      </p:sp>
      <p:sp>
        <p:nvSpPr>
          <p:cNvPr id="23" name="Rounded Rectangle 22"/>
          <p:cNvSpPr/>
          <p:nvPr/>
        </p:nvSpPr>
        <p:spPr>
          <a:xfrm>
            <a:off x="3400425" y="5172075"/>
            <a:ext cx="3486150" cy="581025"/>
          </a:xfrm>
          <a:prstGeom prst="roundRect">
            <a:avLst>
              <a:gd name="adj" fmla="val 12000"/>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562350" y="5286375"/>
            <a:ext cx="3162300" cy="438150"/>
          </a:xfrm>
          <a:prstGeom prst="rect">
            <a:avLst/>
          </a:prstGeom>
          <a:noFill/>
          <a:effectLst/>
        </p:spPr>
        <p:txBody>
          <a:bodyPr wrap="square" lIns="0" rIns="0" tIns="0" bIns="0" anchor="t">
            <a:spAutoFit/>
          </a:bodyPr>
          <a:lstStyle/>
          <a:p>
            <a:pPr algn="l" rtl="0">
              <a:lnSpc>
                <a:spcPts val="2604"/>
              </a:lnSpc>
              <a:spcBef>
                <a:spcPts val="0"/>
              </a:spcBef>
              <a:spcAft>
                <a:spcPts val="0"/>
              </a:spcAft>
            </a:pPr>
            <a:r>
              <a:rPr sz="2325" b="1" lang="en-US">
                <a:solidFill>
                  <a:srgbClr val="23201D"/>
                </a:solidFill>
                <a:latin typeface="Manrope"/>
              </a:rPr>
              <a:t>T098 · Product</a:t>
            </a:r>
          </a:p>
        </p:txBody>
      </p:sp>
      <p:cxnSp>
        <p:nvCxnSpPr>
          <p:cNvPr id="25" name="Connector 24"/>
          <p:cNvCxnSpPr/>
          <p:nvPr/>
        </p:nvCxnSpPr>
        <p:spPr>
          <a:xfrm>
            <a:off x="7124700" y="3257550"/>
            <a:ext cx="0" cy="249555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7429500" y="3276600"/>
            <a:ext cx="3981450" cy="409575"/>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1" lang="en-US">
                <a:solidFill>
                  <a:srgbClr val="69635C"/>
                </a:solidFill>
                <a:latin typeface="Manrope"/>
              </a:rPr>
              <a:t>LATEST RECORDED NOTE</a:t>
            </a:r>
          </a:p>
        </p:txBody>
      </p:sp>
      <p:sp>
        <p:nvSpPr>
          <p:cNvPr id="27" name="TextBox 26"/>
          <p:cNvSpPr txBox="1"/>
          <p:nvPr/>
        </p:nvSpPr>
        <p:spPr>
          <a:xfrm>
            <a:off x="7429500" y="3943350"/>
            <a:ext cx="3981450" cy="904875"/>
          </a:xfrm>
          <a:prstGeom prst="rect">
            <a:avLst/>
          </a:prstGeom>
          <a:noFill/>
          <a:effectLst/>
        </p:spPr>
        <p:txBody>
          <a:bodyPr wrap="square" lIns="0" rIns="0" tIns="0" bIns="0" anchor="t">
            <a:spAutoFit/>
          </a:bodyPr>
          <a:lstStyle/>
          <a:p>
            <a:pPr algn="l" rtl="0">
              <a:lnSpc>
                <a:spcPts val="3276"/>
              </a:lnSpc>
              <a:spcBef>
                <a:spcPts val="0"/>
              </a:spcBef>
              <a:spcAft>
                <a:spcPts val="0"/>
              </a:spcAft>
            </a:pPr>
            <a:r>
              <a:rPr sz="2925" b="1" lang="en-US">
                <a:solidFill>
                  <a:srgbClr val="23201D"/>
                </a:solidFill>
                <a:latin typeface="Manrope"/>
              </a:rPr>
              <a:t>Branch review</a:t>
            </a:r>
          </a:p>
          <a:p>
            <a:pPr algn="l" rtl="0">
              <a:lnSpc>
                <a:spcPts val="3276"/>
              </a:lnSpc>
              <a:spcBef>
                <a:spcPts val="0"/>
              </a:spcBef>
              <a:spcAft>
                <a:spcPts val="0"/>
              </a:spcAft>
            </a:pPr>
            <a:r>
              <a:rPr sz="2925" b="1" lang="en-US">
                <a:solidFill>
                  <a:srgbClr val="23201D"/>
                </a:solidFill>
                <a:latin typeface="Manrope"/>
              </a:rPr>
              <a:t>is still pending.</a:t>
            </a:r>
          </a:p>
        </p:txBody>
      </p:sp>
      <p:sp>
        <p:nvSpPr>
          <p:cNvPr id="28" name="Rounded Rectangle 27"/>
          <p:cNvSpPr/>
          <p:nvPr/>
        </p:nvSpPr>
        <p:spPr>
          <a:xfrm>
            <a:off x="7429500" y="5219700"/>
            <a:ext cx="4048125" cy="533400"/>
          </a:xfrm>
          <a:prstGeom prst="roundRect">
            <a:avLst>
              <a:gd name="adj" fmla="val 12000"/>
            </a:avLst>
          </a:prstGeom>
          <a:solidFill>
            <a:srgbClr val="E4E9DF"/>
          </a:solidFill>
          <a:ln w="9525">
            <a:solidFill>
              <a:srgbClr val="E4E9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572375" y="5324475"/>
            <a:ext cx="3762375" cy="409575"/>
          </a:xfrm>
          <a:prstGeom prst="rect">
            <a:avLst/>
          </a:prstGeom>
          <a:noFill/>
          <a:effectLst/>
        </p:spPr>
        <p:txBody>
          <a:bodyPr wrap="square" lIns="0" rIns="0" tIns="0" bIns="0" anchor="t">
            <a:spAutoFit/>
          </a:bodyPr>
          <a:lstStyle/>
          <a:p>
            <a:pPr algn="ctr" rtl="0">
              <a:lnSpc>
                <a:spcPts val="2520"/>
              </a:lnSpc>
              <a:spcBef>
                <a:spcPts val="0"/>
              </a:spcBef>
              <a:spcAft>
                <a:spcPts val="0"/>
              </a:spcAft>
            </a:pPr>
            <a:r>
              <a:rPr sz="2250" b="1" lang="en-US">
                <a:solidFill>
                  <a:srgbClr val="526750"/>
                </a:solidFill>
                <a:latin typeface="Manrope"/>
              </a:rPr>
              <a:t>Continue from this update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1"/>
                                  </p:tgtEl>
                                  <p:attrNameLst>
                                    <p:attrName>style.visibility</p:attrName>
                                  </p:attrNameLst>
                                </p:cBhvr>
                                <p:to>
                                  <p:strVal val="visible"/>
                                </p:to>
                              </p:set>
                              <p:animEffect transition="in" filter="fade">
                                <p:cBhvr>
                                  <p:cTn id="6" dur="550"/>
                                  <p:tgtEl>
                                    <p:spTgt spid="11"/>
                                  </p:tgtEl>
                                </p:cBhvr>
                              </p:animEffect>
                            </p:childTnLst>
                          </p:cTn>
                        </p:par>
                        <p:par>
                          <p:cTn id="7" presetID="10" presetClass="entr" presetSubtype="0" fill="hold" nodeType="withEffect">
                            <p:stCondLst>
                              <p:cond delay="0"/>
                            </p:stCondLst>
                            <p:childTnLst>
                              <p:set>
                                <p:cBhvr>
                                  <p:cTn id="8" dur="1" fill="hold"/>
                                  <p:tgtEl>
                                    <p:spTgt spid="12"/>
                                  </p:tgtEl>
                                  <p:attrNameLst>
                                    <p:attrName>style.visibility</p:attrName>
                                  </p:attrNameLst>
                                </p:cBhvr>
                                <p:to>
                                  <p:strVal val="visible"/>
                                </p:to>
                              </p:set>
                              <p:animEffect transition="in" filter="fade">
                                <p:cBhvr>
                                  <p:cTn id="9" dur="550"/>
                                  <p:tgtEl>
                                    <p:spTgt spid="12"/>
                                  </p:tgtEl>
                                </p:cBhvr>
                              </p:animEffect>
                            </p:childTnLst>
                          </p:cTn>
                        </p:par>
                        <p:par>
                          <p:cTn id="10" presetID="10" presetClass="entr" presetSubtype="0" fill="hold" nodeType="withEffect">
                            <p:stCondLst>
                              <p:cond delay="0"/>
                            </p:stCondLst>
                            <p:childTnLst>
                              <p:set>
                                <p:cBhvr>
                                  <p:cTn id="11" dur="1" fill="hold"/>
                                  <p:tgtEl>
                                    <p:spTgt spid="13"/>
                                  </p:tgtEl>
                                  <p:attrNameLst>
                                    <p:attrName>style.visibility</p:attrName>
                                  </p:attrNameLst>
                                </p:cBhvr>
                                <p:to>
                                  <p:strVal val="visible"/>
                                </p:to>
                              </p:set>
                              <p:animEffect transition="in" filter="fade">
                                <p:cBhvr>
                                  <p:cTn id="12" dur="550"/>
                                  <p:tgtEl>
                                    <p:spTgt spid="13"/>
                                  </p:tgtEl>
                                </p:cBhvr>
                              </p:animEffect>
                            </p:childTnLst>
                          </p:cTn>
                        </p:par>
                        <p:par>
                          <p:cTn id="13" presetID="10" presetClass="entr" presetSubtype="0" fill="hold" nodeType="withEffect">
                            <p:stCondLst>
                              <p:cond delay="0"/>
                            </p:stCondLst>
                            <p:childTnLst>
                              <p:set>
                                <p:cBhvr>
                                  <p:cTn id="14" dur="1" fill="hold"/>
                                  <p:tgtEl>
                                    <p:spTgt spid="14"/>
                                  </p:tgtEl>
                                  <p:attrNameLst>
                                    <p:attrName>style.visibility</p:attrName>
                                  </p:attrNameLst>
                                </p:cBhvr>
                                <p:to>
                                  <p:strVal val="visible"/>
                                </p:to>
                              </p:set>
                              <p:animEffect transition="in" filter="fade">
                                <p:cBhvr>
                                  <p:cTn id="15" dur="550"/>
                                  <p:tgtEl>
                                    <p:spTgt spid="14"/>
                                  </p:tgtEl>
                                </p:cBhvr>
                              </p:animEffect>
                            </p:childTnLst>
                          </p:cTn>
                        </p:par>
                        <p:par>
                          <p:cTn id="16" presetID="10" presetClass="entr" presetSubtype="0" fill="hold" nodeType="withEffect">
                            <p:stCondLst>
                              <p:cond delay="0"/>
                            </p:stCondLst>
                            <p:childTnLst>
                              <p:set>
                                <p:cBhvr>
                                  <p:cTn id="17" dur="1" fill="hold"/>
                                  <p:tgtEl>
                                    <p:spTgt spid="15"/>
                                  </p:tgtEl>
                                  <p:attrNameLst>
                                    <p:attrName>style.visibility</p:attrName>
                                  </p:attrNameLst>
                                </p:cBhvr>
                                <p:to>
                                  <p:strVal val="visible"/>
                                </p:to>
                              </p:set>
                              <p:animEffect transition="in" filter="fade">
                                <p:cBhvr>
                                  <p:cTn id="18" dur="550"/>
                                  <p:tgtEl>
                                    <p:spTgt spid="15"/>
                                  </p:tgtEl>
                                </p:cBhvr>
                              </p:animEffect>
                            </p:childTnLst>
                          </p:cTn>
                        </p:par>
                        <p:par>
                          <p:cTn id="19" presetID="10" presetClass="entr" presetSubtype="0" fill="hold" nodeType="withEffect">
                            <p:stCondLst>
                              <p:cond delay="1250"/>
                            </p:stCondLst>
                            <p:childTnLst>
                              <p:set>
                                <p:cBhvr>
                                  <p:cTn id="20" dur="1" fill="hold"/>
                                  <p:tgtEl>
                                    <p:spTgt spid="16"/>
                                  </p:tgtEl>
                                  <p:attrNameLst>
                                    <p:attrName>style.visibility</p:attrName>
                                  </p:attrNameLst>
                                </p:cBhvr>
                                <p:to>
                                  <p:strVal val="visible"/>
                                </p:to>
                              </p:set>
                              <p:animEffect transition="in" filter="fade">
                                <p:cBhvr>
                                  <p:cTn id="21" dur="550"/>
                                  <p:tgtEl>
                                    <p:spTgt spid="16"/>
                                  </p:tgtEl>
                                </p:cBhvr>
                              </p:animEffect>
                            </p:childTnLst>
                          </p:cTn>
                        </p:par>
                        <p:par>
                          <p:cTn id="22" presetID="10" presetClass="entr" presetSubtype="0" fill="hold" nodeType="withEffect">
                            <p:stCondLst>
                              <p:cond delay="1250"/>
                            </p:stCondLst>
                            <p:childTnLst>
                              <p:set>
                                <p:cBhvr>
                                  <p:cTn id="23" dur="1" fill="hold"/>
                                  <p:tgtEl>
                                    <p:spTgt spid="17"/>
                                  </p:tgtEl>
                                  <p:attrNameLst>
                                    <p:attrName>style.visibility</p:attrName>
                                  </p:attrNameLst>
                                </p:cBhvr>
                                <p:to>
                                  <p:strVal val="visible"/>
                                </p:to>
                              </p:set>
                              <p:animEffect transition="in" filter="fade">
                                <p:cBhvr>
                                  <p:cTn id="24" dur="550"/>
                                  <p:tgtEl>
                                    <p:spTgt spid="17"/>
                                  </p:tgtEl>
                                </p:cBhvr>
                              </p:animEffect>
                            </p:childTnLst>
                          </p:cTn>
                        </p:par>
                        <p:par>
                          <p:cTn id="25" presetID="10" presetClass="entr" presetSubtype="0" fill="hold" nodeType="withEffect">
                            <p:stCondLst>
                              <p:cond delay="2500"/>
                            </p:stCondLst>
                            <p:childTnLst>
                              <p:set>
                                <p:cBhvr>
                                  <p:cTn id="26" dur="1" fill="hold"/>
                                  <p:tgtEl>
                                    <p:spTgt spid="18"/>
                                  </p:tgtEl>
                                  <p:attrNameLst>
                                    <p:attrName>style.visibility</p:attrName>
                                  </p:attrNameLst>
                                </p:cBhvr>
                                <p:to>
                                  <p:strVal val="visible"/>
                                </p:to>
                              </p:set>
                              <p:animEffect transition="in" filter="fade">
                                <p:cBhvr>
                                  <p:cTn id="27" dur="550"/>
                                  <p:tgtEl>
                                    <p:spTgt spid="18"/>
                                  </p:tgtEl>
                                </p:cBhvr>
                              </p:animEffect>
                            </p:childTnLst>
                          </p:cTn>
                        </p:par>
                        <p:par>
                          <p:cTn id="28" presetID="10" presetClass="entr" presetSubtype="0" fill="hold" nodeType="withEffect">
                            <p:stCondLst>
                              <p:cond delay="2500"/>
                            </p:stCondLst>
                            <p:childTnLst>
                              <p:set>
                                <p:cBhvr>
                                  <p:cTn id="29" dur="1" fill="hold"/>
                                  <p:tgtEl>
                                    <p:spTgt spid="19"/>
                                  </p:tgtEl>
                                  <p:attrNameLst>
                                    <p:attrName>style.visibility</p:attrName>
                                  </p:attrNameLst>
                                </p:cBhvr>
                                <p:to>
                                  <p:strVal val="visible"/>
                                </p:to>
                              </p:set>
                              <p:animEffect transition="in" filter="fade">
                                <p:cBhvr>
                                  <p:cTn id="30" dur="550"/>
                                  <p:tgtEl>
                                    <p:spTgt spid="19"/>
                                  </p:tgtEl>
                                </p:cBhvr>
                              </p:animEffect>
                            </p:childTnLst>
                          </p:cTn>
                        </p:par>
                        <p:par>
                          <p:cTn id="31" presetID="10" presetClass="entr" presetSubtype="0" fill="hold" nodeType="withEffect">
                            <p:stCondLst>
                              <p:cond delay="2500"/>
                            </p:stCondLst>
                            <p:childTnLst>
                              <p:set>
                                <p:cBhvr>
                                  <p:cTn id="32" dur="1" fill="hold"/>
                                  <p:tgtEl>
                                    <p:spTgt spid="20"/>
                                  </p:tgtEl>
                                  <p:attrNameLst>
                                    <p:attrName>style.visibility</p:attrName>
                                  </p:attrNameLst>
                                </p:cBhvr>
                                <p:to>
                                  <p:strVal val="visible"/>
                                </p:to>
                              </p:set>
                              <p:animEffect transition="in" filter="fade">
                                <p:cBhvr>
                                  <p:cTn id="33" dur="550"/>
                                  <p:tgtEl>
                                    <p:spTgt spid="20"/>
                                  </p:tgtEl>
                                </p:cBhvr>
                              </p:animEffect>
                            </p:childTnLst>
                          </p:cTn>
                        </p:par>
                        <p:par>
                          <p:cTn id="34" presetID="10" presetClass="entr" presetSubtype="0" fill="hold" nodeType="withEffect">
                            <p:stCondLst>
                              <p:cond delay="2500"/>
                            </p:stCondLst>
                            <p:childTnLst>
                              <p:set>
                                <p:cBhvr>
                                  <p:cTn id="35" dur="1" fill="hold"/>
                                  <p:tgtEl>
                                    <p:spTgt spid="21"/>
                                  </p:tgtEl>
                                  <p:attrNameLst>
                                    <p:attrName>style.visibility</p:attrName>
                                  </p:attrNameLst>
                                </p:cBhvr>
                                <p:to>
                                  <p:strVal val="visible"/>
                                </p:to>
                              </p:set>
                              <p:animEffect transition="in" filter="fade">
                                <p:cBhvr>
                                  <p:cTn id="36" dur="550"/>
                                  <p:tgtEl>
                                    <p:spTgt spid="21"/>
                                  </p:tgtEl>
                                </p:cBhvr>
                              </p:animEffect>
                            </p:childTnLst>
                          </p:cTn>
                        </p:par>
                        <p:par>
                          <p:cTn id="37" presetID="10" presetClass="entr" presetSubtype="0" fill="hold" nodeType="withEffect">
                            <p:stCondLst>
                              <p:cond delay="2500"/>
                            </p:stCondLst>
                            <p:childTnLst>
                              <p:set>
                                <p:cBhvr>
                                  <p:cTn id="38" dur="1" fill="hold"/>
                                  <p:tgtEl>
                                    <p:spTgt spid="22"/>
                                  </p:tgtEl>
                                  <p:attrNameLst>
                                    <p:attrName>style.visibility</p:attrName>
                                  </p:attrNameLst>
                                </p:cBhvr>
                                <p:to>
                                  <p:strVal val="visible"/>
                                </p:to>
                              </p:set>
                              <p:animEffect transition="in" filter="fade">
                                <p:cBhvr>
                                  <p:cTn id="39" dur="550"/>
                                  <p:tgtEl>
                                    <p:spTgt spid="22"/>
                                  </p:tgtEl>
                                </p:cBhvr>
                              </p:animEffect>
                            </p:childTnLst>
                          </p:cTn>
                        </p:par>
                        <p:par>
                          <p:cTn id="40" presetID="10" presetClass="entr" presetSubtype="0" fill="hold" nodeType="withEffect">
                            <p:stCondLst>
                              <p:cond delay="2500"/>
                            </p:stCondLst>
                            <p:childTnLst>
                              <p:set>
                                <p:cBhvr>
                                  <p:cTn id="41" dur="1" fill="hold"/>
                                  <p:tgtEl>
                                    <p:spTgt spid="23"/>
                                  </p:tgtEl>
                                  <p:attrNameLst>
                                    <p:attrName>style.visibility</p:attrName>
                                  </p:attrNameLst>
                                </p:cBhvr>
                                <p:to>
                                  <p:strVal val="visible"/>
                                </p:to>
                              </p:set>
                              <p:animEffect transition="in" filter="fade">
                                <p:cBhvr>
                                  <p:cTn id="42" dur="550"/>
                                  <p:tgtEl>
                                    <p:spTgt spid="23"/>
                                  </p:tgtEl>
                                </p:cBhvr>
                              </p:animEffect>
                            </p:childTnLst>
                          </p:cTn>
                        </p:par>
                        <p:par>
                          <p:cTn id="43" presetID="10" presetClass="entr" presetSubtype="0" fill="hold" nodeType="withEffect">
                            <p:stCondLst>
                              <p:cond delay="2500"/>
                            </p:stCondLst>
                            <p:childTnLst>
                              <p:set>
                                <p:cBhvr>
                                  <p:cTn id="44" dur="1" fill="hold"/>
                                  <p:tgtEl>
                                    <p:spTgt spid="24"/>
                                  </p:tgtEl>
                                  <p:attrNameLst>
                                    <p:attrName>style.visibility</p:attrName>
                                  </p:attrNameLst>
                                </p:cBhvr>
                                <p:to>
                                  <p:strVal val="visible"/>
                                </p:to>
                              </p:set>
                              <p:animEffect transition="in" filter="fade">
                                <p:cBhvr>
                                  <p:cTn id="45" dur="550"/>
                                  <p:tgtEl>
                                    <p:spTgt spid="24"/>
                                  </p:tgtEl>
                                </p:cBhvr>
                              </p:animEffect>
                            </p:childTnLst>
                          </p:cTn>
                        </p:par>
                        <p:par>
                          <p:cTn id="46" presetID="10" presetClass="entr" presetSubtype="0" fill="hold" nodeType="withEffect">
                            <p:stCondLst>
                              <p:cond delay="3750"/>
                            </p:stCondLst>
                            <p:childTnLst>
                              <p:set>
                                <p:cBhvr>
                                  <p:cTn id="47" dur="1" fill="hold"/>
                                  <p:tgtEl>
                                    <p:spTgt spid="26"/>
                                  </p:tgtEl>
                                  <p:attrNameLst>
                                    <p:attrName>style.visibility</p:attrName>
                                  </p:attrNameLst>
                                </p:cBhvr>
                                <p:to>
                                  <p:strVal val="visible"/>
                                </p:to>
                              </p:set>
                              <p:animEffect transition="in" filter="fade">
                                <p:cBhvr>
                                  <p:cTn id="48" dur="550"/>
                                  <p:tgtEl>
                                    <p:spTgt spid="26"/>
                                  </p:tgtEl>
                                </p:cBhvr>
                              </p:animEffect>
                            </p:childTnLst>
                          </p:cTn>
                        </p:par>
                        <p:par>
                          <p:cTn id="49" presetID="10" presetClass="entr" presetSubtype="0" fill="hold" nodeType="withEffect">
                            <p:stCondLst>
                              <p:cond delay="3750"/>
                            </p:stCondLst>
                            <p:childTnLst>
                              <p:set>
                                <p:cBhvr>
                                  <p:cTn id="50" dur="1" fill="hold"/>
                                  <p:tgtEl>
                                    <p:spTgt spid="27"/>
                                  </p:tgtEl>
                                  <p:attrNameLst>
                                    <p:attrName>style.visibility</p:attrName>
                                  </p:attrNameLst>
                                </p:cBhvr>
                                <p:to>
                                  <p:strVal val="visible"/>
                                </p:to>
                              </p:set>
                              <p:animEffect transition="in" filter="fade">
                                <p:cBhvr>
                                  <p:cTn id="51" dur="550"/>
                                  <p:tgtEl>
                                    <p:spTgt spid="27"/>
                                  </p:tgtEl>
                                </p:cBhvr>
                              </p:animEffect>
                            </p:childTnLst>
                          </p:cTn>
                        </p:par>
                        <p:par>
                          <p:cTn id="52" presetID="10" presetClass="entr" presetSubtype="0" fill="hold" nodeType="withEffect">
                            <p:stCondLst>
                              <p:cond delay="5000"/>
                            </p:stCondLst>
                            <p:childTnLst>
                              <p:set>
                                <p:cBhvr>
                                  <p:cTn id="53" dur="1" fill="hold"/>
                                  <p:tgtEl>
                                    <p:spTgt spid="28"/>
                                  </p:tgtEl>
                                  <p:attrNameLst>
                                    <p:attrName>style.visibility</p:attrName>
                                  </p:attrNameLst>
                                </p:cBhvr>
                                <p:to>
                                  <p:strVal val="visible"/>
                                </p:to>
                              </p:set>
                              <p:animEffect transition="in" filter="fade">
                                <p:cBhvr>
                                  <p:cTn id="54" dur="550"/>
                                  <p:tgtEl>
                                    <p:spTgt spid="28"/>
                                  </p:tgtEl>
                                </p:cBhvr>
                              </p:animEffect>
                            </p:childTnLst>
                          </p:cTn>
                        </p:par>
                        <p:par>
                          <p:cTn id="55" presetID="10" presetClass="entr" presetSubtype="0" fill="hold" nodeType="withEffect">
                            <p:stCondLst>
                              <p:cond delay="5000"/>
                            </p:stCondLst>
                            <p:childTnLst>
                              <p:set>
                                <p:cBhvr>
                                  <p:cTn id="56" dur="1" fill="hold"/>
                                  <p:tgtEl>
                                    <p:spTgt spid="29"/>
                                  </p:tgtEl>
                                  <p:attrNameLst>
                                    <p:attrName>style.visibility</p:attrName>
                                  </p:attrNameLst>
                                </p:cBhvr>
                                <p:to>
                                  <p:strVal val="visible"/>
                                </p:to>
                              </p:set>
                              <p:animEffect transition="in" filter="fade">
                                <p:cBhvr>
                                  <p:cTn id="57" dur="5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457200" y="266700"/>
            <a:ext cx="8572500" cy="2667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69635C"/>
                </a:solidFill>
                <a:latin typeface="Manrope"/>
              </a:rPr>
              <a:t>05 · BEFORE / AFTER</a:t>
            </a:r>
          </a:p>
        </p:txBody>
      </p:sp>
      <p:pic>
        <p:nvPicPr>
          <p:cNvPr id="3" name="Picture 2" descr="brand.png"/>
          <p:cNvPicPr>
            <a:picLocks noChangeAspect="1"/>
          </p:cNvPicPr>
          <p:nvPr/>
        </p:nvPicPr>
        <p:blipFill>
          <a:blip r:embed="rId2"/>
          <a:stretch>
            <a:fillRect/>
          </a:stretch>
        </p:blipFill>
        <p:spPr>
          <a:xfrm>
            <a:off x="9915525" y="220662"/>
            <a:ext cx="495300" cy="330200"/>
          </a:xfrm>
          <a:prstGeom prst="rect">
            <a:avLst/>
          </a:prstGeom>
          <a:effectLst/>
        </p:spPr>
      </p:pic>
      <p:sp>
        <p:nvSpPr>
          <p:cNvPr id="4" name="TextBox 3"/>
          <p:cNvSpPr txBox="1"/>
          <p:nvPr/>
        </p:nvSpPr>
        <p:spPr>
          <a:xfrm>
            <a:off x="10515600" y="266700"/>
            <a:ext cx="1219200" cy="276225"/>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1" lang="en-US">
                <a:solidFill>
                  <a:srgbClr val="23201D"/>
                </a:solidFill>
                <a:latin typeface="Manrope"/>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l" rtl="0">
              <a:lnSpc>
                <a:spcPts val="5376"/>
              </a:lnSpc>
              <a:spcBef>
                <a:spcPts val="0"/>
              </a:spcBef>
              <a:spcAft>
                <a:spcPts val="0"/>
              </a:spcAft>
            </a:pPr>
            <a:r>
              <a:rPr sz="4800" b="1" lang="en-US">
                <a:solidFill>
                  <a:srgbClr val="23201D"/>
                </a:solidFill>
                <a:latin typeface="Manrope"/>
              </a:rPr>
              <a:t>Same caller. Same tickets.</a:t>
            </a:r>
          </a:p>
          <a:p>
            <a:pPr algn="l" rtl="0">
              <a:lnSpc>
                <a:spcPts val="5376"/>
              </a:lnSpc>
              <a:spcBef>
                <a:spcPts val="0"/>
              </a:spcBef>
              <a:spcAft>
                <a:spcPts val="0"/>
              </a:spcAft>
            </a:pPr>
            <a:r>
              <a:rPr sz="4800" b="1" lang="en-US">
                <a:solidFill>
                  <a:srgbClr val="23201D"/>
                </a:solidFill>
                <a:latin typeface="Manrope"/>
              </a:rPr>
              <a:t>Fewer manual steps.</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0" lang="en-US">
                <a:solidFill>
                  <a:srgbClr val="69635C"/>
                </a:solidFill>
                <a:latin typeface="Manrope"/>
              </a:rPr>
              <a:t>The change is in how the employee gets the information.</a:t>
            </a:r>
          </a:p>
        </p:txBody>
      </p:sp>
      <p:cxnSp>
        <p:nvCxnSpPr>
          <p:cNvPr id="7" name="Connector 6"/>
          <p:cNvCxnSpPr/>
          <p:nvPr/>
        </p:nvCxnSpPr>
        <p:spPr>
          <a:xfrm>
            <a:off x="457200" y="6334125"/>
            <a:ext cx="11277600" cy="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457200" y="6496050"/>
            <a:ext cx="10287000"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9635C"/>
                </a:solidFill>
                <a:latin typeface="Manrope"/>
              </a:rPr>
              <a:t>PROPOSED COLLABORATION · ILLUSTRATIVE RECORDS</a:t>
            </a:r>
          </a:p>
        </p:txBody>
      </p:sp>
      <p:sp>
        <p:nvSpPr>
          <p:cNvPr id="9" name="TextBox 8"/>
          <p:cNvSpPr txBox="1"/>
          <p:nvPr/>
        </p:nvSpPr>
        <p:spPr>
          <a:xfrm>
            <a:off x="10906125" y="6496050"/>
            <a:ext cx="828675" cy="209550"/>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9635C"/>
                </a:solidFill>
                <a:latin typeface="Manrope"/>
              </a:rPr>
              <a:t>06 / 09</a:t>
            </a:r>
          </a:p>
        </p:txBody>
      </p:sp>
      <p:sp>
        <p:nvSpPr>
          <p:cNvPr id="10" name="Rounded Rectangle 9"/>
          <p:cNvSpPr/>
          <p:nvPr/>
        </p:nvSpPr>
        <p:spPr>
          <a:xfrm>
            <a:off x="457200" y="3009900"/>
            <a:ext cx="5334000" cy="2809875"/>
          </a:xfrm>
          <a:prstGeom prst="roundRect">
            <a:avLst>
              <a:gd name="adj" fmla="val 5423"/>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85800" y="3162300"/>
            <a:ext cx="4876800" cy="409575"/>
          </a:xfrm>
          <a:prstGeom prst="rect">
            <a:avLst/>
          </a:prstGeom>
          <a:noFill/>
          <a:effectLst/>
        </p:spPr>
        <p:txBody>
          <a:bodyPr wrap="square" lIns="0" rIns="0" tIns="0" bIns="0" anchor="t">
            <a:spAutoFit/>
          </a:bodyPr>
          <a:lstStyle/>
          <a:p>
            <a:pPr algn="l" rtl="0">
              <a:lnSpc>
                <a:spcPts val="2604"/>
              </a:lnSpc>
              <a:spcBef>
                <a:spcPts val="0"/>
              </a:spcBef>
              <a:spcAft>
                <a:spcPts val="0"/>
              </a:spcAft>
            </a:pPr>
            <a:r>
              <a:rPr sz="2325" b="1" lang="en-US">
                <a:solidFill>
                  <a:srgbClr val="69635C"/>
                </a:solidFill>
                <a:latin typeface="Manrope"/>
              </a:rPr>
              <a:t>BEFORE</a:t>
            </a:r>
          </a:p>
        </p:txBody>
      </p:sp>
      <p:pic>
        <p:nvPicPr>
          <p:cNvPr id="12" name="Picture 11" descr="icon-copy.png"/>
          <p:cNvPicPr>
            <a:picLocks noChangeAspect="1"/>
          </p:cNvPicPr>
          <p:nvPr/>
        </p:nvPicPr>
        <p:blipFill>
          <a:blip r:embed="rId3"/>
          <a:stretch>
            <a:fillRect/>
          </a:stretch>
        </p:blipFill>
        <p:spPr>
          <a:xfrm>
            <a:off x="685800" y="3724275"/>
            <a:ext cx="400050" cy="400050"/>
          </a:xfrm>
          <a:prstGeom prst="rect">
            <a:avLst/>
          </a:prstGeom>
          <a:effectLst/>
        </p:spPr>
      </p:pic>
      <p:sp>
        <p:nvSpPr>
          <p:cNvPr id="13" name="TextBox 12"/>
          <p:cNvSpPr txBox="1"/>
          <p:nvPr/>
        </p:nvSpPr>
        <p:spPr>
          <a:xfrm>
            <a:off x="1276350" y="3743325"/>
            <a:ext cx="4286250" cy="485775"/>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0" lang="en-US">
                <a:solidFill>
                  <a:srgbClr val="23201D"/>
                </a:solidFill>
                <a:latin typeface="Manrope"/>
              </a:rPr>
              <a:t>Use the number</a:t>
            </a:r>
          </a:p>
        </p:txBody>
      </p:sp>
      <p:pic>
        <p:nvPicPr>
          <p:cNvPr id="14" name="Picture 13" descr="icon-search.png"/>
          <p:cNvPicPr>
            <a:picLocks noChangeAspect="1"/>
          </p:cNvPicPr>
          <p:nvPr/>
        </p:nvPicPr>
        <p:blipFill>
          <a:blip r:embed="rId4"/>
          <a:stretch>
            <a:fillRect/>
          </a:stretch>
        </p:blipFill>
        <p:spPr>
          <a:xfrm>
            <a:off x="685800" y="4381500"/>
            <a:ext cx="400050" cy="400050"/>
          </a:xfrm>
          <a:prstGeom prst="rect">
            <a:avLst/>
          </a:prstGeom>
          <a:effectLst/>
        </p:spPr>
      </p:pic>
      <p:sp>
        <p:nvSpPr>
          <p:cNvPr id="15" name="TextBox 14"/>
          <p:cNvSpPr txBox="1"/>
          <p:nvPr/>
        </p:nvSpPr>
        <p:spPr>
          <a:xfrm>
            <a:off x="1276350" y="4400550"/>
            <a:ext cx="4286250" cy="485775"/>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0" lang="en-US">
                <a:solidFill>
                  <a:srgbClr val="23201D"/>
                </a:solidFill>
                <a:latin typeface="Manrope"/>
              </a:rPr>
              <a:t>Search in Desk</a:t>
            </a:r>
          </a:p>
        </p:txBody>
      </p:sp>
      <p:pic>
        <p:nvPicPr>
          <p:cNvPr id="16" name="Picture 15" descr="icon-file.png"/>
          <p:cNvPicPr>
            <a:picLocks noChangeAspect="1"/>
          </p:cNvPicPr>
          <p:nvPr/>
        </p:nvPicPr>
        <p:blipFill>
          <a:blip r:embed="rId5"/>
          <a:stretch>
            <a:fillRect/>
          </a:stretch>
        </p:blipFill>
        <p:spPr>
          <a:xfrm>
            <a:off x="685800" y="5038725"/>
            <a:ext cx="400050" cy="400050"/>
          </a:xfrm>
          <a:prstGeom prst="rect">
            <a:avLst/>
          </a:prstGeom>
          <a:effectLst/>
        </p:spPr>
      </p:pic>
      <p:sp>
        <p:nvSpPr>
          <p:cNvPr id="17" name="TextBox 16"/>
          <p:cNvSpPr txBox="1"/>
          <p:nvPr/>
        </p:nvSpPr>
        <p:spPr>
          <a:xfrm>
            <a:off x="1276350" y="5057775"/>
            <a:ext cx="4286250" cy="485775"/>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0" lang="en-US">
                <a:solidFill>
                  <a:srgbClr val="23201D"/>
                </a:solidFill>
                <a:latin typeface="Manrope"/>
              </a:rPr>
              <a:t>Find the last update</a:t>
            </a:r>
          </a:p>
        </p:txBody>
      </p:sp>
      <p:sp>
        <p:nvSpPr>
          <p:cNvPr id="18" name="Rounded Rectangle 17"/>
          <p:cNvSpPr/>
          <p:nvPr/>
        </p:nvSpPr>
        <p:spPr>
          <a:xfrm>
            <a:off x="6400800" y="3009900"/>
            <a:ext cx="5334000" cy="2809875"/>
          </a:xfrm>
          <a:prstGeom prst="roundRect">
            <a:avLst>
              <a:gd name="adj" fmla="val 5423"/>
            </a:avLst>
          </a:prstGeom>
          <a:solidFill>
            <a:srgbClr val="E4E9DF"/>
          </a:solidFill>
          <a:ln w="9525">
            <a:solidFill>
              <a:srgbClr val="52675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629400" y="3162300"/>
            <a:ext cx="4876800" cy="409575"/>
          </a:xfrm>
          <a:prstGeom prst="rect">
            <a:avLst/>
          </a:prstGeom>
          <a:noFill/>
          <a:effectLst/>
        </p:spPr>
        <p:txBody>
          <a:bodyPr wrap="square" lIns="0" rIns="0" tIns="0" bIns="0" anchor="t">
            <a:spAutoFit/>
          </a:bodyPr>
          <a:lstStyle/>
          <a:p>
            <a:pPr algn="l" rtl="0">
              <a:lnSpc>
                <a:spcPts val="2604"/>
              </a:lnSpc>
              <a:spcBef>
                <a:spcPts val="0"/>
              </a:spcBef>
              <a:spcAft>
                <a:spcPts val="0"/>
              </a:spcAft>
            </a:pPr>
            <a:r>
              <a:rPr sz="2325" b="1" lang="en-US">
                <a:solidFill>
                  <a:srgbClr val="526750"/>
                </a:solidFill>
                <a:latin typeface="Manrope"/>
              </a:rPr>
              <a:t>PROPOSED AFTER</a:t>
            </a:r>
          </a:p>
        </p:txBody>
      </p:sp>
      <p:pic>
        <p:nvPicPr>
          <p:cNvPr id="20" name="Picture 19" descr="icon-case.png"/>
          <p:cNvPicPr>
            <a:picLocks noChangeAspect="1"/>
          </p:cNvPicPr>
          <p:nvPr/>
        </p:nvPicPr>
        <p:blipFill>
          <a:blip r:embed="rId6"/>
          <a:stretch>
            <a:fillRect/>
          </a:stretch>
        </p:blipFill>
        <p:spPr>
          <a:xfrm>
            <a:off x="6629400" y="3724275"/>
            <a:ext cx="400050" cy="400050"/>
          </a:xfrm>
          <a:prstGeom prst="rect">
            <a:avLst/>
          </a:prstGeom>
          <a:effectLst/>
        </p:spPr>
      </p:pic>
      <p:sp>
        <p:nvSpPr>
          <p:cNvPr id="21" name="TextBox 20"/>
          <p:cNvSpPr txBox="1"/>
          <p:nvPr/>
        </p:nvSpPr>
        <p:spPr>
          <a:xfrm>
            <a:off x="7219950" y="3743325"/>
            <a:ext cx="4286250" cy="485775"/>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1" lang="en-US">
                <a:solidFill>
                  <a:srgbClr val="23201D"/>
                </a:solidFill>
                <a:latin typeface="Manrope"/>
              </a:rPr>
              <a:t>History opens with the call</a:t>
            </a:r>
          </a:p>
        </p:txBody>
      </p:sp>
      <p:pic>
        <p:nvPicPr>
          <p:cNvPr id="22" name="Picture 21" descr="icon-file.png"/>
          <p:cNvPicPr>
            <a:picLocks noChangeAspect="1"/>
          </p:cNvPicPr>
          <p:nvPr/>
        </p:nvPicPr>
        <p:blipFill>
          <a:blip r:embed="rId5"/>
          <a:stretch>
            <a:fillRect/>
          </a:stretch>
        </p:blipFill>
        <p:spPr>
          <a:xfrm>
            <a:off x="6629400" y="4381500"/>
            <a:ext cx="400050" cy="400050"/>
          </a:xfrm>
          <a:prstGeom prst="rect">
            <a:avLst/>
          </a:prstGeom>
          <a:effectLst/>
        </p:spPr>
      </p:pic>
      <p:sp>
        <p:nvSpPr>
          <p:cNvPr id="23" name="TextBox 22"/>
          <p:cNvSpPr txBox="1"/>
          <p:nvPr/>
        </p:nvSpPr>
        <p:spPr>
          <a:xfrm>
            <a:off x="7219950" y="4400550"/>
            <a:ext cx="4286250" cy="485775"/>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1" lang="en-US">
                <a:solidFill>
                  <a:srgbClr val="23201D"/>
                </a:solidFill>
                <a:latin typeface="Manrope"/>
              </a:rPr>
              <a:t>Read the last update</a:t>
            </a:r>
          </a:p>
        </p:txBody>
      </p:sp>
      <p:pic>
        <p:nvPicPr>
          <p:cNvPr id="24" name="Picture 23" descr="icon-actor.png"/>
          <p:cNvPicPr>
            <a:picLocks noChangeAspect="1"/>
          </p:cNvPicPr>
          <p:nvPr/>
        </p:nvPicPr>
        <p:blipFill>
          <a:blip r:embed="rId7"/>
          <a:stretch>
            <a:fillRect/>
          </a:stretch>
        </p:blipFill>
        <p:spPr>
          <a:xfrm>
            <a:off x="6629400" y="5038725"/>
            <a:ext cx="400050" cy="400050"/>
          </a:xfrm>
          <a:prstGeom prst="rect">
            <a:avLst/>
          </a:prstGeom>
          <a:effectLst/>
        </p:spPr>
      </p:pic>
      <p:sp>
        <p:nvSpPr>
          <p:cNvPr id="25" name="TextBox 24"/>
          <p:cNvSpPr txBox="1"/>
          <p:nvPr/>
        </p:nvSpPr>
        <p:spPr>
          <a:xfrm>
            <a:off x="7219950" y="5057775"/>
            <a:ext cx="4286250" cy="485775"/>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1" lang="en-US">
                <a:solidFill>
                  <a:srgbClr val="23201D"/>
                </a:solidFill>
                <a:latin typeface="Manrope"/>
              </a:rPr>
              <a:t>Continue with context</a:t>
            </a:r>
          </a:p>
        </p:txBody>
      </p:sp>
      <p:sp>
        <p:nvSpPr>
          <p:cNvPr id="26" name="TextBox 25"/>
          <p:cNvSpPr txBox="1"/>
          <p:nvPr/>
        </p:nvSpPr>
        <p:spPr>
          <a:xfrm>
            <a:off x="457200" y="5934075"/>
            <a:ext cx="11277600" cy="371475"/>
          </a:xfrm>
          <a:prstGeom prst="rect">
            <a:avLst/>
          </a:prstGeom>
          <a:noFill/>
          <a:effectLst/>
        </p:spPr>
        <p:txBody>
          <a:bodyPr wrap="square" lIns="0" rIns="0" tIns="0" bIns="0" anchor="t">
            <a:spAutoFit/>
          </a:bodyPr>
          <a:lstStyle/>
          <a:p>
            <a:pPr algn="l" rtl="0">
              <a:lnSpc>
                <a:spcPts val="2604"/>
              </a:lnSpc>
              <a:spcBef>
                <a:spcPts val="0"/>
              </a:spcBef>
              <a:spcAft>
                <a:spcPts val="0"/>
              </a:spcAft>
            </a:pPr>
            <a:r>
              <a:rPr sz="2325" b="1" lang="en-US">
                <a:solidFill>
                  <a:srgbClr val="BA4C24"/>
                </a:solidFill>
                <a:latin typeface="Manrope"/>
              </a:rPr>
              <a:t>From finding the information to using it.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2"/>
                                  </p:tgtEl>
                                  <p:attrNameLst>
                                    <p:attrName>style.visibility</p:attrName>
                                  </p:attrNameLst>
                                </p:cBhvr>
                                <p:to>
                                  <p:strVal val="visible"/>
                                </p:to>
                              </p:set>
                              <p:animEffect transition="in" filter="fade">
                                <p:cBhvr>
                                  <p:cTn id="6" dur="550"/>
                                  <p:tgtEl>
                                    <p:spTgt spid="12"/>
                                  </p:tgtEl>
                                </p:cBhvr>
                              </p:animEffect>
                            </p:childTnLst>
                          </p:cTn>
                        </p:par>
                        <p:par>
                          <p:cTn id="7" presetID="10" presetClass="entr" presetSubtype="0" fill="hold" nodeType="withEffect">
                            <p:stCondLst>
                              <p:cond delay="0"/>
                            </p:stCondLst>
                            <p:childTnLst>
                              <p:set>
                                <p:cBhvr>
                                  <p:cTn id="8" dur="1" fill="hold"/>
                                  <p:tgtEl>
                                    <p:spTgt spid="13"/>
                                  </p:tgtEl>
                                  <p:attrNameLst>
                                    <p:attrName>style.visibility</p:attrName>
                                  </p:attrNameLst>
                                </p:cBhvr>
                                <p:to>
                                  <p:strVal val="visible"/>
                                </p:to>
                              </p:set>
                              <p:animEffect transition="in" filter="fade">
                                <p:cBhvr>
                                  <p:cTn id="9" dur="550"/>
                                  <p:tgtEl>
                                    <p:spTgt spid="13"/>
                                  </p:tgtEl>
                                </p:cBhvr>
                              </p:animEffect>
                            </p:childTnLst>
                          </p:cTn>
                        </p:par>
                        <p:par>
                          <p:cTn id="10" presetID="10" presetClass="entr" presetSubtype="0" fill="hold" nodeType="withEffect">
                            <p:stCondLst>
                              <p:cond delay="1250"/>
                            </p:stCondLst>
                            <p:childTnLst>
                              <p:set>
                                <p:cBhvr>
                                  <p:cTn id="11" dur="1" fill="hold"/>
                                  <p:tgtEl>
                                    <p:spTgt spid="14"/>
                                  </p:tgtEl>
                                  <p:attrNameLst>
                                    <p:attrName>style.visibility</p:attrName>
                                  </p:attrNameLst>
                                </p:cBhvr>
                                <p:to>
                                  <p:strVal val="visible"/>
                                </p:to>
                              </p:set>
                              <p:animEffect transition="in" filter="fade">
                                <p:cBhvr>
                                  <p:cTn id="12" dur="550"/>
                                  <p:tgtEl>
                                    <p:spTgt spid="14"/>
                                  </p:tgtEl>
                                </p:cBhvr>
                              </p:animEffect>
                            </p:childTnLst>
                          </p:cTn>
                        </p:par>
                        <p:par>
                          <p:cTn id="13" presetID="10" presetClass="entr" presetSubtype="0" fill="hold" nodeType="withEffect">
                            <p:stCondLst>
                              <p:cond delay="1250"/>
                            </p:stCondLst>
                            <p:childTnLst>
                              <p:set>
                                <p:cBhvr>
                                  <p:cTn id="14" dur="1" fill="hold"/>
                                  <p:tgtEl>
                                    <p:spTgt spid="15"/>
                                  </p:tgtEl>
                                  <p:attrNameLst>
                                    <p:attrName>style.visibility</p:attrName>
                                  </p:attrNameLst>
                                </p:cBhvr>
                                <p:to>
                                  <p:strVal val="visible"/>
                                </p:to>
                              </p:set>
                              <p:animEffect transition="in" filter="fade">
                                <p:cBhvr>
                                  <p:cTn id="15" dur="550"/>
                                  <p:tgtEl>
                                    <p:spTgt spid="15"/>
                                  </p:tgtEl>
                                </p:cBhvr>
                              </p:animEffect>
                            </p:childTnLst>
                          </p:cTn>
                        </p:par>
                        <p:par>
                          <p:cTn id="16" presetID="10" presetClass="entr" presetSubtype="0" fill="hold" nodeType="withEffect">
                            <p:stCondLst>
                              <p:cond delay="2500"/>
                            </p:stCondLst>
                            <p:childTnLst>
                              <p:set>
                                <p:cBhvr>
                                  <p:cTn id="17" dur="1" fill="hold"/>
                                  <p:tgtEl>
                                    <p:spTgt spid="16"/>
                                  </p:tgtEl>
                                  <p:attrNameLst>
                                    <p:attrName>style.visibility</p:attrName>
                                  </p:attrNameLst>
                                </p:cBhvr>
                                <p:to>
                                  <p:strVal val="visible"/>
                                </p:to>
                              </p:set>
                              <p:animEffect transition="in" filter="fade">
                                <p:cBhvr>
                                  <p:cTn id="18" dur="550"/>
                                  <p:tgtEl>
                                    <p:spTgt spid="16"/>
                                  </p:tgtEl>
                                </p:cBhvr>
                              </p:animEffect>
                            </p:childTnLst>
                          </p:cTn>
                        </p:par>
                        <p:par>
                          <p:cTn id="19" presetID="10" presetClass="entr" presetSubtype="0" fill="hold" nodeType="withEffect">
                            <p:stCondLst>
                              <p:cond delay="2500"/>
                            </p:stCondLst>
                            <p:childTnLst>
                              <p:set>
                                <p:cBhvr>
                                  <p:cTn id="20" dur="1" fill="hold"/>
                                  <p:tgtEl>
                                    <p:spTgt spid="17"/>
                                  </p:tgtEl>
                                  <p:attrNameLst>
                                    <p:attrName>style.visibility</p:attrName>
                                  </p:attrNameLst>
                                </p:cBhvr>
                                <p:to>
                                  <p:strVal val="visible"/>
                                </p:to>
                              </p:set>
                              <p:animEffect transition="in" filter="fade">
                                <p:cBhvr>
                                  <p:cTn id="21" dur="550"/>
                                  <p:tgtEl>
                                    <p:spTgt spid="17"/>
                                  </p:tgtEl>
                                </p:cBhvr>
                              </p:animEffect>
                            </p:childTnLst>
                          </p:cTn>
                        </p:par>
                        <p:par>
                          <p:cTn id="22" presetID="10" presetClass="entr" presetSubtype="0" fill="hold" nodeType="withEffect">
                            <p:stCondLst>
                              <p:cond delay="0"/>
                            </p:stCondLst>
                            <p:childTnLst>
                              <p:set>
                                <p:cBhvr>
                                  <p:cTn id="23" dur="1" fill="hold"/>
                                  <p:tgtEl>
                                    <p:spTgt spid="20"/>
                                  </p:tgtEl>
                                  <p:attrNameLst>
                                    <p:attrName>style.visibility</p:attrName>
                                  </p:attrNameLst>
                                </p:cBhvr>
                                <p:to>
                                  <p:strVal val="visible"/>
                                </p:to>
                              </p:set>
                              <p:animEffect transition="in" filter="fade">
                                <p:cBhvr>
                                  <p:cTn id="24" dur="550"/>
                                  <p:tgtEl>
                                    <p:spTgt spid="20"/>
                                  </p:tgtEl>
                                </p:cBhvr>
                              </p:animEffect>
                            </p:childTnLst>
                          </p:cTn>
                        </p:par>
                        <p:par>
                          <p:cTn id="25" presetID="10" presetClass="entr" presetSubtype="0" fill="hold" nodeType="withEffect">
                            <p:stCondLst>
                              <p:cond delay="0"/>
                            </p:stCondLst>
                            <p:childTnLst>
                              <p:set>
                                <p:cBhvr>
                                  <p:cTn id="26" dur="1" fill="hold"/>
                                  <p:tgtEl>
                                    <p:spTgt spid="21"/>
                                  </p:tgtEl>
                                  <p:attrNameLst>
                                    <p:attrName>style.visibility</p:attrName>
                                  </p:attrNameLst>
                                </p:cBhvr>
                                <p:to>
                                  <p:strVal val="visible"/>
                                </p:to>
                              </p:set>
                              <p:animEffect transition="in" filter="fade">
                                <p:cBhvr>
                                  <p:cTn id="27" dur="550"/>
                                  <p:tgtEl>
                                    <p:spTgt spid="21"/>
                                  </p:tgtEl>
                                </p:cBhvr>
                              </p:animEffect>
                            </p:childTnLst>
                          </p:cTn>
                        </p:par>
                        <p:par>
                          <p:cTn id="28" presetID="10" presetClass="entr" presetSubtype="0" fill="hold" nodeType="withEffect">
                            <p:stCondLst>
                              <p:cond delay="1250"/>
                            </p:stCondLst>
                            <p:childTnLst>
                              <p:set>
                                <p:cBhvr>
                                  <p:cTn id="29" dur="1" fill="hold"/>
                                  <p:tgtEl>
                                    <p:spTgt spid="22"/>
                                  </p:tgtEl>
                                  <p:attrNameLst>
                                    <p:attrName>style.visibility</p:attrName>
                                  </p:attrNameLst>
                                </p:cBhvr>
                                <p:to>
                                  <p:strVal val="visible"/>
                                </p:to>
                              </p:set>
                              <p:animEffect transition="in" filter="fade">
                                <p:cBhvr>
                                  <p:cTn id="30" dur="550"/>
                                  <p:tgtEl>
                                    <p:spTgt spid="22"/>
                                  </p:tgtEl>
                                </p:cBhvr>
                              </p:animEffect>
                            </p:childTnLst>
                          </p:cTn>
                        </p:par>
                        <p:par>
                          <p:cTn id="31" presetID="10" presetClass="entr" presetSubtype="0" fill="hold" nodeType="withEffect">
                            <p:stCondLst>
                              <p:cond delay="1250"/>
                            </p:stCondLst>
                            <p:childTnLst>
                              <p:set>
                                <p:cBhvr>
                                  <p:cTn id="32" dur="1" fill="hold"/>
                                  <p:tgtEl>
                                    <p:spTgt spid="23"/>
                                  </p:tgtEl>
                                  <p:attrNameLst>
                                    <p:attrName>style.visibility</p:attrName>
                                  </p:attrNameLst>
                                </p:cBhvr>
                                <p:to>
                                  <p:strVal val="visible"/>
                                </p:to>
                              </p:set>
                              <p:animEffect transition="in" filter="fade">
                                <p:cBhvr>
                                  <p:cTn id="33" dur="550"/>
                                  <p:tgtEl>
                                    <p:spTgt spid="23"/>
                                  </p:tgtEl>
                                </p:cBhvr>
                              </p:animEffect>
                            </p:childTnLst>
                          </p:cTn>
                        </p:par>
                        <p:par>
                          <p:cTn id="34" presetID="10" presetClass="entr" presetSubtype="0" fill="hold" nodeType="withEffect">
                            <p:stCondLst>
                              <p:cond delay="2500"/>
                            </p:stCondLst>
                            <p:childTnLst>
                              <p:set>
                                <p:cBhvr>
                                  <p:cTn id="35" dur="1" fill="hold"/>
                                  <p:tgtEl>
                                    <p:spTgt spid="24"/>
                                  </p:tgtEl>
                                  <p:attrNameLst>
                                    <p:attrName>style.visibility</p:attrName>
                                  </p:attrNameLst>
                                </p:cBhvr>
                                <p:to>
                                  <p:strVal val="visible"/>
                                </p:to>
                              </p:set>
                              <p:animEffect transition="in" filter="fade">
                                <p:cBhvr>
                                  <p:cTn id="36" dur="550"/>
                                  <p:tgtEl>
                                    <p:spTgt spid="24"/>
                                  </p:tgtEl>
                                </p:cBhvr>
                              </p:animEffect>
                            </p:childTnLst>
                          </p:cTn>
                        </p:par>
                        <p:par>
                          <p:cTn id="37" presetID="10" presetClass="entr" presetSubtype="0" fill="hold" nodeType="withEffect">
                            <p:stCondLst>
                              <p:cond delay="2500"/>
                            </p:stCondLst>
                            <p:childTnLst>
                              <p:set>
                                <p:cBhvr>
                                  <p:cTn id="38" dur="1" fill="hold"/>
                                  <p:tgtEl>
                                    <p:spTgt spid="25"/>
                                  </p:tgtEl>
                                  <p:attrNameLst>
                                    <p:attrName>style.visibility</p:attrName>
                                  </p:attrNameLst>
                                </p:cBhvr>
                                <p:to>
                                  <p:strVal val="visible"/>
                                </p:to>
                              </p:set>
                              <p:animEffect transition="in" filter="fade">
                                <p:cBhvr>
                                  <p:cTn id="39" dur="550"/>
                                  <p:tgtEl>
                                    <p:spTgt spid="25"/>
                                  </p:tgtEl>
                                </p:cBhvr>
                              </p:animEffect>
                            </p:childTnLst>
                          </p:cTn>
                        </p:par>
                        <p:par>
                          <p:cTn id="40" presetID="10" presetClass="entr" presetSubtype="0" fill="hold" nodeType="withEffect">
                            <p:stCondLst>
                              <p:cond delay="3750"/>
                            </p:stCondLst>
                            <p:childTnLst>
                              <p:set>
                                <p:cBhvr>
                                  <p:cTn id="41" dur="1" fill="hold"/>
                                  <p:tgtEl>
                                    <p:spTgt spid="26"/>
                                  </p:tgtEl>
                                  <p:attrNameLst>
                                    <p:attrName>style.visibility</p:attrName>
                                  </p:attrNameLst>
                                </p:cBhvr>
                                <p:to>
                                  <p:strVal val="visible"/>
                                </p:to>
                              </p:set>
                              <p:animEffect transition="in" filter="fade">
                                <p:cBhvr>
                                  <p:cTn id="42" dur="55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457200" y="266700"/>
            <a:ext cx="8572500" cy="2667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69635C"/>
                </a:solidFill>
                <a:latin typeface="Manrope"/>
              </a:rPr>
              <a:t>06 · VALUE FOR CONCRETE</a:t>
            </a:r>
          </a:p>
        </p:txBody>
      </p:sp>
      <p:pic>
        <p:nvPicPr>
          <p:cNvPr id="3" name="Picture 2" descr="brand.png"/>
          <p:cNvPicPr>
            <a:picLocks noChangeAspect="1"/>
          </p:cNvPicPr>
          <p:nvPr/>
        </p:nvPicPr>
        <p:blipFill>
          <a:blip r:embed="rId2"/>
          <a:stretch>
            <a:fillRect/>
          </a:stretch>
        </p:blipFill>
        <p:spPr>
          <a:xfrm>
            <a:off x="9915525" y="220662"/>
            <a:ext cx="495300" cy="330200"/>
          </a:xfrm>
          <a:prstGeom prst="rect">
            <a:avLst/>
          </a:prstGeom>
          <a:effectLst/>
        </p:spPr>
      </p:pic>
      <p:sp>
        <p:nvSpPr>
          <p:cNvPr id="4" name="TextBox 3"/>
          <p:cNvSpPr txBox="1"/>
          <p:nvPr/>
        </p:nvSpPr>
        <p:spPr>
          <a:xfrm>
            <a:off x="10515600" y="266700"/>
            <a:ext cx="1219200" cy="276225"/>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1" lang="en-US">
                <a:solidFill>
                  <a:srgbClr val="23201D"/>
                </a:solidFill>
                <a:latin typeface="Manrope"/>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l" rtl="0">
              <a:lnSpc>
                <a:spcPts val="5376"/>
              </a:lnSpc>
              <a:spcBef>
                <a:spcPts val="0"/>
              </a:spcBef>
              <a:spcAft>
                <a:spcPts val="0"/>
              </a:spcAft>
            </a:pPr>
            <a:r>
              <a:rPr sz="4800" b="1" lang="en-US">
                <a:solidFill>
                  <a:srgbClr val="23201D"/>
                </a:solidFill>
                <a:latin typeface="Manrope"/>
              </a:rPr>
              <a:t>Less searching.</a:t>
            </a:r>
          </a:p>
          <a:p>
            <a:pPr algn="l" rtl="0">
              <a:lnSpc>
                <a:spcPts val="5376"/>
              </a:lnSpc>
              <a:spcBef>
                <a:spcPts val="0"/>
              </a:spcBef>
              <a:spcAft>
                <a:spcPts val="0"/>
              </a:spcAft>
            </a:pPr>
            <a:r>
              <a:rPr sz="4800" b="1" lang="en-US">
                <a:solidFill>
                  <a:srgbClr val="23201D"/>
                </a:solidFill>
                <a:latin typeface="Manrope"/>
              </a:rPr>
              <a:t>More attention to the customer.</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0" lang="en-US">
                <a:solidFill>
                  <a:srgbClr val="69635C"/>
                </a:solidFill>
                <a:latin typeface="Manrope"/>
              </a:rPr>
              <a:t>A practical improvement to the everyday call workflow.</a:t>
            </a:r>
          </a:p>
        </p:txBody>
      </p:sp>
      <p:cxnSp>
        <p:nvCxnSpPr>
          <p:cNvPr id="7" name="Connector 6"/>
          <p:cNvCxnSpPr/>
          <p:nvPr/>
        </p:nvCxnSpPr>
        <p:spPr>
          <a:xfrm>
            <a:off x="457200" y="6334125"/>
            <a:ext cx="11277600" cy="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457200" y="6496050"/>
            <a:ext cx="10287000"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9635C"/>
                </a:solidFill>
                <a:latin typeface="Manrope"/>
              </a:rPr>
              <a:t>PROPOSED COLLABORATION · ILLUSTRATIVE RECORDS</a:t>
            </a:r>
          </a:p>
        </p:txBody>
      </p:sp>
      <p:sp>
        <p:nvSpPr>
          <p:cNvPr id="9" name="TextBox 8"/>
          <p:cNvSpPr txBox="1"/>
          <p:nvPr/>
        </p:nvSpPr>
        <p:spPr>
          <a:xfrm>
            <a:off x="10906125" y="6496050"/>
            <a:ext cx="828675" cy="209550"/>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9635C"/>
                </a:solidFill>
                <a:latin typeface="Manrope"/>
              </a:rPr>
              <a:t>07 / 09</a:t>
            </a:r>
          </a:p>
        </p:txBody>
      </p:sp>
      <p:sp>
        <p:nvSpPr>
          <p:cNvPr id="10" name="Rounded Rectangle 9"/>
          <p:cNvSpPr/>
          <p:nvPr/>
        </p:nvSpPr>
        <p:spPr>
          <a:xfrm>
            <a:off x="457200" y="3057525"/>
            <a:ext cx="3314700" cy="2647950"/>
          </a:xfrm>
          <a:prstGeom prst="roundRect">
            <a:avLst>
              <a:gd name="adj" fmla="val 575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704850" y="3267075"/>
            <a:ext cx="742950" cy="742950"/>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icon-clock.png"/>
          <p:cNvPicPr>
            <a:picLocks noChangeAspect="1"/>
          </p:cNvPicPr>
          <p:nvPr/>
        </p:nvPicPr>
        <p:blipFill>
          <a:blip r:embed="rId3"/>
          <a:stretch>
            <a:fillRect/>
          </a:stretch>
        </p:blipFill>
        <p:spPr>
          <a:xfrm>
            <a:off x="847725" y="3409950"/>
            <a:ext cx="457200" cy="457200"/>
          </a:xfrm>
          <a:prstGeom prst="rect">
            <a:avLst/>
          </a:prstGeom>
          <a:effectLst/>
        </p:spPr>
      </p:pic>
      <p:sp>
        <p:nvSpPr>
          <p:cNvPr id="13" name="TextBox 12"/>
          <p:cNvSpPr txBox="1"/>
          <p:nvPr/>
        </p:nvSpPr>
        <p:spPr>
          <a:xfrm>
            <a:off x="704850" y="4210050"/>
            <a:ext cx="2819400" cy="876300"/>
          </a:xfrm>
          <a:prstGeom prst="rect">
            <a:avLst/>
          </a:prstGeom>
          <a:noFill/>
          <a:effectLst/>
        </p:spPr>
        <p:txBody>
          <a:bodyPr wrap="square" lIns="0" rIns="0" tIns="0" bIns="0" anchor="t">
            <a:spAutoFit/>
          </a:bodyPr>
          <a:lstStyle/>
          <a:p>
            <a:pPr algn="l" rtl="0">
              <a:lnSpc>
                <a:spcPts val="3108"/>
              </a:lnSpc>
              <a:spcBef>
                <a:spcPts val="0"/>
              </a:spcBef>
              <a:spcAft>
                <a:spcPts val="0"/>
              </a:spcAft>
            </a:pPr>
            <a:r>
              <a:rPr sz="2775" b="1" lang="en-US">
                <a:solidFill>
                  <a:srgbClr val="23201D"/>
                </a:solidFill>
                <a:latin typeface="Manrope"/>
              </a:rPr>
              <a:t>Employee</a:t>
            </a:r>
          </a:p>
          <a:p>
            <a:pPr algn="l" rtl="0">
              <a:lnSpc>
                <a:spcPts val="3108"/>
              </a:lnSpc>
              <a:spcBef>
                <a:spcPts val="0"/>
              </a:spcBef>
              <a:spcAft>
                <a:spcPts val="0"/>
              </a:spcAft>
            </a:pPr>
            <a:r>
              <a:rPr sz="2775" b="1" lang="en-US">
                <a:solidFill>
                  <a:srgbClr val="23201D"/>
                </a:solidFill>
                <a:latin typeface="Manrope"/>
              </a:rPr>
              <a:t>efficiency</a:t>
            </a:r>
          </a:p>
        </p:txBody>
      </p:sp>
      <p:sp>
        <p:nvSpPr>
          <p:cNvPr id="14" name="TextBox 13"/>
          <p:cNvSpPr txBox="1"/>
          <p:nvPr/>
        </p:nvSpPr>
        <p:spPr>
          <a:xfrm>
            <a:off x="704850" y="5248275"/>
            <a:ext cx="2819400" cy="419100"/>
          </a:xfrm>
          <a:prstGeom prst="rect">
            <a:avLst/>
          </a:prstGeom>
          <a:noFill/>
          <a:effectLst/>
        </p:spPr>
        <p:txBody>
          <a:bodyPr wrap="square" lIns="0" rIns="0" tIns="0" bIns="0" anchor="t">
            <a:spAutoFit/>
          </a:bodyPr>
          <a:lstStyle/>
          <a:p>
            <a:pPr algn="l" rtl="0">
              <a:lnSpc>
                <a:spcPts val="2520"/>
              </a:lnSpc>
              <a:spcBef>
                <a:spcPts val="0"/>
              </a:spcBef>
              <a:spcAft>
                <a:spcPts val="0"/>
              </a:spcAft>
            </a:pPr>
            <a:r>
              <a:rPr sz="2250" b="0" lang="en-US">
                <a:solidFill>
                  <a:srgbClr val="69635C"/>
                </a:solidFill>
                <a:latin typeface="Manrope"/>
              </a:rPr>
              <a:t>Fewer manual steps</a:t>
            </a:r>
          </a:p>
        </p:txBody>
      </p:sp>
      <p:sp>
        <p:nvSpPr>
          <p:cNvPr id="15" name="Rounded Rectangle 14"/>
          <p:cNvSpPr/>
          <p:nvPr/>
        </p:nvSpPr>
        <p:spPr>
          <a:xfrm>
            <a:off x="4438650" y="3057525"/>
            <a:ext cx="3314700" cy="2647950"/>
          </a:xfrm>
          <a:prstGeom prst="roundRect">
            <a:avLst>
              <a:gd name="adj" fmla="val 575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4686300" y="3267075"/>
            <a:ext cx="742950" cy="742950"/>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file.png"/>
          <p:cNvPicPr>
            <a:picLocks noChangeAspect="1"/>
          </p:cNvPicPr>
          <p:nvPr/>
        </p:nvPicPr>
        <p:blipFill>
          <a:blip r:embed="rId4"/>
          <a:stretch>
            <a:fillRect/>
          </a:stretch>
        </p:blipFill>
        <p:spPr>
          <a:xfrm>
            <a:off x="4829175" y="3409950"/>
            <a:ext cx="457200" cy="457200"/>
          </a:xfrm>
          <a:prstGeom prst="rect">
            <a:avLst/>
          </a:prstGeom>
          <a:effectLst/>
        </p:spPr>
      </p:pic>
      <p:sp>
        <p:nvSpPr>
          <p:cNvPr id="18" name="TextBox 17"/>
          <p:cNvSpPr txBox="1"/>
          <p:nvPr/>
        </p:nvSpPr>
        <p:spPr>
          <a:xfrm>
            <a:off x="4686300" y="4210050"/>
            <a:ext cx="2819400" cy="876300"/>
          </a:xfrm>
          <a:prstGeom prst="rect">
            <a:avLst/>
          </a:prstGeom>
          <a:noFill/>
          <a:effectLst/>
        </p:spPr>
        <p:txBody>
          <a:bodyPr wrap="square" lIns="0" rIns="0" tIns="0" bIns="0" anchor="t">
            <a:spAutoFit/>
          </a:bodyPr>
          <a:lstStyle/>
          <a:p>
            <a:pPr algn="l" rtl="0">
              <a:lnSpc>
                <a:spcPts val="3108"/>
              </a:lnSpc>
              <a:spcBef>
                <a:spcPts val="0"/>
              </a:spcBef>
              <a:spcAft>
                <a:spcPts val="0"/>
              </a:spcAft>
            </a:pPr>
            <a:r>
              <a:rPr sz="2775" b="1" lang="en-US">
                <a:solidFill>
                  <a:srgbClr val="23201D"/>
                </a:solidFill>
                <a:latin typeface="Manrope"/>
              </a:rPr>
              <a:t>Follow-up</a:t>
            </a:r>
          </a:p>
          <a:p>
            <a:pPr algn="l" rtl="0">
              <a:lnSpc>
                <a:spcPts val="3108"/>
              </a:lnSpc>
              <a:spcBef>
                <a:spcPts val="0"/>
              </a:spcBef>
              <a:spcAft>
                <a:spcPts val="0"/>
              </a:spcAft>
            </a:pPr>
            <a:r>
              <a:rPr sz="2775" b="1" lang="en-US">
                <a:solidFill>
                  <a:srgbClr val="23201D"/>
                </a:solidFill>
                <a:latin typeface="Manrope"/>
              </a:rPr>
              <a:t>continuity</a:t>
            </a:r>
          </a:p>
        </p:txBody>
      </p:sp>
      <p:sp>
        <p:nvSpPr>
          <p:cNvPr id="19" name="TextBox 18"/>
          <p:cNvSpPr txBox="1"/>
          <p:nvPr/>
        </p:nvSpPr>
        <p:spPr>
          <a:xfrm>
            <a:off x="4686300" y="5248275"/>
            <a:ext cx="2819400" cy="419100"/>
          </a:xfrm>
          <a:prstGeom prst="rect">
            <a:avLst/>
          </a:prstGeom>
          <a:noFill/>
          <a:effectLst/>
        </p:spPr>
        <p:txBody>
          <a:bodyPr wrap="square" lIns="0" rIns="0" tIns="0" bIns="0" anchor="t">
            <a:spAutoFit/>
          </a:bodyPr>
          <a:lstStyle/>
          <a:p>
            <a:pPr algn="l" rtl="0">
              <a:lnSpc>
                <a:spcPts val="2520"/>
              </a:lnSpc>
              <a:spcBef>
                <a:spcPts val="0"/>
              </a:spcBef>
              <a:spcAft>
                <a:spcPts val="0"/>
              </a:spcAft>
            </a:pPr>
            <a:r>
              <a:rPr sz="2250" b="0" lang="en-US">
                <a:solidFill>
                  <a:srgbClr val="69635C"/>
                </a:solidFill>
                <a:latin typeface="Manrope"/>
              </a:rPr>
              <a:t>Use the latest note</a:t>
            </a:r>
          </a:p>
        </p:txBody>
      </p:sp>
      <p:sp>
        <p:nvSpPr>
          <p:cNvPr id="20" name="Rounded Rectangle 19"/>
          <p:cNvSpPr/>
          <p:nvPr/>
        </p:nvSpPr>
        <p:spPr>
          <a:xfrm>
            <a:off x="8420100" y="3057525"/>
            <a:ext cx="3314700" cy="2647950"/>
          </a:xfrm>
          <a:prstGeom prst="roundRect">
            <a:avLst>
              <a:gd name="adj" fmla="val 5755"/>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8667750" y="3267075"/>
            <a:ext cx="742950" cy="742950"/>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con-actor.png"/>
          <p:cNvPicPr>
            <a:picLocks noChangeAspect="1"/>
          </p:cNvPicPr>
          <p:nvPr/>
        </p:nvPicPr>
        <p:blipFill>
          <a:blip r:embed="rId5"/>
          <a:stretch>
            <a:fillRect/>
          </a:stretch>
        </p:blipFill>
        <p:spPr>
          <a:xfrm>
            <a:off x="8810625" y="3409950"/>
            <a:ext cx="457200" cy="457200"/>
          </a:xfrm>
          <a:prstGeom prst="rect">
            <a:avLst/>
          </a:prstGeom>
          <a:effectLst/>
        </p:spPr>
      </p:pic>
      <p:sp>
        <p:nvSpPr>
          <p:cNvPr id="23" name="TextBox 22"/>
          <p:cNvSpPr txBox="1"/>
          <p:nvPr/>
        </p:nvSpPr>
        <p:spPr>
          <a:xfrm>
            <a:off x="8667750" y="4210050"/>
            <a:ext cx="2819400" cy="876300"/>
          </a:xfrm>
          <a:prstGeom prst="rect">
            <a:avLst/>
          </a:prstGeom>
          <a:noFill/>
          <a:effectLst/>
        </p:spPr>
        <p:txBody>
          <a:bodyPr wrap="square" lIns="0" rIns="0" tIns="0" bIns="0" anchor="t">
            <a:spAutoFit/>
          </a:bodyPr>
          <a:lstStyle/>
          <a:p>
            <a:pPr algn="l" rtl="0">
              <a:lnSpc>
                <a:spcPts val="3108"/>
              </a:lnSpc>
              <a:spcBef>
                <a:spcPts val="0"/>
              </a:spcBef>
              <a:spcAft>
                <a:spcPts val="0"/>
              </a:spcAft>
            </a:pPr>
            <a:r>
              <a:rPr sz="2775" b="1" lang="en-US">
                <a:solidFill>
                  <a:srgbClr val="23201D"/>
                </a:solidFill>
                <a:latin typeface="Manrope"/>
              </a:rPr>
              <a:t>Informed</a:t>
            </a:r>
          </a:p>
          <a:p>
            <a:pPr algn="l" rtl="0">
              <a:lnSpc>
                <a:spcPts val="3108"/>
              </a:lnSpc>
              <a:spcBef>
                <a:spcPts val="0"/>
              </a:spcBef>
              <a:spcAft>
                <a:spcPts val="0"/>
              </a:spcAft>
            </a:pPr>
            <a:r>
              <a:rPr sz="2775" b="1" lang="en-US">
                <a:solidFill>
                  <a:srgbClr val="23201D"/>
                </a:solidFill>
                <a:latin typeface="Manrope"/>
              </a:rPr>
              <a:t>conversations</a:t>
            </a:r>
          </a:p>
        </p:txBody>
      </p:sp>
      <p:sp>
        <p:nvSpPr>
          <p:cNvPr id="24" name="TextBox 23"/>
          <p:cNvSpPr txBox="1"/>
          <p:nvPr/>
        </p:nvSpPr>
        <p:spPr>
          <a:xfrm>
            <a:off x="8667750" y="5248275"/>
            <a:ext cx="2819400" cy="419100"/>
          </a:xfrm>
          <a:prstGeom prst="rect">
            <a:avLst/>
          </a:prstGeom>
          <a:noFill/>
          <a:effectLst/>
        </p:spPr>
        <p:txBody>
          <a:bodyPr wrap="square" lIns="0" rIns="0" tIns="0" bIns="0" anchor="t">
            <a:spAutoFit/>
          </a:bodyPr>
          <a:lstStyle/>
          <a:p>
            <a:pPr algn="l" rtl="0">
              <a:lnSpc>
                <a:spcPts val="2520"/>
              </a:lnSpc>
              <a:spcBef>
                <a:spcPts val="0"/>
              </a:spcBef>
              <a:spcAft>
                <a:spcPts val="0"/>
              </a:spcAft>
            </a:pPr>
            <a:r>
              <a:rPr sz="2250" b="0" lang="en-US">
                <a:solidFill>
                  <a:srgbClr val="69635C"/>
                </a:solidFill>
                <a:latin typeface="Manrope"/>
              </a:rPr>
              <a:t>Less starting over</a:t>
            </a:r>
          </a:p>
        </p:txBody>
      </p:sp>
      <p:sp>
        <p:nvSpPr>
          <p:cNvPr id="25" name="TextBox 24"/>
          <p:cNvSpPr txBox="1"/>
          <p:nvPr/>
        </p:nvSpPr>
        <p:spPr>
          <a:xfrm>
            <a:off x="457200" y="5905500"/>
            <a:ext cx="11277600" cy="371475"/>
          </a:xfrm>
          <a:prstGeom prst="rect">
            <a:avLst/>
          </a:prstGeom>
          <a:noFill/>
          <a:effectLst/>
        </p:spPr>
        <p:txBody>
          <a:bodyPr wrap="square" lIns="0" rIns="0" tIns="0" bIns="0" anchor="t">
            <a:spAutoFit/>
          </a:bodyPr>
          <a:lstStyle/>
          <a:p>
            <a:pPr algn="l" rtl="0">
              <a:lnSpc>
                <a:spcPts val="2520"/>
              </a:lnSpc>
              <a:spcBef>
                <a:spcPts val="0"/>
              </a:spcBef>
              <a:spcAft>
                <a:spcPts val="0"/>
              </a:spcAft>
            </a:pPr>
            <a:r>
              <a:rPr sz="2250" b="0" lang="en-US">
                <a:solidFill>
                  <a:srgbClr val="69635C"/>
                </a:solidFill>
                <a:latin typeface="Manrope"/>
              </a:rPr>
              <a:t>Expected benefits · validate in an agreed pilot.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0"/>
                                  </p:tgtEl>
                                  <p:attrNameLst>
                                    <p:attrName>style.visibility</p:attrName>
                                  </p:attrNameLst>
                                </p:cBhvr>
                                <p:to>
                                  <p:strVal val="visible"/>
                                </p:to>
                              </p:set>
                              <p:animEffect transition="in" filter="fade">
                                <p:cBhvr>
                                  <p:cTn id="6" dur="550"/>
                                  <p:tgtEl>
                                    <p:spTgt spid="10"/>
                                  </p:tgtEl>
                                </p:cBhvr>
                              </p:animEffect>
                            </p:childTnLst>
                          </p:cTn>
                        </p:par>
                        <p:par>
                          <p:cTn id="7" presetID="10" presetClass="entr" presetSubtype="0" fill="hold" nodeType="withEffect">
                            <p:stCondLst>
                              <p:cond delay="0"/>
                            </p:stCondLst>
                            <p:childTnLst>
                              <p:set>
                                <p:cBhvr>
                                  <p:cTn id="8" dur="1" fill="hold"/>
                                  <p:tgtEl>
                                    <p:spTgt spid="11"/>
                                  </p:tgtEl>
                                  <p:attrNameLst>
                                    <p:attrName>style.visibility</p:attrName>
                                  </p:attrNameLst>
                                </p:cBhvr>
                                <p:to>
                                  <p:strVal val="visible"/>
                                </p:to>
                              </p:set>
                              <p:animEffect transition="in" filter="fade">
                                <p:cBhvr>
                                  <p:cTn id="9" dur="550"/>
                                  <p:tgtEl>
                                    <p:spTgt spid="11"/>
                                  </p:tgtEl>
                                </p:cBhvr>
                              </p:animEffect>
                            </p:childTnLst>
                          </p:cTn>
                        </p:par>
                        <p:par>
                          <p:cTn id="10" presetID="10" presetClass="entr" presetSubtype="0" fill="hold" nodeType="withEffect">
                            <p:stCondLst>
                              <p:cond delay="0"/>
                            </p:stCondLst>
                            <p:childTnLst>
                              <p:set>
                                <p:cBhvr>
                                  <p:cTn id="11" dur="1" fill="hold"/>
                                  <p:tgtEl>
                                    <p:spTgt spid="12"/>
                                  </p:tgtEl>
                                  <p:attrNameLst>
                                    <p:attrName>style.visibility</p:attrName>
                                  </p:attrNameLst>
                                </p:cBhvr>
                                <p:to>
                                  <p:strVal val="visible"/>
                                </p:to>
                              </p:set>
                              <p:animEffect transition="in" filter="fade">
                                <p:cBhvr>
                                  <p:cTn id="12" dur="550"/>
                                  <p:tgtEl>
                                    <p:spTgt spid="12"/>
                                  </p:tgtEl>
                                </p:cBhvr>
                              </p:animEffect>
                            </p:childTnLst>
                          </p:cTn>
                        </p:par>
                        <p:par>
                          <p:cTn id="13" presetID="10" presetClass="entr" presetSubtype="0" fill="hold" nodeType="withEffect">
                            <p:stCondLst>
                              <p:cond delay="0"/>
                            </p:stCondLst>
                            <p:childTnLst>
                              <p:set>
                                <p:cBhvr>
                                  <p:cTn id="14" dur="1" fill="hold"/>
                                  <p:tgtEl>
                                    <p:spTgt spid="13"/>
                                  </p:tgtEl>
                                  <p:attrNameLst>
                                    <p:attrName>style.visibility</p:attrName>
                                  </p:attrNameLst>
                                </p:cBhvr>
                                <p:to>
                                  <p:strVal val="visible"/>
                                </p:to>
                              </p:set>
                              <p:animEffect transition="in" filter="fade">
                                <p:cBhvr>
                                  <p:cTn id="15" dur="550"/>
                                  <p:tgtEl>
                                    <p:spTgt spid="13"/>
                                  </p:tgtEl>
                                </p:cBhvr>
                              </p:animEffect>
                            </p:childTnLst>
                          </p:cTn>
                        </p:par>
                        <p:par>
                          <p:cTn id="16" presetID="10" presetClass="entr" presetSubtype="0" fill="hold" nodeType="withEffect">
                            <p:stCondLst>
                              <p:cond delay="0"/>
                            </p:stCondLst>
                            <p:childTnLst>
                              <p:set>
                                <p:cBhvr>
                                  <p:cTn id="17" dur="1" fill="hold"/>
                                  <p:tgtEl>
                                    <p:spTgt spid="14"/>
                                  </p:tgtEl>
                                  <p:attrNameLst>
                                    <p:attrName>style.visibility</p:attrName>
                                  </p:attrNameLst>
                                </p:cBhvr>
                                <p:to>
                                  <p:strVal val="visible"/>
                                </p:to>
                              </p:set>
                              <p:animEffect transition="in" filter="fade">
                                <p:cBhvr>
                                  <p:cTn id="18" dur="550"/>
                                  <p:tgtEl>
                                    <p:spTgt spid="14"/>
                                  </p:tgtEl>
                                </p:cBhvr>
                              </p:animEffect>
                            </p:childTnLst>
                          </p:cTn>
                        </p:par>
                        <p:par>
                          <p:cTn id="19" presetID="10" presetClass="entr" presetSubtype="0" fill="hold" nodeType="withEffect">
                            <p:stCondLst>
                              <p:cond delay="1250"/>
                            </p:stCondLst>
                            <p:childTnLst>
                              <p:set>
                                <p:cBhvr>
                                  <p:cTn id="20" dur="1" fill="hold"/>
                                  <p:tgtEl>
                                    <p:spTgt spid="15"/>
                                  </p:tgtEl>
                                  <p:attrNameLst>
                                    <p:attrName>style.visibility</p:attrName>
                                  </p:attrNameLst>
                                </p:cBhvr>
                                <p:to>
                                  <p:strVal val="visible"/>
                                </p:to>
                              </p:set>
                              <p:animEffect transition="in" filter="fade">
                                <p:cBhvr>
                                  <p:cTn id="21" dur="550"/>
                                  <p:tgtEl>
                                    <p:spTgt spid="15"/>
                                  </p:tgtEl>
                                </p:cBhvr>
                              </p:animEffect>
                            </p:childTnLst>
                          </p:cTn>
                        </p:par>
                        <p:par>
                          <p:cTn id="22" presetID="10" presetClass="entr" presetSubtype="0" fill="hold" nodeType="withEffect">
                            <p:stCondLst>
                              <p:cond delay="1250"/>
                            </p:stCondLst>
                            <p:childTnLst>
                              <p:set>
                                <p:cBhvr>
                                  <p:cTn id="23" dur="1" fill="hold"/>
                                  <p:tgtEl>
                                    <p:spTgt spid="16"/>
                                  </p:tgtEl>
                                  <p:attrNameLst>
                                    <p:attrName>style.visibility</p:attrName>
                                  </p:attrNameLst>
                                </p:cBhvr>
                                <p:to>
                                  <p:strVal val="visible"/>
                                </p:to>
                              </p:set>
                              <p:animEffect transition="in" filter="fade">
                                <p:cBhvr>
                                  <p:cTn id="24" dur="550"/>
                                  <p:tgtEl>
                                    <p:spTgt spid="16"/>
                                  </p:tgtEl>
                                </p:cBhvr>
                              </p:animEffect>
                            </p:childTnLst>
                          </p:cTn>
                        </p:par>
                        <p:par>
                          <p:cTn id="25" presetID="10" presetClass="entr" presetSubtype="0" fill="hold" nodeType="withEffect">
                            <p:stCondLst>
                              <p:cond delay="1250"/>
                            </p:stCondLst>
                            <p:childTnLst>
                              <p:set>
                                <p:cBhvr>
                                  <p:cTn id="26" dur="1" fill="hold"/>
                                  <p:tgtEl>
                                    <p:spTgt spid="17"/>
                                  </p:tgtEl>
                                  <p:attrNameLst>
                                    <p:attrName>style.visibility</p:attrName>
                                  </p:attrNameLst>
                                </p:cBhvr>
                                <p:to>
                                  <p:strVal val="visible"/>
                                </p:to>
                              </p:set>
                              <p:animEffect transition="in" filter="fade">
                                <p:cBhvr>
                                  <p:cTn id="27" dur="550"/>
                                  <p:tgtEl>
                                    <p:spTgt spid="17"/>
                                  </p:tgtEl>
                                </p:cBhvr>
                              </p:animEffect>
                            </p:childTnLst>
                          </p:cTn>
                        </p:par>
                        <p:par>
                          <p:cTn id="28" presetID="10" presetClass="entr" presetSubtype="0" fill="hold" nodeType="withEffect">
                            <p:stCondLst>
                              <p:cond delay="1250"/>
                            </p:stCondLst>
                            <p:childTnLst>
                              <p:set>
                                <p:cBhvr>
                                  <p:cTn id="29" dur="1" fill="hold"/>
                                  <p:tgtEl>
                                    <p:spTgt spid="18"/>
                                  </p:tgtEl>
                                  <p:attrNameLst>
                                    <p:attrName>style.visibility</p:attrName>
                                  </p:attrNameLst>
                                </p:cBhvr>
                                <p:to>
                                  <p:strVal val="visible"/>
                                </p:to>
                              </p:set>
                              <p:animEffect transition="in" filter="fade">
                                <p:cBhvr>
                                  <p:cTn id="30" dur="550"/>
                                  <p:tgtEl>
                                    <p:spTgt spid="18"/>
                                  </p:tgtEl>
                                </p:cBhvr>
                              </p:animEffect>
                            </p:childTnLst>
                          </p:cTn>
                        </p:par>
                        <p:par>
                          <p:cTn id="31" presetID="10" presetClass="entr" presetSubtype="0" fill="hold" nodeType="withEffect">
                            <p:stCondLst>
                              <p:cond delay="1250"/>
                            </p:stCondLst>
                            <p:childTnLst>
                              <p:set>
                                <p:cBhvr>
                                  <p:cTn id="32" dur="1" fill="hold"/>
                                  <p:tgtEl>
                                    <p:spTgt spid="19"/>
                                  </p:tgtEl>
                                  <p:attrNameLst>
                                    <p:attrName>style.visibility</p:attrName>
                                  </p:attrNameLst>
                                </p:cBhvr>
                                <p:to>
                                  <p:strVal val="visible"/>
                                </p:to>
                              </p:set>
                              <p:animEffect transition="in" filter="fade">
                                <p:cBhvr>
                                  <p:cTn id="33" dur="550"/>
                                  <p:tgtEl>
                                    <p:spTgt spid="19"/>
                                  </p:tgtEl>
                                </p:cBhvr>
                              </p:animEffect>
                            </p:childTnLst>
                          </p:cTn>
                        </p:par>
                        <p:par>
                          <p:cTn id="34" presetID="10" presetClass="entr" presetSubtype="0" fill="hold" nodeType="withEffect">
                            <p:stCondLst>
                              <p:cond delay="2500"/>
                            </p:stCondLst>
                            <p:childTnLst>
                              <p:set>
                                <p:cBhvr>
                                  <p:cTn id="35" dur="1" fill="hold"/>
                                  <p:tgtEl>
                                    <p:spTgt spid="20"/>
                                  </p:tgtEl>
                                  <p:attrNameLst>
                                    <p:attrName>style.visibility</p:attrName>
                                  </p:attrNameLst>
                                </p:cBhvr>
                                <p:to>
                                  <p:strVal val="visible"/>
                                </p:to>
                              </p:set>
                              <p:animEffect transition="in" filter="fade">
                                <p:cBhvr>
                                  <p:cTn id="36" dur="550"/>
                                  <p:tgtEl>
                                    <p:spTgt spid="20"/>
                                  </p:tgtEl>
                                </p:cBhvr>
                              </p:animEffect>
                            </p:childTnLst>
                          </p:cTn>
                        </p:par>
                        <p:par>
                          <p:cTn id="37" presetID="10" presetClass="entr" presetSubtype="0" fill="hold" nodeType="withEffect">
                            <p:stCondLst>
                              <p:cond delay="2500"/>
                            </p:stCondLst>
                            <p:childTnLst>
                              <p:set>
                                <p:cBhvr>
                                  <p:cTn id="38" dur="1" fill="hold"/>
                                  <p:tgtEl>
                                    <p:spTgt spid="21"/>
                                  </p:tgtEl>
                                  <p:attrNameLst>
                                    <p:attrName>style.visibility</p:attrName>
                                  </p:attrNameLst>
                                </p:cBhvr>
                                <p:to>
                                  <p:strVal val="visible"/>
                                </p:to>
                              </p:set>
                              <p:animEffect transition="in" filter="fade">
                                <p:cBhvr>
                                  <p:cTn id="39" dur="550"/>
                                  <p:tgtEl>
                                    <p:spTgt spid="21"/>
                                  </p:tgtEl>
                                </p:cBhvr>
                              </p:animEffect>
                            </p:childTnLst>
                          </p:cTn>
                        </p:par>
                        <p:par>
                          <p:cTn id="40" presetID="10" presetClass="entr" presetSubtype="0" fill="hold" nodeType="withEffect">
                            <p:stCondLst>
                              <p:cond delay="2500"/>
                            </p:stCondLst>
                            <p:childTnLst>
                              <p:set>
                                <p:cBhvr>
                                  <p:cTn id="41" dur="1" fill="hold"/>
                                  <p:tgtEl>
                                    <p:spTgt spid="22"/>
                                  </p:tgtEl>
                                  <p:attrNameLst>
                                    <p:attrName>style.visibility</p:attrName>
                                  </p:attrNameLst>
                                </p:cBhvr>
                                <p:to>
                                  <p:strVal val="visible"/>
                                </p:to>
                              </p:set>
                              <p:animEffect transition="in" filter="fade">
                                <p:cBhvr>
                                  <p:cTn id="42" dur="550"/>
                                  <p:tgtEl>
                                    <p:spTgt spid="22"/>
                                  </p:tgtEl>
                                </p:cBhvr>
                              </p:animEffect>
                            </p:childTnLst>
                          </p:cTn>
                        </p:par>
                        <p:par>
                          <p:cTn id="43" presetID="10" presetClass="entr" presetSubtype="0" fill="hold" nodeType="withEffect">
                            <p:stCondLst>
                              <p:cond delay="2500"/>
                            </p:stCondLst>
                            <p:childTnLst>
                              <p:set>
                                <p:cBhvr>
                                  <p:cTn id="44" dur="1" fill="hold"/>
                                  <p:tgtEl>
                                    <p:spTgt spid="23"/>
                                  </p:tgtEl>
                                  <p:attrNameLst>
                                    <p:attrName>style.visibility</p:attrName>
                                  </p:attrNameLst>
                                </p:cBhvr>
                                <p:to>
                                  <p:strVal val="visible"/>
                                </p:to>
                              </p:set>
                              <p:animEffect transition="in" filter="fade">
                                <p:cBhvr>
                                  <p:cTn id="45" dur="550"/>
                                  <p:tgtEl>
                                    <p:spTgt spid="23"/>
                                  </p:tgtEl>
                                </p:cBhvr>
                              </p:animEffect>
                            </p:childTnLst>
                          </p:cTn>
                        </p:par>
                        <p:par>
                          <p:cTn id="46" presetID="10" presetClass="entr" presetSubtype="0" fill="hold" nodeType="withEffect">
                            <p:stCondLst>
                              <p:cond delay="2500"/>
                            </p:stCondLst>
                            <p:childTnLst>
                              <p:set>
                                <p:cBhvr>
                                  <p:cTn id="47" dur="1" fill="hold"/>
                                  <p:tgtEl>
                                    <p:spTgt spid="24"/>
                                  </p:tgtEl>
                                  <p:attrNameLst>
                                    <p:attrName>style.visibility</p:attrName>
                                  </p:attrNameLst>
                                </p:cBhvr>
                                <p:to>
                                  <p:strVal val="visible"/>
                                </p:to>
                              </p:set>
                              <p:animEffect transition="in" filter="fade">
                                <p:cBhvr>
                                  <p:cTn id="48" dur="550"/>
                                  <p:tgtEl>
                                    <p:spTgt spid="2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457200" y="266700"/>
            <a:ext cx="8572500" cy="2667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69635C"/>
                </a:solidFill>
                <a:latin typeface="Manrope"/>
              </a:rPr>
              <a:t>07 · OPTIONAL NEXT LAYER</a:t>
            </a:r>
          </a:p>
        </p:txBody>
      </p:sp>
      <p:pic>
        <p:nvPicPr>
          <p:cNvPr id="3" name="Picture 2" descr="brand.png"/>
          <p:cNvPicPr>
            <a:picLocks noChangeAspect="1"/>
          </p:cNvPicPr>
          <p:nvPr/>
        </p:nvPicPr>
        <p:blipFill>
          <a:blip r:embed="rId2"/>
          <a:stretch>
            <a:fillRect/>
          </a:stretch>
        </p:blipFill>
        <p:spPr>
          <a:xfrm>
            <a:off x="9915525" y="220662"/>
            <a:ext cx="495300" cy="330200"/>
          </a:xfrm>
          <a:prstGeom prst="rect">
            <a:avLst/>
          </a:prstGeom>
          <a:effectLst/>
        </p:spPr>
      </p:pic>
      <p:sp>
        <p:nvSpPr>
          <p:cNvPr id="4" name="TextBox 3"/>
          <p:cNvSpPr txBox="1"/>
          <p:nvPr/>
        </p:nvSpPr>
        <p:spPr>
          <a:xfrm>
            <a:off x="10515600" y="266700"/>
            <a:ext cx="1219200" cy="276225"/>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1" lang="en-US">
                <a:solidFill>
                  <a:srgbClr val="23201D"/>
                </a:solidFill>
                <a:latin typeface="Manrope"/>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l" rtl="0">
              <a:lnSpc>
                <a:spcPts val="5376"/>
              </a:lnSpc>
              <a:spcBef>
                <a:spcPts val="0"/>
              </a:spcBef>
              <a:spcAft>
                <a:spcPts val="0"/>
              </a:spcAft>
            </a:pPr>
            <a:r>
              <a:rPr sz="4800" b="1" lang="en-US">
                <a:solidFill>
                  <a:srgbClr val="23201D"/>
                </a:solidFill>
                <a:latin typeface="Manrope"/>
              </a:rPr>
              <a:t>Once context works,</a:t>
            </a:r>
          </a:p>
          <a:p>
            <a:pPr algn="l" rtl="0">
              <a:lnSpc>
                <a:spcPts val="5376"/>
              </a:lnSpc>
              <a:spcBef>
                <a:spcPts val="0"/>
              </a:spcBef>
              <a:spcAft>
                <a:spcPts val="0"/>
              </a:spcAft>
            </a:pPr>
            <a:r>
              <a:rPr sz="4800" b="1" lang="en-US">
                <a:solidFill>
                  <a:srgbClr val="23201D"/>
                </a:solidFill>
                <a:latin typeface="Manrope"/>
              </a:rPr>
              <a:t>AI can add another layer.</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0" lang="en-US">
                <a:solidFill>
                  <a:srgbClr val="69635C"/>
                </a:solidFill>
                <a:latin typeface="Manrope"/>
              </a:rPr>
              <a:t>Future possibilities, separate from the first delivery.</a:t>
            </a:r>
          </a:p>
        </p:txBody>
      </p:sp>
      <p:cxnSp>
        <p:nvCxnSpPr>
          <p:cNvPr id="7" name="Connector 6"/>
          <p:cNvCxnSpPr/>
          <p:nvPr/>
        </p:nvCxnSpPr>
        <p:spPr>
          <a:xfrm>
            <a:off x="457200" y="6334125"/>
            <a:ext cx="11277600" cy="0"/>
          </a:xfrm>
          <a:prstGeom prst="line">
            <a:avLst/>
          </a:prstGeom>
          <a:ln w="9525">
            <a:solidFill>
              <a:srgbClr val="D5CFC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457200" y="6496050"/>
            <a:ext cx="10287000"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9635C"/>
                </a:solidFill>
                <a:latin typeface="Manrope"/>
              </a:rPr>
              <a:t>PROPOSED COLLABORATION · ILLUSTRATIVE RECORDS</a:t>
            </a:r>
          </a:p>
        </p:txBody>
      </p:sp>
      <p:sp>
        <p:nvSpPr>
          <p:cNvPr id="9" name="TextBox 8"/>
          <p:cNvSpPr txBox="1"/>
          <p:nvPr/>
        </p:nvSpPr>
        <p:spPr>
          <a:xfrm>
            <a:off x="10906125" y="6496050"/>
            <a:ext cx="828675" cy="209550"/>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69635C"/>
                </a:solidFill>
                <a:latin typeface="Manrope"/>
              </a:rPr>
              <a:t>08 / 09</a:t>
            </a:r>
          </a:p>
        </p:txBody>
      </p:sp>
      <p:sp>
        <p:nvSpPr>
          <p:cNvPr id="10" name="Rounded Rectangle 9"/>
          <p:cNvSpPr/>
          <p:nvPr/>
        </p:nvSpPr>
        <p:spPr>
          <a:xfrm>
            <a:off x="457200" y="3000375"/>
            <a:ext cx="5334000" cy="1381125"/>
          </a:xfrm>
          <a:prstGeom prst="roundRect">
            <a:avLst>
              <a:gd name="adj" fmla="val 11034"/>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647700" y="3286125"/>
            <a:ext cx="714375" cy="714375"/>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icon-file.png"/>
          <p:cNvPicPr>
            <a:picLocks noChangeAspect="1"/>
          </p:cNvPicPr>
          <p:nvPr/>
        </p:nvPicPr>
        <p:blipFill>
          <a:blip r:embed="rId3"/>
          <a:stretch>
            <a:fillRect/>
          </a:stretch>
        </p:blipFill>
        <p:spPr>
          <a:xfrm>
            <a:off x="790575" y="3429000"/>
            <a:ext cx="428625" cy="428625"/>
          </a:xfrm>
          <a:prstGeom prst="rect">
            <a:avLst/>
          </a:prstGeom>
          <a:effectLst/>
        </p:spPr>
      </p:pic>
      <p:sp>
        <p:nvSpPr>
          <p:cNvPr id="13" name="TextBox 12"/>
          <p:cNvSpPr txBox="1"/>
          <p:nvPr/>
        </p:nvSpPr>
        <p:spPr>
          <a:xfrm>
            <a:off x="1552575" y="3171825"/>
            <a:ext cx="4048125" cy="495300"/>
          </a:xfrm>
          <a:prstGeom prst="rect">
            <a:avLst/>
          </a:prstGeom>
          <a:noFill/>
          <a:effectLst/>
        </p:spPr>
        <p:txBody>
          <a:bodyPr wrap="square" lIns="0" rIns="0" tIns="0" bIns="0" anchor="t">
            <a:spAutoFit/>
          </a:bodyPr>
          <a:lstStyle/>
          <a:p>
            <a:pPr algn="l" rtl="0">
              <a:lnSpc>
                <a:spcPts val="2940"/>
              </a:lnSpc>
              <a:spcBef>
                <a:spcPts val="0"/>
              </a:spcBef>
              <a:spcAft>
                <a:spcPts val="0"/>
              </a:spcAft>
            </a:pPr>
            <a:r>
              <a:rPr sz="2625" b="1" lang="en-US">
                <a:solidFill>
                  <a:srgbClr val="23201D"/>
                </a:solidFill>
                <a:latin typeface="Manrope"/>
              </a:rPr>
              <a:t>Ticket summaries</a:t>
            </a:r>
          </a:p>
        </p:txBody>
      </p:sp>
      <p:sp>
        <p:nvSpPr>
          <p:cNvPr id="14" name="TextBox 13"/>
          <p:cNvSpPr txBox="1"/>
          <p:nvPr/>
        </p:nvSpPr>
        <p:spPr>
          <a:xfrm>
            <a:off x="1552575" y="3810000"/>
            <a:ext cx="4048125" cy="42862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69635C"/>
                </a:solidFill>
                <a:latin typeface="Manrope"/>
              </a:rPr>
              <a:t>With links to source notes</a:t>
            </a:r>
          </a:p>
        </p:txBody>
      </p:sp>
      <p:sp>
        <p:nvSpPr>
          <p:cNvPr id="15" name="Rounded Rectangle 14"/>
          <p:cNvSpPr/>
          <p:nvPr/>
        </p:nvSpPr>
        <p:spPr>
          <a:xfrm>
            <a:off x="6400800" y="3000375"/>
            <a:ext cx="5334000" cy="1381125"/>
          </a:xfrm>
          <a:prstGeom prst="roundRect">
            <a:avLst>
              <a:gd name="adj" fmla="val 11034"/>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6591300" y="3286125"/>
            <a:ext cx="714375" cy="714375"/>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quality.png"/>
          <p:cNvPicPr>
            <a:picLocks noChangeAspect="1"/>
          </p:cNvPicPr>
          <p:nvPr/>
        </p:nvPicPr>
        <p:blipFill>
          <a:blip r:embed="rId4"/>
          <a:stretch>
            <a:fillRect/>
          </a:stretch>
        </p:blipFill>
        <p:spPr>
          <a:xfrm>
            <a:off x="6734175" y="3429000"/>
            <a:ext cx="428625" cy="428625"/>
          </a:xfrm>
          <a:prstGeom prst="rect">
            <a:avLst/>
          </a:prstGeom>
          <a:effectLst/>
        </p:spPr>
      </p:pic>
      <p:sp>
        <p:nvSpPr>
          <p:cNvPr id="18" name="TextBox 17"/>
          <p:cNvSpPr txBox="1"/>
          <p:nvPr/>
        </p:nvSpPr>
        <p:spPr>
          <a:xfrm>
            <a:off x="7496175" y="3171825"/>
            <a:ext cx="4048125" cy="495300"/>
          </a:xfrm>
          <a:prstGeom prst="rect">
            <a:avLst/>
          </a:prstGeom>
          <a:noFill/>
          <a:effectLst/>
        </p:spPr>
        <p:txBody>
          <a:bodyPr wrap="square" lIns="0" rIns="0" tIns="0" bIns="0" anchor="t">
            <a:spAutoFit/>
          </a:bodyPr>
          <a:lstStyle/>
          <a:p>
            <a:pPr algn="l" rtl="0">
              <a:lnSpc>
                <a:spcPts val="2940"/>
              </a:lnSpc>
              <a:spcBef>
                <a:spcPts val="0"/>
              </a:spcBef>
              <a:spcAft>
                <a:spcPts val="0"/>
              </a:spcAft>
            </a:pPr>
            <a:r>
              <a:rPr sz="2625" b="1" lang="en-US">
                <a:solidFill>
                  <a:srgbClr val="23201D"/>
                </a:solidFill>
                <a:latin typeface="Manrope"/>
              </a:rPr>
              <a:t>Recurring issues</a:t>
            </a:r>
          </a:p>
        </p:txBody>
      </p:sp>
      <p:sp>
        <p:nvSpPr>
          <p:cNvPr id="19" name="TextBox 18"/>
          <p:cNvSpPr txBox="1"/>
          <p:nvPr/>
        </p:nvSpPr>
        <p:spPr>
          <a:xfrm>
            <a:off x="7496175" y="3810000"/>
            <a:ext cx="4048125" cy="42862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69635C"/>
                </a:solidFill>
                <a:latin typeface="Manrope"/>
              </a:rPr>
              <a:t>Patterns across tickets</a:t>
            </a:r>
          </a:p>
        </p:txBody>
      </p:sp>
      <p:sp>
        <p:nvSpPr>
          <p:cNvPr id="20" name="Rounded Rectangle 19"/>
          <p:cNvSpPr/>
          <p:nvPr/>
        </p:nvSpPr>
        <p:spPr>
          <a:xfrm>
            <a:off x="457200" y="4572000"/>
            <a:ext cx="5334000" cy="1381125"/>
          </a:xfrm>
          <a:prstGeom prst="roundRect">
            <a:avLst>
              <a:gd name="adj" fmla="val 11034"/>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647700" y="4857750"/>
            <a:ext cx="714375" cy="714375"/>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con-actor.png"/>
          <p:cNvPicPr>
            <a:picLocks noChangeAspect="1"/>
          </p:cNvPicPr>
          <p:nvPr/>
        </p:nvPicPr>
        <p:blipFill>
          <a:blip r:embed="rId5"/>
          <a:stretch>
            <a:fillRect/>
          </a:stretch>
        </p:blipFill>
        <p:spPr>
          <a:xfrm>
            <a:off x="790575" y="5000625"/>
            <a:ext cx="428625" cy="428625"/>
          </a:xfrm>
          <a:prstGeom prst="rect">
            <a:avLst/>
          </a:prstGeom>
          <a:effectLst/>
        </p:spPr>
      </p:pic>
      <p:sp>
        <p:nvSpPr>
          <p:cNvPr id="23" name="TextBox 22"/>
          <p:cNvSpPr txBox="1"/>
          <p:nvPr/>
        </p:nvSpPr>
        <p:spPr>
          <a:xfrm>
            <a:off x="1552575" y="4743450"/>
            <a:ext cx="4048125" cy="495300"/>
          </a:xfrm>
          <a:prstGeom prst="rect">
            <a:avLst/>
          </a:prstGeom>
          <a:noFill/>
          <a:effectLst/>
        </p:spPr>
        <p:txBody>
          <a:bodyPr wrap="square" lIns="0" rIns="0" tIns="0" bIns="0" anchor="t">
            <a:spAutoFit/>
          </a:bodyPr>
          <a:lstStyle/>
          <a:p>
            <a:pPr algn="l" rtl="0">
              <a:lnSpc>
                <a:spcPts val="2940"/>
              </a:lnSpc>
              <a:spcBef>
                <a:spcPts val="0"/>
              </a:spcBef>
              <a:spcAft>
                <a:spcPts val="0"/>
              </a:spcAft>
            </a:pPr>
            <a:r>
              <a:rPr sz="2625" b="1" lang="en-US">
                <a:solidFill>
                  <a:srgbClr val="23201D"/>
                </a:solidFill>
                <a:latin typeface="Manrope"/>
              </a:rPr>
              <a:t>Management view</a:t>
            </a:r>
          </a:p>
        </p:txBody>
      </p:sp>
      <p:sp>
        <p:nvSpPr>
          <p:cNvPr id="24" name="TextBox 23"/>
          <p:cNvSpPr txBox="1"/>
          <p:nvPr/>
        </p:nvSpPr>
        <p:spPr>
          <a:xfrm>
            <a:off x="1552575" y="5381625"/>
            <a:ext cx="4048125" cy="42862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69635C"/>
                </a:solidFill>
                <a:latin typeface="Manrope"/>
              </a:rPr>
              <a:t>See follow-up patterns</a:t>
            </a:r>
          </a:p>
        </p:txBody>
      </p:sp>
      <p:sp>
        <p:nvSpPr>
          <p:cNvPr id="25" name="Rounded Rectangle 24"/>
          <p:cNvSpPr/>
          <p:nvPr/>
        </p:nvSpPr>
        <p:spPr>
          <a:xfrm>
            <a:off x="6400800" y="4572000"/>
            <a:ext cx="5334000" cy="1381125"/>
          </a:xfrm>
          <a:prstGeom prst="roundRect">
            <a:avLst>
              <a:gd name="adj" fmla="val 11034"/>
            </a:avLst>
          </a:prstGeom>
          <a:solidFill>
            <a:srgbClr val="FCFAF6"/>
          </a:solidFill>
          <a:ln w="9525">
            <a:solidFill>
              <a:srgbClr val="D5CF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6591300" y="4857750"/>
            <a:ext cx="714375" cy="714375"/>
          </a:xfrm>
          <a:prstGeom prst="ellipse">
            <a:avLst/>
          </a:prstGeom>
          <a:solidFill>
            <a:srgbClr val="E9E4DC"/>
          </a:solidFill>
          <a:ln w="9525">
            <a:solidFill>
              <a:srgbClr val="E9E4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clock.png"/>
          <p:cNvPicPr>
            <a:picLocks noChangeAspect="1"/>
          </p:cNvPicPr>
          <p:nvPr/>
        </p:nvPicPr>
        <p:blipFill>
          <a:blip r:embed="rId6"/>
          <a:stretch>
            <a:fillRect/>
          </a:stretch>
        </p:blipFill>
        <p:spPr>
          <a:xfrm>
            <a:off x="6734175" y="5000625"/>
            <a:ext cx="428625" cy="428625"/>
          </a:xfrm>
          <a:prstGeom prst="rect">
            <a:avLst/>
          </a:prstGeom>
          <a:effectLst/>
        </p:spPr>
      </p:pic>
      <p:sp>
        <p:nvSpPr>
          <p:cNvPr id="28" name="TextBox 27"/>
          <p:cNvSpPr txBox="1"/>
          <p:nvPr/>
        </p:nvSpPr>
        <p:spPr>
          <a:xfrm>
            <a:off x="7496175" y="4743450"/>
            <a:ext cx="4048125" cy="495300"/>
          </a:xfrm>
          <a:prstGeom prst="rect">
            <a:avLst/>
          </a:prstGeom>
          <a:noFill/>
          <a:effectLst/>
        </p:spPr>
        <p:txBody>
          <a:bodyPr wrap="square" lIns="0" rIns="0" tIns="0" bIns="0" anchor="t">
            <a:spAutoFit/>
          </a:bodyPr>
          <a:lstStyle/>
          <a:p>
            <a:pPr algn="l" rtl="0">
              <a:lnSpc>
                <a:spcPts val="2940"/>
              </a:lnSpc>
              <a:spcBef>
                <a:spcPts val="0"/>
              </a:spcBef>
              <a:spcAft>
                <a:spcPts val="0"/>
              </a:spcAft>
            </a:pPr>
            <a:r>
              <a:rPr sz="2625" b="1" lang="en-US">
                <a:solidFill>
                  <a:srgbClr val="23201D"/>
                </a:solidFill>
                <a:latin typeface="Manrope"/>
              </a:rPr>
              <a:t>Follow-up support</a:t>
            </a:r>
          </a:p>
        </p:txBody>
      </p:sp>
      <p:sp>
        <p:nvSpPr>
          <p:cNvPr id="29" name="TextBox 28"/>
          <p:cNvSpPr txBox="1"/>
          <p:nvPr/>
        </p:nvSpPr>
        <p:spPr>
          <a:xfrm>
            <a:off x="7496175" y="5381625"/>
            <a:ext cx="4048125" cy="42862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69635C"/>
                </a:solidFill>
                <a:latin typeface="Manrope"/>
              </a:rPr>
              <a:t>Prompts for employee review</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0"/>
                                  </p:tgtEl>
                                  <p:attrNameLst>
                                    <p:attrName>style.visibility</p:attrName>
                                  </p:attrNameLst>
                                </p:cBhvr>
                                <p:to>
                                  <p:strVal val="visible"/>
                                </p:to>
                              </p:set>
                              <p:animEffect transition="in" filter="fade">
                                <p:cBhvr>
                                  <p:cTn id="6" dur="550"/>
                                  <p:tgtEl>
                                    <p:spTgt spid="10"/>
                                  </p:tgtEl>
                                </p:cBhvr>
                              </p:animEffect>
                            </p:childTnLst>
                          </p:cTn>
                        </p:par>
                        <p:par>
                          <p:cTn id="7" presetID="10" presetClass="entr" presetSubtype="0" fill="hold" nodeType="withEffect">
                            <p:stCondLst>
                              <p:cond delay="0"/>
                            </p:stCondLst>
                            <p:childTnLst>
                              <p:set>
                                <p:cBhvr>
                                  <p:cTn id="8" dur="1" fill="hold"/>
                                  <p:tgtEl>
                                    <p:spTgt spid="11"/>
                                  </p:tgtEl>
                                  <p:attrNameLst>
                                    <p:attrName>style.visibility</p:attrName>
                                  </p:attrNameLst>
                                </p:cBhvr>
                                <p:to>
                                  <p:strVal val="visible"/>
                                </p:to>
                              </p:set>
                              <p:animEffect transition="in" filter="fade">
                                <p:cBhvr>
                                  <p:cTn id="9" dur="550"/>
                                  <p:tgtEl>
                                    <p:spTgt spid="11"/>
                                  </p:tgtEl>
                                </p:cBhvr>
                              </p:animEffect>
                            </p:childTnLst>
                          </p:cTn>
                        </p:par>
                        <p:par>
                          <p:cTn id="10" presetID="10" presetClass="entr" presetSubtype="0" fill="hold" nodeType="withEffect">
                            <p:stCondLst>
                              <p:cond delay="0"/>
                            </p:stCondLst>
                            <p:childTnLst>
                              <p:set>
                                <p:cBhvr>
                                  <p:cTn id="11" dur="1" fill="hold"/>
                                  <p:tgtEl>
                                    <p:spTgt spid="12"/>
                                  </p:tgtEl>
                                  <p:attrNameLst>
                                    <p:attrName>style.visibility</p:attrName>
                                  </p:attrNameLst>
                                </p:cBhvr>
                                <p:to>
                                  <p:strVal val="visible"/>
                                </p:to>
                              </p:set>
                              <p:animEffect transition="in" filter="fade">
                                <p:cBhvr>
                                  <p:cTn id="12" dur="550"/>
                                  <p:tgtEl>
                                    <p:spTgt spid="12"/>
                                  </p:tgtEl>
                                </p:cBhvr>
                              </p:animEffect>
                            </p:childTnLst>
                          </p:cTn>
                        </p:par>
                        <p:par>
                          <p:cTn id="13" presetID="10" presetClass="entr" presetSubtype="0" fill="hold" nodeType="withEffect">
                            <p:stCondLst>
                              <p:cond delay="0"/>
                            </p:stCondLst>
                            <p:childTnLst>
                              <p:set>
                                <p:cBhvr>
                                  <p:cTn id="14" dur="1" fill="hold"/>
                                  <p:tgtEl>
                                    <p:spTgt spid="13"/>
                                  </p:tgtEl>
                                  <p:attrNameLst>
                                    <p:attrName>style.visibility</p:attrName>
                                  </p:attrNameLst>
                                </p:cBhvr>
                                <p:to>
                                  <p:strVal val="visible"/>
                                </p:to>
                              </p:set>
                              <p:animEffect transition="in" filter="fade">
                                <p:cBhvr>
                                  <p:cTn id="15" dur="550"/>
                                  <p:tgtEl>
                                    <p:spTgt spid="13"/>
                                  </p:tgtEl>
                                </p:cBhvr>
                              </p:animEffect>
                            </p:childTnLst>
                          </p:cTn>
                        </p:par>
                        <p:par>
                          <p:cTn id="16" presetID="10" presetClass="entr" presetSubtype="0" fill="hold" nodeType="withEffect">
                            <p:stCondLst>
                              <p:cond delay="0"/>
                            </p:stCondLst>
                            <p:childTnLst>
                              <p:set>
                                <p:cBhvr>
                                  <p:cTn id="17" dur="1" fill="hold"/>
                                  <p:tgtEl>
                                    <p:spTgt spid="14"/>
                                  </p:tgtEl>
                                  <p:attrNameLst>
                                    <p:attrName>style.visibility</p:attrName>
                                  </p:attrNameLst>
                                </p:cBhvr>
                                <p:to>
                                  <p:strVal val="visible"/>
                                </p:to>
                              </p:set>
                              <p:animEffect transition="in" filter="fade">
                                <p:cBhvr>
                                  <p:cTn id="18" dur="550"/>
                                  <p:tgtEl>
                                    <p:spTgt spid="14"/>
                                  </p:tgtEl>
                                </p:cBhvr>
                              </p:animEffect>
                            </p:childTnLst>
                          </p:cTn>
                        </p:par>
                        <p:par>
                          <p:cTn id="19" presetID="10" presetClass="entr" presetSubtype="0" fill="hold" nodeType="withEffect">
                            <p:stCondLst>
                              <p:cond delay="1250"/>
                            </p:stCondLst>
                            <p:childTnLst>
                              <p:set>
                                <p:cBhvr>
                                  <p:cTn id="20" dur="1" fill="hold"/>
                                  <p:tgtEl>
                                    <p:spTgt spid="15"/>
                                  </p:tgtEl>
                                  <p:attrNameLst>
                                    <p:attrName>style.visibility</p:attrName>
                                  </p:attrNameLst>
                                </p:cBhvr>
                                <p:to>
                                  <p:strVal val="visible"/>
                                </p:to>
                              </p:set>
                              <p:animEffect transition="in" filter="fade">
                                <p:cBhvr>
                                  <p:cTn id="21" dur="550"/>
                                  <p:tgtEl>
                                    <p:spTgt spid="15"/>
                                  </p:tgtEl>
                                </p:cBhvr>
                              </p:animEffect>
                            </p:childTnLst>
                          </p:cTn>
                        </p:par>
                        <p:par>
                          <p:cTn id="22" presetID="10" presetClass="entr" presetSubtype="0" fill="hold" nodeType="withEffect">
                            <p:stCondLst>
                              <p:cond delay="1250"/>
                            </p:stCondLst>
                            <p:childTnLst>
                              <p:set>
                                <p:cBhvr>
                                  <p:cTn id="23" dur="1" fill="hold"/>
                                  <p:tgtEl>
                                    <p:spTgt spid="16"/>
                                  </p:tgtEl>
                                  <p:attrNameLst>
                                    <p:attrName>style.visibility</p:attrName>
                                  </p:attrNameLst>
                                </p:cBhvr>
                                <p:to>
                                  <p:strVal val="visible"/>
                                </p:to>
                              </p:set>
                              <p:animEffect transition="in" filter="fade">
                                <p:cBhvr>
                                  <p:cTn id="24" dur="550"/>
                                  <p:tgtEl>
                                    <p:spTgt spid="16"/>
                                  </p:tgtEl>
                                </p:cBhvr>
                              </p:animEffect>
                            </p:childTnLst>
                          </p:cTn>
                        </p:par>
                        <p:par>
                          <p:cTn id="25" presetID="10" presetClass="entr" presetSubtype="0" fill="hold" nodeType="withEffect">
                            <p:stCondLst>
                              <p:cond delay="1250"/>
                            </p:stCondLst>
                            <p:childTnLst>
                              <p:set>
                                <p:cBhvr>
                                  <p:cTn id="26" dur="1" fill="hold"/>
                                  <p:tgtEl>
                                    <p:spTgt spid="17"/>
                                  </p:tgtEl>
                                  <p:attrNameLst>
                                    <p:attrName>style.visibility</p:attrName>
                                  </p:attrNameLst>
                                </p:cBhvr>
                                <p:to>
                                  <p:strVal val="visible"/>
                                </p:to>
                              </p:set>
                              <p:animEffect transition="in" filter="fade">
                                <p:cBhvr>
                                  <p:cTn id="27" dur="550"/>
                                  <p:tgtEl>
                                    <p:spTgt spid="17"/>
                                  </p:tgtEl>
                                </p:cBhvr>
                              </p:animEffect>
                            </p:childTnLst>
                          </p:cTn>
                        </p:par>
                        <p:par>
                          <p:cTn id="28" presetID="10" presetClass="entr" presetSubtype="0" fill="hold" nodeType="withEffect">
                            <p:stCondLst>
                              <p:cond delay="1250"/>
                            </p:stCondLst>
                            <p:childTnLst>
                              <p:set>
                                <p:cBhvr>
                                  <p:cTn id="29" dur="1" fill="hold"/>
                                  <p:tgtEl>
                                    <p:spTgt spid="18"/>
                                  </p:tgtEl>
                                  <p:attrNameLst>
                                    <p:attrName>style.visibility</p:attrName>
                                  </p:attrNameLst>
                                </p:cBhvr>
                                <p:to>
                                  <p:strVal val="visible"/>
                                </p:to>
                              </p:set>
                              <p:animEffect transition="in" filter="fade">
                                <p:cBhvr>
                                  <p:cTn id="30" dur="550"/>
                                  <p:tgtEl>
                                    <p:spTgt spid="18"/>
                                  </p:tgtEl>
                                </p:cBhvr>
                              </p:animEffect>
                            </p:childTnLst>
                          </p:cTn>
                        </p:par>
                        <p:par>
                          <p:cTn id="31" presetID="10" presetClass="entr" presetSubtype="0" fill="hold" nodeType="withEffect">
                            <p:stCondLst>
                              <p:cond delay="1250"/>
                            </p:stCondLst>
                            <p:childTnLst>
                              <p:set>
                                <p:cBhvr>
                                  <p:cTn id="32" dur="1" fill="hold"/>
                                  <p:tgtEl>
                                    <p:spTgt spid="19"/>
                                  </p:tgtEl>
                                  <p:attrNameLst>
                                    <p:attrName>style.visibility</p:attrName>
                                  </p:attrNameLst>
                                </p:cBhvr>
                                <p:to>
                                  <p:strVal val="visible"/>
                                </p:to>
                              </p:set>
                              <p:animEffect transition="in" filter="fade">
                                <p:cBhvr>
                                  <p:cTn id="33" dur="550"/>
                                  <p:tgtEl>
                                    <p:spTgt spid="19"/>
                                  </p:tgtEl>
                                </p:cBhvr>
                              </p:animEffect>
                            </p:childTnLst>
                          </p:cTn>
                        </p:par>
                        <p:par>
                          <p:cTn id="34" presetID="10" presetClass="entr" presetSubtype="0" fill="hold" nodeType="withEffect">
                            <p:stCondLst>
                              <p:cond delay="2500"/>
                            </p:stCondLst>
                            <p:childTnLst>
                              <p:set>
                                <p:cBhvr>
                                  <p:cTn id="35" dur="1" fill="hold"/>
                                  <p:tgtEl>
                                    <p:spTgt spid="20"/>
                                  </p:tgtEl>
                                  <p:attrNameLst>
                                    <p:attrName>style.visibility</p:attrName>
                                  </p:attrNameLst>
                                </p:cBhvr>
                                <p:to>
                                  <p:strVal val="visible"/>
                                </p:to>
                              </p:set>
                              <p:animEffect transition="in" filter="fade">
                                <p:cBhvr>
                                  <p:cTn id="36" dur="550"/>
                                  <p:tgtEl>
                                    <p:spTgt spid="20"/>
                                  </p:tgtEl>
                                </p:cBhvr>
                              </p:animEffect>
                            </p:childTnLst>
                          </p:cTn>
                        </p:par>
                        <p:par>
                          <p:cTn id="37" presetID="10" presetClass="entr" presetSubtype="0" fill="hold" nodeType="withEffect">
                            <p:stCondLst>
                              <p:cond delay="2500"/>
                            </p:stCondLst>
                            <p:childTnLst>
                              <p:set>
                                <p:cBhvr>
                                  <p:cTn id="38" dur="1" fill="hold"/>
                                  <p:tgtEl>
                                    <p:spTgt spid="21"/>
                                  </p:tgtEl>
                                  <p:attrNameLst>
                                    <p:attrName>style.visibility</p:attrName>
                                  </p:attrNameLst>
                                </p:cBhvr>
                                <p:to>
                                  <p:strVal val="visible"/>
                                </p:to>
                              </p:set>
                              <p:animEffect transition="in" filter="fade">
                                <p:cBhvr>
                                  <p:cTn id="39" dur="550"/>
                                  <p:tgtEl>
                                    <p:spTgt spid="21"/>
                                  </p:tgtEl>
                                </p:cBhvr>
                              </p:animEffect>
                            </p:childTnLst>
                          </p:cTn>
                        </p:par>
                        <p:par>
                          <p:cTn id="40" presetID="10" presetClass="entr" presetSubtype="0" fill="hold" nodeType="withEffect">
                            <p:stCondLst>
                              <p:cond delay="2500"/>
                            </p:stCondLst>
                            <p:childTnLst>
                              <p:set>
                                <p:cBhvr>
                                  <p:cTn id="41" dur="1" fill="hold"/>
                                  <p:tgtEl>
                                    <p:spTgt spid="22"/>
                                  </p:tgtEl>
                                  <p:attrNameLst>
                                    <p:attrName>style.visibility</p:attrName>
                                  </p:attrNameLst>
                                </p:cBhvr>
                                <p:to>
                                  <p:strVal val="visible"/>
                                </p:to>
                              </p:set>
                              <p:animEffect transition="in" filter="fade">
                                <p:cBhvr>
                                  <p:cTn id="42" dur="550"/>
                                  <p:tgtEl>
                                    <p:spTgt spid="22"/>
                                  </p:tgtEl>
                                </p:cBhvr>
                              </p:animEffect>
                            </p:childTnLst>
                          </p:cTn>
                        </p:par>
                        <p:par>
                          <p:cTn id="43" presetID="10" presetClass="entr" presetSubtype="0" fill="hold" nodeType="withEffect">
                            <p:stCondLst>
                              <p:cond delay="2500"/>
                            </p:stCondLst>
                            <p:childTnLst>
                              <p:set>
                                <p:cBhvr>
                                  <p:cTn id="44" dur="1" fill="hold"/>
                                  <p:tgtEl>
                                    <p:spTgt spid="23"/>
                                  </p:tgtEl>
                                  <p:attrNameLst>
                                    <p:attrName>style.visibility</p:attrName>
                                  </p:attrNameLst>
                                </p:cBhvr>
                                <p:to>
                                  <p:strVal val="visible"/>
                                </p:to>
                              </p:set>
                              <p:animEffect transition="in" filter="fade">
                                <p:cBhvr>
                                  <p:cTn id="45" dur="550"/>
                                  <p:tgtEl>
                                    <p:spTgt spid="23"/>
                                  </p:tgtEl>
                                </p:cBhvr>
                              </p:animEffect>
                            </p:childTnLst>
                          </p:cTn>
                        </p:par>
                        <p:par>
                          <p:cTn id="46" presetID="10" presetClass="entr" presetSubtype="0" fill="hold" nodeType="withEffect">
                            <p:stCondLst>
                              <p:cond delay="2500"/>
                            </p:stCondLst>
                            <p:childTnLst>
                              <p:set>
                                <p:cBhvr>
                                  <p:cTn id="47" dur="1" fill="hold"/>
                                  <p:tgtEl>
                                    <p:spTgt spid="24"/>
                                  </p:tgtEl>
                                  <p:attrNameLst>
                                    <p:attrName>style.visibility</p:attrName>
                                  </p:attrNameLst>
                                </p:cBhvr>
                                <p:to>
                                  <p:strVal val="visible"/>
                                </p:to>
                              </p:set>
                              <p:animEffect transition="in" filter="fade">
                                <p:cBhvr>
                                  <p:cTn id="48" dur="550"/>
                                  <p:tgtEl>
                                    <p:spTgt spid="24"/>
                                  </p:tgtEl>
                                </p:cBhvr>
                              </p:animEffect>
                            </p:childTnLst>
                          </p:cTn>
                        </p:par>
                        <p:par>
                          <p:cTn id="49" presetID="10" presetClass="entr" presetSubtype="0" fill="hold" nodeType="withEffect">
                            <p:stCondLst>
                              <p:cond delay="3750"/>
                            </p:stCondLst>
                            <p:childTnLst>
                              <p:set>
                                <p:cBhvr>
                                  <p:cTn id="50" dur="1" fill="hold"/>
                                  <p:tgtEl>
                                    <p:spTgt spid="25"/>
                                  </p:tgtEl>
                                  <p:attrNameLst>
                                    <p:attrName>style.visibility</p:attrName>
                                  </p:attrNameLst>
                                </p:cBhvr>
                                <p:to>
                                  <p:strVal val="visible"/>
                                </p:to>
                              </p:set>
                              <p:animEffect transition="in" filter="fade">
                                <p:cBhvr>
                                  <p:cTn id="51" dur="550"/>
                                  <p:tgtEl>
                                    <p:spTgt spid="25"/>
                                  </p:tgtEl>
                                </p:cBhvr>
                              </p:animEffect>
                            </p:childTnLst>
                          </p:cTn>
                        </p:par>
                        <p:par>
                          <p:cTn id="52" presetID="10" presetClass="entr" presetSubtype="0" fill="hold" nodeType="withEffect">
                            <p:stCondLst>
                              <p:cond delay="3750"/>
                            </p:stCondLst>
                            <p:childTnLst>
                              <p:set>
                                <p:cBhvr>
                                  <p:cTn id="53" dur="1" fill="hold"/>
                                  <p:tgtEl>
                                    <p:spTgt spid="26"/>
                                  </p:tgtEl>
                                  <p:attrNameLst>
                                    <p:attrName>style.visibility</p:attrName>
                                  </p:attrNameLst>
                                </p:cBhvr>
                                <p:to>
                                  <p:strVal val="visible"/>
                                </p:to>
                              </p:set>
                              <p:animEffect transition="in" filter="fade">
                                <p:cBhvr>
                                  <p:cTn id="54" dur="550"/>
                                  <p:tgtEl>
                                    <p:spTgt spid="26"/>
                                  </p:tgtEl>
                                </p:cBhvr>
                              </p:animEffect>
                            </p:childTnLst>
                          </p:cTn>
                        </p:par>
                        <p:par>
                          <p:cTn id="55" presetID="10" presetClass="entr" presetSubtype="0" fill="hold" nodeType="withEffect">
                            <p:stCondLst>
                              <p:cond delay="3750"/>
                            </p:stCondLst>
                            <p:childTnLst>
                              <p:set>
                                <p:cBhvr>
                                  <p:cTn id="56" dur="1" fill="hold"/>
                                  <p:tgtEl>
                                    <p:spTgt spid="27"/>
                                  </p:tgtEl>
                                  <p:attrNameLst>
                                    <p:attrName>style.visibility</p:attrName>
                                  </p:attrNameLst>
                                </p:cBhvr>
                                <p:to>
                                  <p:strVal val="visible"/>
                                </p:to>
                              </p:set>
                              <p:animEffect transition="in" filter="fade">
                                <p:cBhvr>
                                  <p:cTn id="57" dur="550"/>
                                  <p:tgtEl>
                                    <p:spTgt spid="27"/>
                                  </p:tgtEl>
                                </p:cBhvr>
                              </p:animEffect>
                            </p:childTnLst>
                          </p:cTn>
                        </p:par>
                        <p:par>
                          <p:cTn id="58" presetID="10" presetClass="entr" presetSubtype="0" fill="hold" nodeType="withEffect">
                            <p:stCondLst>
                              <p:cond delay="3750"/>
                            </p:stCondLst>
                            <p:childTnLst>
                              <p:set>
                                <p:cBhvr>
                                  <p:cTn id="59" dur="1" fill="hold"/>
                                  <p:tgtEl>
                                    <p:spTgt spid="28"/>
                                  </p:tgtEl>
                                  <p:attrNameLst>
                                    <p:attrName>style.visibility</p:attrName>
                                  </p:attrNameLst>
                                </p:cBhvr>
                                <p:to>
                                  <p:strVal val="visible"/>
                                </p:to>
                              </p:set>
                              <p:animEffect transition="in" filter="fade">
                                <p:cBhvr>
                                  <p:cTn id="60" dur="550"/>
                                  <p:tgtEl>
                                    <p:spTgt spid="28"/>
                                  </p:tgtEl>
                                </p:cBhvr>
                              </p:animEffect>
                            </p:childTnLst>
                          </p:cTn>
                        </p:par>
                        <p:par>
                          <p:cTn id="61" presetID="10" presetClass="entr" presetSubtype="0" fill="hold" nodeType="withEffect">
                            <p:stCondLst>
                              <p:cond delay="3750"/>
                            </p:stCondLst>
                            <p:childTnLst>
                              <p:set>
                                <p:cBhvr>
                                  <p:cTn id="62" dur="1" fill="hold"/>
                                  <p:tgtEl>
                                    <p:spTgt spid="29"/>
                                  </p:tgtEl>
                                  <p:attrNameLst>
                                    <p:attrName>style.visibility</p:attrName>
                                  </p:attrNameLst>
                                </p:cBhvr>
                                <p:to>
                                  <p:strVal val="visible"/>
                                </p:to>
                              </p:set>
                              <p:animEffect transition="in" filter="fade">
                                <p:cBhvr>
                                  <p:cTn id="63" dur="5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3201D"/>
        </a:solidFill>
        <a:effectLst/>
      </p:bgPr>
    </p:bg>
    <p:spTree>
      <p:nvGrpSpPr>
        <p:cNvPr id="1" name=""/>
        <p:cNvGrpSpPr/>
        <p:nvPr/>
      </p:nvGrpSpPr>
      <p:grpSpPr/>
      <p:sp>
        <p:nvSpPr>
          <p:cNvPr id="2" name="TextBox 1"/>
          <p:cNvSpPr txBox="1"/>
          <p:nvPr/>
        </p:nvSpPr>
        <p:spPr>
          <a:xfrm>
            <a:off x="457200" y="266700"/>
            <a:ext cx="8572500" cy="2667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D5CFC6"/>
                </a:solidFill>
                <a:latin typeface="Manrope"/>
              </a:rPr>
              <a:t>08 · A FOCUSED FIRST COLLABORATION</a:t>
            </a:r>
          </a:p>
        </p:txBody>
      </p:sp>
      <p:pic>
        <p:nvPicPr>
          <p:cNvPr id="3" name="Picture 2" descr="brand-white.png"/>
          <p:cNvPicPr>
            <a:picLocks noChangeAspect="1"/>
          </p:cNvPicPr>
          <p:nvPr/>
        </p:nvPicPr>
        <p:blipFill>
          <a:blip r:embed="rId2"/>
          <a:stretch>
            <a:fillRect/>
          </a:stretch>
        </p:blipFill>
        <p:spPr>
          <a:xfrm>
            <a:off x="9915525" y="220662"/>
            <a:ext cx="495300" cy="330200"/>
          </a:xfrm>
          <a:prstGeom prst="rect">
            <a:avLst/>
          </a:prstGeom>
          <a:effectLst/>
        </p:spPr>
      </p:pic>
      <p:sp>
        <p:nvSpPr>
          <p:cNvPr id="4" name="TextBox 3"/>
          <p:cNvSpPr txBox="1"/>
          <p:nvPr/>
        </p:nvSpPr>
        <p:spPr>
          <a:xfrm>
            <a:off x="10515600" y="266700"/>
            <a:ext cx="1219200" cy="276225"/>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1" lang="en-US">
                <a:solidFill>
                  <a:srgbClr val="FCFAF6"/>
                </a:solidFill>
                <a:latin typeface="Manrope"/>
              </a:rPr>
              <a:t>GRINDCTRL</a:t>
            </a:r>
          </a:p>
        </p:txBody>
      </p:sp>
      <p:sp>
        <p:nvSpPr>
          <p:cNvPr id="5" name="TextBox 4"/>
          <p:cNvSpPr txBox="1"/>
          <p:nvPr/>
        </p:nvSpPr>
        <p:spPr>
          <a:xfrm>
            <a:off x="457200" y="819150"/>
            <a:ext cx="11277600" cy="1562100"/>
          </a:xfrm>
          <a:prstGeom prst="rect">
            <a:avLst/>
          </a:prstGeom>
          <a:noFill/>
          <a:effectLst/>
        </p:spPr>
        <p:txBody>
          <a:bodyPr wrap="square" lIns="0" rIns="0" tIns="0" bIns="0" anchor="t">
            <a:spAutoFit/>
          </a:bodyPr>
          <a:lstStyle/>
          <a:p>
            <a:pPr algn="l" rtl="0">
              <a:lnSpc>
                <a:spcPts val="5376"/>
              </a:lnSpc>
              <a:spcBef>
                <a:spcPts val="0"/>
              </a:spcBef>
              <a:spcAft>
                <a:spcPts val="0"/>
              </a:spcAft>
            </a:pPr>
            <a:r>
              <a:rPr sz="4800" b="1" lang="en-US">
                <a:solidFill>
                  <a:srgbClr val="FCFAF6"/>
                </a:solidFill>
                <a:latin typeface="Manrope"/>
              </a:rPr>
              <a:t>Let the call begin</a:t>
            </a:r>
          </a:p>
          <a:p>
            <a:pPr algn="l" rtl="0">
              <a:lnSpc>
                <a:spcPts val="5376"/>
              </a:lnSpc>
              <a:spcBef>
                <a:spcPts val="0"/>
              </a:spcBef>
              <a:spcAft>
                <a:spcPts val="0"/>
              </a:spcAft>
            </a:pPr>
            <a:r>
              <a:rPr sz="4800" b="1" lang="en-US">
                <a:solidFill>
                  <a:srgbClr val="FCFAF6"/>
                </a:solidFill>
                <a:latin typeface="Manrope"/>
              </a:rPr>
              <a:t>with customer context.</a:t>
            </a:r>
          </a:p>
        </p:txBody>
      </p:sp>
      <p:sp>
        <p:nvSpPr>
          <p:cNvPr id="6" name="TextBox 5"/>
          <p:cNvSpPr txBox="1"/>
          <p:nvPr/>
        </p:nvSpPr>
        <p:spPr>
          <a:xfrm>
            <a:off x="457200" y="2419350"/>
            <a:ext cx="11277600" cy="457200"/>
          </a:xfrm>
          <a:prstGeom prst="rect">
            <a:avLst/>
          </a:prstGeom>
          <a:noFill/>
          <a:effectLst/>
        </p:spPr>
        <p:txBody>
          <a:bodyPr wrap="square" lIns="0" rIns="0" tIns="0" bIns="0" anchor="t">
            <a:spAutoFit/>
          </a:bodyPr>
          <a:lstStyle/>
          <a:p>
            <a:pPr algn="l" rtl="0">
              <a:lnSpc>
                <a:spcPts val="2688"/>
              </a:lnSpc>
              <a:spcBef>
                <a:spcPts val="0"/>
              </a:spcBef>
              <a:spcAft>
                <a:spcPts val="0"/>
              </a:spcAft>
            </a:pPr>
            <a:r>
              <a:rPr sz="2400" b="0" lang="en-US">
                <a:solidFill>
                  <a:srgbClr val="D5CFC6"/>
                </a:solidFill>
                <a:latin typeface="Manrope"/>
              </a:rPr>
              <a:t>A clear operational improvement for Concrete.</a:t>
            </a:r>
          </a:p>
        </p:txBody>
      </p:sp>
      <p:cxnSp>
        <p:nvCxnSpPr>
          <p:cNvPr id="7" name="Connector 6"/>
          <p:cNvCxnSpPr/>
          <p:nvPr/>
        </p:nvCxnSpPr>
        <p:spPr>
          <a:xfrm>
            <a:off x="457200" y="6334125"/>
            <a:ext cx="11277600" cy="0"/>
          </a:xfrm>
          <a:prstGeom prst="line">
            <a:avLst/>
          </a:prstGeom>
          <a:ln w="9525">
            <a:solidFill>
              <a:srgbClr val="675E55"/>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457200" y="6496050"/>
            <a:ext cx="10287000" cy="20955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D5CFC6"/>
                </a:solidFill>
                <a:latin typeface="Manrope"/>
              </a:rPr>
              <a:t>PROPOSED COLLABORATION · ILLUSTRATIVE RECORDS</a:t>
            </a:r>
          </a:p>
        </p:txBody>
      </p:sp>
      <p:sp>
        <p:nvSpPr>
          <p:cNvPr id="9" name="TextBox 8"/>
          <p:cNvSpPr txBox="1"/>
          <p:nvPr/>
        </p:nvSpPr>
        <p:spPr>
          <a:xfrm>
            <a:off x="10906125" y="6496050"/>
            <a:ext cx="828675" cy="209550"/>
          </a:xfrm>
          <a:prstGeom prst="rect">
            <a:avLst/>
          </a:prstGeom>
          <a:noFill/>
          <a:effectLst/>
        </p:spPr>
        <p:txBody>
          <a:bodyPr wrap="square" lIns="0" rIns="0" tIns="0" bIns="0" anchor="t">
            <a:spAutoFit/>
          </a:bodyPr>
          <a:lstStyle/>
          <a:p>
            <a:pPr algn="r" rtl="0">
              <a:lnSpc>
                <a:spcPts val="1260"/>
              </a:lnSpc>
              <a:spcBef>
                <a:spcPts val="0"/>
              </a:spcBef>
              <a:spcAft>
                <a:spcPts val="0"/>
              </a:spcAft>
            </a:pPr>
            <a:r>
              <a:rPr sz="1125" b="0" lang="en-US">
                <a:solidFill>
                  <a:srgbClr val="D5CFC6"/>
                </a:solidFill>
                <a:latin typeface="Manrope"/>
              </a:rPr>
              <a:t>09 / 09</a:t>
            </a:r>
          </a:p>
        </p:txBody>
      </p:sp>
      <p:sp>
        <p:nvSpPr>
          <p:cNvPr id="10" name="Rounded Rectangle 9"/>
          <p:cNvSpPr/>
          <p:nvPr/>
        </p:nvSpPr>
        <p:spPr>
          <a:xfrm>
            <a:off x="457200" y="3048000"/>
            <a:ext cx="3314700" cy="2752725"/>
          </a:xfrm>
          <a:prstGeom prst="roundRect">
            <a:avLst>
              <a:gd name="adj" fmla="val 5536"/>
            </a:avLst>
          </a:prstGeom>
          <a:solidFill>
            <a:srgbClr val="302B26"/>
          </a:solidFill>
          <a:ln w="9525">
            <a:solidFill>
              <a:srgbClr val="675E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704850" y="3248025"/>
            <a:ext cx="742950" cy="742950"/>
          </a:xfrm>
          <a:prstGeom prst="ellipse">
            <a:avLst/>
          </a:prstGeom>
          <a:solidFill>
            <a:srgbClr val="FCFAF6"/>
          </a:solidFill>
          <a:ln w="9525">
            <a:solidFill>
              <a:srgbClr val="FCFA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icon-file.png"/>
          <p:cNvPicPr>
            <a:picLocks noChangeAspect="1"/>
          </p:cNvPicPr>
          <p:nvPr/>
        </p:nvPicPr>
        <p:blipFill>
          <a:blip r:embed="rId3"/>
          <a:stretch>
            <a:fillRect/>
          </a:stretch>
        </p:blipFill>
        <p:spPr>
          <a:xfrm>
            <a:off x="847725" y="3390900"/>
            <a:ext cx="457200" cy="457200"/>
          </a:xfrm>
          <a:prstGeom prst="rect">
            <a:avLst/>
          </a:prstGeom>
          <a:effectLst/>
        </p:spPr>
      </p:pic>
      <p:sp>
        <p:nvSpPr>
          <p:cNvPr id="13" name="TextBox 12"/>
          <p:cNvSpPr txBox="1"/>
          <p:nvPr/>
        </p:nvSpPr>
        <p:spPr>
          <a:xfrm>
            <a:off x="704850" y="4191000"/>
            <a:ext cx="2819400" cy="895350"/>
          </a:xfrm>
          <a:prstGeom prst="rect">
            <a:avLst/>
          </a:prstGeom>
          <a:noFill/>
          <a:effectLst/>
        </p:spPr>
        <p:txBody>
          <a:bodyPr wrap="square" lIns="0" rIns="0" tIns="0" bIns="0" anchor="t">
            <a:spAutoFit/>
          </a:bodyPr>
          <a:lstStyle/>
          <a:p>
            <a:pPr algn="l" rtl="0">
              <a:lnSpc>
                <a:spcPts val="3024"/>
              </a:lnSpc>
              <a:spcBef>
                <a:spcPts val="0"/>
              </a:spcBef>
              <a:spcAft>
                <a:spcPts val="0"/>
              </a:spcAft>
            </a:pPr>
            <a:r>
              <a:rPr sz="2700" b="1" lang="en-US">
                <a:solidFill>
                  <a:srgbClr val="FCFAF6"/>
                </a:solidFill>
                <a:latin typeface="Manrope"/>
              </a:rPr>
              <a:t>Check the</a:t>
            </a:r>
          </a:p>
          <a:p>
            <a:pPr algn="l" rtl="0">
              <a:lnSpc>
                <a:spcPts val="3024"/>
              </a:lnSpc>
              <a:spcBef>
                <a:spcPts val="0"/>
              </a:spcBef>
              <a:spcAft>
                <a:spcPts val="0"/>
              </a:spcAft>
            </a:pPr>
            <a:r>
              <a:rPr sz="2700" b="1" lang="en-US">
                <a:solidFill>
                  <a:srgbClr val="FCFAF6"/>
                </a:solidFill>
                <a:latin typeface="Manrope"/>
              </a:rPr>
              <a:t>existing pop-up</a:t>
            </a:r>
          </a:p>
        </p:txBody>
      </p:sp>
      <p:sp>
        <p:nvSpPr>
          <p:cNvPr id="14" name="TextBox 13"/>
          <p:cNvSpPr txBox="1"/>
          <p:nvPr/>
        </p:nvSpPr>
        <p:spPr>
          <a:xfrm>
            <a:off x="704850" y="5257800"/>
            <a:ext cx="2819400" cy="46672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D5CFC6"/>
                </a:solidFill>
                <a:latin typeface="Manrope"/>
              </a:rPr>
              <a:t>Check the gap</a:t>
            </a:r>
          </a:p>
        </p:txBody>
      </p:sp>
      <p:cxnSp>
        <p:nvCxnSpPr>
          <p:cNvPr id="15" name="Connector 14"/>
          <p:cNvCxnSpPr/>
          <p:nvPr/>
        </p:nvCxnSpPr>
        <p:spPr>
          <a:xfrm>
            <a:off x="3886200" y="4438650"/>
            <a:ext cx="37147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4438650" y="3048000"/>
            <a:ext cx="3314700" cy="2752725"/>
          </a:xfrm>
          <a:prstGeom prst="roundRect">
            <a:avLst>
              <a:gd name="adj" fmla="val 5536"/>
            </a:avLst>
          </a:prstGeom>
          <a:solidFill>
            <a:srgbClr val="302B26"/>
          </a:solidFill>
          <a:ln w="9525">
            <a:solidFill>
              <a:srgbClr val="675E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4686300" y="3248025"/>
            <a:ext cx="742950" cy="742950"/>
          </a:xfrm>
          <a:prstGeom prst="ellipse">
            <a:avLst/>
          </a:prstGeom>
          <a:solidFill>
            <a:srgbClr val="FCFAF6"/>
          </a:solidFill>
          <a:ln w="9525">
            <a:solidFill>
              <a:srgbClr val="FCFA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icon-link.png"/>
          <p:cNvPicPr>
            <a:picLocks noChangeAspect="1"/>
          </p:cNvPicPr>
          <p:nvPr/>
        </p:nvPicPr>
        <p:blipFill>
          <a:blip r:embed="rId4"/>
          <a:stretch>
            <a:fillRect/>
          </a:stretch>
        </p:blipFill>
        <p:spPr>
          <a:xfrm>
            <a:off x="4829175" y="3390900"/>
            <a:ext cx="457200" cy="457200"/>
          </a:xfrm>
          <a:prstGeom prst="rect">
            <a:avLst/>
          </a:prstGeom>
          <a:effectLst/>
        </p:spPr>
      </p:pic>
      <p:sp>
        <p:nvSpPr>
          <p:cNvPr id="19" name="TextBox 18"/>
          <p:cNvSpPr txBox="1"/>
          <p:nvPr/>
        </p:nvSpPr>
        <p:spPr>
          <a:xfrm>
            <a:off x="4686300" y="4191000"/>
            <a:ext cx="2819400" cy="895350"/>
          </a:xfrm>
          <a:prstGeom prst="rect">
            <a:avLst/>
          </a:prstGeom>
          <a:noFill/>
          <a:effectLst/>
        </p:spPr>
        <p:txBody>
          <a:bodyPr wrap="square" lIns="0" rIns="0" tIns="0" bIns="0" anchor="t">
            <a:spAutoFit/>
          </a:bodyPr>
          <a:lstStyle/>
          <a:p>
            <a:pPr algn="l" rtl="0">
              <a:lnSpc>
                <a:spcPts val="3024"/>
              </a:lnSpc>
              <a:spcBef>
                <a:spcPts val="0"/>
              </a:spcBef>
              <a:spcAft>
                <a:spcPts val="0"/>
              </a:spcAft>
            </a:pPr>
            <a:r>
              <a:rPr sz="2700" b="1" lang="en-US">
                <a:solidFill>
                  <a:srgbClr val="FCFAF6"/>
                </a:solidFill>
                <a:latin typeface="Manrope"/>
              </a:rPr>
              <a:t>Complete</a:t>
            </a:r>
          </a:p>
          <a:p>
            <a:pPr algn="l" rtl="0">
              <a:lnSpc>
                <a:spcPts val="3024"/>
              </a:lnSpc>
              <a:spcBef>
                <a:spcPts val="0"/>
              </a:spcBef>
              <a:spcAft>
                <a:spcPts val="0"/>
              </a:spcAft>
            </a:pPr>
            <a:r>
              <a:rPr sz="2700" b="1" lang="en-US">
                <a:solidFill>
                  <a:srgbClr val="FCFAF6"/>
                </a:solidFill>
                <a:latin typeface="Manrope"/>
              </a:rPr>
              <a:t>the connection</a:t>
            </a:r>
          </a:p>
        </p:txBody>
      </p:sp>
      <p:sp>
        <p:nvSpPr>
          <p:cNvPr id="20" name="TextBox 19"/>
          <p:cNvSpPr txBox="1"/>
          <p:nvPr/>
        </p:nvSpPr>
        <p:spPr>
          <a:xfrm>
            <a:off x="4686300" y="5257800"/>
            <a:ext cx="2819400" cy="46672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D5CFC6"/>
                </a:solidFill>
                <a:latin typeface="Manrope"/>
              </a:rPr>
              <a:t>Supported options</a:t>
            </a:r>
          </a:p>
        </p:txBody>
      </p:sp>
      <p:cxnSp>
        <p:nvCxnSpPr>
          <p:cNvPr id="21" name="Connector 20"/>
          <p:cNvCxnSpPr/>
          <p:nvPr/>
        </p:nvCxnSpPr>
        <p:spPr>
          <a:xfrm>
            <a:off x="7867650" y="4438650"/>
            <a:ext cx="371475" cy="0"/>
          </a:xfrm>
          <a:prstGeom prst="line">
            <a:avLst/>
          </a:prstGeom>
          <a:ln w="47625">
            <a:solidFill>
              <a:srgbClr val="BA4C2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2" name="Rounded Rectangle 21"/>
          <p:cNvSpPr/>
          <p:nvPr/>
        </p:nvSpPr>
        <p:spPr>
          <a:xfrm>
            <a:off x="8420100" y="3048000"/>
            <a:ext cx="3314700" cy="2752725"/>
          </a:xfrm>
          <a:prstGeom prst="roundRect">
            <a:avLst>
              <a:gd name="adj" fmla="val 5536"/>
            </a:avLst>
          </a:prstGeom>
          <a:solidFill>
            <a:srgbClr val="302B26"/>
          </a:solidFill>
          <a:ln w="9525">
            <a:solidFill>
              <a:srgbClr val="675E5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p:cNvSpPr/>
          <p:nvPr/>
        </p:nvSpPr>
        <p:spPr>
          <a:xfrm>
            <a:off x="8667750" y="3248025"/>
            <a:ext cx="742950" cy="742950"/>
          </a:xfrm>
          <a:prstGeom prst="ellipse">
            <a:avLst/>
          </a:prstGeom>
          <a:solidFill>
            <a:srgbClr val="FCFAF6"/>
          </a:solidFill>
          <a:ln w="9525">
            <a:solidFill>
              <a:srgbClr val="FCFA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check.png"/>
          <p:cNvPicPr>
            <a:picLocks noChangeAspect="1"/>
          </p:cNvPicPr>
          <p:nvPr/>
        </p:nvPicPr>
        <p:blipFill>
          <a:blip r:embed="rId5"/>
          <a:stretch>
            <a:fillRect/>
          </a:stretch>
        </p:blipFill>
        <p:spPr>
          <a:xfrm>
            <a:off x="8810625" y="3390900"/>
            <a:ext cx="457200" cy="457200"/>
          </a:xfrm>
          <a:prstGeom prst="rect">
            <a:avLst/>
          </a:prstGeom>
          <a:effectLst/>
        </p:spPr>
      </p:pic>
      <p:sp>
        <p:nvSpPr>
          <p:cNvPr id="25" name="TextBox 24"/>
          <p:cNvSpPr txBox="1"/>
          <p:nvPr/>
        </p:nvSpPr>
        <p:spPr>
          <a:xfrm>
            <a:off x="8667750" y="4191000"/>
            <a:ext cx="2819400" cy="895350"/>
          </a:xfrm>
          <a:prstGeom prst="rect">
            <a:avLst/>
          </a:prstGeom>
          <a:noFill/>
          <a:effectLst/>
        </p:spPr>
        <p:txBody>
          <a:bodyPr wrap="square" lIns="0" rIns="0" tIns="0" bIns="0" anchor="t">
            <a:spAutoFit/>
          </a:bodyPr>
          <a:lstStyle/>
          <a:p>
            <a:pPr algn="l" rtl="0">
              <a:lnSpc>
                <a:spcPts val="3024"/>
              </a:lnSpc>
              <a:spcBef>
                <a:spcPts val="0"/>
              </a:spcBef>
              <a:spcAft>
                <a:spcPts val="0"/>
              </a:spcAft>
            </a:pPr>
            <a:r>
              <a:rPr sz="2700" b="1" lang="en-US">
                <a:solidFill>
                  <a:srgbClr val="FCFAF6"/>
                </a:solidFill>
                <a:latin typeface="Manrope"/>
              </a:rPr>
              <a:t>Test</a:t>
            </a:r>
          </a:p>
          <a:p>
            <a:pPr algn="l" rtl="0">
              <a:lnSpc>
                <a:spcPts val="3024"/>
              </a:lnSpc>
              <a:spcBef>
                <a:spcPts val="0"/>
              </a:spcBef>
              <a:spcAft>
                <a:spcPts val="0"/>
              </a:spcAft>
            </a:pPr>
            <a:r>
              <a:rPr sz="2700" b="1" lang="en-US">
                <a:solidFill>
                  <a:srgbClr val="FCFAF6"/>
                </a:solidFill>
                <a:latin typeface="Manrope"/>
              </a:rPr>
              <a:t>agreed calls</a:t>
            </a:r>
          </a:p>
        </p:txBody>
      </p:sp>
      <p:sp>
        <p:nvSpPr>
          <p:cNvPr id="26" name="TextBox 25"/>
          <p:cNvSpPr txBox="1"/>
          <p:nvPr/>
        </p:nvSpPr>
        <p:spPr>
          <a:xfrm>
            <a:off x="8667750" y="5257800"/>
            <a:ext cx="2819400" cy="466725"/>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D5CFC6"/>
                </a:solidFill>
                <a:latin typeface="Manrope"/>
              </a:rPr>
              <a:t>Context + fallback</a:t>
            </a:r>
          </a:p>
        </p:txBody>
      </p:sp>
      <p:sp>
        <p:nvSpPr>
          <p:cNvPr id="27" name="TextBox 26"/>
          <p:cNvSpPr txBox="1"/>
          <p:nvPr/>
        </p:nvSpPr>
        <p:spPr>
          <a:xfrm>
            <a:off x="457200" y="5915025"/>
            <a:ext cx="11277600" cy="371475"/>
          </a:xfrm>
          <a:prstGeom prst="rect">
            <a:avLst/>
          </a:prstGeom>
          <a:noFill/>
          <a:effectLst/>
        </p:spPr>
        <p:txBody>
          <a:bodyPr wrap="square" lIns="0" rIns="0" tIns="0" bIns="0" anchor="t">
            <a:spAutoFit/>
          </a:bodyPr>
          <a:lstStyle/>
          <a:p>
            <a:pPr algn="l" rtl="0">
              <a:lnSpc>
                <a:spcPts val="2520"/>
              </a:lnSpc>
              <a:spcBef>
                <a:spcPts val="0"/>
              </a:spcBef>
              <a:spcAft>
                <a:spcPts val="0"/>
              </a:spcAft>
            </a:pPr>
            <a:r>
              <a:rPr sz="2250" b="1" lang="en-US">
                <a:solidFill>
                  <a:srgbClr val="FCFAF6"/>
                </a:solidFill>
                <a:latin typeface="Manrope"/>
              </a:rPr>
              <a:t>Customer context at the start of the conversation.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0"/>
                                  </p:tgtEl>
                                  <p:attrNameLst>
                                    <p:attrName>style.visibility</p:attrName>
                                  </p:attrNameLst>
                                </p:cBhvr>
                                <p:to>
                                  <p:strVal val="visible"/>
                                </p:to>
                              </p:set>
                              <p:animEffect transition="in" filter="fade">
                                <p:cBhvr>
                                  <p:cTn id="6" dur="550"/>
                                  <p:tgtEl>
                                    <p:spTgt spid="10"/>
                                  </p:tgtEl>
                                </p:cBhvr>
                              </p:animEffect>
                            </p:childTnLst>
                          </p:cTn>
                        </p:par>
                        <p:par>
                          <p:cTn id="7" presetID="10" presetClass="entr" presetSubtype="0" fill="hold" nodeType="withEffect">
                            <p:stCondLst>
                              <p:cond delay="0"/>
                            </p:stCondLst>
                            <p:childTnLst>
                              <p:set>
                                <p:cBhvr>
                                  <p:cTn id="8" dur="1" fill="hold"/>
                                  <p:tgtEl>
                                    <p:spTgt spid="11"/>
                                  </p:tgtEl>
                                  <p:attrNameLst>
                                    <p:attrName>style.visibility</p:attrName>
                                  </p:attrNameLst>
                                </p:cBhvr>
                                <p:to>
                                  <p:strVal val="visible"/>
                                </p:to>
                              </p:set>
                              <p:animEffect transition="in" filter="fade">
                                <p:cBhvr>
                                  <p:cTn id="9" dur="550"/>
                                  <p:tgtEl>
                                    <p:spTgt spid="11"/>
                                  </p:tgtEl>
                                </p:cBhvr>
                              </p:animEffect>
                            </p:childTnLst>
                          </p:cTn>
                        </p:par>
                        <p:par>
                          <p:cTn id="10" presetID="10" presetClass="entr" presetSubtype="0" fill="hold" nodeType="withEffect">
                            <p:stCondLst>
                              <p:cond delay="0"/>
                            </p:stCondLst>
                            <p:childTnLst>
                              <p:set>
                                <p:cBhvr>
                                  <p:cTn id="11" dur="1" fill="hold"/>
                                  <p:tgtEl>
                                    <p:spTgt spid="12"/>
                                  </p:tgtEl>
                                  <p:attrNameLst>
                                    <p:attrName>style.visibility</p:attrName>
                                  </p:attrNameLst>
                                </p:cBhvr>
                                <p:to>
                                  <p:strVal val="visible"/>
                                </p:to>
                              </p:set>
                              <p:animEffect transition="in" filter="fade">
                                <p:cBhvr>
                                  <p:cTn id="12" dur="550"/>
                                  <p:tgtEl>
                                    <p:spTgt spid="12"/>
                                  </p:tgtEl>
                                </p:cBhvr>
                              </p:animEffect>
                            </p:childTnLst>
                          </p:cTn>
                        </p:par>
                        <p:par>
                          <p:cTn id="13" presetID="10" presetClass="entr" presetSubtype="0" fill="hold" nodeType="withEffect">
                            <p:stCondLst>
                              <p:cond delay="0"/>
                            </p:stCondLst>
                            <p:childTnLst>
                              <p:set>
                                <p:cBhvr>
                                  <p:cTn id="14" dur="1" fill="hold"/>
                                  <p:tgtEl>
                                    <p:spTgt spid="13"/>
                                  </p:tgtEl>
                                  <p:attrNameLst>
                                    <p:attrName>style.visibility</p:attrName>
                                  </p:attrNameLst>
                                </p:cBhvr>
                                <p:to>
                                  <p:strVal val="visible"/>
                                </p:to>
                              </p:set>
                              <p:animEffect transition="in" filter="fade">
                                <p:cBhvr>
                                  <p:cTn id="15" dur="550"/>
                                  <p:tgtEl>
                                    <p:spTgt spid="13"/>
                                  </p:tgtEl>
                                </p:cBhvr>
                              </p:animEffect>
                            </p:childTnLst>
                          </p:cTn>
                        </p:par>
                        <p:par>
                          <p:cTn id="16" presetID="10" presetClass="entr" presetSubtype="0" fill="hold" nodeType="withEffect">
                            <p:stCondLst>
                              <p:cond delay="0"/>
                            </p:stCondLst>
                            <p:childTnLst>
                              <p:set>
                                <p:cBhvr>
                                  <p:cTn id="17" dur="1" fill="hold"/>
                                  <p:tgtEl>
                                    <p:spTgt spid="14"/>
                                  </p:tgtEl>
                                  <p:attrNameLst>
                                    <p:attrName>style.visibility</p:attrName>
                                  </p:attrNameLst>
                                </p:cBhvr>
                                <p:to>
                                  <p:strVal val="visible"/>
                                </p:to>
                              </p:set>
                              <p:animEffect transition="in" filter="fade">
                                <p:cBhvr>
                                  <p:cTn id="18" dur="550"/>
                                  <p:tgtEl>
                                    <p:spTgt spid="14"/>
                                  </p:tgtEl>
                                </p:cBhvr>
                              </p:animEffect>
                            </p:childTnLst>
                          </p:cTn>
                        </p:par>
                        <p:par>
                          <p:cTn id="19" presetID="10" presetClass="entr" presetSubtype="0" fill="hold" nodeType="withEffect">
                            <p:stCondLst>
                              <p:cond delay="1250"/>
                            </p:stCondLst>
                            <p:childTnLst>
                              <p:set>
                                <p:cBhvr>
                                  <p:cTn id="20" dur="1" fill="hold"/>
                                  <p:tgtEl>
                                    <p:spTgt spid="15"/>
                                  </p:tgtEl>
                                  <p:attrNameLst>
                                    <p:attrName>style.visibility</p:attrName>
                                  </p:attrNameLst>
                                </p:cBhvr>
                                <p:to>
                                  <p:strVal val="visible"/>
                                </p:to>
                              </p:set>
                              <p:animEffect transition="in" filter="fade">
                                <p:cBhvr>
                                  <p:cTn id="21" dur="550"/>
                                  <p:tgtEl>
                                    <p:spTgt spid="15"/>
                                  </p:tgtEl>
                                </p:cBhvr>
                              </p:animEffect>
                            </p:childTnLst>
                          </p:cTn>
                        </p:par>
                        <p:par>
                          <p:cTn id="22" presetID="10" presetClass="entr" presetSubtype="0" fill="hold" nodeType="withEffect">
                            <p:stCondLst>
                              <p:cond delay="1250"/>
                            </p:stCondLst>
                            <p:childTnLst>
                              <p:set>
                                <p:cBhvr>
                                  <p:cTn id="23" dur="1" fill="hold"/>
                                  <p:tgtEl>
                                    <p:spTgt spid="16"/>
                                  </p:tgtEl>
                                  <p:attrNameLst>
                                    <p:attrName>style.visibility</p:attrName>
                                  </p:attrNameLst>
                                </p:cBhvr>
                                <p:to>
                                  <p:strVal val="visible"/>
                                </p:to>
                              </p:set>
                              <p:animEffect transition="in" filter="fade">
                                <p:cBhvr>
                                  <p:cTn id="24" dur="550"/>
                                  <p:tgtEl>
                                    <p:spTgt spid="16"/>
                                  </p:tgtEl>
                                </p:cBhvr>
                              </p:animEffect>
                            </p:childTnLst>
                          </p:cTn>
                        </p:par>
                        <p:par>
                          <p:cTn id="25" presetID="10" presetClass="entr" presetSubtype="0" fill="hold" nodeType="withEffect">
                            <p:stCondLst>
                              <p:cond delay="1250"/>
                            </p:stCondLst>
                            <p:childTnLst>
                              <p:set>
                                <p:cBhvr>
                                  <p:cTn id="26" dur="1" fill="hold"/>
                                  <p:tgtEl>
                                    <p:spTgt spid="17"/>
                                  </p:tgtEl>
                                  <p:attrNameLst>
                                    <p:attrName>style.visibility</p:attrName>
                                  </p:attrNameLst>
                                </p:cBhvr>
                                <p:to>
                                  <p:strVal val="visible"/>
                                </p:to>
                              </p:set>
                              <p:animEffect transition="in" filter="fade">
                                <p:cBhvr>
                                  <p:cTn id="27" dur="550"/>
                                  <p:tgtEl>
                                    <p:spTgt spid="17"/>
                                  </p:tgtEl>
                                </p:cBhvr>
                              </p:animEffect>
                            </p:childTnLst>
                          </p:cTn>
                        </p:par>
                        <p:par>
                          <p:cTn id="28" presetID="10" presetClass="entr" presetSubtype="0" fill="hold" nodeType="withEffect">
                            <p:stCondLst>
                              <p:cond delay="1250"/>
                            </p:stCondLst>
                            <p:childTnLst>
                              <p:set>
                                <p:cBhvr>
                                  <p:cTn id="29" dur="1" fill="hold"/>
                                  <p:tgtEl>
                                    <p:spTgt spid="18"/>
                                  </p:tgtEl>
                                  <p:attrNameLst>
                                    <p:attrName>style.visibility</p:attrName>
                                  </p:attrNameLst>
                                </p:cBhvr>
                                <p:to>
                                  <p:strVal val="visible"/>
                                </p:to>
                              </p:set>
                              <p:animEffect transition="in" filter="fade">
                                <p:cBhvr>
                                  <p:cTn id="30" dur="550"/>
                                  <p:tgtEl>
                                    <p:spTgt spid="18"/>
                                  </p:tgtEl>
                                </p:cBhvr>
                              </p:animEffect>
                            </p:childTnLst>
                          </p:cTn>
                        </p:par>
                        <p:par>
                          <p:cTn id="31" presetID="10" presetClass="entr" presetSubtype="0" fill="hold" nodeType="withEffect">
                            <p:stCondLst>
                              <p:cond delay="1250"/>
                            </p:stCondLst>
                            <p:childTnLst>
                              <p:set>
                                <p:cBhvr>
                                  <p:cTn id="32" dur="1" fill="hold"/>
                                  <p:tgtEl>
                                    <p:spTgt spid="19"/>
                                  </p:tgtEl>
                                  <p:attrNameLst>
                                    <p:attrName>style.visibility</p:attrName>
                                  </p:attrNameLst>
                                </p:cBhvr>
                                <p:to>
                                  <p:strVal val="visible"/>
                                </p:to>
                              </p:set>
                              <p:animEffect transition="in" filter="fade">
                                <p:cBhvr>
                                  <p:cTn id="33" dur="550"/>
                                  <p:tgtEl>
                                    <p:spTgt spid="19"/>
                                  </p:tgtEl>
                                </p:cBhvr>
                              </p:animEffect>
                            </p:childTnLst>
                          </p:cTn>
                        </p:par>
                        <p:par>
                          <p:cTn id="34" presetID="10" presetClass="entr" presetSubtype="0" fill="hold" nodeType="withEffect">
                            <p:stCondLst>
                              <p:cond delay="1250"/>
                            </p:stCondLst>
                            <p:childTnLst>
                              <p:set>
                                <p:cBhvr>
                                  <p:cTn id="35" dur="1" fill="hold"/>
                                  <p:tgtEl>
                                    <p:spTgt spid="20"/>
                                  </p:tgtEl>
                                  <p:attrNameLst>
                                    <p:attrName>style.visibility</p:attrName>
                                  </p:attrNameLst>
                                </p:cBhvr>
                                <p:to>
                                  <p:strVal val="visible"/>
                                </p:to>
                              </p:set>
                              <p:animEffect transition="in" filter="fade">
                                <p:cBhvr>
                                  <p:cTn id="36" dur="550"/>
                                  <p:tgtEl>
                                    <p:spTgt spid="20"/>
                                  </p:tgtEl>
                                </p:cBhvr>
                              </p:animEffect>
                            </p:childTnLst>
                          </p:cTn>
                        </p:par>
                        <p:par>
                          <p:cTn id="37" presetID="10" presetClass="entr" presetSubtype="0" fill="hold" nodeType="withEffect">
                            <p:stCondLst>
                              <p:cond delay="2500"/>
                            </p:stCondLst>
                            <p:childTnLst>
                              <p:set>
                                <p:cBhvr>
                                  <p:cTn id="38" dur="1" fill="hold"/>
                                  <p:tgtEl>
                                    <p:spTgt spid="21"/>
                                  </p:tgtEl>
                                  <p:attrNameLst>
                                    <p:attrName>style.visibility</p:attrName>
                                  </p:attrNameLst>
                                </p:cBhvr>
                                <p:to>
                                  <p:strVal val="visible"/>
                                </p:to>
                              </p:set>
                              <p:animEffect transition="in" filter="fade">
                                <p:cBhvr>
                                  <p:cTn id="39" dur="550"/>
                                  <p:tgtEl>
                                    <p:spTgt spid="21"/>
                                  </p:tgtEl>
                                </p:cBhvr>
                              </p:animEffect>
                            </p:childTnLst>
                          </p:cTn>
                        </p:par>
                        <p:par>
                          <p:cTn id="40" presetID="10" presetClass="entr" presetSubtype="0" fill="hold" nodeType="withEffect">
                            <p:stCondLst>
                              <p:cond delay="2500"/>
                            </p:stCondLst>
                            <p:childTnLst>
                              <p:set>
                                <p:cBhvr>
                                  <p:cTn id="41" dur="1" fill="hold"/>
                                  <p:tgtEl>
                                    <p:spTgt spid="22"/>
                                  </p:tgtEl>
                                  <p:attrNameLst>
                                    <p:attrName>style.visibility</p:attrName>
                                  </p:attrNameLst>
                                </p:cBhvr>
                                <p:to>
                                  <p:strVal val="visible"/>
                                </p:to>
                              </p:set>
                              <p:animEffect transition="in" filter="fade">
                                <p:cBhvr>
                                  <p:cTn id="42" dur="550"/>
                                  <p:tgtEl>
                                    <p:spTgt spid="22"/>
                                  </p:tgtEl>
                                </p:cBhvr>
                              </p:animEffect>
                            </p:childTnLst>
                          </p:cTn>
                        </p:par>
                        <p:par>
                          <p:cTn id="43" presetID="10" presetClass="entr" presetSubtype="0" fill="hold" nodeType="withEffect">
                            <p:stCondLst>
                              <p:cond delay="2500"/>
                            </p:stCondLst>
                            <p:childTnLst>
                              <p:set>
                                <p:cBhvr>
                                  <p:cTn id="44" dur="1" fill="hold"/>
                                  <p:tgtEl>
                                    <p:spTgt spid="23"/>
                                  </p:tgtEl>
                                  <p:attrNameLst>
                                    <p:attrName>style.visibility</p:attrName>
                                  </p:attrNameLst>
                                </p:cBhvr>
                                <p:to>
                                  <p:strVal val="visible"/>
                                </p:to>
                              </p:set>
                              <p:animEffect transition="in" filter="fade">
                                <p:cBhvr>
                                  <p:cTn id="45" dur="550"/>
                                  <p:tgtEl>
                                    <p:spTgt spid="23"/>
                                  </p:tgtEl>
                                </p:cBhvr>
                              </p:animEffect>
                            </p:childTnLst>
                          </p:cTn>
                        </p:par>
                        <p:par>
                          <p:cTn id="46" presetID="10" presetClass="entr" presetSubtype="0" fill="hold" nodeType="withEffect">
                            <p:stCondLst>
                              <p:cond delay="2500"/>
                            </p:stCondLst>
                            <p:childTnLst>
                              <p:set>
                                <p:cBhvr>
                                  <p:cTn id="47" dur="1" fill="hold"/>
                                  <p:tgtEl>
                                    <p:spTgt spid="24"/>
                                  </p:tgtEl>
                                  <p:attrNameLst>
                                    <p:attrName>style.visibility</p:attrName>
                                  </p:attrNameLst>
                                </p:cBhvr>
                                <p:to>
                                  <p:strVal val="visible"/>
                                </p:to>
                              </p:set>
                              <p:animEffect transition="in" filter="fade">
                                <p:cBhvr>
                                  <p:cTn id="48" dur="550"/>
                                  <p:tgtEl>
                                    <p:spTgt spid="24"/>
                                  </p:tgtEl>
                                </p:cBhvr>
                              </p:animEffect>
                            </p:childTnLst>
                          </p:cTn>
                        </p:par>
                        <p:par>
                          <p:cTn id="49" presetID="10" presetClass="entr" presetSubtype="0" fill="hold" nodeType="withEffect">
                            <p:stCondLst>
                              <p:cond delay="2500"/>
                            </p:stCondLst>
                            <p:childTnLst>
                              <p:set>
                                <p:cBhvr>
                                  <p:cTn id="50" dur="1" fill="hold"/>
                                  <p:tgtEl>
                                    <p:spTgt spid="25"/>
                                  </p:tgtEl>
                                  <p:attrNameLst>
                                    <p:attrName>style.visibility</p:attrName>
                                  </p:attrNameLst>
                                </p:cBhvr>
                                <p:to>
                                  <p:strVal val="visible"/>
                                </p:to>
                              </p:set>
                              <p:animEffect transition="in" filter="fade">
                                <p:cBhvr>
                                  <p:cTn id="51" dur="550"/>
                                  <p:tgtEl>
                                    <p:spTgt spid="25"/>
                                  </p:tgtEl>
                                </p:cBhvr>
                              </p:animEffect>
                            </p:childTnLst>
                          </p:cTn>
                        </p:par>
                        <p:par>
                          <p:cTn id="52" presetID="10" presetClass="entr" presetSubtype="0" fill="hold" nodeType="withEffect">
                            <p:stCondLst>
                              <p:cond delay="2500"/>
                            </p:stCondLst>
                            <p:childTnLst>
                              <p:set>
                                <p:cBhvr>
                                  <p:cTn id="53" dur="1" fill="hold"/>
                                  <p:tgtEl>
                                    <p:spTgt spid="26"/>
                                  </p:tgtEl>
                                  <p:attrNameLst>
                                    <p:attrName>style.visibility</p:attrName>
                                  </p:attrNameLst>
                                </p:cBhvr>
                                <p:to>
                                  <p:strVal val="visible"/>
                                </p:to>
                              </p:set>
                              <p:animEffect transition="in" filter="fade">
                                <p:cBhvr>
                                  <p:cTn id="54" dur="55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GRINDCTRL · Smarter Customer Calls for Concrete</dc:title>
  <dc:subject>Reported caller-context gap: Genesys call assignment and Zoho Desk ticket lookup. Proposed workflow; fictional records.</dc:subject>
  <dc:creator>GRINDCTRL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