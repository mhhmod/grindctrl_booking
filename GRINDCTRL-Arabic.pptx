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المستخدم أفاد إن Zoho مستخدم للتذاكر فقط، وإن سجل العميل وتذاكره لا تظهر تلقائيًا للموظف مع مكالمة Genesys. وأكّد إن البحث اليدوي برقم التليفون بيوصل للتذاكر السابقة. دي معلومات من المستخدم ولم تُختبر داخل الأنظمة.</a:t>
            </a:r>
          </a:p>
          <a:p/>
          <a:p>
            <a:r>
              <a:t>العرض الأول هو فحص الـpop-up المذكور في العقد وإظهار سياق العميل وتذاكره مع المكالمة، باستخدام إعدادات النظام الأصلية إذا كانت مناسبة. لا نفترض تشغيل منتج Zoho CRM.</a:t>
            </a:r>
          </a:p>
          <a:p/>
          <a:p>
            <a:r>
              <a:t>ده مقترح لأول تعاون. مفيش علاقة حالية بين GRINDCTRL وكونكريت أو Centro، والربط لم يُنفَّذ. أسماء العملاء والأرقام والتذاكر أمثلة خيالية، والواجهة تصميم توضيحي وليست شاشة رسمية للأنظمة.</a:t>
            </a:r>
          </a:p>
          <a:p/>
          <a:p>
            <a:r>
              <a:t>الحركة تشرح ترتيب التجربة المقترحة. توقيتها خاص بالعرض، وليس قياسًا لسرعة البحث. العرض والمعاينة لا يشغّلان ربطًا بالأنظمة أو backend أو نموذج AI حي.</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المستخدم أفاد إن Zoho مستخدم للتذاكر فقط، وإن سجل العميل وتذاكره لا تظهر تلقائيًا للموظف مع مكالمة Genesys. وأكّد إن البحث اليدوي برقم التليفون بيوصل للتذاكر السابقة. دي معلومات من المستخدم ولم تُختبر داخل الأنظمة.</a:t>
            </a:r>
          </a:p>
          <a:p/>
          <a:p>
            <a:r>
              <a:t>العرض الأول هو فحص الـpop-up المذكور في العقد وإظهار سياق العميل وتذاكره مع المكالمة، باستخدام إعدادات النظام الأصلية إذا كانت مناسبة. لا نفترض تشغيل منتج Zoho CRM.</a:t>
            </a:r>
          </a:p>
          <a:p/>
          <a:p>
            <a:r>
              <a:t>التسلسل الحالي يمثل غياب ظهور السياق تلقائيًا والبحث اليدوي الشغّال بحسب المستخدم. التسلسل المقترح يستخدم سجلات خيالية، وليس صورة لشاشة الموظف الحالية.</a:t>
            </a:r>
          </a:p>
          <a:p/>
          <a:p>
            <a:r>
              <a:t>القيمة المتوقعة: خطوات بحث يدوية أقل والوصول للملاحظات السابقة أسرع. وقت التعامل وسرعة ظهور البيانات وصحة المطابقة وأثر الجودة والتكلفة تُقاس في تجربة مصرح بها؛ بدون نسب أو توفير مضمون.</a:t>
            </a:r>
          </a:p>
          <a:p/>
          <a:p>
            <a:r>
              <a:t>ده مقترح لأول تعاون. مفيش علاقة حالية بين GRINDCTRL وكونكريت أو Centro، والربط لم يُنفَّذ. أسماء العملاء والأرقام والتذاكر أمثلة خيالية، والواجهة تصميم توضيحي وليست شاشة رسمية للأنظمة.</a:t>
            </a:r>
          </a:p>
          <a:p/>
          <a:p>
            <a:r>
              <a:t>الحركة تشرح ترتيب التجربة المقترحة. توقيتها خاص بالعرض، وليس قياسًا لسرعة البحث. العرض والمعاينة لا يشغّلان ربطًا بالأنظمة أو backend أو نموذج AI حي.</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المستخدم أفاد إن Zoho مستخدم للتذاكر فقط، وإن سجل العميل وتذاكره لا تظهر تلقائيًا للموظف مع مكالمة Genesys. وأكّد إن البحث اليدوي برقم التليفون بيوصل للتذاكر السابقة. دي معلومات من المستخدم ولم تُختبر داخل الأنظمة.</a:t>
            </a:r>
          </a:p>
          <a:p/>
          <a:p>
            <a:r>
              <a:t>العرض الأول هو فحص الـpop-up المذكور في العقد وإظهار سياق العميل وتذاكره مع المكالمة، باستخدام إعدادات النظام الأصلية إذا كانت مناسبة. لا نفترض تشغيل منتج Zoho CRM.</a:t>
            </a:r>
          </a:p>
          <a:p/>
          <a:p>
            <a:r>
              <a:t>المعاينة واجهة مستقلة مقترحة وليست لقطة رسمية لـGenesys أو Zoho. التنفيذ ممكن يكون من خلال فتح رابط موجود أو لوحة داخلية مدعومة بعد فحص شاشة الموظف. القراءة من جهات الاتصال والتذاكر في Desk، بدون افتراض Zoho CRM.</a:t>
            </a:r>
          </a:p>
          <a:p/>
          <a:p>
            <a:r>
              <a:t>المثال فيه العميل A وتذكرتين مفتوحتين وواحدة مغلقة. T101 بانتظار الفرع B01. اختيار تذكرة يعرض ملاحظاتها المسجلة. ربط المكالمة يتم باختيار الموظف لتذكرة مفتوحة؛ بدون إغلاق أو إعادة فتح أو قرار تجاري تلقائي.</a:t>
            </a:r>
          </a:p>
          <a:p/>
          <a:p>
            <a:r>
              <a:t>التصميم الفعلي يعتمد على إصدار Genesys وشاشة الموظف وطريقة الـpop-up أو الأحداث المدعومة وتوفر رقم المتصل، وعلى صلاحيات وبحث Zoho Desk. لا نفترض مسارات API أو صلاحيات تراخيص غير متحققة. المعاينة لا تشغّل ربطًا بالأنظمة أو backend.</a:t>
            </a:r>
          </a:p>
          <a:p/>
          <a:p>
            <a:r>
              <a:t>توحيد صيغ أرقام التليفون يتم بقواعد متفق عليها. مطابقة الرقم تشير لسجل محتمل ولا تثبت الهوية. الموظف يرى فقط السجلات المصرح له بها. ربط السجلات يتم بشكل صريح، ويُمنع تكراره لنفس المكالمة والتذكرة في التنفيذ الفعلي.</a:t>
            </a:r>
          </a:p>
          <a:p/>
          <a:p>
            <a:r>
              <a:t>المعاينة تشمل سجلًا واحدًا، ورقمًا مشتركًا بين عميلين، ورقمًا غير موجود، وتعذر البحث في Desk. تعدد السجلات يحتاج اختيار الموظف. الرقم الجديد يتيح بحثًا يدويًا بالرقم أو الاسم أو مرجع التذكرة. فشل البحث يظهر كتعذر الوصول وليس عدم وجود تذاكر. المكالمة مستمرة.</a:t>
            </a:r>
          </a:p>
          <a:p/>
          <a:p>
            <a:r>
              <a:t>رقم التليفون ليس إثبات هوية. نتبع سياسة العميل للتحقق من المتصل وصلاحيات السجلات. الربط ينشئ حدثًا توضيحيًا واحدًا لنفس المكالمة والتذكرة ولا يغيّر حالتها. صلاحيات الكتابة والحقول الفعلية تحتاج اتفاقًا.</a:t>
            </a:r>
          </a:p>
          <a:p/>
          <a:p>
            <a:r>
              <a:t>ده مقترح لأول تعاون. مفيش علاقة حالية بين GRINDCTRL وكونكريت أو Centro، والربط لم يُنفَّذ. أسماء العملاء والأرقام والتذاكر أمثلة خيالية، والواجهة تصميم توضيحي وليست شاشة رسمية للأنظمة.</a:t>
            </a:r>
          </a:p>
          <a:p/>
          <a:p>
            <a:r>
              <a:t>الحركة تشرح ترتيب التجربة المقترحة. توقيتها خاص بالعرض، وليس قياسًا لسرعة البحث. العرض والمعاينة لا يشغّلان ربطًا بالأنظمة أو backend أو نموذج AI حي.</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التصميم الفعلي يعتمد على إصدار Genesys وشاشة الموظف وطريقة الـpop-up أو الأحداث المدعومة وتوفر رقم المتصل، وعلى صلاحيات وبحث Zoho Desk. لا نفترض مسارات API أو صلاحيات تراخيص غير متحققة. المعاينة لا تشغّل ربطًا بالأنظمة أو backend.</a:t>
            </a:r>
          </a:p>
          <a:p/>
          <a:p>
            <a:r>
              <a:t>توحيد صيغ أرقام التليفون يتم بقواعد متفق عليها. مطابقة الرقم تشير لسجل محتمل ولا تثبت الهوية. الموظف يرى فقط السجلات المصرح له بها. ربط السجلات يتم بشكل صريح، ويُمنع تكراره لنفس المكالمة والتذكرة في التنفيذ الفعلي.</a:t>
            </a:r>
          </a:p>
          <a:p/>
          <a:p>
            <a:r>
              <a:t>عقد نوفمبر ٢٠٢٣ صفحة PDF ٤ يذكر نصًا “CRM URL pop up integration.” ده يثبت وجود البند في النطاق، ولا يثبت تشغيله حاليًا أو وجود مزامنة في الاتجاهين. السبب قد يكون إعدادات أو مطابقة أو صلاحيات أو غير ذلك؛ نفحص الوضع الفعلي قبل اختيار إصلاح الإعدادات الأصلية أو بناء وسيط.</a:t>
            </a:r>
          </a:p>
          <a:p/>
          <a:p>
            <a:r>
              <a:t>الاستلام يشمل مكالمات اختبار فعلية مصرح بها، ومطابقة السجلات وعرض التذاكر، والأرقام المشتركة أو الناقصة، وظهور الأخطاء، وصلاحيات الموظف، وربط المكالمة دون تكرار إذا كان ضمن النطاق. نقارن خطوات ووقت البحث اليدوي بالمسار الجديد ونقيس سرعة البحث ونتائجه. الحدود ونطاق التجربة تُحدد مع كونكريت بدون اختلاقها.</a:t>
            </a:r>
          </a:p>
          <a:p/>
          <a:p>
            <a:r>
              <a:t>بعد ظهور السياق، ممكن إضافة ملخص AI مع مراجع للملاحظات وإظهار النواقص أو التعارض للمراجعة. لا يختلق إجراءات أو وعودًا أو حالات تذاكر. لا يوجد موديل حي أو نتائج توفير أو منتج SaaS متحقق منه بعد.</a:t>
            </a:r>
          </a:p>
          <a:p/>
          <a:p>
            <a:r>
              <a:t>ده مقترح لأول تعاون. مفيش علاقة حالية بين GRINDCTRL وكونكريت أو Centro، والربط لم يُنفَّذ. أسماء العملاء والأرقام والتذاكر أمثلة خيالية، والواجهة تصميم توضيحي وليست شاشة رسمية للأنظمة.</a:t>
            </a:r>
          </a:p>
          <a:p/>
          <a:p>
            <a:r>
              <a:t>الحركة تشرح ترتيب التجربة المقترحة. توقيتها خاص بالعرض، وليس قياسًا لسرعة البحث. العرض والمعاينة لا يشغّلان ربطًا بالأنظمة أو backend أو نموذج AI حي.</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المعاينة واجهة مستقلة مقترحة وليست لقطة رسمية لـGenesys أو Zoho. التنفيذ ممكن يكون من خلال فتح رابط موجود أو لوحة داخلية مدعومة بعد فحص شاشة الموظف. القراءة من جهات الاتصال والتذاكر في Desk، بدون افتراض Zoho CRM.</a:t>
            </a:r>
          </a:p>
          <a:p/>
          <a:p>
            <a:r>
              <a:t>المثال فيه العميل A وتذكرتين مفتوحتين وواحدة مغلقة. T101 بانتظار الفرع B01. اختيار تذكرة يعرض ملاحظاتها المسجلة. ربط المكالمة يتم باختيار الموظف لتذكرة مفتوحة؛ بدون إغلاق أو إعادة فتح أو قرار تجاري تلقائي.</a:t>
            </a:r>
          </a:p>
          <a:p/>
          <a:p>
            <a:r>
              <a:t>المعاينة تشمل سجلًا واحدًا، ورقمًا مشتركًا بين عميلين، ورقمًا غير موجود، وتعذر البحث في Desk. تعدد السجلات يحتاج اختيار الموظف. الرقم الجديد يتيح بحثًا يدويًا بالرقم أو الاسم أو مرجع التذكرة. فشل البحث يظهر كتعذر الوصول وليس عدم وجود تذاكر. المكالمة مستمرة.</a:t>
            </a:r>
          </a:p>
          <a:p/>
          <a:p>
            <a:r>
              <a:t>رقم التليفون ليس إثبات هوية. نتبع سياسة العميل للتحقق من المتصل وصلاحيات السجلات. الربط ينشئ حدثًا توضيحيًا واحدًا لنفس المكالمة والتذكرة ولا يغيّر حالتها. صلاحيات الكتابة والحقول الفعلية تحتاج اتفاقًا.</a:t>
            </a:r>
          </a:p>
          <a:p/>
          <a:p>
            <a:r>
              <a:t>ده مقترح لأول تعاون. مفيش علاقة حالية بين GRINDCTRL وكونكريت أو Centro، والربط لم يُنفَّذ. أسماء العملاء والأرقام والتذاكر أمثلة خيالية، والواجهة تصميم توضيحي وليست شاشة رسمية للأنظمة.</a:t>
            </a:r>
          </a:p>
          <a:p/>
          <a:p>
            <a:r>
              <a:t>الحركة تشرح ترتيب التجربة المقترحة. توقيتها خاص بالعرض، وليس قياسًا لسرعة البحث. العرض والمعاينة لا يشغّلان ربطًا بالأنظمة أو backend أو نموذج AI حي.</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التسلسل الحالي يمثل غياب ظهور السياق تلقائيًا والبحث اليدوي الشغّال بحسب المستخدم. التسلسل المقترح يستخدم سجلات خيالية، وليس صورة لشاشة الموظف الحالية.</a:t>
            </a:r>
          </a:p>
          <a:p/>
          <a:p>
            <a:r>
              <a:t>القيمة المتوقعة: خطوات بحث يدوية أقل والوصول للملاحظات السابقة أسرع. وقت التعامل وسرعة ظهور البيانات وصحة المطابقة وأثر الجودة والتكلفة تُقاس في تجربة مصرح بها؛ بدون نسب أو توفير مضمون.</a:t>
            </a:r>
          </a:p>
          <a:p/>
          <a:p>
            <a:r>
              <a:t>المعاينة واجهة مستقلة مقترحة وليست لقطة رسمية لـGenesys أو Zoho. التنفيذ ممكن يكون من خلال فتح رابط موجود أو لوحة داخلية مدعومة بعد فحص شاشة الموظف. القراءة من جهات الاتصال والتذاكر في Desk، بدون افتراض Zoho CRM.</a:t>
            </a:r>
          </a:p>
          <a:p/>
          <a:p>
            <a:r>
              <a:t>المثال فيه العميل A وتذكرتين مفتوحتين وواحدة مغلقة. T101 بانتظار الفرع B01. اختيار تذكرة يعرض ملاحظاتها المسجلة. ربط المكالمة يتم باختيار الموظف لتذكرة مفتوحة؛ بدون إغلاق أو إعادة فتح أو قرار تجاري تلقائي.</a:t>
            </a:r>
          </a:p>
          <a:p/>
          <a:p>
            <a:r>
              <a:t>ده مقترح لأول تعاون. مفيش علاقة حالية بين GRINDCTRL وكونكريت أو Centro، والربط لم يُنفَّذ. أسماء العملاء والأرقام والتذاكر أمثلة خيالية، والواجهة تصميم توضيحي وليست شاشة رسمية للأنظمة.</a:t>
            </a:r>
          </a:p>
          <a:p/>
          <a:p>
            <a:r>
              <a:t>الحركة تشرح ترتيب التجربة المقترحة. توقيتها خاص بالعرض، وليس قياسًا لسرعة البحث. العرض والمعاينة لا يشغّلان ربطًا بالأنظمة أو backend أو نموذج AI حي.</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التسلسل الحالي يمثل غياب ظهور السياق تلقائيًا والبحث اليدوي الشغّال بحسب المستخدم. التسلسل المقترح يستخدم سجلات خيالية، وليس صورة لشاشة الموظف الحالية.</a:t>
            </a:r>
          </a:p>
          <a:p/>
          <a:p>
            <a:r>
              <a:t>القيمة المتوقعة: خطوات بحث يدوية أقل والوصول للملاحظات السابقة أسرع. وقت التعامل وسرعة ظهور البيانات وصحة المطابقة وأثر الجودة والتكلفة تُقاس في تجربة مصرح بها؛ بدون نسب أو توفير مضمون.</a:t>
            </a:r>
          </a:p>
          <a:p/>
          <a:p>
            <a:r>
              <a:t>عقد نوفمبر ٢٠٢٣ صفحة PDF ٤ يذكر نصًا “CRM URL pop up integration.” ده يثبت وجود البند في النطاق، ولا يثبت تشغيله حاليًا أو وجود مزامنة في الاتجاهين. السبب قد يكون إعدادات أو مطابقة أو صلاحيات أو غير ذلك؛ نفحص الوضع الفعلي قبل اختيار إصلاح الإعدادات الأصلية أو بناء وسيط.</a:t>
            </a:r>
          </a:p>
          <a:p/>
          <a:p>
            <a:r>
              <a:t>الاستلام يشمل مكالمات اختبار فعلية مصرح بها، ومطابقة السجلات وعرض التذاكر، والأرقام المشتركة أو الناقصة، وظهور الأخطاء، وصلاحيات الموظف، وربط المكالمة دون تكرار إذا كان ضمن النطاق. نقارن خطوات ووقت البحث اليدوي بالمسار الجديد ونقيس سرعة البحث ونتائجه. الحدود ونطاق التجربة تُحدد مع كونكريت بدون اختلاقها.</a:t>
            </a:r>
          </a:p>
          <a:p/>
          <a:p>
            <a:r>
              <a:t>بعد ظهور السياق، ممكن إضافة ملخص AI مع مراجع للملاحظات وإظهار النواقص أو التعارض للمراجعة. لا يختلق إجراءات أو وعودًا أو حالات تذاكر. لا يوجد موديل حي أو نتائج توفير أو منتج SaaS متحقق منه بعد.</a:t>
            </a:r>
          </a:p>
          <a:p/>
          <a:p>
            <a:r>
              <a:t>ده مقترح لأول تعاون. مفيش علاقة حالية بين GRINDCTRL وكونكريت أو Centro، والربط لم يُنفَّذ. أسماء العملاء والأرقام والتذاكر أمثلة خيالية، والواجهة تصميم توضيحي وليست شاشة رسمية للأنظمة.</a:t>
            </a:r>
          </a:p>
          <a:p/>
          <a:p>
            <a:r>
              <a:t>الحركة تشرح ترتيب التجربة المقترحة. توقيتها خاص بالعرض، وليس قياسًا لسرعة البحث. العرض والمعاينة لا يشغّلان ربطًا بالأنظمة أو backend أو نموذج AI حي.</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عقد نوفمبر ٢٠٢٣ صفحة PDF ٤ يذكر نصًا “CRM URL pop up integration.” ده يثبت وجود البند في النطاق، ولا يثبت تشغيله حاليًا أو وجود مزامنة في الاتجاهين. السبب قد يكون إعدادات أو مطابقة أو صلاحيات أو غير ذلك؛ نفحص الوضع الفعلي قبل اختيار إصلاح الإعدادات الأصلية أو بناء وسيط.</a:t>
            </a:r>
          </a:p>
          <a:p/>
          <a:p>
            <a:r>
              <a:t>الاستلام يشمل مكالمات اختبار فعلية مصرح بها، ومطابقة السجلات وعرض التذاكر، والأرقام المشتركة أو الناقصة، وظهور الأخطاء، وصلاحيات الموظف، وربط المكالمة دون تكرار إذا كان ضمن النطاق. نقارن خطوات ووقت البحث اليدوي بالمسار الجديد ونقيس سرعة البحث ونتائجه. الحدود ونطاق التجربة تُحدد مع كونكريت بدون اختلاقها.</a:t>
            </a:r>
          </a:p>
          <a:p/>
          <a:p>
            <a:r>
              <a:t>بعد ظهور السياق، ممكن إضافة ملخص AI مع مراجع للملاحظات وإظهار النواقص أو التعارض للمراجعة. لا يختلق إجراءات أو وعودًا أو حالات تذاكر. لا يوجد موديل حي أو نتائج توفير أو منتج SaaS متحقق منه بعد.</a:t>
            </a:r>
          </a:p>
          <a:p/>
          <a:p>
            <a:r>
              <a:t>ده مقترح لأول تعاون. مفيش علاقة حالية بين GRINDCTRL وكونكريت أو Centro، والربط لم يُنفَّذ. أسماء العملاء والأرقام والتذاكر أمثلة خيالية، والواجهة تصميم توضيحي وليست شاشة رسمية للأنظمة.</a:t>
            </a:r>
          </a:p>
          <a:p/>
          <a:p>
            <a:r>
              <a:t>الحركة تشرح ترتيب التجربة المقترحة. توقيتها خاص بالعرض، وليس قياسًا لسرعة البحث. العرض والمعاينة لا يشغّلان ربطًا بالأنظمة أو backend أو نموذج AI حي.</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المعاينة تشمل سجلًا واحدًا، ورقمًا مشتركًا بين عميلين، ورقمًا غير موجود، وتعذر البحث في Desk. تعدد السجلات يحتاج اختيار الموظف. الرقم الجديد يتيح بحثًا يدويًا بالرقم أو الاسم أو مرجع التذكرة. فشل البحث يظهر كتعذر الوصول وليس عدم وجود تذاكر. المكالمة مستمرة.</a:t>
            </a:r>
          </a:p>
          <a:p/>
          <a:p>
            <a:r>
              <a:t>رقم التليفون ليس إثبات هوية. نتبع سياسة العميل للتحقق من المتصل وصلاحيات السجلات. الربط ينشئ حدثًا توضيحيًا واحدًا لنفس المكالمة والتذكرة ولا يغيّر حالتها. صلاحيات الكتابة والحقول الفعلية تحتاج اتفاقًا.</a:t>
            </a:r>
          </a:p>
          <a:p/>
          <a:p>
            <a:r>
              <a:t>عقد نوفمبر ٢٠٢٣ صفحة PDF ٤ يذكر نصًا “CRM URL pop up integration.” ده يثبت وجود البند في النطاق، ولا يثبت تشغيله حاليًا أو وجود مزامنة في الاتجاهين. السبب قد يكون إعدادات أو مطابقة أو صلاحيات أو غير ذلك؛ نفحص الوضع الفعلي قبل اختيار إصلاح الإعدادات الأصلية أو بناء وسيط.</a:t>
            </a:r>
          </a:p>
          <a:p/>
          <a:p>
            <a:r>
              <a:t>الاستلام يشمل مكالمات اختبار فعلية مصرح بها، ومطابقة السجلات وعرض التذاكر، والأرقام المشتركة أو الناقصة، وظهور الأخطاء، وصلاحيات الموظف، وربط المكالمة دون تكرار إذا كان ضمن النطاق. نقارن خطوات ووقت البحث اليدوي بالمسار الجديد ونقيس سرعة البحث ونتائجه. الحدود ونطاق التجربة تُحدد مع كونكريت بدون اختلاقها.</a:t>
            </a:r>
          </a:p>
          <a:p/>
          <a:p>
            <a:r>
              <a:t>بعد ظهور السياق، ممكن إضافة ملخص AI مع مراجع للملاحظات وإظهار النواقص أو التعارض للمراجعة. لا يختلق إجراءات أو وعودًا أو حالات تذاكر. لا يوجد موديل حي أو نتائج توفير أو منتج SaaS متحقق منه بعد.</a:t>
            </a:r>
          </a:p>
          <a:p/>
          <a:p>
            <a:r>
              <a:t>ده مقترح لأول تعاون. مفيش علاقة حالية بين GRINDCTRL وكونكريت أو Centro، والربط لم يُنفَّذ. أسماء العملاء والأرقام والتذاكر أمثلة خيالية، والواجهة تصميم توضيحي وليست شاشة رسمية للأنظمة.</a:t>
            </a:r>
          </a:p>
          <a:p/>
          <a:p>
            <a:r>
              <a:t>الحركة تشرح ترتيب التجربة المقترحة. توقيتها خاص بالعرض، وليس قياسًا لسرعة البحث. العرض والمعاينة لا يشغّلان ربطًا بالأنظمة أو backend أو نموذج AI حي.</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2.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01D"/>
        </a:solidFill>
        <a:effectLst/>
      </p:bgPr>
    </p:bg>
    <p:spTree>
      <p:nvGrpSpPr>
        <p:cNvPr id="1" name=""/>
        <p:cNvGrpSpPr/>
        <p:nvPr/>
      </p:nvGrpSpPr>
      <p:grpSpPr/>
      <p:sp>
        <p:nvSpPr>
          <p:cNvPr id="2" name="TextBox 1"/>
          <p:cNvSpPr txBox="1"/>
          <p:nvPr/>
        </p:nvSpPr>
        <p:spPr>
          <a:xfrm>
            <a:off x="3162300" y="266700"/>
            <a:ext cx="8572500" cy="2667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1" lang="ar-EG">
                <a:solidFill>
                  <a:srgbClr val="D5CFC6"/>
                </a:solidFill>
                <a:latin typeface="Manrope"/>
                <a:cs typeface="IBM Plex Sans Arabic Medium"/>
              </a:rPr>
              <a:t>كونكريت · مقترح لخدمة العملاء</a:t>
            </a:r>
          </a:p>
        </p:txBody>
      </p:sp>
      <p:pic>
        <p:nvPicPr>
          <p:cNvPr id="3" name="Picture 2" descr="brand-white.png"/>
          <p:cNvPicPr>
            <a:picLocks noChangeAspect="1"/>
          </p:cNvPicPr>
          <p:nvPr/>
        </p:nvPicPr>
        <p:blipFill>
          <a:blip r:embed="rId2"/>
          <a:stretch>
            <a:fillRect/>
          </a:stretch>
        </p:blipFill>
        <p:spPr>
          <a:xfrm>
            <a:off x="1781175" y="220662"/>
            <a:ext cx="495300" cy="330200"/>
          </a:xfrm>
          <a:prstGeom prst="rect">
            <a:avLst/>
          </a:prstGeom>
          <a:effectLst/>
        </p:spPr>
      </p:pic>
      <p:sp>
        <p:nvSpPr>
          <p:cNvPr id="4" name="TextBox 3"/>
          <p:cNvSpPr txBox="1"/>
          <p:nvPr/>
        </p:nvSpPr>
        <p:spPr>
          <a:xfrm>
            <a:off x="457200" y="266700"/>
            <a:ext cx="1219200" cy="276225"/>
          </a:xfrm>
          <a:prstGeom prst="rect">
            <a:avLst/>
          </a:prstGeom>
          <a:noFill/>
          <a:effectLst/>
        </p:spPr>
        <p:txBody>
          <a:bodyPr wrap="square" lIns="0" rIns="0" tIns="0" bIns="0" anchor="t">
            <a:spAutoFit/>
          </a:bodyPr>
          <a:lstStyle/>
          <a:p>
            <a:pPr algn="r" rtl="0">
              <a:lnSpc>
                <a:spcPts val="1596"/>
              </a:lnSpc>
              <a:spcBef>
                <a:spcPts val="0"/>
              </a:spcBef>
              <a:spcAft>
                <a:spcPts val="0"/>
              </a:spcAft>
            </a:pPr>
            <a:r>
              <a:rPr sz="1425" b="1" lang="ar-EG">
                <a:solidFill>
                  <a:srgbClr val="FCFAF6"/>
                </a:solidFill>
                <a:latin typeface="Manrope"/>
                <a:cs typeface="IBM Plex Sans Arabic Medium"/>
              </a:rPr>
              <a:t>GRINDCTRL</a:t>
            </a:r>
          </a:p>
        </p:txBody>
      </p:sp>
      <p:sp>
        <p:nvSpPr>
          <p:cNvPr id="5" name="TextBox 4"/>
          <p:cNvSpPr txBox="1"/>
          <p:nvPr/>
        </p:nvSpPr>
        <p:spPr>
          <a:xfrm>
            <a:off x="457200" y="819150"/>
            <a:ext cx="11277600" cy="1562100"/>
          </a:xfrm>
          <a:prstGeom prst="rect">
            <a:avLst/>
          </a:prstGeom>
          <a:noFill/>
          <a:effectLst/>
        </p:spPr>
        <p:txBody>
          <a:bodyPr wrap="square" lIns="0" rIns="0" tIns="0" bIns="0" anchor="t">
            <a:spAutoFit/>
          </a:bodyPr>
          <a:lstStyle/>
          <a:p>
            <a:pPr algn="r" rtl="1">
              <a:lnSpc>
                <a:spcPts val="5544"/>
              </a:lnSpc>
              <a:spcBef>
                <a:spcPts val="0"/>
              </a:spcBef>
              <a:spcAft>
                <a:spcPts val="0"/>
              </a:spcAft>
            </a:pPr>
            <a:r>
              <a:rPr sz="4950" b="1" lang="ar-EG">
                <a:solidFill>
                  <a:srgbClr val="FCFAF6"/>
                </a:solidFill>
                <a:latin typeface="Manrope"/>
                <a:cs typeface="IBM Plex Sans Arabic Medium"/>
              </a:rPr>
              <a:t>مكالمات أذكى</a:t>
            </a:r>
          </a:p>
          <a:p>
            <a:pPr algn="r" rtl="1">
              <a:lnSpc>
                <a:spcPts val="5544"/>
              </a:lnSpc>
              <a:spcBef>
                <a:spcPts val="0"/>
              </a:spcBef>
              <a:spcAft>
                <a:spcPts val="0"/>
              </a:spcAft>
            </a:pPr>
            <a:r>
              <a:rPr sz="4950" b="1" lang="ar-EG">
                <a:solidFill>
                  <a:srgbClr val="FCFAF6"/>
                </a:solidFill>
                <a:latin typeface="Manrope"/>
                <a:cs typeface="IBM Plex Sans Arabic Medium"/>
              </a:rPr>
              <a:t>لعملاء كونكريت.</a:t>
            </a:r>
          </a:p>
        </p:txBody>
      </p:sp>
      <p:sp>
        <p:nvSpPr>
          <p:cNvPr id="6" name="TextBox 5"/>
          <p:cNvSpPr txBox="1"/>
          <p:nvPr/>
        </p:nvSpPr>
        <p:spPr>
          <a:xfrm>
            <a:off x="457200" y="2419350"/>
            <a:ext cx="11277600" cy="457200"/>
          </a:xfrm>
          <a:prstGeom prst="rect">
            <a:avLst/>
          </a:prstGeom>
          <a:noFill/>
          <a:effectLst/>
        </p:spPr>
        <p:txBody>
          <a:bodyPr wrap="square" lIns="0" rIns="0" tIns="0" bIns="0" anchor="t">
            <a:spAutoFit/>
          </a:bodyPr>
          <a:lstStyle/>
          <a:p>
            <a:pPr algn="r" rtl="1">
              <a:lnSpc>
                <a:spcPts val="2688"/>
              </a:lnSpc>
              <a:spcBef>
                <a:spcPts val="0"/>
              </a:spcBef>
              <a:spcAft>
                <a:spcPts val="0"/>
              </a:spcAft>
            </a:pPr>
            <a:r>
              <a:rPr sz="2400" b="0" lang="ar-EG">
                <a:solidFill>
                  <a:srgbClr val="D5CFC6"/>
                </a:solidFill>
                <a:latin typeface="Manrope"/>
                <a:cs typeface="IBM Plex Sans Arabic Medium"/>
              </a:rPr>
              <a:t>تذاكر Zoho Desk تظهر مع مكالمة Genesys.</a:t>
            </a:r>
          </a:p>
        </p:txBody>
      </p:sp>
      <p:cxnSp>
        <p:nvCxnSpPr>
          <p:cNvPr id="7" name="Connector 6"/>
          <p:cNvCxnSpPr/>
          <p:nvPr/>
        </p:nvCxnSpPr>
        <p:spPr>
          <a:xfrm flipH="1">
            <a:off x="457200" y="6334125"/>
            <a:ext cx="11277600" cy="0"/>
          </a:xfrm>
          <a:prstGeom prst="line">
            <a:avLst/>
          </a:prstGeom>
          <a:ln w="9525">
            <a:solidFill>
              <a:srgbClr val="675E55"/>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1447800" y="6496050"/>
            <a:ext cx="10287000" cy="209550"/>
          </a:xfrm>
          <a:prstGeom prst="rect">
            <a:avLst/>
          </a:prstGeom>
          <a:noFill/>
          <a:effectLst/>
        </p:spPr>
        <p:txBody>
          <a:bodyPr wrap="square" lIns="0" rIns="0" tIns="0" bIns="0" anchor="t">
            <a:spAutoFit/>
          </a:bodyPr>
          <a:lstStyle/>
          <a:p>
            <a:pPr algn="r" rtl="1">
              <a:lnSpc>
                <a:spcPts val="1260"/>
              </a:lnSpc>
              <a:spcBef>
                <a:spcPts val="0"/>
              </a:spcBef>
              <a:spcAft>
                <a:spcPts val="0"/>
              </a:spcAft>
            </a:pPr>
            <a:r>
              <a:rPr sz="1125" b="0" lang="ar-EG">
                <a:solidFill>
                  <a:srgbClr val="D5CFC6"/>
                </a:solidFill>
                <a:latin typeface="Manrope"/>
                <a:cs typeface="IBM Plex Sans Arabic Medium"/>
              </a:rPr>
              <a:t>تعاون مقترح · سجلات توضيحية</a:t>
            </a:r>
          </a:p>
        </p:txBody>
      </p:sp>
      <p:sp>
        <p:nvSpPr>
          <p:cNvPr id="9" name="TextBox 8"/>
          <p:cNvSpPr txBox="1"/>
          <p:nvPr/>
        </p:nvSpPr>
        <p:spPr>
          <a:xfrm>
            <a:off x="457200" y="6496050"/>
            <a:ext cx="828675" cy="20955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ar-EG">
                <a:solidFill>
                  <a:srgbClr val="D5CFC6"/>
                </a:solidFill>
                <a:latin typeface="Manrope"/>
                <a:cs typeface="IBM Plex Sans Arabic Medium"/>
              </a:rPr>
              <a:t>01 / 09</a:t>
            </a:r>
          </a:p>
        </p:txBody>
      </p:sp>
      <p:sp>
        <p:nvSpPr>
          <p:cNvPr id="10" name="Rounded Rectangle 9"/>
          <p:cNvSpPr/>
          <p:nvPr/>
        </p:nvSpPr>
        <p:spPr>
          <a:xfrm>
            <a:off x="8420100" y="3114675"/>
            <a:ext cx="3314700" cy="2724150"/>
          </a:xfrm>
          <a:prstGeom prst="roundRect">
            <a:avLst>
              <a:gd name="adj" fmla="val 5594"/>
            </a:avLst>
          </a:prstGeom>
          <a:solidFill>
            <a:srgbClr val="302B26"/>
          </a:solidFill>
          <a:ln w="9525">
            <a:solidFill>
              <a:srgbClr val="675E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white.png"/>
          <p:cNvPicPr>
            <a:picLocks noChangeAspect="1"/>
          </p:cNvPicPr>
          <p:nvPr/>
        </p:nvPicPr>
        <p:blipFill>
          <a:blip r:embed="rId3"/>
          <a:stretch>
            <a:fillRect/>
          </a:stretch>
        </p:blipFill>
        <p:spPr>
          <a:xfrm>
            <a:off x="9382125" y="3443968"/>
            <a:ext cx="2095500" cy="408214"/>
          </a:xfrm>
          <a:prstGeom prst="rect">
            <a:avLst/>
          </a:prstGeom>
          <a:effectLst/>
        </p:spPr>
      </p:pic>
      <p:sp>
        <p:nvSpPr>
          <p:cNvPr id="12" name="TextBox 11"/>
          <p:cNvSpPr txBox="1"/>
          <p:nvPr/>
        </p:nvSpPr>
        <p:spPr>
          <a:xfrm>
            <a:off x="8677275" y="4324350"/>
            <a:ext cx="2800350" cy="923925"/>
          </a:xfrm>
          <a:prstGeom prst="rect">
            <a:avLst/>
          </a:prstGeom>
          <a:noFill/>
          <a:effectLst/>
        </p:spPr>
        <p:txBody>
          <a:bodyPr wrap="square" lIns="0" rIns="0" tIns="0" bIns="0" anchor="t">
            <a:spAutoFit/>
          </a:bodyPr>
          <a:lstStyle/>
          <a:p>
            <a:pPr algn="r" rtl="1">
              <a:lnSpc>
                <a:spcPts val="3192"/>
              </a:lnSpc>
              <a:spcBef>
                <a:spcPts val="0"/>
              </a:spcBef>
              <a:spcAft>
                <a:spcPts val="0"/>
              </a:spcAft>
            </a:pPr>
            <a:r>
              <a:rPr sz="2850" b="1" lang="ar-EG">
                <a:solidFill>
                  <a:srgbClr val="FCFAF6"/>
                </a:solidFill>
                <a:latin typeface="Manrope"/>
                <a:cs typeface="IBM Plex Sans Arabic Medium"/>
              </a:rPr>
              <a:t>المكالمة</a:t>
            </a:r>
          </a:p>
        </p:txBody>
      </p:sp>
      <p:sp>
        <p:nvSpPr>
          <p:cNvPr id="13" name="TextBox 12"/>
          <p:cNvSpPr txBox="1"/>
          <p:nvPr/>
        </p:nvSpPr>
        <p:spPr>
          <a:xfrm>
            <a:off x="8677275" y="5314950"/>
            <a:ext cx="2800350" cy="409575"/>
          </a:xfrm>
          <a:prstGeom prst="rect">
            <a:avLst/>
          </a:prstGeom>
          <a:noFill/>
          <a:effectLst/>
        </p:spPr>
        <p:txBody>
          <a:bodyPr wrap="square" lIns="0" rIns="0" tIns="0" bIns="0" anchor="t">
            <a:spAutoFit/>
          </a:bodyPr>
          <a:lstStyle/>
          <a:p>
            <a:pPr algn="r" rtl="1">
              <a:lnSpc>
                <a:spcPts val="2520"/>
              </a:lnSpc>
              <a:spcBef>
                <a:spcPts val="0"/>
              </a:spcBef>
              <a:spcAft>
                <a:spcPts val="0"/>
              </a:spcAft>
            </a:pPr>
            <a:r>
              <a:rPr sz="2250" b="0" lang="ar-EG">
                <a:solidFill>
                  <a:srgbClr val="D5CFC6"/>
                </a:solidFill>
                <a:latin typeface="Manrope"/>
                <a:cs typeface="IBM Plex Sans Arabic Medium"/>
              </a:rPr>
              <a:t>توصل في Genesys</a:t>
            </a:r>
          </a:p>
        </p:txBody>
      </p:sp>
      <p:cxnSp>
        <p:nvCxnSpPr>
          <p:cNvPr id="14" name="Connector 13"/>
          <p:cNvCxnSpPr/>
          <p:nvPr/>
        </p:nvCxnSpPr>
        <p:spPr>
          <a:xfrm flipH="1">
            <a:off x="7934325" y="4429125"/>
            <a:ext cx="37147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4438650" y="3114675"/>
            <a:ext cx="3314700" cy="2724150"/>
          </a:xfrm>
          <a:prstGeom prst="roundRect">
            <a:avLst>
              <a:gd name="adj" fmla="val 5594"/>
            </a:avLst>
          </a:prstGeom>
          <a:solidFill>
            <a:srgbClr val="302B26"/>
          </a:solidFill>
          <a:ln w="9525">
            <a:solidFill>
              <a:srgbClr val="675E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6029325" y="3333750"/>
            <a:ext cx="1466850" cy="647700"/>
          </a:xfrm>
          <a:prstGeom prst="roundRect">
            <a:avLst>
              <a:gd name="adj" fmla="val 12000"/>
            </a:avLst>
          </a:prstGeom>
          <a:solidFill>
            <a:srgbClr val="FCFAF6"/>
          </a:solidFill>
          <a:ln w="9525">
            <a:solidFill>
              <a:srgbClr val="FCFAF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zoho.png"/>
          <p:cNvPicPr>
            <a:picLocks noChangeAspect="1"/>
          </p:cNvPicPr>
          <p:nvPr/>
        </p:nvPicPr>
        <p:blipFill>
          <a:blip r:embed="rId4"/>
          <a:stretch>
            <a:fillRect/>
          </a:stretch>
        </p:blipFill>
        <p:spPr>
          <a:xfrm>
            <a:off x="6324340" y="3429000"/>
            <a:ext cx="1019695" cy="438150"/>
          </a:xfrm>
          <a:prstGeom prst="rect">
            <a:avLst/>
          </a:prstGeom>
          <a:effectLst/>
        </p:spPr>
      </p:pic>
      <p:sp>
        <p:nvSpPr>
          <p:cNvPr id="18" name="TextBox 17"/>
          <p:cNvSpPr txBox="1"/>
          <p:nvPr/>
        </p:nvSpPr>
        <p:spPr>
          <a:xfrm>
            <a:off x="4695825" y="4324350"/>
            <a:ext cx="2800350" cy="923925"/>
          </a:xfrm>
          <a:prstGeom prst="rect">
            <a:avLst/>
          </a:prstGeom>
          <a:noFill/>
          <a:effectLst/>
        </p:spPr>
        <p:txBody>
          <a:bodyPr wrap="square" lIns="0" rIns="0" tIns="0" bIns="0" anchor="t">
            <a:spAutoFit/>
          </a:bodyPr>
          <a:lstStyle/>
          <a:p>
            <a:pPr algn="r" rtl="1">
              <a:lnSpc>
                <a:spcPts val="3192"/>
              </a:lnSpc>
              <a:spcBef>
                <a:spcPts val="0"/>
              </a:spcBef>
              <a:spcAft>
                <a:spcPts val="0"/>
              </a:spcAft>
            </a:pPr>
            <a:r>
              <a:rPr sz="2850" b="1" lang="ar-EG">
                <a:solidFill>
                  <a:srgbClr val="FCFAF6"/>
                </a:solidFill>
                <a:latin typeface="Manrope"/>
                <a:cs typeface="IBM Plex Sans Arabic Medium"/>
              </a:rPr>
              <a:t>تاريخ العميل</a:t>
            </a:r>
          </a:p>
        </p:txBody>
      </p:sp>
      <p:sp>
        <p:nvSpPr>
          <p:cNvPr id="19" name="TextBox 18"/>
          <p:cNvSpPr txBox="1"/>
          <p:nvPr/>
        </p:nvSpPr>
        <p:spPr>
          <a:xfrm>
            <a:off x="4695825" y="5314950"/>
            <a:ext cx="2800350" cy="409575"/>
          </a:xfrm>
          <a:prstGeom prst="rect">
            <a:avLst/>
          </a:prstGeom>
          <a:noFill/>
          <a:effectLst/>
        </p:spPr>
        <p:txBody>
          <a:bodyPr wrap="square" lIns="0" rIns="0" tIns="0" bIns="0" anchor="t">
            <a:spAutoFit/>
          </a:bodyPr>
          <a:lstStyle/>
          <a:p>
            <a:pPr algn="r" rtl="1">
              <a:lnSpc>
                <a:spcPts val="2520"/>
              </a:lnSpc>
              <a:spcBef>
                <a:spcPts val="0"/>
              </a:spcBef>
              <a:spcAft>
                <a:spcPts val="0"/>
              </a:spcAft>
            </a:pPr>
            <a:r>
              <a:rPr sz="2250" b="0" lang="ar-EG">
                <a:solidFill>
                  <a:srgbClr val="D5CFC6"/>
                </a:solidFill>
                <a:latin typeface="Manrope"/>
                <a:cs typeface="IBM Plex Sans Arabic Medium"/>
              </a:rPr>
              <a:t>من Zoho Desk</a:t>
            </a:r>
          </a:p>
        </p:txBody>
      </p:sp>
      <p:cxnSp>
        <p:nvCxnSpPr>
          <p:cNvPr id="20" name="Connector 19"/>
          <p:cNvCxnSpPr/>
          <p:nvPr/>
        </p:nvCxnSpPr>
        <p:spPr>
          <a:xfrm flipH="1">
            <a:off x="3952875" y="4429125"/>
            <a:ext cx="37147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457200" y="3114675"/>
            <a:ext cx="3314700" cy="2724150"/>
          </a:xfrm>
          <a:prstGeom prst="roundRect">
            <a:avLst>
              <a:gd name="adj" fmla="val 5594"/>
            </a:avLst>
          </a:prstGeom>
          <a:solidFill>
            <a:srgbClr val="302B26"/>
          </a:solidFill>
          <a:ln w="9525">
            <a:solidFill>
              <a:srgbClr val="675E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2771775" y="3267075"/>
            <a:ext cx="742950" cy="742950"/>
          </a:xfrm>
          <a:prstGeom prst="ellipse">
            <a:avLst/>
          </a:prstGeom>
          <a:solidFill>
            <a:srgbClr val="FCFAF6"/>
          </a:solidFill>
          <a:ln w="9525">
            <a:solidFill>
              <a:srgbClr val="FCFAF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actor.png"/>
          <p:cNvPicPr>
            <a:picLocks noChangeAspect="1"/>
          </p:cNvPicPr>
          <p:nvPr/>
        </p:nvPicPr>
        <p:blipFill>
          <a:blip r:embed="rId5"/>
          <a:stretch>
            <a:fillRect/>
          </a:stretch>
        </p:blipFill>
        <p:spPr>
          <a:xfrm>
            <a:off x="2914650" y="3409950"/>
            <a:ext cx="457200" cy="457200"/>
          </a:xfrm>
          <a:prstGeom prst="rect">
            <a:avLst/>
          </a:prstGeom>
          <a:effectLst/>
        </p:spPr>
      </p:pic>
      <p:sp>
        <p:nvSpPr>
          <p:cNvPr id="24" name="TextBox 23"/>
          <p:cNvSpPr txBox="1"/>
          <p:nvPr/>
        </p:nvSpPr>
        <p:spPr>
          <a:xfrm>
            <a:off x="714375" y="4324350"/>
            <a:ext cx="2800350" cy="923925"/>
          </a:xfrm>
          <a:prstGeom prst="rect">
            <a:avLst/>
          </a:prstGeom>
          <a:noFill/>
          <a:effectLst/>
        </p:spPr>
        <p:txBody>
          <a:bodyPr wrap="square" lIns="0" rIns="0" tIns="0" bIns="0" anchor="t">
            <a:spAutoFit/>
          </a:bodyPr>
          <a:lstStyle/>
          <a:p>
            <a:pPr algn="r" rtl="1">
              <a:lnSpc>
                <a:spcPts val="3192"/>
              </a:lnSpc>
              <a:spcBef>
                <a:spcPts val="0"/>
              </a:spcBef>
              <a:spcAft>
                <a:spcPts val="0"/>
              </a:spcAft>
            </a:pPr>
            <a:r>
              <a:rPr sz="2850" b="1" lang="ar-EG">
                <a:solidFill>
                  <a:srgbClr val="FCFAF6"/>
                </a:solidFill>
                <a:latin typeface="Manrope"/>
                <a:cs typeface="IBM Plex Sans Arabic Medium"/>
              </a:rPr>
              <a:t>المحادثة</a:t>
            </a:r>
          </a:p>
        </p:txBody>
      </p:sp>
      <p:sp>
        <p:nvSpPr>
          <p:cNvPr id="25" name="TextBox 24"/>
          <p:cNvSpPr txBox="1"/>
          <p:nvPr/>
        </p:nvSpPr>
        <p:spPr>
          <a:xfrm>
            <a:off x="714375" y="5314950"/>
            <a:ext cx="2800350" cy="409575"/>
          </a:xfrm>
          <a:prstGeom prst="rect">
            <a:avLst/>
          </a:prstGeom>
          <a:noFill/>
          <a:effectLst/>
        </p:spPr>
        <p:txBody>
          <a:bodyPr wrap="square" lIns="0" rIns="0" tIns="0" bIns="0" anchor="t">
            <a:spAutoFit/>
          </a:bodyPr>
          <a:lstStyle/>
          <a:p>
            <a:pPr algn="r" rtl="1">
              <a:lnSpc>
                <a:spcPts val="2520"/>
              </a:lnSpc>
              <a:spcBef>
                <a:spcPts val="0"/>
              </a:spcBef>
              <a:spcAft>
                <a:spcPts val="0"/>
              </a:spcAft>
            </a:pPr>
            <a:r>
              <a:rPr sz="2250" b="0" lang="ar-EG">
                <a:solidFill>
                  <a:srgbClr val="D5CFC6"/>
                </a:solidFill>
                <a:latin typeface="Manrope"/>
                <a:cs typeface="IBM Plex Sans Arabic Medium"/>
              </a:rPr>
              <a:t>تبدأ بمعلومات العميل</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0"/>
                                  </p:tgtEl>
                                  <p:attrNameLst>
                                    <p:attrName>style.visibility</p:attrName>
                                  </p:attrNameLst>
                                </p:cBhvr>
                                <p:to>
                                  <p:strVal val="visible"/>
                                </p:to>
                              </p:set>
                              <p:animEffect transition="in" filter="fade">
                                <p:cBhvr>
                                  <p:cTn id="6" dur="550"/>
                                  <p:tgtEl>
                                    <p:spTgt spid="10"/>
                                  </p:tgtEl>
                                </p:cBhvr>
                              </p:animEffect>
                            </p:childTnLst>
                          </p:cTn>
                        </p:par>
                        <p:par>
                          <p:cTn id="7" presetID="10" presetClass="entr" presetSubtype="0" fill="hold" nodeType="withEffect">
                            <p:stCondLst>
                              <p:cond delay="0"/>
                            </p:stCondLst>
                            <p:childTnLst>
                              <p:set>
                                <p:cBhvr>
                                  <p:cTn id="8" dur="1" fill="hold"/>
                                  <p:tgtEl>
                                    <p:spTgt spid="11"/>
                                  </p:tgtEl>
                                  <p:attrNameLst>
                                    <p:attrName>style.visibility</p:attrName>
                                  </p:attrNameLst>
                                </p:cBhvr>
                                <p:to>
                                  <p:strVal val="visible"/>
                                </p:to>
                              </p:set>
                              <p:animEffect transition="in" filter="fade">
                                <p:cBhvr>
                                  <p:cTn id="9" dur="550"/>
                                  <p:tgtEl>
                                    <p:spTgt spid="11"/>
                                  </p:tgtEl>
                                </p:cBhvr>
                              </p:animEffect>
                            </p:childTnLst>
                          </p:cTn>
                        </p:par>
                        <p:par>
                          <p:cTn id="10" presetID="10" presetClass="entr" presetSubtype="0" fill="hold" nodeType="withEffect">
                            <p:stCondLst>
                              <p:cond delay="0"/>
                            </p:stCondLst>
                            <p:childTnLst>
                              <p:set>
                                <p:cBhvr>
                                  <p:cTn id="11" dur="1" fill="hold"/>
                                  <p:tgtEl>
                                    <p:spTgt spid="12"/>
                                  </p:tgtEl>
                                  <p:attrNameLst>
                                    <p:attrName>style.visibility</p:attrName>
                                  </p:attrNameLst>
                                </p:cBhvr>
                                <p:to>
                                  <p:strVal val="visible"/>
                                </p:to>
                              </p:set>
                              <p:animEffect transition="in" filter="fade">
                                <p:cBhvr>
                                  <p:cTn id="12" dur="550"/>
                                  <p:tgtEl>
                                    <p:spTgt spid="12"/>
                                  </p:tgtEl>
                                </p:cBhvr>
                              </p:animEffect>
                            </p:childTnLst>
                          </p:cTn>
                        </p:par>
                        <p:par>
                          <p:cTn id="13" presetID="10" presetClass="entr" presetSubtype="0" fill="hold" nodeType="withEffect">
                            <p:stCondLst>
                              <p:cond delay="0"/>
                            </p:stCondLst>
                            <p:childTnLst>
                              <p:set>
                                <p:cBhvr>
                                  <p:cTn id="14" dur="1" fill="hold"/>
                                  <p:tgtEl>
                                    <p:spTgt spid="13"/>
                                  </p:tgtEl>
                                  <p:attrNameLst>
                                    <p:attrName>style.visibility</p:attrName>
                                  </p:attrNameLst>
                                </p:cBhvr>
                                <p:to>
                                  <p:strVal val="visible"/>
                                </p:to>
                              </p:set>
                              <p:animEffect transition="in" filter="fade">
                                <p:cBhvr>
                                  <p:cTn id="15" dur="550"/>
                                  <p:tgtEl>
                                    <p:spTgt spid="13"/>
                                  </p:tgtEl>
                                </p:cBhvr>
                              </p:animEffect>
                            </p:childTnLst>
                          </p:cTn>
                        </p:par>
                        <p:par>
                          <p:cTn id="16" presetID="10" presetClass="entr" presetSubtype="0" fill="hold" nodeType="withEffect">
                            <p:stCondLst>
                              <p:cond delay="1250"/>
                            </p:stCondLst>
                            <p:childTnLst>
                              <p:set>
                                <p:cBhvr>
                                  <p:cTn id="17" dur="1" fill="hold"/>
                                  <p:tgtEl>
                                    <p:spTgt spid="14"/>
                                  </p:tgtEl>
                                  <p:attrNameLst>
                                    <p:attrName>style.visibility</p:attrName>
                                  </p:attrNameLst>
                                </p:cBhvr>
                                <p:to>
                                  <p:strVal val="visible"/>
                                </p:to>
                              </p:set>
                              <p:animEffect transition="in" filter="fade">
                                <p:cBhvr>
                                  <p:cTn id="18" dur="550"/>
                                  <p:tgtEl>
                                    <p:spTgt spid="14"/>
                                  </p:tgtEl>
                                </p:cBhvr>
                              </p:animEffect>
                            </p:childTnLst>
                          </p:cTn>
                        </p:par>
                        <p:par>
                          <p:cTn id="19" presetID="10" presetClass="entr" presetSubtype="0" fill="hold" nodeType="withEffect">
                            <p:stCondLst>
                              <p:cond delay="1250"/>
                            </p:stCondLst>
                            <p:childTnLst>
                              <p:set>
                                <p:cBhvr>
                                  <p:cTn id="20" dur="1" fill="hold"/>
                                  <p:tgtEl>
                                    <p:spTgt spid="15"/>
                                  </p:tgtEl>
                                  <p:attrNameLst>
                                    <p:attrName>style.visibility</p:attrName>
                                  </p:attrNameLst>
                                </p:cBhvr>
                                <p:to>
                                  <p:strVal val="visible"/>
                                </p:to>
                              </p:set>
                              <p:animEffect transition="in" filter="fade">
                                <p:cBhvr>
                                  <p:cTn id="21" dur="550"/>
                                  <p:tgtEl>
                                    <p:spTgt spid="15"/>
                                  </p:tgtEl>
                                </p:cBhvr>
                              </p:animEffect>
                            </p:childTnLst>
                          </p:cTn>
                        </p:par>
                        <p:par>
                          <p:cTn id="22" presetID="10" presetClass="entr" presetSubtype="0" fill="hold" nodeType="withEffect">
                            <p:stCondLst>
                              <p:cond delay="1250"/>
                            </p:stCondLst>
                            <p:childTnLst>
                              <p:set>
                                <p:cBhvr>
                                  <p:cTn id="23" dur="1" fill="hold"/>
                                  <p:tgtEl>
                                    <p:spTgt spid="16"/>
                                  </p:tgtEl>
                                  <p:attrNameLst>
                                    <p:attrName>style.visibility</p:attrName>
                                  </p:attrNameLst>
                                </p:cBhvr>
                                <p:to>
                                  <p:strVal val="visible"/>
                                </p:to>
                              </p:set>
                              <p:animEffect transition="in" filter="fade">
                                <p:cBhvr>
                                  <p:cTn id="24" dur="550"/>
                                  <p:tgtEl>
                                    <p:spTgt spid="16"/>
                                  </p:tgtEl>
                                </p:cBhvr>
                              </p:animEffect>
                            </p:childTnLst>
                          </p:cTn>
                        </p:par>
                        <p:par>
                          <p:cTn id="25" presetID="10" presetClass="entr" presetSubtype="0" fill="hold" nodeType="withEffect">
                            <p:stCondLst>
                              <p:cond delay="1250"/>
                            </p:stCondLst>
                            <p:childTnLst>
                              <p:set>
                                <p:cBhvr>
                                  <p:cTn id="26" dur="1" fill="hold"/>
                                  <p:tgtEl>
                                    <p:spTgt spid="17"/>
                                  </p:tgtEl>
                                  <p:attrNameLst>
                                    <p:attrName>style.visibility</p:attrName>
                                  </p:attrNameLst>
                                </p:cBhvr>
                                <p:to>
                                  <p:strVal val="visible"/>
                                </p:to>
                              </p:set>
                              <p:animEffect transition="in" filter="fade">
                                <p:cBhvr>
                                  <p:cTn id="27" dur="550"/>
                                  <p:tgtEl>
                                    <p:spTgt spid="17"/>
                                  </p:tgtEl>
                                </p:cBhvr>
                              </p:animEffect>
                            </p:childTnLst>
                          </p:cTn>
                        </p:par>
                        <p:par>
                          <p:cTn id="28" presetID="10" presetClass="entr" presetSubtype="0" fill="hold" nodeType="withEffect">
                            <p:stCondLst>
                              <p:cond delay="1250"/>
                            </p:stCondLst>
                            <p:childTnLst>
                              <p:set>
                                <p:cBhvr>
                                  <p:cTn id="29" dur="1" fill="hold"/>
                                  <p:tgtEl>
                                    <p:spTgt spid="18"/>
                                  </p:tgtEl>
                                  <p:attrNameLst>
                                    <p:attrName>style.visibility</p:attrName>
                                  </p:attrNameLst>
                                </p:cBhvr>
                                <p:to>
                                  <p:strVal val="visible"/>
                                </p:to>
                              </p:set>
                              <p:animEffect transition="in" filter="fade">
                                <p:cBhvr>
                                  <p:cTn id="30" dur="550"/>
                                  <p:tgtEl>
                                    <p:spTgt spid="18"/>
                                  </p:tgtEl>
                                </p:cBhvr>
                              </p:animEffect>
                            </p:childTnLst>
                          </p:cTn>
                        </p:par>
                        <p:par>
                          <p:cTn id="31" presetID="10" presetClass="entr" presetSubtype="0" fill="hold" nodeType="withEffect">
                            <p:stCondLst>
                              <p:cond delay="1250"/>
                            </p:stCondLst>
                            <p:childTnLst>
                              <p:set>
                                <p:cBhvr>
                                  <p:cTn id="32" dur="1" fill="hold"/>
                                  <p:tgtEl>
                                    <p:spTgt spid="19"/>
                                  </p:tgtEl>
                                  <p:attrNameLst>
                                    <p:attrName>style.visibility</p:attrName>
                                  </p:attrNameLst>
                                </p:cBhvr>
                                <p:to>
                                  <p:strVal val="visible"/>
                                </p:to>
                              </p:set>
                              <p:animEffect transition="in" filter="fade">
                                <p:cBhvr>
                                  <p:cTn id="33" dur="550"/>
                                  <p:tgtEl>
                                    <p:spTgt spid="19"/>
                                  </p:tgtEl>
                                </p:cBhvr>
                              </p:animEffect>
                            </p:childTnLst>
                          </p:cTn>
                        </p:par>
                        <p:par>
                          <p:cTn id="34" presetID="10" presetClass="entr" presetSubtype="0" fill="hold" nodeType="withEffect">
                            <p:stCondLst>
                              <p:cond delay="2500"/>
                            </p:stCondLst>
                            <p:childTnLst>
                              <p:set>
                                <p:cBhvr>
                                  <p:cTn id="35" dur="1" fill="hold"/>
                                  <p:tgtEl>
                                    <p:spTgt spid="20"/>
                                  </p:tgtEl>
                                  <p:attrNameLst>
                                    <p:attrName>style.visibility</p:attrName>
                                  </p:attrNameLst>
                                </p:cBhvr>
                                <p:to>
                                  <p:strVal val="visible"/>
                                </p:to>
                              </p:set>
                              <p:animEffect transition="in" filter="fade">
                                <p:cBhvr>
                                  <p:cTn id="36" dur="550"/>
                                  <p:tgtEl>
                                    <p:spTgt spid="20"/>
                                  </p:tgtEl>
                                </p:cBhvr>
                              </p:animEffect>
                            </p:childTnLst>
                          </p:cTn>
                        </p:par>
                        <p:par>
                          <p:cTn id="37" presetID="10" presetClass="entr" presetSubtype="0" fill="hold" nodeType="withEffect">
                            <p:stCondLst>
                              <p:cond delay="2500"/>
                            </p:stCondLst>
                            <p:childTnLst>
                              <p:set>
                                <p:cBhvr>
                                  <p:cTn id="38" dur="1" fill="hold"/>
                                  <p:tgtEl>
                                    <p:spTgt spid="21"/>
                                  </p:tgtEl>
                                  <p:attrNameLst>
                                    <p:attrName>style.visibility</p:attrName>
                                  </p:attrNameLst>
                                </p:cBhvr>
                                <p:to>
                                  <p:strVal val="visible"/>
                                </p:to>
                              </p:set>
                              <p:animEffect transition="in" filter="fade">
                                <p:cBhvr>
                                  <p:cTn id="39" dur="550"/>
                                  <p:tgtEl>
                                    <p:spTgt spid="21"/>
                                  </p:tgtEl>
                                </p:cBhvr>
                              </p:animEffect>
                            </p:childTnLst>
                          </p:cTn>
                        </p:par>
                        <p:par>
                          <p:cTn id="40" presetID="10" presetClass="entr" presetSubtype="0" fill="hold" nodeType="withEffect">
                            <p:stCondLst>
                              <p:cond delay="2500"/>
                            </p:stCondLst>
                            <p:childTnLst>
                              <p:set>
                                <p:cBhvr>
                                  <p:cTn id="41" dur="1" fill="hold"/>
                                  <p:tgtEl>
                                    <p:spTgt spid="22"/>
                                  </p:tgtEl>
                                  <p:attrNameLst>
                                    <p:attrName>style.visibility</p:attrName>
                                  </p:attrNameLst>
                                </p:cBhvr>
                                <p:to>
                                  <p:strVal val="visible"/>
                                </p:to>
                              </p:set>
                              <p:animEffect transition="in" filter="fade">
                                <p:cBhvr>
                                  <p:cTn id="42" dur="550"/>
                                  <p:tgtEl>
                                    <p:spTgt spid="22"/>
                                  </p:tgtEl>
                                </p:cBhvr>
                              </p:animEffect>
                            </p:childTnLst>
                          </p:cTn>
                        </p:par>
                        <p:par>
                          <p:cTn id="43" presetID="10" presetClass="entr" presetSubtype="0" fill="hold" nodeType="withEffect">
                            <p:stCondLst>
                              <p:cond delay="2500"/>
                            </p:stCondLst>
                            <p:childTnLst>
                              <p:set>
                                <p:cBhvr>
                                  <p:cTn id="44" dur="1" fill="hold"/>
                                  <p:tgtEl>
                                    <p:spTgt spid="23"/>
                                  </p:tgtEl>
                                  <p:attrNameLst>
                                    <p:attrName>style.visibility</p:attrName>
                                  </p:attrNameLst>
                                </p:cBhvr>
                                <p:to>
                                  <p:strVal val="visible"/>
                                </p:to>
                              </p:set>
                              <p:animEffect transition="in" filter="fade">
                                <p:cBhvr>
                                  <p:cTn id="45" dur="550"/>
                                  <p:tgtEl>
                                    <p:spTgt spid="23"/>
                                  </p:tgtEl>
                                </p:cBhvr>
                              </p:animEffect>
                            </p:childTnLst>
                          </p:cTn>
                        </p:par>
                        <p:par>
                          <p:cTn id="46" presetID="10" presetClass="entr" presetSubtype="0" fill="hold" nodeType="withEffect">
                            <p:stCondLst>
                              <p:cond delay="2500"/>
                            </p:stCondLst>
                            <p:childTnLst>
                              <p:set>
                                <p:cBhvr>
                                  <p:cTn id="47" dur="1" fill="hold"/>
                                  <p:tgtEl>
                                    <p:spTgt spid="24"/>
                                  </p:tgtEl>
                                  <p:attrNameLst>
                                    <p:attrName>style.visibility</p:attrName>
                                  </p:attrNameLst>
                                </p:cBhvr>
                                <p:to>
                                  <p:strVal val="visible"/>
                                </p:to>
                              </p:set>
                              <p:animEffect transition="in" filter="fade">
                                <p:cBhvr>
                                  <p:cTn id="48" dur="550"/>
                                  <p:tgtEl>
                                    <p:spTgt spid="24"/>
                                  </p:tgtEl>
                                </p:cBhvr>
                              </p:animEffect>
                            </p:childTnLst>
                          </p:cTn>
                        </p:par>
                        <p:par>
                          <p:cTn id="49" presetID="10" presetClass="entr" presetSubtype="0" fill="hold" nodeType="withEffect">
                            <p:stCondLst>
                              <p:cond delay="2500"/>
                            </p:stCondLst>
                            <p:childTnLst>
                              <p:set>
                                <p:cBhvr>
                                  <p:cTn id="50" dur="1" fill="hold"/>
                                  <p:tgtEl>
                                    <p:spTgt spid="25"/>
                                  </p:tgtEl>
                                  <p:attrNameLst>
                                    <p:attrName>style.visibility</p:attrName>
                                  </p:attrNameLst>
                                </p:cBhvr>
                                <p:to>
                                  <p:strVal val="visible"/>
                                </p:to>
                              </p:set>
                              <p:animEffect transition="in" filter="fade">
                                <p:cBhvr>
                                  <p:cTn id="51" dur="550"/>
                                  <p:tgtEl>
                                    <p:spTgt spid="2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3162300" y="266700"/>
            <a:ext cx="8572500" cy="2667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1" lang="ar-EG">
                <a:solidFill>
                  <a:srgbClr val="69635C"/>
                </a:solidFill>
                <a:latin typeface="Manrope"/>
                <a:cs typeface="IBM Plex Sans Arabic Medium"/>
              </a:rPr>
              <a:t>٠١ · المشكلة الحالية</a:t>
            </a:r>
          </a:p>
        </p:txBody>
      </p:sp>
      <p:pic>
        <p:nvPicPr>
          <p:cNvPr id="3" name="Picture 2" descr="brand.png"/>
          <p:cNvPicPr>
            <a:picLocks noChangeAspect="1"/>
          </p:cNvPicPr>
          <p:nvPr/>
        </p:nvPicPr>
        <p:blipFill>
          <a:blip r:embed="rId2"/>
          <a:stretch>
            <a:fillRect/>
          </a:stretch>
        </p:blipFill>
        <p:spPr>
          <a:xfrm>
            <a:off x="1781175" y="220662"/>
            <a:ext cx="495300" cy="330200"/>
          </a:xfrm>
          <a:prstGeom prst="rect">
            <a:avLst/>
          </a:prstGeom>
          <a:effectLst/>
        </p:spPr>
      </p:pic>
      <p:sp>
        <p:nvSpPr>
          <p:cNvPr id="4" name="TextBox 3"/>
          <p:cNvSpPr txBox="1"/>
          <p:nvPr/>
        </p:nvSpPr>
        <p:spPr>
          <a:xfrm>
            <a:off x="457200" y="266700"/>
            <a:ext cx="1219200" cy="276225"/>
          </a:xfrm>
          <a:prstGeom prst="rect">
            <a:avLst/>
          </a:prstGeom>
          <a:noFill/>
          <a:effectLst/>
        </p:spPr>
        <p:txBody>
          <a:bodyPr wrap="square" lIns="0" rIns="0" tIns="0" bIns="0" anchor="t">
            <a:spAutoFit/>
          </a:bodyPr>
          <a:lstStyle/>
          <a:p>
            <a:pPr algn="r" rtl="0">
              <a:lnSpc>
                <a:spcPts val="1596"/>
              </a:lnSpc>
              <a:spcBef>
                <a:spcPts val="0"/>
              </a:spcBef>
              <a:spcAft>
                <a:spcPts val="0"/>
              </a:spcAft>
            </a:pPr>
            <a:r>
              <a:rPr sz="1425" b="1" lang="ar-EG">
                <a:solidFill>
                  <a:srgbClr val="23201D"/>
                </a:solidFill>
                <a:latin typeface="Manrope"/>
                <a:cs typeface="IBM Plex Sans Arabic Medium"/>
              </a:rPr>
              <a:t>GRINDCTRL</a:t>
            </a:r>
          </a:p>
        </p:txBody>
      </p:sp>
      <p:sp>
        <p:nvSpPr>
          <p:cNvPr id="5" name="TextBox 4"/>
          <p:cNvSpPr txBox="1"/>
          <p:nvPr/>
        </p:nvSpPr>
        <p:spPr>
          <a:xfrm>
            <a:off x="457200" y="819150"/>
            <a:ext cx="11277600" cy="1562100"/>
          </a:xfrm>
          <a:prstGeom prst="rect">
            <a:avLst/>
          </a:prstGeom>
          <a:noFill/>
          <a:effectLst/>
        </p:spPr>
        <p:txBody>
          <a:bodyPr wrap="square" lIns="0" rIns="0" tIns="0" bIns="0" anchor="t">
            <a:spAutoFit/>
          </a:bodyPr>
          <a:lstStyle/>
          <a:p>
            <a:pPr algn="r" rtl="1">
              <a:lnSpc>
                <a:spcPts val="5376"/>
              </a:lnSpc>
              <a:spcBef>
                <a:spcPts val="0"/>
              </a:spcBef>
              <a:spcAft>
                <a:spcPts val="0"/>
              </a:spcAft>
            </a:pPr>
            <a:r>
              <a:rPr sz="4800" b="1" lang="ar-EG">
                <a:solidFill>
                  <a:srgbClr val="23201D"/>
                </a:solidFill>
                <a:latin typeface="Manrope"/>
                <a:cs typeface="IBM Plex Sans Arabic Medium"/>
              </a:rPr>
              <a:t>المعلومات موجودة.</a:t>
            </a:r>
          </a:p>
          <a:p>
            <a:pPr algn="r" rtl="1">
              <a:lnSpc>
                <a:spcPts val="5376"/>
              </a:lnSpc>
              <a:spcBef>
                <a:spcPts val="0"/>
              </a:spcBef>
              <a:spcAft>
                <a:spcPts val="0"/>
              </a:spcAft>
            </a:pPr>
            <a:r>
              <a:rPr sz="4800" b="1" lang="ar-EG">
                <a:solidFill>
                  <a:srgbClr val="23201D"/>
                </a:solidFill>
                <a:latin typeface="Manrope"/>
                <a:cs typeface="IBM Plex Sans Arabic Medium"/>
              </a:rPr>
              <a:t>بس الموظف لازم يبحث عنها.</a:t>
            </a:r>
          </a:p>
        </p:txBody>
      </p:sp>
      <p:sp>
        <p:nvSpPr>
          <p:cNvPr id="6" name="TextBox 5"/>
          <p:cNvSpPr txBox="1"/>
          <p:nvPr/>
        </p:nvSpPr>
        <p:spPr>
          <a:xfrm>
            <a:off x="457200" y="2419350"/>
            <a:ext cx="11277600" cy="457200"/>
          </a:xfrm>
          <a:prstGeom prst="rect">
            <a:avLst/>
          </a:prstGeom>
          <a:noFill/>
          <a:effectLst/>
        </p:spPr>
        <p:txBody>
          <a:bodyPr wrap="square" lIns="0" rIns="0" tIns="0" bIns="0" anchor="t">
            <a:spAutoFit/>
          </a:bodyPr>
          <a:lstStyle/>
          <a:p>
            <a:pPr algn="r" rtl="1">
              <a:lnSpc>
                <a:spcPts val="2688"/>
              </a:lnSpc>
              <a:spcBef>
                <a:spcPts val="0"/>
              </a:spcBef>
              <a:spcAft>
                <a:spcPts val="0"/>
              </a:spcAft>
            </a:pPr>
            <a:r>
              <a:rPr sz="2400" b="0" lang="ar-EG">
                <a:solidFill>
                  <a:srgbClr val="69635C"/>
                </a:solidFill>
                <a:latin typeface="Manrope"/>
                <a:cs typeface="IBM Plex Sans Arabic Medium"/>
              </a:rPr>
              <a:t>البحث اليدوي برقم التليفون بيوصل للتذاكر بالفعل.</a:t>
            </a:r>
          </a:p>
        </p:txBody>
      </p:sp>
      <p:cxnSp>
        <p:nvCxnSpPr>
          <p:cNvPr id="7" name="Connector 6"/>
          <p:cNvCxnSpPr/>
          <p:nvPr/>
        </p:nvCxnSpPr>
        <p:spPr>
          <a:xfrm flipH="1">
            <a:off x="457200" y="6334125"/>
            <a:ext cx="11277600" cy="0"/>
          </a:xfrm>
          <a:prstGeom prst="line">
            <a:avLst/>
          </a:prstGeom>
          <a:ln w="9525">
            <a:solidFill>
              <a:srgbClr val="D5CFC6"/>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1447800" y="6496050"/>
            <a:ext cx="10287000" cy="209550"/>
          </a:xfrm>
          <a:prstGeom prst="rect">
            <a:avLst/>
          </a:prstGeom>
          <a:noFill/>
          <a:effectLst/>
        </p:spPr>
        <p:txBody>
          <a:bodyPr wrap="square" lIns="0" rIns="0" tIns="0" bIns="0" anchor="t">
            <a:spAutoFit/>
          </a:bodyPr>
          <a:lstStyle/>
          <a:p>
            <a:pPr algn="r" rtl="1">
              <a:lnSpc>
                <a:spcPts val="1260"/>
              </a:lnSpc>
              <a:spcBef>
                <a:spcPts val="0"/>
              </a:spcBef>
              <a:spcAft>
                <a:spcPts val="0"/>
              </a:spcAft>
            </a:pPr>
            <a:r>
              <a:rPr sz="1125" b="0" lang="ar-EG">
                <a:solidFill>
                  <a:srgbClr val="69635C"/>
                </a:solidFill>
                <a:latin typeface="Manrope"/>
                <a:cs typeface="IBM Plex Sans Arabic Medium"/>
              </a:rPr>
              <a:t>تعاون مقترح · سجلات توضيحية</a:t>
            </a:r>
          </a:p>
        </p:txBody>
      </p:sp>
      <p:sp>
        <p:nvSpPr>
          <p:cNvPr id="9" name="TextBox 8"/>
          <p:cNvSpPr txBox="1"/>
          <p:nvPr/>
        </p:nvSpPr>
        <p:spPr>
          <a:xfrm>
            <a:off x="457200" y="6496050"/>
            <a:ext cx="828675" cy="20955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ar-EG">
                <a:solidFill>
                  <a:srgbClr val="69635C"/>
                </a:solidFill>
                <a:latin typeface="Manrope"/>
                <a:cs typeface="IBM Plex Sans Arabic Medium"/>
              </a:rPr>
              <a:t>02 / 09</a:t>
            </a:r>
          </a:p>
        </p:txBody>
      </p:sp>
      <p:sp>
        <p:nvSpPr>
          <p:cNvPr id="10" name="Rounded Rectangle 9"/>
          <p:cNvSpPr/>
          <p:nvPr/>
        </p:nvSpPr>
        <p:spPr>
          <a:xfrm>
            <a:off x="9201150" y="3124200"/>
            <a:ext cx="2533650" cy="2686050"/>
          </a:xfrm>
          <a:prstGeom prst="roundRect">
            <a:avLst>
              <a:gd name="adj" fmla="val 6015"/>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9620250" y="3506313"/>
            <a:ext cx="1895475" cy="369248"/>
          </a:xfrm>
          <a:prstGeom prst="rect">
            <a:avLst/>
          </a:prstGeom>
          <a:effectLst/>
        </p:spPr>
      </p:pic>
      <p:sp>
        <p:nvSpPr>
          <p:cNvPr id="12" name="TextBox 11"/>
          <p:cNvSpPr txBox="1"/>
          <p:nvPr/>
        </p:nvSpPr>
        <p:spPr>
          <a:xfrm>
            <a:off x="9420225" y="4229100"/>
            <a:ext cx="2095500" cy="923925"/>
          </a:xfrm>
          <a:prstGeom prst="rect">
            <a:avLst/>
          </a:prstGeom>
          <a:noFill/>
          <a:effectLst/>
        </p:spPr>
        <p:txBody>
          <a:bodyPr wrap="square" lIns="0" rIns="0" tIns="0" bIns="0" anchor="t">
            <a:spAutoFit/>
          </a:bodyPr>
          <a:lstStyle/>
          <a:p>
            <a:pPr algn="r" rtl="1">
              <a:lnSpc>
                <a:spcPts val="3024"/>
              </a:lnSpc>
              <a:spcBef>
                <a:spcPts val="0"/>
              </a:spcBef>
              <a:spcAft>
                <a:spcPts val="0"/>
              </a:spcAft>
            </a:pPr>
            <a:r>
              <a:rPr sz="2700" b="1" lang="ar-EG">
                <a:solidFill>
                  <a:srgbClr val="23201D"/>
                </a:solidFill>
                <a:latin typeface="Manrope"/>
                <a:cs typeface="IBM Plex Sans Arabic Medium"/>
              </a:rPr>
              <a:t>استقبال</a:t>
            </a:r>
          </a:p>
          <a:p>
            <a:pPr algn="r" rtl="1">
              <a:lnSpc>
                <a:spcPts val="3024"/>
              </a:lnSpc>
              <a:spcBef>
                <a:spcPts val="0"/>
              </a:spcBef>
              <a:spcAft>
                <a:spcPts val="0"/>
              </a:spcAft>
            </a:pPr>
            <a:r>
              <a:rPr sz="2700" b="1" lang="ar-EG">
                <a:solidFill>
                  <a:srgbClr val="23201D"/>
                </a:solidFill>
                <a:latin typeface="Manrope"/>
                <a:cs typeface="IBM Plex Sans Arabic Medium"/>
              </a:rPr>
              <a:t>المكالمة</a:t>
            </a:r>
          </a:p>
        </p:txBody>
      </p:sp>
      <p:sp>
        <p:nvSpPr>
          <p:cNvPr id="13" name="TextBox 12"/>
          <p:cNvSpPr txBox="1"/>
          <p:nvPr/>
        </p:nvSpPr>
        <p:spPr>
          <a:xfrm>
            <a:off x="9420225" y="5286375"/>
            <a:ext cx="2095500" cy="409575"/>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0" lang="ar-EG">
                <a:solidFill>
                  <a:srgbClr val="69635C"/>
                </a:solidFill>
                <a:latin typeface="Manrope"/>
                <a:cs typeface="IBM Plex Sans Arabic Medium"/>
              </a:rPr>
              <a:t>بدون ظهور التذاكر</a:t>
            </a:r>
          </a:p>
        </p:txBody>
      </p:sp>
      <p:cxnSp>
        <p:nvCxnSpPr>
          <p:cNvPr id="14" name="Connector 13"/>
          <p:cNvCxnSpPr/>
          <p:nvPr/>
        </p:nvCxnSpPr>
        <p:spPr>
          <a:xfrm flipH="1">
            <a:off x="8915400" y="4543425"/>
            <a:ext cx="20002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6286500" y="3124200"/>
            <a:ext cx="2533650" cy="2686050"/>
          </a:xfrm>
          <a:prstGeom prst="roundRect">
            <a:avLst>
              <a:gd name="adj" fmla="val 6015"/>
            </a:avLst>
          </a:prstGeom>
          <a:solidFill>
            <a:srgbClr val="FCFAF6"/>
          </a:solidFill>
          <a:ln w="9525">
            <a:solidFill>
              <a:srgbClr val="BA4C2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7858125" y="3305175"/>
            <a:ext cx="742950" cy="742950"/>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icon-copy.png"/>
          <p:cNvPicPr>
            <a:picLocks noChangeAspect="1"/>
          </p:cNvPicPr>
          <p:nvPr/>
        </p:nvPicPr>
        <p:blipFill>
          <a:blip r:embed="rId4"/>
          <a:stretch>
            <a:fillRect/>
          </a:stretch>
        </p:blipFill>
        <p:spPr>
          <a:xfrm>
            <a:off x="8001000" y="3448050"/>
            <a:ext cx="457200" cy="457200"/>
          </a:xfrm>
          <a:prstGeom prst="rect">
            <a:avLst/>
          </a:prstGeom>
          <a:effectLst/>
        </p:spPr>
      </p:pic>
      <p:sp>
        <p:nvSpPr>
          <p:cNvPr id="18" name="TextBox 17"/>
          <p:cNvSpPr txBox="1"/>
          <p:nvPr/>
        </p:nvSpPr>
        <p:spPr>
          <a:xfrm>
            <a:off x="6505575" y="4229100"/>
            <a:ext cx="2095500" cy="923925"/>
          </a:xfrm>
          <a:prstGeom prst="rect">
            <a:avLst/>
          </a:prstGeom>
          <a:noFill/>
          <a:effectLst/>
        </p:spPr>
        <p:txBody>
          <a:bodyPr wrap="square" lIns="0" rIns="0" tIns="0" bIns="0" anchor="t">
            <a:spAutoFit/>
          </a:bodyPr>
          <a:lstStyle/>
          <a:p>
            <a:pPr algn="r" rtl="1">
              <a:lnSpc>
                <a:spcPts val="3024"/>
              </a:lnSpc>
              <a:spcBef>
                <a:spcPts val="0"/>
              </a:spcBef>
              <a:spcAft>
                <a:spcPts val="0"/>
              </a:spcAft>
            </a:pPr>
            <a:r>
              <a:rPr sz="2700" b="1" lang="ar-EG">
                <a:solidFill>
                  <a:srgbClr val="23201D"/>
                </a:solidFill>
                <a:latin typeface="Manrope"/>
                <a:cs typeface="IBM Plex Sans Arabic Medium"/>
              </a:rPr>
              <a:t>استخدام</a:t>
            </a:r>
          </a:p>
          <a:p>
            <a:pPr algn="r" rtl="1">
              <a:lnSpc>
                <a:spcPts val="3024"/>
              </a:lnSpc>
              <a:spcBef>
                <a:spcPts val="0"/>
              </a:spcBef>
              <a:spcAft>
                <a:spcPts val="0"/>
              </a:spcAft>
            </a:pPr>
            <a:r>
              <a:rPr sz="2700" b="1" lang="ar-EG">
                <a:solidFill>
                  <a:srgbClr val="23201D"/>
                </a:solidFill>
                <a:latin typeface="Manrope"/>
                <a:cs typeface="IBM Plex Sans Arabic Medium"/>
              </a:rPr>
              <a:t>الرقم</a:t>
            </a:r>
          </a:p>
        </p:txBody>
      </p:sp>
      <p:sp>
        <p:nvSpPr>
          <p:cNvPr id="19" name="TextBox 18"/>
          <p:cNvSpPr txBox="1"/>
          <p:nvPr/>
        </p:nvSpPr>
        <p:spPr>
          <a:xfrm>
            <a:off x="6505575" y="5286375"/>
            <a:ext cx="2095500" cy="409575"/>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0" lang="ar-EG">
                <a:solidFill>
                  <a:srgbClr val="69635C"/>
                </a:solidFill>
                <a:latin typeface="Manrope"/>
                <a:cs typeface="IBM Plex Sans Arabic Medium"/>
              </a:rPr>
              <a:t>خطوة يدوية</a:t>
            </a:r>
          </a:p>
        </p:txBody>
      </p:sp>
      <p:cxnSp>
        <p:nvCxnSpPr>
          <p:cNvPr id="20" name="Connector 19"/>
          <p:cNvCxnSpPr/>
          <p:nvPr/>
        </p:nvCxnSpPr>
        <p:spPr>
          <a:xfrm flipH="1">
            <a:off x="6000750" y="4543425"/>
            <a:ext cx="20002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3371850" y="3124200"/>
            <a:ext cx="2533650" cy="2686050"/>
          </a:xfrm>
          <a:prstGeom prst="roundRect">
            <a:avLst>
              <a:gd name="adj" fmla="val 6015"/>
            </a:avLst>
          </a:prstGeom>
          <a:solidFill>
            <a:srgbClr val="FCFAF6"/>
          </a:solidFill>
          <a:ln w="9525">
            <a:solidFill>
              <a:srgbClr val="BA4C2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4943475" y="3305175"/>
            <a:ext cx="742950" cy="742950"/>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search.png"/>
          <p:cNvPicPr>
            <a:picLocks noChangeAspect="1"/>
          </p:cNvPicPr>
          <p:nvPr/>
        </p:nvPicPr>
        <p:blipFill>
          <a:blip r:embed="rId5"/>
          <a:stretch>
            <a:fillRect/>
          </a:stretch>
        </p:blipFill>
        <p:spPr>
          <a:xfrm>
            <a:off x="5086350" y="3448050"/>
            <a:ext cx="457200" cy="457200"/>
          </a:xfrm>
          <a:prstGeom prst="rect">
            <a:avLst/>
          </a:prstGeom>
          <a:effectLst/>
        </p:spPr>
      </p:pic>
      <p:sp>
        <p:nvSpPr>
          <p:cNvPr id="24" name="TextBox 23"/>
          <p:cNvSpPr txBox="1"/>
          <p:nvPr/>
        </p:nvSpPr>
        <p:spPr>
          <a:xfrm>
            <a:off x="3590925" y="4229100"/>
            <a:ext cx="2095500" cy="923925"/>
          </a:xfrm>
          <a:prstGeom prst="rect">
            <a:avLst/>
          </a:prstGeom>
          <a:noFill/>
          <a:effectLst/>
        </p:spPr>
        <p:txBody>
          <a:bodyPr wrap="square" lIns="0" rIns="0" tIns="0" bIns="0" anchor="t">
            <a:spAutoFit/>
          </a:bodyPr>
          <a:lstStyle/>
          <a:p>
            <a:pPr algn="r" rtl="1">
              <a:lnSpc>
                <a:spcPts val="3024"/>
              </a:lnSpc>
              <a:spcBef>
                <a:spcPts val="0"/>
              </a:spcBef>
              <a:spcAft>
                <a:spcPts val="0"/>
              </a:spcAft>
            </a:pPr>
            <a:r>
              <a:rPr sz="2700" b="1" lang="ar-EG">
                <a:solidFill>
                  <a:srgbClr val="23201D"/>
                </a:solidFill>
                <a:latin typeface="Manrope"/>
                <a:cs typeface="IBM Plex Sans Arabic Medium"/>
              </a:rPr>
              <a:t>البحث في</a:t>
            </a:r>
          </a:p>
          <a:p>
            <a:pPr algn="r" rtl="1">
              <a:lnSpc>
                <a:spcPts val="3024"/>
              </a:lnSpc>
              <a:spcBef>
                <a:spcPts val="0"/>
              </a:spcBef>
              <a:spcAft>
                <a:spcPts val="0"/>
              </a:spcAft>
            </a:pPr>
            <a:r>
              <a:rPr sz="2700" b="1" lang="ar-EG">
                <a:solidFill>
                  <a:srgbClr val="23201D"/>
                </a:solidFill>
                <a:latin typeface="Manrope"/>
                <a:cs typeface="IBM Plex Sans Arabic Medium"/>
              </a:rPr>
              <a:t>Zoho Desk</a:t>
            </a:r>
          </a:p>
        </p:txBody>
      </p:sp>
      <p:sp>
        <p:nvSpPr>
          <p:cNvPr id="25" name="TextBox 24"/>
          <p:cNvSpPr txBox="1"/>
          <p:nvPr/>
        </p:nvSpPr>
        <p:spPr>
          <a:xfrm>
            <a:off x="3590925" y="5286375"/>
            <a:ext cx="2095500" cy="409575"/>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0" lang="ar-EG">
                <a:solidFill>
                  <a:srgbClr val="69635C"/>
                </a:solidFill>
                <a:latin typeface="Manrope"/>
                <a:cs typeface="IBM Plex Sans Arabic Medium"/>
              </a:rPr>
              <a:t>خطوة يدوية</a:t>
            </a:r>
          </a:p>
        </p:txBody>
      </p:sp>
      <p:cxnSp>
        <p:nvCxnSpPr>
          <p:cNvPr id="26" name="Connector 25"/>
          <p:cNvCxnSpPr/>
          <p:nvPr/>
        </p:nvCxnSpPr>
        <p:spPr>
          <a:xfrm flipH="1">
            <a:off x="3086100" y="4543425"/>
            <a:ext cx="20002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457200" y="3124200"/>
            <a:ext cx="2533650" cy="2686050"/>
          </a:xfrm>
          <a:prstGeom prst="roundRect">
            <a:avLst>
              <a:gd name="adj" fmla="val 6015"/>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zoho.png"/>
          <p:cNvPicPr>
            <a:picLocks noChangeAspect="1"/>
          </p:cNvPicPr>
          <p:nvPr/>
        </p:nvPicPr>
        <p:blipFill>
          <a:blip r:embed="rId6"/>
          <a:stretch>
            <a:fillRect/>
          </a:stretch>
        </p:blipFill>
        <p:spPr>
          <a:xfrm>
            <a:off x="1653886" y="3476625"/>
            <a:ext cx="997527" cy="428625"/>
          </a:xfrm>
          <a:prstGeom prst="rect">
            <a:avLst/>
          </a:prstGeom>
          <a:effectLst/>
        </p:spPr>
      </p:pic>
      <p:sp>
        <p:nvSpPr>
          <p:cNvPr id="29" name="TextBox 28"/>
          <p:cNvSpPr txBox="1"/>
          <p:nvPr/>
        </p:nvSpPr>
        <p:spPr>
          <a:xfrm>
            <a:off x="676275" y="4229100"/>
            <a:ext cx="2095500" cy="923925"/>
          </a:xfrm>
          <a:prstGeom prst="rect">
            <a:avLst/>
          </a:prstGeom>
          <a:noFill/>
          <a:effectLst/>
        </p:spPr>
        <p:txBody>
          <a:bodyPr wrap="square" lIns="0" rIns="0" tIns="0" bIns="0" anchor="t">
            <a:spAutoFit/>
          </a:bodyPr>
          <a:lstStyle/>
          <a:p>
            <a:pPr algn="r" rtl="1">
              <a:lnSpc>
                <a:spcPts val="3024"/>
              </a:lnSpc>
              <a:spcBef>
                <a:spcPts val="0"/>
              </a:spcBef>
              <a:spcAft>
                <a:spcPts val="0"/>
              </a:spcAft>
            </a:pPr>
            <a:r>
              <a:rPr sz="2700" b="1" lang="ar-EG">
                <a:solidFill>
                  <a:srgbClr val="23201D"/>
                </a:solidFill>
                <a:latin typeface="Manrope"/>
                <a:cs typeface="IBM Plex Sans Arabic Medium"/>
              </a:rPr>
              <a:t>قراءة</a:t>
            </a:r>
          </a:p>
          <a:p>
            <a:pPr algn="r" rtl="1">
              <a:lnSpc>
                <a:spcPts val="3024"/>
              </a:lnSpc>
              <a:spcBef>
                <a:spcPts val="0"/>
              </a:spcBef>
              <a:spcAft>
                <a:spcPts val="0"/>
              </a:spcAft>
            </a:pPr>
            <a:r>
              <a:rPr sz="2700" b="1" lang="ar-EG">
                <a:solidFill>
                  <a:srgbClr val="23201D"/>
                </a:solidFill>
                <a:latin typeface="Manrope"/>
                <a:cs typeface="IBM Plex Sans Arabic Medium"/>
              </a:rPr>
              <a:t>التذاكر</a:t>
            </a:r>
          </a:p>
        </p:txBody>
      </p:sp>
      <p:sp>
        <p:nvSpPr>
          <p:cNvPr id="30" name="TextBox 29"/>
          <p:cNvSpPr txBox="1"/>
          <p:nvPr/>
        </p:nvSpPr>
        <p:spPr>
          <a:xfrm>
            <a:off x="676275" y="5286375"/>
            <a:ext cx="2095500" cy="409575"/>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0" lang="ar-EG">
                <a:solidFill>
                  <a:srgbClr val="69635C"/>
                </a:solidFill>
                <a:latin typeface="Manrope"/>
                <a:cs typeface="IBM Plex Sans Arabic Medium"/>
              </a:rPr>
              <a:t>سجلات موجودة</a:t>
            </a:r>
          </a:p>
        </p:txBody>
      </p:sp>
      <p:sp>
        <p:nvSpPr>
          <p:cNvPr id="31" name="TextBox 30"/>
          <p:cNvSpPr txBox="1"/>
          <p:nvPr/>
        </p:nvSpPr>
        <p:spPr>
          <a:xfrm>
            <a:off x="457200" y="5924550"/>
            <a:ext cx="11277600" cy="361950"/>
          </a:xfrm>
          <a:prstGeom prst="rect">
            <a:avLst/>
          </a:prstGeom>
          <a:noFill/>
          <a:effectLst/>
        </p:spPr>
        <p:txBody>
          <a:bodyPr wrap="square" lIns="0" rIns="0" tIns="0" bIns="0" anchor="t">
            <a:spAutoFit/>
          </a:bodyPr>
          <a:lstStyle/>
          <a:p>
            <a:pPr algn="r" rtl="1">
              <a:lnSpc>
                <a:spcPts val="2604"/>
              </a:lnSpc>
              <a:spcBef>
                <a:spcPts val="0"/>
              </a:spcBef>
              <a:spcAft>
                <a:spcPts val="0"/>
              </a:spcAft>
            </a:pPr>
            <a:r>
              <a:rPr sz="2325" b="1" lang="ar-EG">
                <a:solidFill>
                  <a:srgbClr val="BA4C24"/>
                </a:solidFill>
                <a:latin typeface="Manrope"/>
                <a:cs typeface="IBM Plex Sans Arabic Medium"/>
              </a:rPr>
              <a:t>المحادثة بتبدأ بخطوة بحث.</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0"/>
                                  </p:tgtEl>
                                  <p:attrNameLst>
                                    <p:attrName>style.visibility</p:attrName>
                                  </p:attrNameLst>
                                </p:cBhvr>
                                <p:to>
                                  <p:strVal val="visible"/>
                                </p:to>
                              </p:set>
                              <p:animEffect transition="in" filter="fade">
                                <p:cBhvr>
                                  <p:cTn id="6" dur="550"/>
                                  <p:tgtEl>
                                    <p:spTgt spid="10"/>
                                  </p:tgtEl>
                                </p:cBhvr>
                              </p:animEffect>
                            </p:childTnLst>
                          </p:cTn>
                        </p:par>
                        <p:par>
                          <p:cTn id="7" presetID="10" presetClass="entr" presetSubtype="0" fill="hold" nodeType="withEffect">
                            <p:stCondLst>
                              <p:cond delay="0"/>
                            </p:stCondLst>
                            <p:childTnLst>
                              <p:set>
                                <p:cBhvr>
                                  <p:cTn id="8" dur="1" fill="hold"/>
                                  <p:tgtEl>
                                    <p:spTgt spid="11"/>
                                  </p:tgtEl>
                                  <p:attrNameLst>
                                    <p:attrName>style.visibility</p:attrName>
                                  </p:attrNameLst>
                                </p:cBhvr>
                                <p:to>
                                  <p:strVal val="visible"/>
                                </p:to>
                              </p:set>
                              <p:animEffect transition="in" filter="fade">
                                <p:cBhvr>
                                  <p:cTn id="9" dur="550"/>
                                  <p:tgtEl>
                                    <p:spTgt spid="11"/>
                                  </p:tgtEl>
                                </p:cBhvr>
                              </p:animEffect>
                            </p:childTnLst>
                          </p:cTn>
                        </p:par>
                        <p:par>
                          <p:cTn id="10" presetID="10" presetClass="entr" presetSubtype="0" fill="hold" nodeType="withEffect">
                            <p:stCondLst>
                              <p:cond delay="0"/>
                            </p:stCondLst>
                            <p:childTnLst>
                              <p:set>
                                <p:cBhvr>
                                  <p:cTn id="11" dur="1" fill="hold"/>
                                  <p:tgtEl>
                                    <p:spTgt spid="12"/>
                                  </p:tgtEl>
                                  <p:attrNameLst>
                                    <p:attrName>style.visibility</p:attrName>
                                  </p:attrNameLst>
                                </p:cBhvr>
                                <p:to>
                                  <p:strVal val="visible"/>
                                </p:to>
                              </p:set>
                              <p:animEffect transition="in" filter="fade">
                                <p:cBhvr>
                                  <p:cTn id="12" dur="550"/>
                                  <p:tgtEl>
                                    <p:spTgt spid="12"/>
                                  </p:tgtEl>
                                </p:cBhvr>
                              </p:animEffect>
                            </p:childTnLst>
                          </p:cTn>
                        </p:par>
                        <p:par>
                          <p:cTn id="13" presetID="10" presetClass="entr" presetSubtype="0" fill="hold" nodeType="withEffect">
                            <p:stCondLst>
                              <p:cond delay="0"/>
                            </p:stCondLst>
                            <p:childTnLst>
                              <p:set>
                                <p:cBhvr>
                                  <p:cTn id="14" dur="1" fill="hold"/>
                                  <p:tgtEl>
                                    <p:spTgt spid="13"/>
                                  </p:tgtEl>
                                  <p:attrNameLst>
                                    <p:attrName>style.visibility</p:attrName>
                                  </p:attrNameLst>
                                </p:cBhvr>
                                <p:to>
                                  <p:strVal val="visible"/>
                                </p:to>
                              </p:set>
                              <p:animEffect transition="in" filter="fade">
                                <p:cBhvr>
                                  <p:cTn id="15" dur="550"/>
                                  <p:tgtEl>
                                    <p:spTgt spid="13"/>
                                  </p:tgtEl>
                                </p:cBhvr>
                              </p:animEffect>
                            </p:childTnLst>
                          </p:cTn>
                        </p:par>
                        <p:par>
                          <p:cTn id="16" presetID="10" presetClass="entr" presetSubtype="0" fill="hold" nodeType="withEffect">
                            <p:stCondLst>
                              <p:cond delay="1250"/>
                            </p:stCondLst>
                            <p:childTnLst>
                              <p:set>
                                <p:cBhvr>
                                  <p:cTn id="17" dur="1" fill="hold"/>
                                  <p:tgtEl>
                                    <p:spTgt spid="14"/>
                                  </p:tgtEl>
                                  <p:attrNameLst>
                                    <p:attrName>style.visibility</p:attrName>
                                  </p:attrNameLst>
                                </p:cBhvr>
                                <p:to>
                                  <p:strVal val="visible"/>
                                </p:to>
                              </p:set>
                              <p:animEffect transition="in" filter="fade">
                                <p:cBhvr>
                                  <p:cTn id="18" dur="550"/>
                                  <p:tgtEl>
                                    <p:spTgt spid="14"/>
                                  </p:tgtEl>
                                </p:cBhvr>
                              </p:animEffect>
                            </p:childTnLst>
                          </p:cTn>
                        </p:par>
                        <p:par>
                          <p:cTn id="19" presetID="10" presetClass="entr" presetSubtype="0" fill="hold" nodeType="withEffect">
                            <p:stCondLst>
                              <p:cond delay="1250"/>
                            </p:stCondLst>
                            <p:childTnLst>
                              <p:set>
                                <p:cBhvr>
                                  <p:cTn id="20" dur="1" fill="hold"/>
                                  <p:tgtEl>
                                    <p:spTgt spid="15"/>
                                  </p:tgtEl>
                                  <p:attrNameLst>
                                    <p:attrName>style.visibility</p:attrName>
                                  </p:attrNameLst>
                                </p:cBhvr>
                                <p:to>
                                  <p:strVal val="visible"/>
                                </p:to>
                              </p:set>
                              <p:animEffect transition="in" filter="fade">
                                <p:cBhvr>
                                  <p:cTn id="21" dur="550"/>
                                  <p:tgtEl>
                                    <p:spTgt spid="15"/>
                                  </p:tgtEl>
                                </p:cBhvr>
                              </p:animEffect>
                            </p:childTnLst>
                          </p:cTn>
                        </p:par>
                        <p:par>
                          <p:cTn id="22" presetID="10" presetClass="entr" presetSubtype="0" fill="hold" nodeType="withEffect">
                            <p:stCondLst>
                              <p:cond delay="1250"/>
                            </p:stCondLst>
                            <p:childTnLst>
                              <p:set>
                                <p:cBhvr>
                                  <p:cTn id="23" dur="1" fill="hold"/>
                                  <p:tgtEl>
                                    <p:spTgt spid="16"/>
                                  </p:tgtEl>
                                  <p:attrNameLst>
                                    <p:attrName>style.visibility</p:attrName>
                                  </p:attrNameLst>
                                </p:cBhvr>
                                <p:to>
                                  <p:strVal val="visible"/>
                                </p:to>
                              </p:set>
                              <p:animEffect transition="in" filter="fade">
                                <p:cBhvr>
                                  <p:cTn id="24" dur="550"/>
                                  <p:tgtEl>
                                    <p:spTgt spid="16"/>
                                  </p:tgtEl>
                                </p:cBhvr>
                              </p:animEffect>
                            </p:childTnLst>
                          </p:cTn>
                        </p:par>
                        <p:par>
                          <p:cTn id="25" presetID="10" presetClass="entr" presetSubtype="0" fill="hold" nodeType="withEffect">
                            <p:stCondLst>
                              <p:cond delay="1250"/>
                            </p:stCondLst>
                            <p:childTnLst>
                              <p:set>
                                <p:cBhvr>
                                  <p:cTn id="26" dur="1" fill="hold"/>
                                  <p:tgtEl>
                                    <p:spTgt spid="17"/>
                                  </p:tgtEl>
                                  <p:attrNameLst>
                                    <p:attrName>style.visibility</p:attrName>
                                  </p:attrNameLst>
                                </p:cBhvr>
                                <p:to>
                                  <p:strVal val="visible"/>
                                </p:to>
                              </p:set>
                              <p:animEffect transition="in" filter="fade">
                                <p:cBhvr>
                                  <p:cTn id="27" dur="550"/>
                                  <p:tgtEl>
                                    <p:spTgt spid="17"/>
                                  </p:tgtEl>
                                </p:cBhvr>
                              </p:animEffect>
                            </p:childTnLst>
                          </p:cTn>
                        </p:par>
                        <p:par>
                          <p:cTn id="28" presetID="10" presetClass="entr" presetSubtype="0" fill="hold" nodeType="withEffect">
                            <p:stCondLst>
                              <p:cond delay="1250"/>
                            </p:stCondLst>
                            <p:childTnLst>
                              <p:set>
                                <p:cBhvr>
                                  <p:cTn id="29" dur="1" fill="hold"/>
                                  <p:tgtEl>
                                    <p:spTgt spid="18"/>
                                  </p:tgtEl>
                                  <p:attrNameLst>
                                    <p:attrName>style.visibility</p:attrName>
                                  </p:attrNameLst>
                                </p:cBhvr>
                                <p:to>
                                  <p:strVal val="visible"/>
                                </p:to>
                              </p:set>
                              <p:animEffect transition="in" filter="fade">
                                <p:cBhvr>
                                  <p:cTn id="30" dur="550"/>
                                  <p:tgtEl>
                                    <p:spTgt spid="18"/>
                                  </p:tgtEl>
                                </p:cBhvr>
                              </p:animEffect>
                            </p:childTnLst>
                          </p:cTn>
                        </p:par>
                        <p:par>
                          <p:cTn id="31" presetID="10" presetClass="entr" presetSubtype="0" fill="hold" nodeType="withEffect">
                            <p:stCondLst>
                              <p:cond delay="1250"/>
                            </p:stCondLst>
                            <p:childTnLst>
                              <p:set>
                                <p:cBhvr>
                                  <p:cTn id="32" dur="1" fill="hold"/>
                                  <p:tgtEl>
                                    <p:spTgt spid="19"/>
                                  </p:tgtEl>
                                  <p:attrNameLst>
                                    <p:attrName>style.visibility</p:attrName>
                                  </p:attrNameLst>
                                </p:cBhvr>
                                <p:to>
                                  <p:strVal val="visible"/>
                                </p:to>
                              </p:set>
                              <p:animEffect transition="in" filter="fade">
                                <p:cBhvr>
                                  <p:cTn id="33" dur="550"/>
                                  <p:tgtEl>
                                    <p:spTgt spid="19"/>
                                  </p:tgtEl>
                                </p:cBhvr>
                              </p:animEffect>
                            </p:childTnLst>
                          </p:cTn>
                        </p:par>
                        <p:par>
                          <p:cTn id="34" presetID="10" presetClass="entr" presetSubtype="0" fill="hold" nodeType="withEffect">
                            <p:stCondLst>
                              <p:cond delay="2500"/>
                            </p:stCondLst>
                            <p:childTnLst>
                              <p:set>
                                <p:cBhvr>
                                  <p:cTn id="35" dur="1" fill="hold"/>
                                  <p:tgtEl>
                                    <p:spTgt spid="20"/>
                                  </p:tgtEl>
                                  <p:attrNameLst>
                                    <p:attrName>style.visibility</p:attrName>
                                  </p:attrNameLst>
                                </p:cBhvr>
                                <p:to>
                                  <p:strVal val="visible"/>
                                </p:to>
                              </p:set>
                              <p:animEffect transition="in" filter="fade">
                                <p:cBhvr>
                                  <p:cTn id="36" dur="550"/>
                                  <p:tgtEl>
                                    <p:spTgt spid="20"/>
                                  </p:tgtEl>
                                </p:cBhvr>
                              </p:animEffect>
                            </p:childTnLst>
                          </p:cTn>
                        </p:par>
                        <p:par>
                          <p:cTn id="37" presetID="10" presetClass="entr" presetSubtype="0" fill="hold" nodeType="withEffect">
                            <p:stCondLst>
                              <p:cond delay="2500"/>
                            </p:stCondLst>
                            <p:childTnLst>
                              <p:set>
                                <p:cBhvr>
                                  <p:cTn id="38" dur="1" fill="hold"/>
                                  <p:tgtEl>
                                    <p:spTgt spid="21"/>
                                  </p:tgtEl>
                                  <p:attrNameLst>
                                    <p:attrName>style.visibility</p:attrName>
                                  </p:attrNameLst>
                                </p:cBhvr>
                                <p:to>
                                  <p:strVal val="visible"/>
                                </p:to>
                              </p:set>
                              <p:animEffect transition="in" filter="fade">
                                <p:cBhvr>
                                  <p:cTn id="39" dur="550"/>
                                  <p:tgtEl>
                                    <p:spTgt spid="21"/>
                                  </p:tgtEl>
                                </p:cBhvr>
                              </p:animEffect>
                            </p:childTnLst>
                          </p:cTn>
                        </p:par>
                        <p:par>
                          <p:cTn id="40" presetID="10" presetClass="entr" presetSubtype="0" fill="hold" nodeType="withEffect">
                            <p:stCondLst>
                              <p:cond delay="2500"/>
                            </p:stCondLst>
                            <p:childTnLst>
                              <p:set>
                                <p:cBhvr>
                                  <p:cTn id="41" dur="1" fill="hold"/>
                                  <p:tgtEl>
                                    <p:spTgt spid="22"/>
                                  </p:tgtEl>
                                  <p:attrNameLst>
                                    <p:attrName>style.visibility</p:attrName>
                                  </p:attrNameLst>
                                </p:cBhvr>
                                <p:to>
                                  <p:strVal val="visible"/>
                                </p:to>
                              </p:set>
                              <p:animEffect transition="in" filter="fade">
                                <p:cBhvr>
                                  <p:cTn id="42" dur="550"/>
                                  <p:tgtEl>
                                    <p:spTgt spid="22"/>
                                  </p:tgtEl>
                                </p:cBhvr>
                              </p:animEffect>
                            </p:childTnLst>
                          </p:cTn>
                        </p:par>
                        <p:par>
                          <p:cTn id="43" presetID="10" presetClass="entr" presetSubtype="0" fill="hold" nodeType="withEffect">
                            <p:stCondLst>
                              <p:cond delay="2500"/>
                            </p:stCondLst>
                            <p:childTnLst>
                              <p:set>
                                <p:cBhvr>
                                  <p:cTn id="44" dur="1" fill="hold"/>
                                  <p:tgtEl>
                                    <p:spTgt spid="23"/>
                                  </p:tgtEl>
                                  <p:attrNameLst>
                                    <p:attrName>style.visibility</p:attrName>
                                  </p:attrNameLst>
                                </p:cBhvr>
                                <p:to>
                                  <p:strVal val="visible"/>
                                </p:to>
                              </p:set>
                              <p:animEffect transition="in" filter="fade">
                                <p:cBhvr>
                                  <p:cTn id="45" dur="550"/>
                                  <p:tgtEl>
                                    <p:spTgt spid="23"/>
                                  </p:tgtEl>
                                </p:cBhvr>
                              </p:animEffect>
                            </p:childTnLst>
                          </p:cTn>
                        </p:par>
                        <p:par>
                          <p:cTn id="46" presetID="10" presetClass="entr" presetSubtype="0" fill="hold" nodeType="withEffect">
                            <p:stCondLst>
                              <p:cond delay="2500"/>
                            </p:stCondLst>
                            <p:childTnLst>
                              <p:set>
                                <p:cBhvr>
                                  <p:cTn id="47" dur="1" fill="hold"/>
                                  <p:tgtEl>
                                    <p:spTgt spid="24"/>
                                  </p:tgtEl>
                                  <p:attrNameLst>
                                    <p:attrName>style.visibility</p:attrName>
                                  </p:attrNameLst>
                                </p:cBhvr>
                                <p:to>
                                  <p:strVal val="visible"/>
                                </p:to>
                              </p:set>
                              <p:animEffect transition="in" filter="fade">
                                <p:cBhvr>
                                  <p:cTn id="48" dur="550"/>
                                  <p:tgtEl>
                                    <p:spTgt spid="24"/>
                                  </p:tgtEl>
                                </p:cBhvr>
                              </p:animEffect>
                            </p:childTnLst>
                          </p:cTn>
                        </p:par>
                        <p:par>
                          <p:cTn id="49" presetID="10" presetClass="entr" presetSubtype="0" fill="hold" nodeType="withEffect">
                            <p:stCondLst>
                              <p:cond delay="2500"/>
                            </p:stCondLst>
                            <p:childTnLst>
                              <p:set>
                                <p:cBhvr>
                                  <p:cTn id="50" dur="1" fill="hold"/>
                                  <p:tgtEl>
                                    <p:spTgt spid="25"/>
                                  </p:tgtEl>
                                  <p:attrNameLst>
                                    <p:attrName>style.visibility</p:attrName>
                                  </p:attrNameLst>
                                </p:cBhvr>
                                <p:to>
                                  <p:strVal val="visible"/>
                                </p:to>
                              </p:set>
                              <p:animEffect transition="in" filter="fade">
                                <p:cBhvr>
                                  <p:cTn id="51" dur="550"/>
                                  <p:tgtEl>
                                    <p:spTgt spid="25"/>
                                  </p:tgtEl>
                                </p:cBhvr>
                              </p:animEffect>
                            </p:childTnLst>
                          </p:cTn>
                        </p:par>
                        <p:par>
                          <p:cTn id="52" presetID="10" presetClass="entr" presetSubtype="0" fill="hold" nodeType="withEffect">
                            <p:stCondLst>
                              <p:cond delay="3750"/>
                            </p:stCondLst>
                            <p:childTnLst>
                              <p:set>
                                <p:cBhvr>
                                  <p:cTn id="53" dur="1" fill="hold"/>
                                  <p:tgtEl>
                                    <p:spTgt spid="26"/>
                                  </p:tgtEl>
                                  <p:attrNameLst>
                                    <p:attrName>style.visibility</p:attrName>
                                  </p:attrNameLst>
                                </p:cBhvr>
                                <p:to>
                                  <p:strVal val="visible"/>
                                </p:to>
                              </p:set>
                              <p:animEffect transition="in" filter="fade">
                                <p:cBhvr>
                                  <p:cTn id="54" dur="550"/>
                                  <p:tgtEl>
                                    <p:spTgt spid="26"/>
                                  </p:tgtEl>
                                </p:cBhvr>
                              </p:animEffect>
                            </p:childTnLst>
                          </p:cTn>
                        </p:par>
                        <p:par>
                          <p:cTn id="55" presetID="10" presetClass="entr" presetSubtype="0" fill="hold" nodeType="withEffect">
                            <p:stCondLst>
                              <p:cond delay="3750"/>
                            </p:stCondLst>
                            <p:childTnLst>
                              <p:set>
                                <p:cBhvr>
                                  <p:cTn id="56" dur="1" fill="hold"/>
                                  <p:tgtEl>
                                    <p:spTgt spid="27"/>
                                  </p:tgtEl>
                                  <p:attrNameLst>
                                    <p:attrName>style.visibility</p:attrName>
                                  </p:attrNameLst>
                                </p:cBhvr>
                                <p:to>
                                  <p:strVal val="visible"/>
                                </p:to>
                              </p:set>
                              <p:animEffect transition="in" filter="fade">
                                <p:cBhvr>
                                  <p:cTn id="57" dur="550"/>
                                  <p:tgtEl>
                                    <p:spTgt spid="27"/>
                                  </p:tgtEl>
                                </p:cBhvr>
                              </p:animEffect>
                            </p:childTnLst>
                          </p:cTn>
                        </p:par>
                        <p:par>
                          <p:cTn id="58" presetID="10" presetClass="entr" presetSubtype="0" fill="hold" nodeType="withEffect">
                            <p:stCondLst>
                              <p:cond delay="3750"/>
                            </p:stCondLst>
                            <p:childTnLst>
                              <p:set>
                                <p:cBhvr>
                                  <p:cTn id="59" dur="1" fill="hold"/>
                                  <p:tgtEl>
                                    <p:spTgt spid="28"/>
                                  </p:tgtEl>
                                  <p:attrNameLst>
                                    <p:attrName>style.visibility</p:attrName>
                                  </p:attrNameLst>
                                </p:cBhvr>
                                <p:to>
                                  <p:strVal val="visible"/>
                                </p:to>
                              </p:set>
                              <p:animEffect transition="in" filter="fade">
                                <p:cBhvr>
                                  <p:cTn id="60" dur="550"/>
                                  <p:tgtEl>
                                    <p:spTgt spid="28"/>
                                  </p:tgtEl>
                                </p:cBhvr>
                              </p:animEffect>
                            </p:childTnLst>
                          </p:cTn>
                        </p:par>
                        <p:par>
                          <p:cTn id="61" presetID="10" presetClass="entr" presetSubtype="0" fill="hold" nodeType="withEffect">
                            <p:stCondLst>
                              <p:cond delay="3750"/>
                            </p:stCondLst>
                            <p:childTnLst>
                              <p:set>
                                <p:cBhvr>
                                  <p:cTn id="62" dur="1" fill="hold"/>
                                  <p:tgtEl>
                                    <p:spTgt spid="29"/>
                                  </p:tgtEl>
                                  <p:attrNameLst>
                                    <p:attrName>style.visibility</p:attrName>
                                  </p:attrNameLst>
                                </p:cBhvr>
                                <p:to>
                                  <p:strVal val="visible"/>
                                </p:to>
                              </p:set>
                              <p:animEffect transition="in" filter="fade">
                                <p:cBhvr>
                                  <p:cTn id="63" dur="550"/>
                                  <p:tgtEl>
                                    <p:spTgt spid="29"/>
                                  </p:tgtEl>
                                </p:cBhvr>
                              </p:animEffect>
                            </p:childTnLst>
                          </p:cTn>
                        </p:par>
                        <p:par>
                          <p:cTn id="64" presetID="10" presetClass="entr" presetSubtype="0" fill="hold" nodeType="withEffect">
                            <p:stCondLst>
                              <p:cond delay="3750"/>
                            </p:stCondLst>
                            <p:childTnLst>
                              <p:set>
                                <p:cBhvr>
                                  <p:cTn id="65" dur="1" fill="hold"/>
                                  <p:tgtEl>
                                    <p:spTgt spid="30"/>
                                  </p:tgtEl>
                                  <p:attrNameLst>
                                    <p:attrName>style.visibility</p:attrName>
                                  </p:attrNameLst>
                                </p:cBhvr>
                                <p:to>
                                  <p:strVal val="visible"/>
                                </p:to>
                              </p:set>
                              <p:animEffect transition="in" filter="fade">
                                <p:cBhvr>
                                  <p:cTn id="66" dur="550"/>
                                  <p:tgtEl>
                                    <p:spTgt spid="30"/>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3162300" y="266700"/>
            <a:ext cx="8572500" cy="2667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1" lang="ar-EG">
                <a:solidFill>
                  <a:srgbClr val="69635C"/>
                </a:solidFill>
                <a:latin typeface="Manrope"/>
                <a:cs typeface="IBM Plex Sans Arabic Medium"/>
              </a:rPr>
              <a:t>٠٢ · التجربة المقترحة</a:t>
            </a:r>
          </a:p>
        </p:txBody>
      </p:sp>
      <p:pic>
        <p:nvPicPr>
          <p:cNvPr id="3" name="Picture 2" descr="brand.png"/>
          <p:cNvPicPr>
            <a:picLocks noChangeAspect="1"/>
          </p:cNvPicPr>
          <p:nvPr/>
        </p:nvPicPr>
        <p:blipFill>
          <a:blip r:embed="rId2"/>
          <a:stretch>
            <a:fillRect/>
          </a:stretch>
        </p:blipFill>
        <p:spPr>
          <a:xfrm>
            <a:off x="1781175" y="220662"/>
            <a:ext cx="495300" cy="330200"/>
          </a:xfrm>
          <a:prstGeom prst="rect">
            <a:avLst/>
          </a:prstGeom>
          <a:effectLst/>
        </p:spPr>
      </p:pic>
      <p:sp>
        <p:nvSpPr>
          <p:cNvPr id="4" name="TextBox 3"/>
          <p:cNvSpPr txBox="1"/>
          <p:nvPr/>
        </p:nvSpPr>
        <p:spPr>
          <a:xfrm>
            <a:off x="457200" y="266700"/>
            <a:ext cx="1219200" cy="276225"/>
          </a:xfrm>
          <a:prstGeom prst="rect">
            <a:avLst/>
          </a:prstGeom>
          <a:noFill/>
          <a:effectLst/>
        </p:spPr>
        <p:txBody>
          <a:bodyPr wrap="square" lIns="0" rIns="0" tIns="0" bIns="0" anchor="t">
            <a:spAutoFit/>
          </a:bodyPr>
          <a:lstStyle/>
          <a:p>
            <a:pPr algn="r" rtl="0">
              <a:lnSpc>
                <a:spcPts val="1596"/>
              </a:lnSpc>
              <a:spcBef>
                <a:spcPts val="0"/>
              </a:spcBef>
              <a:spcAft>
                <a:spcPts val="0"/>
              </a:spcAft>
            </a:pPr>
            <a:r>
              <a:rPr sz="1425" b="1" lang="ar-EG">
                <a:solidFill>
                  <a:srgbClr val="23201D"/>
                </a:solidFill>
                <a:latin typeface="Manrope"/>
                <a:cs typeface="IBM Plex Sans Arabic Medium"/>
              </a:rPr>
              <a:t>GRINDCTRL</a:t>
            </a:r>
          </a:p>
        </p:txBody>
      </p:sp>
      <p:sp>
        <p:nvSpPr>
          <p:cNvPr id="5" name="TextBox 4"/>
          <p:cNvSpPr txBox="1"/>
          <p:nvPr/>
        </p:nvSpPr>
        <p:spPr>
          <a:xfrm>
            <a:off x="457200" y="819150"/>
            <a:ext cx="11277600" cy="1562100"/>
          </a:xfrm>
          <a:prstGeom prst="rect">
            <a:avLst/>
          </a:prstGeom>
          <a:noFill/>
          <a:effectLst/>
        </p:spPr>
        <p:txBody>
          <a:bodyPr wrap="square" lIns="0" rIns="0" tIns="0" bIns="0" anchor="t">
            <a:spAutoFit/>
          </a:bodyPr>
          <a:lstStyle/>
          <a:p>
            <a:pPr algn="r" rtl="1">
              <a:lnSpc>
                <a:spcPts val="5376"/>
              </a:lnSpc>
              <a:spcBef>
                <a:spcPts val="0"/>
              </a:spcBef>
              <a:spcAft>
                <a:spcPts val="0"/>
              </a:spcAft>
            </a:pPr>
            <a:r>
              <a:rPr sz="4800" b="1" lang="ar-EG">
                <a:solidFill>
                  <a:srgbClr val="23201D"/>
                </a:solidFill>
                <a:latin typeface="Manrope"/>
                <a:cs typeface="IBM Plex Sans Arabic Medium"/>
              </a:rPr>
              <a:t>المكالمة توصل.</a:t>
            </a:r>
          </a:p>
          <a:p>
            <a:pPr algn="r" rtl="1">
              <a:lnSpc>
                <a:spcPts val="5376"/>
              </a:lnSpc>
              <a:spcBef>
                <a:spcPts val="0"/>
              </a:spcBef>
              <a:spcAft>
                <a:spcPts val="0"/>
              </a:spcAft>
            </a:pPr>
            <a:r>
              <a:rPr sz="4800" b="1" lang="ar-EG">
                <a:solidFill>
                  <a:srgbClr val="23201D"/>
                </a:solidFill>
                <a:latin typeface="Manrope"/>
                <a:cs typeface="IBM Plex Sans Arabic Medium"/>
              </a:rPr>
              <a:t>ومعلومات العميل تظهر معاها.</a:t>
            </a:r>
          </a:p>
        </p:txBody>
      </p:sp>
      <p:sp>
        <p:nvSpPr>
          <p:cNvPr id="6" name="TextBox 5"/>
          <p:cNvSpPr txBox="1"/>
          <p:nvPr/>
        </p:nvSpPr>
        <p:spPr>
          <a:xfrm>
            <a:off x="457200" y="2419350"/>
            <a:ext cx="11277600" cy="457200"/>
          </a:xfrm>
          <a:prstGeom prst="rect">
            <a:avLst/>
          </a:prstGeom>
          <a:noFill/>
          <a:effectLst/>
        </p:spPr>
        <p:txBody>
          <a:bodyPr wrap="square" lIns="0" rIns="0" tIns="0" bIns="0" anchor="t">
            <a:spAutoFit/>
          </a:bodyPr>
          <a:lstStyle/>
          <a:p>
            <a:pPr algn="r" rtl="1">
              <a:lnSpc>
                <a:spcPts val="2688"/>
              </a:lnSpc>
              <a:spcBef>
                <a:spcPts val="0"/>
              </a:spcBef>
              <a:spcAft>
                <a:spcPts val="0"/>
              </a:spcAft>
            </a:pPr>
            <a:r>
              <a:rPr sz="2400" b="0" lang="ar-EG">
                <a:solidFill>
                  <a:srgbClr val="69635C"/>
                </a:solidFill>
                <a:latin typeface="Manrope"/>
                <a:cs typeface="IBM Plex Sans Arabic Medium"/>
              </a:rPr>
              <a:t>البحث برقم المتصل يوصل المكالمة بتاريخ التذاكر.</a:t>
            </a:r>
          </a:p>
        </p:txBody>
      </p:sp>
      <p:cxnSp>
        <p:nvCxnSpPr>
          <p:cNvPr id="7" name="Connector 6"/>
          <p:cNvCxnSpPr/>
          <p:nvPr/>
        </p:nvCxnSpPr>
        <p:spPr>
          <a:xfrm flipH="1">
            <a:off x="457200" y="6334125"/>
            <a:ext cx="11277600" cy="0"/>
          </a:xfrm>
          <a:prstGeom prst="line">
            <a:avLst/>
          </a:prstGeom>
          <a:ln w="9525">
            <a:solidFill>
              <a:srgbClr val="D5CFC6"/>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1447800" y="6496050"/>
            <a:ext cx="10287000" cy="209550"/>
          </a:xfrm>
          <a:prstGeom prst="rect">
            <a:avLst/>
          </a:prstGeom>
          <a:noFill/>
          <a:effectLst/>
        </p:spPr>
        <p:txBody>
          <a:bodyPr wrap="square" lIns="0" rIns="0" tIns="0" bIns="0" anchor="t">
            <a:spAutoFit/>
          </a:bodyPr>
          <a:lstStyle/>
          <a:p>
            <a:pPr algn="r" rtl="1">
              <a:lnSpc>
                <a:spcPts val="1260"/>
              </a:lnSpc>
              <a:spcBef>
                <a:spcPts val="0"/>
              </a:spcBef>
              <a:spcAft>
                <a:spcPts val="0"/>
              </a:spcAft>
            </a:pPr>
            <a:r>
              <a:rPr sz="1125" b="0" lang="ar-EG">
                <a:solidFill>
                  <a:srgbClr val="69635C"/>
                </a:solidFill>
                <a:latin typeface="Manrope"/>
                <a:cs typeface="IBM Plex Sans Arabic Medium"/>
              </a:rPr>
              <a:t>تعاون مقترح · سجلات توضيحية</a:t>
            </a:r>
          </a:p>
        </p:txBody>
      </p:sp>
      <p:sp>
        <p:nvSpPr>
          <p:cNvPr id="9" name="TextBox 8"/>
          <p:cNvSpPr txBox="1"/>
          <p:nvPr/>
        </p:nvSpPr>
        <p:spPr>
          <a:xfrm>
            <a:off x="457200" y="6496050"/>
            <a:ext cx="828675" cy="20955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ar-EG">
                <a:solidFill>
                  <a:srgbClr val="69635C"/>
                </a:solidFill>
                <a:latin typeface="Manrope"/>
                <a:cs typeface="IBM Plex Sans Arabic Medium"/>
              </a:rPr>
              <a:t>03 / 09</a:t>
            </a:r>
          </a:p>
        </p:txBody>
      </p:sp>
      <p:sp>
        <p:nvSpPr>
          <p:cNvPr id="10" name="Rounded Rectangle 9"/>
          <p:cNvSpPr/>
          <p:nvPr/>
        </p:nvSpPr>
        <p:spPr>
          <a:xfrm>
            <a:off x="9067800" y="3028950"/>
            <a:ext cx="2667000" cy="2095500"/>
          </a:xfrm>
          <a:prstGeom prst="roundRect">
            <a:avLst>
              <a:gd name="adj" fmla="val 7272"/>
            </a:avLst>
          </a:prstGeom>
          <a:solidFill>
            <a:srgbClr val="23201D"/>
          </a:solidFill>
          <a:ln w="9525">
            <a:solidFill>
              <a:srgbClr val="23201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white.png"/>
          <p:cNvPicPr>
            <a:picLocks noChangeAspect="1"/>
          </p:cNvPicPr>
          <p:nvPr/>
        </p:nvPicPr>
        <p:blipFill>
          <a:blip r:embed="rId3"/>
          <a:stretch>
            <a:fillRect/>
          </a:stretch>
        </p:blipFill>
        <p:spPr>
          <a:xfrm>
            <a:off x="9448800" y="3271466"/>
            <a:ext cx="2057400" cy="400792"/>
          </a:xfrm>
          <a:prstGeom prst="rect">
            <a:avLst/>
          </a:prstGeom>
          <a:effectLst/>
        </p:spPr>
      </p:pic>
      <p:sp>
        <p:nvSpPr>
          <p:cNvPr id="12" name="Oval 11"/>
          <p:cNvSpPr/>
          <p:nvPr/>
        </p:nvSpPr>
        <p:spPr>
          <a:xfrm>
            <a:off x="10839450" y="3867150"/>
            <a:ext cx="666750" cy="666750"/>
          </a:xfrm>
          <a:prstGeom prst="ellipse">
            <a:avLst/>
          </a:prstGeom>
          <a:solidFill>
            <a:srgbClr val="FCFAF6"/>
          </a:solidFill>
          <a:ln w="9525">
            <a:solidFill>
              <a:srgbClr val="FCFAF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Picture 12" descr="icon-call.png"/>
          <p:cNvPicPr>
            <a:picLocks noChangeAspect="1"/>
          </p:cNvPicPr>
          <p:nvPr/>
        </p:nvPicPr>
        <p:blipFill>
          <a:blip r:embed="rId4"/>
          <a:stretch>
            <a:fillRect/>
          </a:stretch>
        </p:blipFill>
        <p:spPr>
          <a:xfrm>
            <a:off x="10982325" y="4010025"/>
            <a:ext cx="381000" cy="381000"/>
          </a:xfrm>
          <a:prstGeom prst="rect">
            <a:avLst/>
          </a:prstGeom>
          <a:effectLst/>
        </p:spPr>
      </p:pic>
      <p:sp>
        <p:nvSpPr>
          <p:cNvPr id="14" name="TextBox 13"/>
          <p:cNvSpPr txBox="1"/>
          <p:nvPr/>
        </p:nvSpPr>
        <p:spPr>
          <a:xfrm>
            <a:off x="9305925" y="3981450"/>
            <a:ext cx="1362075" cy="457200"/>
          </a:xfrm>
          <a:prstGeom prst="rect">
            <a:avLst/>
          </a:prstGeom>
          <a:noFill/>
          <a:effectLst/>
        </p:spPr>
        <p:txBody>
          <a:bodyPr wrap="square" lIns="0" rIns="0" tIns="0" bIns="0" anchor="t">
            <a:spAutoFit/>
          </a:bodyPr>
          <a:lstStyle/>
          <a:p>
            <a:pPr algn="r" rtl="1">
              <a:lnSpc>
                <a:spcPts val="2688"/>
              </a:lnSpc>
              <a:spcBef>
                <a:spcPts val="0"/>
              </a:spcBef>
              <a:spcAft>
                <a:spcPts val="0"/>
              </a:spcAft>
            </a:pPr>
            <a:r>
              <a:rPr sz="2400" b="1" lang="ar-EG">
                <a:solidFill>
                  <a:srgbClr val="FCFAF6"/>
                </a:solidFill>
                <a:latin typeface="Manrope"/>
                <a:cs typeface="IBM Plex Sans Arabic Medium"/>
              </a:rPr>
              <a:t>مكالمة</a:t>
            </a:r>
          </a:p>
        </p:txBody>
      </p:sp>
      <p:sp>
        <p:nvSpPr>
          <p:cNvPr id="15" name="TextBox 14"/>
          <p:cNvSpPr txBox="1"/>
          <p:nvPr/>
        </p:nvSpPr>
        <p:spPr>
          <a:xfrm>
            <a:off x="9334500" y="4600575"/>
            <a:ext cx="2171700" cy="409575"/>
          </a:xfrm>
          <a:prstGeom prst="rect">
            <a:avLst/>
          </a:prstGeom>
          <a:noFill/>
          <a:effectLst/>
        </p:spPr>
        <p:txBody>
          <a:bodyPr wrap="square" lIns="0" rIns="0" tIns="0" bIns="0" anchor="t">
            <a:spAutoFit/>
          </a:bodyPr>
          <a:lstStyle/>
          <a:p>
            <a:pPr algn="r" rtl="0">
              <a:lnSpc>
                <a:spcPts val="2772"/>
              </a:lnSpc>
              <a:spcBef>
                <a:spcPts val="0"/>
              </a:spcBef>
              <a:spcAft>
                <a:spcPts val="0"/>
              </a:spcAft>
            </a:pPr>
            <a:r>
              <a:rPr sz="2475" b="0" lang="ar-EG">
                <a:solidFill>
                  <a:srgbClr val="FCFAF6"/>
                </a:solidFill>
                <a:latin typeface="Manrope"/>
                <a:cs typeface="IBM Plex Sans Arabic Medium"/>
              </a:rPr>
              <a:t>+20 ••• 410</a:t>
            </a:r>
          </a:p>
        </p:txBody>
      </p:sp>
      <p:cxnSp>
        <p:nvCxnSpPr>
          <p:cNvPr id="16" name="Connector 15"/>
          <p:cNvCxnSpPr/>
          <p:nvPr/>
        </p:nvCxnSpPr>
        <p:spPr>
          <a:xfrm flipH="1">
            <a:off x="8639175" y="4105275"/>
            <a:ext cx="29527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6410325" y="3028950"/>
            <a:ext cx="2047875" cy="2095500"/>
          </a:xfrm>
          <a:prstGeom prst="roundRect">
            <a:avLst>
              <a:gd name="adj" fmla="val 7441"/>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zoho.png"/>
          <p:cNvPicPr>
            <a:picLocks noChangeAspect="1"/>
          </p:cNvPicPr>
          <p:nvPr/>
        </p:nvPicPr>
        <p:blipFill>
          <a:blip r:embed="rId5"/>
          <a:stretch>
            <a:fillRect/>
          </a:stretch>
        </p:blipFill>
        <p:spPr>
          <a:xfrm>
            <a:off x="7037157" y="3209925"/>
            <a:ext cx="1041862" cy="447675"/>
          </a:xfrm>
          <a:prstGeom prst="rect">
            <a:avLst/>
          </a:prstGeom>
          <a:effectLst/>
        </p:spPr>
      </p:pic>
      <p:sp>
        <p:nvSpPr>
          <p:cNvPr id="19" name="TextBox 18"/>
          <p:cNvSpPr txBox="1"/>
          <p:nvPr/>
        </p:nvSpPr>
        <p:spPr>
          <a:xfrm>
            <a:off x="6600825" y="3895725"/>
            <a:ext cx="1638300" cy="742950"/>
          </a:xfrm>
          <a:prstGeom prst="rect">
            <a:avLst/>
          </a:prstGeom>
          <a:noFill/>
          <a:effectLst/>
        </p:spPr>
        <p:txBody>
          <a:bodyPr wrap="square" lIns="0" rIns="0" tIns="0" bIns="0" anchor="t">
            <a:spAutoFit/>
          </a:bodyPr>
          <a:lstStyle/>
          <a:p>
            <a:pPr algn="r" rtl="1">
              <a:lnSpc>
                <a:spcPts val="2772"/>
              </a:lnSpc>
              <a:spcBef>
                <a:spcPts val="0"/>
              </a:spcBef>
              <a:spcAft>
                <a:spcPts val="0"/>
              </a:spcAft>
            </a:pPr>
            <a:r>
              <a:rPr sz="2475" b="1" lang="ar-EG">
                <a:solidFill>
                  <a:srgbClr val="23201D"/>
                </a:solidFill>
                <a:latin typeface="Manrope"/>
                <a:cs typeface="IBM Plex Sans Arabic Medium"/>
              </a:rPr>
              <a:t>بحث</a:t>
            </a:r>
          </a:p>
          <a:p>
            <a:pPr algn="r" rtl="1">
              <a:lnSpc>
                <a:spcPts val="2772"/>
              </a:lnSpc>
              <a:spcBef>
                <a:spcPts val="0"/>
              </a:spcBef>
              <a:spcAft>
                <a:spcPts val="0"/>
              </a:spcAft>
            </a:pPr>
            <a:r>
              <a:rPr sz="2475" b="1" lang="ar-EG">
                <a:solidFill>
                  <a:srgbClr val="23201D"/>
                </a:solidFill>
                <a:latin typeface="Manrope"/>
                <a:cs typeface="IBM Plex Sans Arabic Medium"/>
              </a:rPr>
              <a:t>تلقائي</a:t>
            </a:r>
          </a:p>
        </p:txBody>
      </p:sp>
      <p:pic>
        <p:nvPicPr>
          <p:cNvPr id="20" name="Picture 19" descr="icon-case.png"/>
          <p:cNvPicPr>
            <a:picLocks noChangeAspect="1"/>
          </p:cNvPicPr>
          <p:nvPr/>
        </p:nvPicPr>
        <p:blipFill>
          <a:blip r:embed="rId6"/>
          <a:stretch>
            <a:fillRect/>
          </a:stretch>
        </p:blipFill>
        <p:spPr>
          <a:xfrm>
            <a:off x="7924800" y="4686300"/>
            <a:ext cx="276225" cy="276225"/>
          </a:xfrm>
          <a:prstGeom prst="rect">
            <a:avLst/>
          </a:prstGeom>
          <a:effectLst/>
        </p:spPr>
      </p:pic>
      <p:sp>
        <p:nvSpPr>
          <p:cNvPr id="21" name="TextBox 20"/>
          <p:cNvSpPr txBox="1"/>
          <p:nvPr/>
        </p:nvSpPr>
        <p:spPr>
          <a:xfrm>
            <a:off x="6572250" y="4686300"/>
            <a:ext cx="1257300" cy="381000"/>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1" lang="ar-EG">
                <a:solidFill>
                  <a:srgbClr val="526750"/>
                </a:solidFill>
                <a:latin typeface="Manrope"/>
                <a:cs typeface="IBM Plex Sans Arabic Medium"/>
              </a:rPr>
              <a:t>التذاكر</a:t>
            </a:r>
          </a:p>
        </p:txBody>
      </p:sp>
      <p:cxnSp>
        <p:nvCxnSpPr>
          <p:cNvPr id="22" name="Connector 21"/>
          <p:cNvCxnSpPr/>
          <p:nvPr/>
        </p:nvCxnSpPr>
        <p:spPr>
          <a:xfrm flipH="1">
            <a:off x="5981700" y="4105275"/>
            <a:ext cx="29527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3" name="Rounded Rectangle 22"/>
          <p:cNvSpPr/>
          <p:nvPr/>
        </p:nvSpPr>
        <p:spPr>
          <a:xfrm>
            <a:off x="457200" y="3028950"/>
            <a:ext cx="5334000" cy="2095500"/>
          </a:xfrm>
          <a:prstGeom prst="roundRect">
            <a:avLst>
              <a:gd name="adj" fmla="val 7272"/>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val 23"/>
          <p:cNvSpPr/>
          <p:nvPr/>
        </p:nvSpPr>
        <p:spPr>
          <a:xfrm>
            <a:off x="4924425" y="3228975"/>
            <a:ext cx="638175" cy="638175"/>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actor.png"/>
          <p:cNvPicPr>
            <a:picLocks noChangeAspect="1"/>
          </p:cNvPicPr>
          <p:nvPr/>
        </p:nvPicPr>
        <p:blipFill>
          <a:blip r:embed="rId7"/>
          <a:stretch>
            <a:fillRect/>
          </a:stretch>
        </p:blipFill>
        <p:spPr>
          <a:xfrm>
            <a:off x="5067300" y="3371850"/>
            <a:ext cx="352425" cy="352425"/>
          </a:xfrm>
          <a:prstGeom prst="rect">
            <a:avLst/>
          </a:prstGeom>
          <a:effectLst/>
        </p:spPr>
      </p:pic>
      <p:sp>
        <p:nvSpPr>
          <p:cNvPr id="26" name="TextBox 25"/>
          <p:cNvSpPr txBox="1"/>
          <p:nvPr/>
        </p:nvSpPr>
        <p:spPr>
          <a:xfrm>
            <a:off x="723900" y="3333750"/>
            <a:ext cx="3990975" cy="438150"/>
          </a:xfrm>
          <a:prstGeom prst="rect">
            <a:avLst/>
          </a:prstGeom>
          <a:noFill/>
          <a:effectLst/>
        </p:spPr>
        <p:txBody>
          <a:bodyPr wrap="square" lIns="0" rIns="0" tIns="0" bIns="0" anchor="t">
            <a:spAutoFit/>
          </a:bodyPr>
          <a:lstStyle/>
          <a:p>
            <a:pPr algn="r" rtl="1">
              <a:lnSpc>
                <a:spcPts val="3108"/>
              </a:lnSpc>
              <a:spcBef>
                <a:spcPts val="0"/>
              </a:spcBef>
              <a:spcAft>
                <a:spcPts val="0"/>
              </a:spcAft>
            </a:pPr>
            <a:r>
              <a:rPr sz="2775" b="1" lang="ar-EG">
                <a:solidFill>
                  <a:srgbClr val="23201D"/>
                </a:solidFill>
                <a:latin typeface="Manrope"/>
                <a:cs typeface="IBM Plex Sans Arabic Medium"/>
              </a:rPr>
              <a:t>العميل A</a:t>
            </a:r>
          </a:p>
        </p:txBody>
      </p:sp>
      <p:sp>
        <p:nvSpPr>
          <p:cNvPr id="27" name="Rounded Rectangle 26"/>
          <p:cNvSpPr/>
          <p:nvPr/>
        </p:nvSpPr>
        <p:spPr>
          <a:xfrm>
            <a:off x="685800" y="4019550"/>
            <a:ext cx="4876800" cy="876300"/>
          </a:xfrm>
          <a:prstGeom prst="roundRect">
            <a:avLst>
              <a:gd name="adj" fmla="val 10869"/>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876300" y="4124325"/>
            <a:ext cx="4486275" cy="428625"/>
          </a:xfrm>
          <a:prstGeom prst="rect">
            <a:avLst/>
          </a:prstGeom>
          <a:noFill/>
          <a:effectLst/>
        </p:spPr>
        <p:txBody>
          <a:bodyPr wrap="square" lIns="0" rIns="0" tIns="0" bIns="0" anchor="t">
            <a:spAutoFit/>
          </a:bodyPr>
          <a:lstStyle/>
          <a:p>
            <a:pPr algn="r" rtl="1">
              <a:lnSpc>
                <a:spcPts val="2688"/>
              </a:lnSpc>
              <a:spcBef>
                <a:spcPts val="0"/>
              </a:spcBef>
              <a:spcAft>
                <a:spcPts val="0"/>
              </a:spcAft>
            </a:pPr>
            <a:r>
              <a:rPr sz="2400" b="1" lang="ar-EG">
                <a:solidFill>
                  <a:srgbClr val="23201D"/>
                </a:solidFill>
                <a:latin typeface="Manrope"/>
                <a:cs typeface="IBM Plex Sans Arabic Medium"/>
              </a:rPr>
              <a:t>T101 · متابعة استبدال</a:t>
            </a:r>
          </a:p>
        </p:txBody>
      </p:sp>
      <p:sp>
        <p:nvSpPr>
          <p:cNvPr id="29" name="TextBox 28"/>
          <p:cNvSpPr txBox="1"/>
          <p:nvPr/>
        </p:nvSpPr>
        <p:spPr>
          <a:xfrm>
            <a:off x="876300" y="4543425"/>
            <a:ext cx="4486275" cy="371475"/>
          </a:xfrm>
          <a:prstGeom prst="rect">
            <a:avLst/>
          </a:prstGeom>
          <a:noFill/>
          <a:effectLst/>
        </p:spPr>
        <p:txBody>
          <a:bodyPr wrap="square" lIns="0" rIns="0" tIns="0" bIns="0" anchor="t">
            <a:spAutoFit/>
          </a:bodyPr>
          <a:lstStyle/>
          <a:p>
            <a:pPr algn="r" rtl="1">
              <a:lnSpc>
                <a:spcPts val="2520"/>
              </a:lnSpc>
              <a:spcBef>
                <a:spcPts val="0"/>
              </a:spcBef>
              <a:spcAft>
                <a:spcPts val="0"/>
              </a:spcAft>
            </a:pPr>
            <a:r>
              <a:rPr sz="2250" b="0" lang="ar-EG">
                <a:solidFill>
                  <a:srgbClr val="BA4C24"/>
                </a:solidFill>
                <a:latin typeface="Manrope"/>
                <a:cs typeface="IBM Plex Sans Arabic Medium"/>
              </a:rPr>
              <a:t>بانتظار مراجعة الفرع</a:t>
            </a:r>
          </a:p>
        </p:txBody>
      </p:sp>
      <p:sp>
        <p:nvSpPr>
          <p:cNvPr id="30" name="Rounded Rectangle 29"/>
          <p:cNvSpPr/>
          <p:nvPr/>
        </p:nvSpPr>
        <p:spPr>
          <a:xfrm>
            <a:off x="457200" y="5238750"/>
            <a:ext cx="5334000" cy="457200"/>
          </a:xfrm>
          <a:prstGeom prst="roundRect">
            <a:avLst>
              <a:gd name="adj" fmla="val 12000"/>
            </a:avLst>
          </a:prstGeom>
          <a:solidFill>
            <a:srgbClr val="23201D"/>
          </a:solidFill>
          <a:ln w="9525">
            <a:solidFill>
              <a:srgbClr val="23201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19125" y="5305425"/>
            <a:ext cx="5010150" cy="361950"/>
          </a:xfrm>
          <a:prstGeom prst="rect">
            <a:avLst/>
          </a:prstGeom>
          <a:noFill/>
          <a:effectLst/>
        </p:spPr>
        <p:txBody>
          <a:bodyPr wrap="square" lIns="0" rIns="0" tIns="0" bIns="0" anchor="t">
            <a:spAutoFit/>
          </a:bodyPr>
          <a:lstStyle/>
          <a:p>
            <a:pPr algn="ctr" rtl="1">
              <a:lnSpc>
                <a:spcPts val="2436"/>
              </a:lnSpc>
              <a:spcBef>
                <a:spcPts val="0"/>
              </a:spcBef>
              <a:spcAft>
                <a:spcPts val="0"/>
              </a:spcAft>
            </a:pPr>
            <a:r>
              <a:rPr sz="2175" b="0" lang="ar-EG">
                <a:solidFill>
                  <a:srgbClr val="FCFAF6"/>
                </a:solidFill>
                <a:latin typeface="Manrope"/>
                <a:cs typeface="IBM Plex Sans Arabic Medium"/>
              </a:rPr>
              <a:t>«شايف التذكرة السابقة لحضرتك.»</a:t>
            </a:r>
          </a:p>
        </p:txBody>
      </p:sp>
      <p:sp>
        <p:nvSpPr>
          <p:cNvPr id="32" name="Rounded Rectangle 31"/>
          <p:cNvSpPr/>
          <p:nvPr/>
        </p:nvSpPr>
        <p:spPr>
          <a:xfrm>
            <a:off x="457200" y="5838825"/>
            <a:ext cx="11277600" cy="419100"/>
          </a:xfrm>
          <a:prstGeom prst="roundRect">
            <a:avLst>
              <a:gd name="adj" fmla="val 12000"/>
            </a:avLst>
          </a:prstGeom>
          <a:solidFill>
            <a:srgbClr val="E4E9DF"/>
          </a:solidFill>
          <a:ln w="9525">
            <a:solidFill>
              <a:srgbClr val="E4E9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628650" y="5867400"/>
            <a:ext cx="10934700" cy="390525"/>
          </a:xfrm>
          <a:prstGeom prst="rect">
            <a:avLst/>
          </a:prstGeom>
          <a:noFill/>
          <a:effectLst/>
        </p:spPr>
        <p:txBody>
          <a:bodyPr wrap="square" lIns="0" rIns="0" tIns="0" bIns="0" anchor="t">
            <a:spAutoFit/>
          </a:bodyPr>
          <a:lstStyle/>
          <a:p>
            <a:pPr algn="ctr" rtl="1">
              <a:lnSpc>
                <a:spcPts val="2520"/>
              </a:lnSpc>
              <a:spcBef>
                <a:spcPts val="0"/>
              </a:spcBef>
              <a:spcAft>
                <a:spcPts val="0"/>
              </a:spcAft>
            </a:pPr>
            <a:r>
              <a:rPr sz="2250" b="1" lang="ar-EG">
                <a:solidFill>
                  <a:srgbClr val="526750"/>
                </a:solidFill>
                <a:latin typeface="Manrope"/>
                <a:cs typeface="IBM Plex Sans Arabic Medium"/>
              </a:rPr>
              <a:t>بحث أقل. ومحادثة بمعلومات أوضح.</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0"/>
                                  </p:tgtEl>
                                  <p:attrNameLst>
                                    <p:attrName>style.visibility</p:attrName>
                                  </p:attrNameLst>
                                </p:cBhvr>
                                <p:to>
                                  <p:strVal val="visible"/>
                                </p:to>
                              </p:set>
                              <p:animEffect transition="in" filter="fade">
                                <p:cBhvr>
                                  <p:cTn id="6" dur="550"/>
                                  <p:tgtEl>
                                    <p:spTgt spid="10"/>
                                  </p:tgtEl>
                                </p:cBhvr>
                              </p:animEffect>
                            </p:childTnLst>
                          </p:cTn>
                        </p:par>
                        <p:par>
                          <p:cTn id="7" presetID="10" presetClass="entr" presetSubtype="0" fill="hold" nodeType="withEffect">
                            <p:stCondLst>
                              <p:cond delay="0"/>
                            </p:stCondLst>
                            <p:childTnLst>
                              <p:set>
                                <p:cBhvr>
                                  <p:cTn id="8" dur="1" fill="hold"/>
                                  <p:tgtEl>
                                    <p:spTgt spid="11"/>
                                  </p:tgtEl>
                                  <p:attrNameLst>
                                    <p:attrName>style.visibility</p:attrName>
                                  </p:attrNameLst>
                                </p:cBhvr>
                                <p:to>
                                  <p:strVal val="visible"/>
                                </p:to>
                              </p:set>
                              <p:animEffect transition="in" filter="fade">
                                <p:cBhvr>
                                  <p:cTn id="9" dur="550"/>
                                  <p:tgtEl>
                                    <p:spTgt spid="11"/>
                                  </p:tgtEl>
                                </p:cBhvr>
                              </p:animEffect>
                            </p:childTnLst>
                          </p:cTn>
                        </p:par>
                        <p:par>
                          <p:cTn id="10" presetID="10" presetClass="entr" presetSubtype="0" fill="hold" nodeType="withEffect">
                            <p:stCondLst>
                              <p:cond delay="0"/>
                            </p:stCondLst>
                            <p:childTnLst>
                              <p:set>
                                <p:cBhvr>
                                  <p:cTn id="11" dur="1" fill="hold"/>
                                  <p:tgtEl>
                                    <p:spTgt spid="12"/>
                                  </p:tgtEl>
                                  <p:attrNameLst>
                                    <p:attrName>style.visibility</p:attrName>
                                  </p:attrNameLst>
                                </p:cBhvr>
                                <p:to>
                                  <p:strVal val="visible"/>
                                </p:to>
                              </p:set>
                              <p:animEffect transition="in" filter="fade">
                                <p:cBhvr>
                                  <p:cTn id="12" dur="550"/>
                                  <p:tgtEl>
                                    <p:spTgt spid="12"/>
                                  </p:tgtEl>
                                </p:cBhvr>
                              </p:animEffect>
                            </p:childTnLst>
                          </p:cTn>
                        </p:par>
                        <p:par>
                          <p:cTn id="13" presetID="10" presetClass="entr" presetSubtype="0" fill="hold" nodeType="withEffect">
                            <p:stCondLst>
                              <p:cond delay="0"/>
                            </p:stCondLst>
                            <p:childTnLst>
                              <p:set>
                                <p:cBhvr>
                                  <p:cTn id="14" dur="1" fill="hold"/>
                                  <p:tgtEl>
                                    <p:spTgt spid="13"/>
                                  </p:tgtEl>
                                  <p:attrNameLst>
                                    <p:attrName>style.visibility</p:attrName>
                                  </p:attrNameLst>
                                </p:cBhvr>
                                <p:to>
                                  <p:strVal val="visible"/>
                                </p:to>
                              </p:set>
                              <p:animEffect transition="in" filter="fade">
                                <p:cBhvr>
                                  <p:cTn id="15" dur="550"/>
                                  <p:tgtEl>
                                    <p:spTgt spid="13"/>
                                  </p:tgtEl>
                                </p:cBhvr>
                              </p:animEffect>
                            </p:childTnLst>
                          </p:cTn>
                        </p:par>
                        <p:par>
                          <p:cTn id="16" presetID="10" presetClass="entr" presetSubtype="0" fill="hold" nodeType="withEffect">
                            <p:stCondLst>
                              <p:cond delay="0"/>
                            </p:stCondLst>
                            <p:childTnLst>
                              <p:set>
                                <p:cBhvr>
                                  <p:cTn id="17" dur="1" fill="hold"/>
                                  <p:tgtEl>
                                    <p:spTgt spid="14"/>
                                  </p:tgtEl>
                                  <p:attrNameLst>
                                    <p:attrName>style.visibility</p:attrName>
                                  </p:attrNameLst>
                                </p:cBhvr>
                                <p:to>
                                  <p:strVal val="visible"/>
                                </p:to>
                              </p:set>
                              <p:animEffect transition="in" filter="fade">
                                <p:cBhvr>
                                  <p:cTn id="18" dur="550"/>
                                  <p:tgtEl>
                                    <p:spTgt spid="14"/>
                                  </p:tgtEl>
                                </p:cBhvr>
                              </p:animEffect>
                            </p:childTnLst>
                          </p:cTn>
                        </p:par>
                        <p:par>
                          <p:cTn id="19" presetID="10" presetClass="entr" presetSubtype="0" fill="hold" nodeType="withEffect">
                            <p:stCondLst>
                              <p:cond delay="1250"/>
                            </p:stCondLst>
                            <p:childTnLst>
                              <p:set>
                                <p:cBhvr>
                                  <p:cTn id="20" dur="1" fill="hold"/>
                                  <p:tgtEl>
                                    <p:spTgt spid="15"/>
                                  </p:tgtEl>
                                  <p:attrNameLst>
                                    <p:attrName>style.visibility</p:attrName>
                                  </p:attrNameLst>
                                </p:cBhvr>
                                <p:to>
                                  <p:strVal val="visible"/>
                                </p:to>
                              </p:set>
                              <p:animEffect transition="in" filter="fade">
                                <p:cBhvr>
                                  <p:cTn id="21" dur="550"/>
                                  <p:tgtEl>
                                    <p:spTgt spid="15"/>
                                  </p:tgtEl>
                                </p:cBhvr>
                              </p:animEffect>
                            </p:childTnLst>
                          </p:cTn>
                        </p:par>
                        <p:par>
                          <p:cTn id="22" presetID="10" presetClass="entr" presetSubtype="0" fill="hold" nodeType="withEffect">
                            <p:stCondLst>
                              <p:cond delay="2500"/>
                            </p:stCondLst>
                            <p:childTnLst>
                              <p:set>
                                <p:cBhvr>
                                  <p:cTn id="23" dur="1" fill="hold"/>
                                  <p:tgtEl>
                                    <p:spTgt spid="16"/>
                                  </p:tgtEl>
                                  <p:attrNameLst>
                                    <p:attrName>style.visibility</p:attrName>
                                  </p:attrNameLst>
                                </p:cBhvr>
                                <p:to>
                                  <p:strVal val="visible"/>
                                </p:to>
                              </p:set>
                              <p:animEffect transition="in" filter="fade">
                                <p:cBhvr>
                                  <p:cTn id="24" dur="550"/>
                                  <p:tgtEl>
                                    <p:spTgt spid="16"/>
                                  </p:tgtEl>
                                </p:cBhvr>
                              </p:animEffect>
                            </p:childTnLst>
                          </p:cTn>
                        </p:par>
                        <p:par>
                          <p:cTn id="25" presetID="10" presetClass="entr" presetSubtype="0" fill="hold" nodeType="withEffect">
                            <p:stCondLst>
                              <p:cond delay="2500"/>
                            </p:stCondLst>
                            <p:childTnLst>
                              <p:set>
                                <p:cBhvr>
                                  <p:cTn id="26" dur="1" fill="hold"/>
                                  <p:tgtEl>
                                    <p:spTgt spid="17"/>
                                  </p:tgtEl>
                                  <p:attrNameLst>
                                    <p:attrName>style.visibility</p:attrName>
                                  </p:attrNameLst>
                                </p:cBhvr>
                                <p:to>
                                  <p:strVal val="visible"/>
                                </p:to>
                              </p:set>
                              <p:animEffect transition="in" filter="fade">
                                <p:cBhvr>
                                  <p:cTn id="27" dur="550"/>
                                  <p:tgtEl>
                                    <p:spTgt spid="17"/>
                                  </p:tgtEl>
                                </p:cBhvr>
                              </p:animEffect>
                            </p:childTnLst>
                          </p:cTn>
                        </p:par>
                        <p:par>
                          <p:cTn id="28" presetID="10" presetClass="entr" presetSubtype="0" fill="hold" nodeType="withEffect">
                            <p:stCondLst>
                              <p:cond delay="2500"/>
                            </p:stCondLst>
                            <p:childTnLst>
                              <p:set>
                                <p:cBhvr>
                                  <p:cTn id="29" dur="1" fill="hold"/>
                                  <p:tgtEl>
                                    <p:spTgt spid="18"/>
                                  </p:tgtEl>
                                  <p:attrNameLst>
                                    <p:attrName>style.visibility</p:attrName>
                                  </p:attrNameLst>
                                </p:cBhvr>
                                <p:to>
                                  <p:strVal val="visible"/>
                                </p:to>
                              </p:set>
                              <p:animEffect transition="in" filter="fade">
                                <p:cBhvr>
                                  <p:cTn id="30" dur="550"/>
                                  <p:tgtEl>
                                    <p:spTgt spid="18"/>
                                  </p:tgtEl>
                                </p:cBhvr>
                              </p:animEffect>
                            </p:childTnLst>
                          </p:cTn>
                        </p:par>
                        <p:par>
                          <p:cTn id="31" presetID="10" presetClass="entr" presetSubtype="0" fill="hold" nodeType="withEffect">
                            <p:stCondLst>
                              <p:cond delay="2500"/>
                            </p:stCondLst>
                            <p:childTnLst>
                              <p:set>
                                <p:cBhvr>
                                  <p:cTn id="32" dur="1" fill="hold"/>
                                  <p:tgtEl>
                                    <p:spTgt spid="19"/>
                                  </p:tgtEl>
                                  <p:attrNameLst>
                                    <p:attrName>style.visibility</p:attrName>
                                  </p:attrNameLst>
                                </p:cBhvr>
                                <p:to>
                                  <p:strVal val="visible"/>
                                </p:to>
                              </p:set>
                              <p:animEffect transition="in" filter="fade">
                                <p:cBhvr>
                                  <p:cTn id="33" dur="550"/>
                                  <p:tgtEl>
                                    <p:spTgt spid="19"/>
                                  </p:tgtEl>
                                </p:cBhvr>
                              </p:animEffect>
                            </p:childTnLst>
                          </p:cTn>
                        </p:par>
                        <p:par>
                          <p:cTn id="34" presetID="10" presetClass="entr" presetSubtype="0" fill="hold" nodeType="withEffect">
                            <p:stCondLst>
                              <p:cond delay="3750"/>
                            </p:stCondLst>
                            <p:childTnLst>
                              <p:set>
                                <p:cBhvr>
                                  <p:cTn id="35" dur="1" fill="hold"/>
                                  <p:tgtEl>
                                    <p:spTgt spid="20"/>
                                  </p:tgtEl>
                                  <p:attrNameLst>
                                    <p:attrName>style.visibility</p:attrName>
                                  </p:attrNameLst>
                                </p:cBhvr>
                                <p:to>
                                  <p:strVal val="visible"/>
                                </p:to>
                              </p:set>
                              <p:animEffect transition="in" filter="fade">
                                <p:cBhvr>
                                  <p:cTn id="36" dur="550"/>
                                  <p:tgtEl>
                                    <p:spTgt spid="20"/>
                                  </p:tgtEl>
                                </p:cBhvr>
                              </p:animEffect>
                            </p:childTnLst>
                          </p:cTn>
                        </p:par>
                        <p:par>
                          <p:cTn id="37" presetID="10" presetClass="entr" presetSubtype="0" fill="hold" nodeType="withEffect">
                            <p:stCondLst>
                              <p:cond delay="3750"/>
                            </p:stCondLst>
                            <p:childTnLst>
                              <p:set>
                                <p:cBhvr>
                                  <p:cTn id="38" dur="1" fill="hold"/>
                                  <p:tgtEl>
                                    <p:spTgt spid="21"/>
                                  </p:tgtEl>
                                  <p:attrNameLst>
                                    <p:attrName>style.visibility</p:attrName>
                                  </p:attrNameLst>
                                </p:cBhvr>
                                <p:to>
                                  <p:strVal val="visible"/>
                                </p:to>
                              </p:set>
                              <p:animEffect transition="in" filter="fade">
                                <p:cBhvr>
                                  <p:cTn id="39" dur="550"/>
                                  <p:tgtEl>
                                    <p:spTgt spid="21"/>
                                  </p:tgtEl>
                                </p:cBhvr>
                              </p:animEffect>
                            </p:childTnLst>
                          </p:cTn>
                        </p:par>
                        <p:par>
                          <p:cTn id="40" presetID="10" presetClass="entr" presetSubtype="0" fill="hold" nodeType="withEffect">
                            <p:stCondLst>
                              <p:cond delay="5000"/>
                            </p:stCondLst>
                            <p:childTnLst>
                              <p:set>
                                <p:cBhvr>
                                  <p:cTn id="41" dur="1" fill="hold"/>
                                  <p:tgtEl>
                                    <p:spTgt spid="22"/>
                                  </p:tgtEl>
                                  <p:attrNameLst>
                                    <p:attrName>style.visibility</p:attrName>
                                  </p:attrNameLst>
                                </p:cBhvr>
                                <p:to>
                                  <p:strVal val="visible"/>
                                </p:to>
                              </p:set>
                              <p:animEffect transition="in" filter="fade">
                                <p:cBhvr>
                                  <p:cTn id="42" dur="550"/>
                                  <p:tgtEl>
                                    <p:spTgt spid="22"/>
                                  </p:tgtEl>
                                </p:cBhvr>
                              </p:animEffect>
                            </p:childTnLst>
                          </p:cTn>
                        </p:par>
                        <p:par>
                          <p:cTn id="43" presetID="10" presetClass="entr" presetSubtype="0" fill="hold" nodeType="withEffect">
                            <p:stCondLst>
                              <p:cond delay="5000"/>
                            </p:stCondLst>
                            <p:childTnLst>
                              <p:set>
                                <p:cBhvr>
                                  <p:cTn id="44" dur="1" fill="hold"/>
                                  <p:tgtEl>
                                    <p:spTgt spid="23"/>
                                  </p:tgtEl>
                                  <p:attrNameLst>
                                    <p:attrName>style.visibility</p:attrName>
                                  </p:attrNameLst>
                                </p:cBhvr>
                                <p:to>
                                  <p:strVal val="visible"/>
                                </p:to>
                              </p:set>
                              <p:animEffect transition="in" filter="fade">
                                <p:cBhvr>
                                  <p:cTn id="45" dur="550"/>
                                  <p:tgtEl>
                                    <p:spTgt spid="23"/>
                                  </p:tgtEl>
                                </p:cBhvr>
                              </p:animEffect>
                            </p:childTnLst>
                          </p:cTn>
                        </p:par>
                        <p:par>
                          <p:cTn id="46" presetID="10" presetClass="entr" presetSubtype="0" fill="hold" nodeType="withEffect">
                            <p:stCondLst>
                              <p:cond delay="5000"/>
                            </p:stCondLst>
                            <p:childTnLst>
                              <p:set>
                                <p:cBhvr>
                                  <p:cTn id="47" dur="1" fill="hold"/>
                                  <p:tgtEl>
                                    <p:spTgt spid="24"/>
                                  </p:tgtEl>
                                  <p:attrNameLst>
                                    <p:attrName>style.visibility</p:attrName>
                                  </p:attrNameLst>
                                </p:cBhvr>
                                <p:to>
                                  <p:strVal val="visible"/>
                                </p:to>
                              </p:set>
                              <p:animEffect transition="in" filter="fade">
                                <p:cBhvr>
                                  <p:cTn id="48" dur="550"/>
                                  <p:tgtEl>
                                    <p:spTgt spid="24"/>
                                  </p:tgtEl>
                                </p:cBhvr>
                              </p:animEffect>
                            </p:childTnLst>
                          </p:cTn>
                        </p:par>
                        <p:par>
                          <p:cTn id="49" presetID="10" presetClass="entr" presetSubtype="0" fill="hold" nodeType="withEffect">
                            <p:stCondLst>
                              <p:cond delay="5000"/>
                            </p:stCondLst>
                            <p:childTnLst>
                              <p:set>
                                <p:cBhvr>
                                  <p:cTn id="50" dur="1" fill="hold"/>
                                  <p:tgtEl>
                                    <p:spTgt spid="25"/>
                                  </p:tgtEl>
                                  <p:attrNameLst>
                                    <p:attrName>style.visibility</p:attrName>
                                  </p:attrNameLst>
                                </p:cBhvr>
                                <p:to>
                                  <p:strVal val="visible"/>
                                </p:to>
                              </p:set>
                              <p:animEffect transition="in" filter="fade">
                                <p:cBhvr>
                                  <p:cTn id="51" dur="550"/>
                                  <p:tgtEl>
                                    <p:spTgt spid="25"/>
                                  </p:tgtEl>
                                </p:cBhvr>
                              </p:animEffect>
                            </p:childTnLst>
                          </p:cTn>
                        </p:par>
                        <p:par>
                          <p:cTn id="52" presetID="10" presetClass="entr" presetSubtype="0" fill="hold" nodeType="withEffect">
                            <p:stCondLst>
                              <p:cond delay="5000"/>
                            </p:stCondLst>
                            <p:childTnLst>
                              <p:set>
                                <p:cBhvr>
                                  <p:cTn id="53" dur="1" fill="hold"/>
                                  <p:tgtEl>
                                    <p:spTgt spid="26"/>
                                  </p:tgtEl>
                                  <p:attrNameLst>
                                    <p:attrName>style.visibility</p:attrName>
                                  </p:attrNameLst>
                                </p:cBhvr>
                                <p:to>
                                  <p:strVal val="visible"/>
                                </p:to>
                              </p:set>
                              <p:animEffect transition="in" filter="fade">
                                <p:cBhvr>
                                  <p:cTn id="54" dur="550"/>
                                  <p:tgtEl>
                                    <p:spTgt spid="26"/>
                                  </p:tgtEl>
                                </p:cBhvr>
                              </p:animEffect>
                            </p:childTnLst>
                          </p:cTn>
                        </p:par>
                        <p:par>
                          <p:cTn id="55" presetID="10" presetClass="entr" presetSubtype="0" fill="hold" nodeType="withEffect">
                            <p:stCondLst>
                              <p:cond delay="5000"/>
                            </p:stCondLst>
                            <p:childTnLst>
                              <p:set>
                                <p:cBhvr>
                                  <p:cTn id="56" dur="1" fill="hold"/>
                                  <p:tgtEl>
                                    <p:spTgt spid="27"/>
                                  </p:tgtEl>
                                  <p:attrNameLst>
                                    <p:attrName>style.visibility</p:attrName>
                                  </p:attrNameLst>
                                </p:cBhvr>
                                <p:to>
                                  <p:strVal val="visible"/>
                                </p:to>
                              </p:set>
                              <p:animEffect transition="in" filter="fade">
                                <p:cBhvr>
                                  <p:cTn id="57" dur="550"/>
                                  <p:tgtEl>
                                    <p:spTgt spid="27"/>
                                  </p:tgtEl>
                                </p:cBhvr>
                              </p:animEffect>
                            </p:childTnLst>
                          </p:cTn>
                        </p:par>
                        <p:par>
                          <p:cTn id="58" presetID="10" presetClass="entr" presetSubtype="0" fill="hold" nodeType="withEffect">
                            <p:stCondLst>
                              <p:cond delay="5000"/>
                            </p:stCondLst>
                            <p:childTnLst>
                              <p:set>
                                <p:cBhvr>
                                  <p:cTn id="59" dur="1" fill="hold"/>
                                  <p:tgtEl>
                                    <p:spTgt spid="28"/>
                                  </p:tgtEl>
                                  <p:attrNameLst>
                                    <p:attrName>style.visibility</p:attrName>
                                  </p:attrNameLst>
                                </p:cBhvr>
                                <p:to>
                                  <p:strVal val="visible"/>
                                </p:to>
                              </p:set>
                              <p:animEffect transition="in" filter="fade">
                                <p:cBhvr>
                                  <p:cTn id="60" dur="550"/>
                                  <p:tgtEl>
                                    <p:spTgt spid="28"/>
                                  </p:tgtEl>
                                </p:cBhvr>
                              </p:animEffect>
                            </p:childTnLst>
                          </p:cTn>
                        </p:par>
                        <p:par>
                          <p:cTn id="61" presetID="10" presetClass="entr" presetSubtype="0" fill="hold" nodeType="withEffect">
                            <p:stCondLst>
                              <p:cond delay="5000"/>
                            </p:stCondLst>
                            <p:childTnLst>
                              <p:set>
                                <p:cBhvr>
                                  <p:cTn id="62" dur="1" fill="hold"/>
                                  <p:tgtEl>
                                    <p:spTgt spid="29"/>
                                  </p:tgtEl>
                                  <p:attrNameLst>
                                    <p:attrName>style.visibility</p:attrName>
                                  </p:attrNameLst>
                                </p:cBhvr>
                                <p:to>
                                  <p:strVal val="visible"/>
                                </p:to>
                              </p:set>
                              <p:animEffect transition="in" filter="fade">
                                <p:cBhvr>
                                  <p:cTn id="63" dur="550"/>
                                  <p:tgtEl>
                                    <p:spTgt spid="29"/>
                                  </p:tgtEl>
                                </p:cBhvr>
                              </p:animEffect>
                            </p:childTnLst>
                          </p:cTn>
                        </p:par>
                        <p:par>
                          <p:cTn id="64" presetID="10" presetClass="entr" presetSubtype="0" fill="hold" nodeType="withEffect">
                            <p:stCondLst>
                              <p:cond delay="6250"/>
                            </p:stCondLst>
                            <p:childTnLst>
                              <p:set>
                                <p:cBhvr>
                                  <p:cTn id="65" dur="1" fill="hold"/>
                                  <p:tgtEl>
                                    <p:spTgt spid="30"/>
                                  </p:tgtEl>
                                  <p:attrNameLst>
                                    <p:attrName>style.visibility</p:attrName>
                                  </p:attrNameLst>
                                </p:cBhvr>
                                <p:to>
                                  <p:strVal val="visible"/>
                                </p:to>
                              </p:set>
                              <p:animEffect transition="in" filter="fade">
                                <p:cBhvr>
                                  <p:cTn id="66" dur="550"/>
                                  <p:tgtEl>
                                    <p:spTgt spid="30"/>
                                  </p:tgtEl>
                                </p:cBhvr>
                              </p:animEffect>
                            </p:childTnLst>
                          </p:cTn>
                        </p:par>
                        <p:par>
                          <p:cTn id="67" presetID="10" presetClass="entr" presetSubtype="0" fill="hold" nodeType="withEffect">
                            <p:stCondLst>
                              <p:cond delay="6250"/>
                            </p:stCondLst>
                            <p:childTnLst>
                              <p:set>
                                <p:cBhvr>
                                  <p:cTn id="68" dur="1" fill="hold"/>
                                  <p:tgtEl>
                                    <p:spTgt spid="31"/>
                                  </p:tgtEl>
                                  <p:attrNameLst>
                                    <p:attrName>style.visibility</p:attrName>
                                  </p:attrNameLst>
                                </p:cBhvr>
                                <p:to>
                                  <p:strVal val="visible"/>
                                </p:to>
                              </p:set>
                              <p:animEffect transition="in" filter="fade">
                                <p:cBhvr>
                                  <p:cTn id="69" dur="550"/>
                                  <p:tgtEl>
                                    <p:spTgt spid="31"/>
                                  </p:tgtEl>
                                </p:cBhvr>
                              </p:animEffect>
                            </p:childTnLst>
                          </p:cTn>
                        </p:par>
                        <p:par>
                          <p:cTn id="70" presetID="10" presetClass="entr" presetSubtype="0" fill="hold" nodeType="withEffect">
                            <p:stCondLst>
                              <p:cond delay="7500"/>
                            </p:stCondLst>
                            <p:childTnLst>
                              <p:set>
                                <p:cBhvr>
                                  <p:cTn id="71" dur="1" fill="hold"/>
                                  <p:tgtEl>
                                    <p:spTgt spid="32"/>
                                  </p:tgtEl>
                                  <p:attrNameLst>
                                    <p:attrName>style.visibility</p:attrName>
                                  </p:attrNameLst>
                                </p:cBhvr>
                                <p:to>
                                  <p:strVal val="visible"/>
                                </p:to>
                              </p:set>
                              <p:animEffect transition="in" filter="fade">
                                <p:cBhvr>
                                  <p:cTn id="72" dur="550"/>
                                  <p:tgtEl>
                                    <p:spTgt spid="32"/>
                                  </p:tgtEl>
                                </p:cBhvr>
                              </p:animEffect>
                            </p:childTnLst>
                          </p:cTn>
                        </p:par>
                        <p:par>
                          <p:cTn id="73" presetID="10" presetClass="entr" presetSubtype="0" fill="hold" nodeType="withEffect">
                            <p:stCondLst>
                              <p:cond delay="7500"/>
                            </p:stCondLst>
                            <p:childTnLst>
                              <p:set>
                                <p:cBhvr>
                                  <p:cTn id="74" dur="1" fill="hold"/>
                                  <p:tgtEl>
                                    <p:spTgt spid="33"/>
                                  </p:tgtEl>
                                  <p:attrNameLst>
                                    <p:attrName>style.visibility</p:attrName>
                                  </p:attrNameLst>
                                </p:cBhvr>
                                <p:to>
                                  <p:strVal val="visible"/>
                                </p:to>
                              </p:set>
                              <p:animEffect transition="in" filter="fade">
                                <p:cBhvr>
                                  <p:cTn id="75" dur="550"/>
                                  <p:tgtEl>
                                    <p:spTgt spid="3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3162300" y="266700"/>
            <a:ext cx="8572500" cy="2667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1" lang="ar-EG">
                <a:solidFill>
                  <a:srgbClr val="69635C"/>
                </a:solidFill>
                <a:latin typeface="Manrope"/>
                <a:cs typeface="IBM Plex Sans Arabic Medium"/>
              </a:rPr>
              <a:t>٠٣ · إزاي الربط يشتغل</a:t>
            </a:r>
          </a:p>
        </p:txBody>
      </p:sp>
      <p:pic>
        <p:nvPicPr>
          <p:cNvPr id="3" name="Picture 2" descr="brand.png"/>
          <p:cNvPicPr>
            <a:picLocks noChangeAspect="1"/>
          </p:cNvPicPr>
          <p:nvPr/>
        </p:nvPicPr>
        <p:blipFill>
          <a:blip r:embed="rId2"/>
          <a:stretch>
            <a:fillRect/>
          </a:stretch>
        </p:blipFill>
        <p:spPr>
          <a:xfrm>
            <a:off x="1781175" y="220662"/>
            <a:ext cx="495300" cy="330200"/>
          </a:xfrm>
          <a:prstGeom prst="rect">
            <a:avLst/>
          </a:prstGeom>
          <a:effectLst/>
        </p:spPr>
      </p:pic>
      <p:sp>
        <p:nvSpPr>
          <p:cNvPr id="4" name="TextBox 3"/>
          <p:cNvSpPr txBox="1"/>
          <p:nvPr/>
        </p:nvSpPr>
        <p:spPr>
          <a:xfrm>
            <a:off x="457200" y="266700"/>
            <a:ext cx="1219200" cy="276225"/>
          </a:xfrm>
          <a:prstGeom prst="rect">
            <a:avLst/>
          </a:prstGeom>
          <a:noFill/>
          <a:effectLst/>
        </p:spPr>
        <p:txBody>
          <a:bodyPr wrap="square" lIns="0" rIns="0" tIns="0" bIns="0" anchor="t">
            <a:spAutoFit/>
          </a:bodyPr>
          <a:lstStyle/>
          <a:p>
            <a:pPr algn="r" rtl="0">
              <a:lnSpc>
                <a:spcPts val="1596"/>
              </a:lnSpc>
              <a:spcBef>
                <a:spcPts val="0"/>
              </a:spcBef>
              <a:spcAft>
                <a:spcPts val="0"/>
              </a:spcAft>
            </a:pPr>
            <a:r>
              <a:rPr sz="1425" b="1" lang="ar-EG">
                <a:solidFill>
                  <a:srgbClr val="23201D"/>
                </a:solidFill>
                <a:latin typeface="Manrope"/>
                <a:cs typeface="IBM Plex Sans Arabic Medium"/>
              </a:rPr>
              <a:t>GRINDCTRL</a:t>
            </a:r>
          </a:p>
        </p:txBody>
      </p:sp>
      <p:sp>
        <p:nvSpPr>
          <p:cNvPr id="5" name="TextBox 4"/>
          <p:cNvSpPr txBox="1"/>
          <p:nvPr/>
        </p:nvSpPr>
        <p:spPr>
          <a:xfrm>
            <a:off x="457200" y="819150"/>
            <a:ext cx="11277600" cy="1562100"/>
          </a:xfrm>
          <a:prstGeom prst="rect">
            <a:avLst/>
          </a:prstGeom>
          <a:noFill/>
          <a:effectLst/>
        </p:spPr>
        <p:txBody>
          <a:bodyPr wrap="square" lIns="0" rIns="0" tIns="0" bIns="0" anchor="t">
            <a:spAutoFit/>
          </a:bodyPr>
          <a:lstStyle/>
          <a:p>
            <a:pPr algn="r" rtl="1">
              <a:lnSpc>
                <a:spcPts val="5376"/>
              </a:lnSpc>
              <a:spcBef>
                <a:spcPts val="0"/>
              </a:spcBef>
              <a:spcAft>
                <a:spcPts val="0"/>
              </a:spcAft>
            </a:pPr>
            <a:r>
              <a:rPr sz="4800" b="1" lang="ar-EG">
                <a:solidFill>
                  <a:srgbClr val="23201D"/>
                </a:solidFill>
                <a:latin typeface="Manrope"/>
                <a:cs typeface="IBM Plex Sans Arabic Medium"/>
              </a:rPr>
              <a:t>نخلي الأنظمة الموجودة</a:t>
            </a:r>
          </a:p>
          <a:p>
            <a:pPr algn="r" rtl="1">
              <a:lnSpc>
                <a:spcPts val="5376"/>
              </a:lnSpc>
              <a:spcBef>
                <a:spcPts val="0"/>
              </a:spcBef>
              <a:spcAft>
                <a:spcPts val="0"/>
              </a:spcAft>
            </a:pPr>
            <a:r>
              <a:rPr sz="4800" b="1" lang="ar-EG">
                <a:solidFill>
                  <a:srgbClr val="23201D"/>
                </a:solidFill>
                <a:latin typeface="Manrope"/>
                <a:cs typeface="IBM Plex Sans Arabic Medium"/>
              </a:rPr>
              <a:t>تشتغل مع بعض.</a:t>
            </a:r>
          </a:p>
        </p:txBody>
      </p:sp>
      <p:sp>
        <p:nvSpPr>
          <p:cNvPr id="6" name="TextBox 5"/>
          <p:cNvSpPr txBox="1"/>
          <p:nvPr/>
        </p:nvSpPr>
        <p:spPr>
          <a:xfrm>
            <a:off x="457200" y="2419350"/>
            <a:ext cx="11277600" cy="457200"/>
          </a:xfrm>
          <a:prstGeom prst="rect">
            <a:avLst/>
          </a:prstGeom>
          <a:noFill/>
          <a:effectLst/>
        </p:spPr>
        <p:txBody>
          <a:bodyPr wrap="square" lIns="0" rIns="0" tIns="0" bIns="0" anchor="t">
            <a:spAutoFit/>
          </a:bodyPr>
          <a:lstStyle/>
          <a:p>
            <a:pPr algn="r" rtl="1">
              <a:lnSpc>
                <a:spcPts val="2688"/>
              </a:lnSpc>
              <a:spcBef>
                <a:spcPts val="0"/>
              </a:spcBef>
              <a:spcAft>
                <a:spcPts val="0"/>
              </a:spcAft>
            </a:pPr>
            <a:r>
              <a:rPr sz="2400" b="0" lang="ar-EG">
                <a:solidFill>
                  <a:srgbClr val="69635C"/>
                </a:solidFill>
                <a:latin typeface="Manrope"/>
                <a:cs typeface="IBM Plex Sans Arabic Medium"/>
              </a:rPr>
              <a:t>نوصل سجلات Desk لشاشة الموظف وقت المكالمة.</a:t>
            </a:r>
          </a:p>
        </p:txBody>
      </p:sp>
      <p:cxnSp>
        <p:nvCxnSpPr>
          <p:cNvPr id="7" name="Connector 6"/>
          <p:cNvCxnSpPr/>
          <p:nvPr/>
        </p:nvCxnSpPr>
        <p:spPr>
          <a:xfrm flipH="1">
            <a:off x="457200" y="6334125"/>
            <a:ext cx="11277600" cy="0"/>
          </a:xfrm>
          <a:prstGeom prst="line">
            <a:avLst/>
          </a:prstGeom>
          <a:ln w="9525">
            <a:solidFill>
              <a:srgbClr val="D5CFC6"/>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1447800" y="6496050"/>
            <a:ext cx="10287000" cy="209550"/>
          </a:xfrm>
          <a:prstGeom prst="rect">
            <a:avLst/>
          </a:prstGeom>
          <a:noFill/>
          <a:effectLst/>
        </p:spPr>
        <p:txBody>
          <a:bodyPr wrap="square" lIns="0" rIns="0" tIns="0" bIns="0" anchor="t">
            <a:spAutoFit/>
          </a:bodyPr>
          <a:lstStyle/>
          <a:p>
            <a:pPr algn="r" rtl="1">
              <a:lnSpc>
                <a:spcPts val="1260"/>
              </a:lnSpc>
              <a:spcBef>
                <a:spcPts val="0"/>
              </a:spcBef>
              <a:spcAft>
                <a:spcPts val="0"/>
              </a:spcAft>
            </a:pPr>
            <a:r>
              <a:rPr sz="1125" b="0" lang="ar-EG">
                <a:solidFill>
                  <a:srgbClr val="69635C"/>
                </a:solidFill>
                <a:latin typeface="Manrope"/>
                <a:cs typeface="IBM Plex Sans Arabic Medium"/>
              </a:rPr>
              <a:t>تعاون مقترح · سجلات توضيحية</a:t>
            </a:r>
          </a:p>
        </p:txBody>
      </p:sp>
      <p:sp>
        <p:nvSpPr>
          <p:cNvPr id="9" name="TextBox 8"/>
          <p:cNvSpPr txBox="1"/>
          <p:nvPr/>
        </p:nvSpPr>
        <p:spPr>
          <a:xfrm>
            <a:off x="457200" y="6496050"/>
            <a:ext cx="828675" cy="20955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ar-EG">
                <a:solidFill>
                  <a:srgbClr val="69635C"/>
                </a:solidFill>
                <a:latin typeface="Manrope"/>
                <a:cs typeface="IBM Plex Sans Arabic Medium"/>
              </a:rPr>
              <a:t>04 / 09</a:t>
            </a:r>
          </a:p>
        </p:txBody>
      </p:sp>
      <p:sp>
        <p:nvSpPr>
          <p:cNvPr id="10" name="Rounded Rectangle 9"/>
          <p:cNvSpPr/>
          <p:nvPr/>
        </p:nvSpPr>
        <p:spPr>
          <a:xfrm>
            <a:off x="9201150" y="3095625"/>
            <a:ext cx="2533650" cy="2676525"/>
          </a:xfrm>
          <a:prstGeom prst="roundRect">
            <a:avLst>
              <a:gd name="adj" fmla="val 6015"/>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9572625" y="3439762"/>
            <a:ext cx="1943100" cy="378526"/>
          </a:xfrm>
          <a:prstGeom prst="rect">
            <a:avLst/>
          </a:prstGeom>
          <a:effectLst/>
        </p:spPr>
      </p:pic>
      <p:sp>
        <p:nvSpPr>
          <p:cNvPr id="12" name="TextBox 11"/>
          <p:cNvSpPr txBox="1"/>
          <p:nvPr/>
        </p:nvSpPr>
        <p:spPr>
          <a:xfrm>
            <a:off x="9420225" y="4305300"/>
            <a:ext cx="2095500" cy="781050"/>
          </a:xfrm>
          <a:prstGeom prst="rect">
            <a:avLst/>
          </a:prstGeom>
          <a:noFill/>
          <a:effectLst/>
        </p:spPr>
        <p:txBody>
          <a:bodyPr wrap="square" lIns="0" rIns="0" tIns="0" bIns="0" anchor="t">
            <a:spAutoFit/>
          </a:bodyPr>
          <a:lstStyle/>
          <a:p>
            <a:pPr algn="r" rtl="1">
              <a:lnSpc>
                <a:spcPts val="2940"/>
              </a:lnSpc>
              <a:spcBef>
                <a:spcPts val="0"/>
              </a:spcBef>
              <a:spcAft>
                <a:spcPts val="0"/>
              </a:spcAft>
            </a:pPr>
            <a:r>
              <a:rPr sz="2625" b="1" lang="ar-EG">
                <a:solidFill>
                  <a:srgbClr val="23201D"/>
                </a:solidFill>
                <a:latin typeface="Manrope"/>
                <a:cs typeface="IBM Plex Sans Arabic Medium"/>
              </a:rPr>
              <a:t>وصول المكالمة</a:t>
            </a:r>
          </a:p>
        </p:txBody>
      </p:sp>
      <p:sp>
        <p:nvSpPr>
          <p:cNvPr id="13" name="TextBox 12"/>
          <p:cNvSpPr txBox="1"/>
          <p:nvPr/>
        </p:nvSpPr>
        <p:spPr>
          <a:xfrm>
            <a:off x="9420225" y="5248275"/>
            <a:ext cx="2095500" cy="447675"/>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0" lang="ar-EG">
                <a:solidFill>
                  <a:srgbClr val="69635C"/>
                </a:solidFill>
                <a:latin typeface="Manrope"/>
                <a:cs typeface="IBM Plex Sans Arabic Medium"/>
              </a:rPr>
              <a:t>رقم المتصل</a:t>
            </a:r>
          </a:p>
        </p:txBody>
      </p:sp>
      <p:cxnSp>
        <p:nvCxnSpPr>
          <p:cNvPr id="14" name="Connector 13"/>
          <p:cNvCxnSpPr/>
          <p:nvPr/>
        </p:nvCxnSpPr>
        <p:spPr>
          <a:xfrm flipH="1">
            <a:off x="8915400" y="4524375"/>
            <a:ext cx="20002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6286500" y="3095625"/>
            <a:ext cx="2533650" cy="2676525"/>
          </a:xfrm>
          <a:prstGeom prst="roundRect">
            <a:avLst>
              <a:gd name="adj" fmla="val 6015"/>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brand.png"/>
          <p:cNvPicPr>
            <a:picLocks noChangeAspect="1"/>
          </p:cNvPicPr>
          <p:nvPr/>
        </p:nvPicPr>
        <p:blipFill>
          <a:blip r:embed="rId2"/>
          <a:stretch>
            <a:fillRect/>
          </a:stretch>
        </p:blipFill>
        <p:spPr>
          <a:xfrm>
            <a:off x="7696200" y="3336925"/>
            <a:ext cx="904875" cy="603250"/>
          </a:xfrm>
          <a:prstGeom prst="rect">
            <a:avLst/>
          </a:prstGeom>
          <a:effectLst/>
        </p:spPr>
      </p:pic>
      <p:sp>
        <p:nvSpPr>
          <p:cNvPr id="17" name="TextBox 16"/>
          <p:cNvSpPr txBox="1"/>
          <p:nvPr/>
        </p:nvSpPr>
        <p:spPr>
          <a:xfrm>
            <a:off x="6505575" y="4305300"/>
            <a:ext cx="2095500" cy="781050"/>
          </a:xfrm>
          <a:prstGeom prst="rect">
            <a:avLst/>
          </a:prstGeom>
          <a:noFill/>
          <a:effectLst/>
        </p:spPr>
        <p:txBody>
          <a:bodyPr wrap="square" lIns="0" rIns="0" tIns="0" bIns="0" anchor="t">
            <a:spAutoFit/>
          </a:bodyPr>
          <a:lstStyle/>
          <a:p>
            <a:pPr algn="r" rtl="0">
              <a:lnSpc>
                <a:spcPts val="2940"/>
              </a:lnSpc>
              <a:spcBef>
                <a:spcPts val="0"/>
              </a:spcBef>
              <a:spcAft>
                <a:spcPts val="0"/>
              </a:spcAft>
            </a:pPr>
            <a:r>
              <a:rPr sz="2625" b="1" lang="ar-EG">
                <a:solidFill>
                  <a:srgbClr val="23201D"/>
                </a:solidFill>
                <a:latin typeface="Manrope"/>
                <a:cs typeface="IBM Plex Sans Arabic Medium"/>
              </a:rPr>
              <a:t>GRINDCTRL</a:t>
            </a:r>
          </a:p>
        </p:txBody>
      </p:sp>
      <p:sp>
        <p:nvSpPr>
          <p:cNvPr id="18" name="TextBox 17"/>
          <p:cNvSpPr txBox="1"/>
          <p:nvPr/>
        </p:nvSpPr>
        <p:spPr>
          <a:xfrm>
            <a:off x="6505575" y="5248275"/>
            <a:ext cx="2095500" cy="447675"/>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0" lang="ar-EG">
                <a:solidFill>
                  <a:srgbClr val="69635C"/>
                </a:solidFill>
                <a:latin typeface="Manrope"/>
                <a:cs typeface="IBM Plex Sans Arabic Medium"/>
              </a:rPr>
              <a:t>ربط المعلومات</a:t>
            </a:r>
          </a:p>
        </p:txBody>
      </p:sp>
      <p:cxnSp>
        <p:nvCxnSpPr>
          <p:cNvPr id="19" name="Connector 18"/>
          <p:cNvCxnSpPr/>
          <p:nvPr/>
        </p:nvCxnSpPr>
        <p:spPr>
          <a:xfrm flipH="1">
            <a:off x="6000750" y="4524375"/>
            <a:ext cx="20002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3371850" y="3095625"/>
            <a:ext cx="2533650" cy="2676525"/>
          </a:xfrm>
          <a:prstGeom prst="roundRect">
            <a:avLst>
              <a:gd name="adj" fmla="val 6015"/>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1" name="Picture 20" descr="zoho.png"/>
          <p:cNvPicPr>
            <a:picLocks noChangeAspect="1"/>
          </p:cNvPicPr>
          <p:nvPr/>
        </p:nvPicPr>
        <p:blipFill>
          <a:blip r:embed="rId4"/>
          <a:stretch>
            <a:fillRect/>
          </a:stretch>
        </p:blipFill>
        <p:spPr>
          <a:xfrm>
            <a:off x="4540048" y="3400425"/>
            <a:ext cx="1064029" cy="457200"/>
          </a:xfrm>
          <a:prstGeom prst="rect">
            <a:avLst/>
          </a:prstGeom>
          <a:effectLst/>
        </p:spPr>
      </p:pic>
      <p:sp>
        <p:nvSpPr>
          <p:cNvPr id="22" name="TextBox 21"/>
          <p:cNvSpPr txBox="1"/>
          <p:nvPr/>
        </p:nvSpPr>
        <p:spPr>
          <a:xfrm>
            <a:off x="3590925" y="4305300"/>
            <a:ext cx="2095500" cy="781050"/>
          </a:xfrm>
          <a:prstGeom prst="rect">
            <a:avLst/>
          </a:prstGeom>
          <a:noFill/>
          <a:effectLst/>
        </p:spPr>
        <p:txBody>
          <a:bodyPr wrap="square" lIns="0" rIns="0" tIns="0" bIns="0" anchor="t">
            <a:spAutoFit/>
          </a:bodyPr>
          <a:lstStyle/>
          <a:p>
            <a:pPr algn="r" rtl="1">
              <a:lnSpc>
                <a:spcPts val="2940"/>
              </a:lnSpc>
              <a:spcBef>
                <a:spcPts val="0"/>
              </a:spcBef>
              <a:spcAft>
                <a:spcPts val="0"/>
              </a:spcAft>
            </a:pPr>
            <a:r>
              <a:rPr sz="2625" b="1" lang="ar-EG">
                <a:solidFill>
                  <a:srgbClr val="23201D"/>
                </a:solidFill>
                <a:latin typeface="Manrope"/>
                <a:cs typeface="IBM Plex Sans Arabic Medium"/>
              </a:rPr>
              <a:t>Zoho Desk</a:t>
            </a:r>
          </a:p>
        </p:txBody>
      </p:sp>
      <p:sp>
        <p:nvSpPr>
          <p:cNvPr id="23" name="TextBox 22"/>
          <p:cNvSpPr txBox="1"/>
          <p:nvPr/>
        </p:nvSpPr>
        <p:spPr>
          <a:xfrm>
            <a:off x="3590925" y="5248275"/>
            <a:ext cx="2095500" cy="447675"/>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0" lang="ar-EG">
                <a:solidFill>
                  <a:srgbClr val="69635C"/>
                </a:solidFill>
                <a:latin typeface="Manrope"/>
                <a:cs typeface="IBM Plex Sans Arabic Medium"/>
              </a:rPr>
              <a:t>التذاكر الموجودة</a:t>
            </a:r>
          </a:p>
        </p:txBody>
      </p:sp>
      <p:cxnSp>
        <p:nvCxnSpPr>
          <p:cNvPr id="24" name="Connector 23"/>
          <p:cNvCxnSpPr/>
          <p:nvPr/>
        </p:nvCxnSpPr>
        <p:spPr>
          <a:xfrm flipH="1">
            <a:off x="3086100" y="4524375"/>
            <a:ext cx="20002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5" name="Rounded Rectangle 24"/>
          <p:cNvSpPr/>
          <p:nvPr/>
        </p:nvSpPr>
        <p:spPr>
          <a:xfrm>
            <a:off x="457200" y="3095625"/>
            <a:ext cx="2533650" cy="2676525"/>
          </a:xfrm>
          <a:prstGeom prst="roundRect">
            <a:avLst>
              <a:gd name="adj" fmla="val 6015"/>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2028825" y="3305175"/>
            <a:ext cx="742950" cy="742950"/>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actor.png"/>
          <p:cNvPicPr>
            <a:picLocks noChangeAspect="1"/>
          </p:cNvPicPr>
          <p:nvPr/>
        </p:nvPicPr>
        <p:blipFill>
          <a:blip r:embed="rId5"/>
          <a:stretch>
            <a:fillRect/>
          </a:stretch>
        </p:blipFill>
        <p:spPr>
          <a:xfrm>
            <a:off x="2171700" y="3448050"/>
            <a:ext cx="457200" cy="457200"/>
          </a:xfrm>
          <a:prstGeom prst="rect">
            <a:avLst/>
          </a:prstGeom>
          <a:effectLst/>
        </p:spPr>
      </p:pic>
      <p:sp>
        <p:nvSpPr>
          <p:cNvPr id="28" name="TextBox 27"/>
          <p:cNvSpPr txBox="1"/>
          <p:nvPr/>
        </p:nvSpPr>
        <p:spPr>
          <a:xfrm>
            <a:off x="676275" y="4305300"/>
            <a:ext cx="2095500" cy="781050"/>
          </a:xfrm>
          <a:prstGeom prst="rect">
            <a:avLst/>
          </a:prstGeom>
          <a:noFill/>
          <a:effectLst/>
        </p:spPr>
        <p:txBody>
          <a:bodyPr wrap="square" lIns="0" rIns="0" tIns="0" bIns="0" anchor="t">
            <a:spAutoFit/>
          </a:bodyPr>
          <a:lstStyle/>
          <a:p>
            <a:pPr algn="r" rtl="1">
              <a:lnSpc>
                <a:spcPts val="2940"/>
              </a:lnSpc>
              <a:spcBef>
                <a:spcPts val="0"/>
              </a:spcBef>
              <a:spcAft>
                <a:spcPts val="0"/>
              </a:spcAft>
            </a:pPr>
            <a:r>
              <a:rPr sz="2625" b="1" lang="ar-EG">
                <a:solidFill>
                  <a:srgbClr val="23201D"/>
                </a:solidFill>
                <a:latin typeface="Manrope"/>
                <a:cs typeface="IBM Plex Sans Arabic Medium"/>
              </a:rPr>
              <a:t>الموظف</a:t>
            </a:r>
          </a:p>
        </p:txBody>
      </p:sp>
      <p:sp>
        <p:nvSpPr>
          <p:cNvPr id="29" name="TextBox 28"/>
          <p:cNvSpPr txBox="1"/>
          <p:nvPr/>
        </p:nvSpPr>
        <p:spPr>
          <a:xfrm>
            <a:off x="676275" y="5248275"/>
            <a:ext cx="2095500" cy="447675"/>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0" lang="ar-EG">
                <a:solidFill>
                  <a:srgbClr val="69635C"/>
                </a:solidFill>
                <a:latin typeface="Manrope"/>
                <a:cs typeface="IBM Plex Sans Arabic Medium"/>
              </a:rPr>
              <a:t>التذاكر مع المكالمة</a:t>
            </a:r>
          </a:p>
        </p:txBody>
      </p:sp>
      <p:sp>
        <p:nvSpPr>
          <p:cNvPr id="30" name="TextBox 29"/>
          <p:cNvSpPr txBox="1"/>
          <p:nvPr/>
        </p:nvSpPr>
        <p:spPr>
          <a:xfrm>
            <a:off x="457200" y="5895975"/>
            <a:ext cx="11277600" cy="400050"/>
          </a:xfrm>
          <a:prstGeom prst="rect">
            <a:avLst/>
          </a:prstGeom>
          <a:noFill/>
          <a:effectLst/>
        </p:spPr>
        <p:txBody>
          <a:bodyPr wrap="square" lIns="0" rIns="0" tIns="0" bIns="0" anchor="t">
            <a:spAutoFit/>
          </a:bodyPr>
          <a:lstStyle/>
          <a:p>
            <a:pPr algn="r" rtl="1">
              <a:lnSpc>
                <a:spcPts val="2604"/>
              </a:lnSpc>
              <a:spcBef>
                <a:spcPts val="0"/>
              </a:spcBef>
              <a:spcAft>
                <a:spcPts val="0"/>
              </a:spcAft>
            </a:pPr>
            <a:r>
              <a:rPr sz="2325" b="1" lang="ar-EG">
                <a:solidFill>
                  <a:srgbClr val="BA4C24"/>
                </a:solidFill>
                <a:latin typeface="Manrope"/>
                <a:cs typeface="IBM Plex Sans Arabic Medium"/>
              </a:rPr>
              <a:t>نبدأ بالـpop-up المذكور بالفعل في العقد.</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0"/>
                                  </p:tgtEl>
                                  <p:attrNameLst>
                                    <p:attrName>style.visibility</p:attrName>
                                  </p:attrNameLst>
                                </p:cBhvr>
                                <p:to>
                                  <p:strVal val="visible"/>
                                </p:to>
                              </p:set>
                              <p:animEffect transition="in" filter="fade">
                                <p:cBhvr>
                                  <p:cTn id="6" dur="550"/>
                                  <p:tgtEl>
                                    <p:spTgt spid="10"/>
                                  </p:tgtEl>
                                </p:cBhvr>
                              </p:animEffect>
                            </p:childTnLst>
                          </p:cTn>
                        </p:par>
                        <p:par>
                          <p:cTn id="7" presetID="10" presetClass="entr" presetSubtype="0" fill="hold" nodeType="withEffect">
                            <p:stCondLst>
                              <p:cond delay="0"/>
                            </p:stCondLst>
                            <p:childTnLst>
                              <p:set>
                                <p:cBhvr>
                                  <p:cTn id="8" dur="1" fill="hold"/>
                                  <p:tgtEl>
                                    <p:spTgt spid="11"/>
                                  </p:tgtEl>
                                  <p:attrNameLst>
                                    <p:attrName>style.visibility</p:attrName>
                                  </p:attrNameLst>
                                </p:cBhvr>
                                <p:to>
                                  <p:strVal val="visible"/>
                                </p:to>
                              </p:set>
                              <p:animEffect transition="in" filter="fade">
                                <p:cBhvr>
                                  <p:cTn id="9" dur="550"/>
                                  <p:tgtEl>
                                    <p:spTgt spid="11"/>
                                  </p:tgtEl>
                                </p:cBhvr>
                              </p:animEffect>
                            </p:childTnLst>
                          </p:cTn>
                        </p:par>
                        <p:par>
                          <p:cTn id="10" presetID="10" presetClass="entr" presetSubtype="0" fill="hold" nodeType="withEffect">
                            <p:stCondLst>
                              <p:cond delay="0"/>
                            </p:stCondLst>
                            <p:childTnLst>
                              <p:set>
                                <p:cBhvr>
                                  <p:cTn id="11" dur="1" fill="hold"/>
                                  <p:tgtEl>
                                    <p:spTgt spid="12"/>
                                  </p:tgtEl>
                                  <p:attrNameLst>
                                    <p:attrName>style.visibility</p:attrName>
                                  </p:attrNameLst>
                                </p:cBhvr>
                                <p:to>
                                  <p:strVal val="visible"/>
                                </p:to>
                              </p:set>
                              <p:animEffect transition="in" filter="fade">
                                <p:cBhvr>
                                  <p:cTn id="12" dur="550"/>
                                  <p:tgtEl>
                                    <p:spTgt spid="12"/>
                                  </p:tgtEl>
                                </p:cBhvr>
                              </p:animEffect>
                            </p:childTnLst>
                          </p:cTn>
                        </p:par>
                        <p:par>
                          <p:cTn id="13" presetID="10" presetClass="entr" presetSubtype="0" fill="hold" nodeType="withEffect">
                            <p:stCondLst>
                              <p:cond delay="0"/>
                            </p:stCondLst>
                            <p:childTnLst>
                              <p:set>
                                <p:cBhvr>
                                  <p:cTn id="14" dur="1" fill="hold"/>
                                  <p:tgtEl>
                                    <p:spTgt spid="13"/>
                                  </p:tgtEl>
                                  <p:attrNameLst>
                                    <p:attrName>style.visibility</p:attrName>
                                  </p:attrNameLst>
                                </p:cBhvr>
                                <p:to>
                                  <p:strVal val="visible"/>
                                </p:to>
                              </p:set>
                              <p:animEffect transition="in" filter="fade">
                                <p:cBhvr>
                                  <p:cTn id="15" dur="550"/>
                                  <p:tgtEl>
                                    <p:spTgt spid="13"/>
                                  </p:tgtEl>
                                </p:cBhvr>
                              </p:animEffect>
                            </p:childTnLst>
                          </p:cTn>
                        </p:par>
                        <p:par>
                          <p:cTn id="16" presetID="10" presetClass="entr" presetSubtype="0" fill="hold" nodeType="withEffect">
                            <p:stCondLst>
                              <p:cond delay="1250"/>
                            </p:stCondLst>
                            <p:childTnLst>
                              <p:set>
                                <p:cBhvr>
                                  <p:cTn id="17" dur="1" fill="hold"/>
                                  <p:tgtEl>
                                    <p:spTgt spid="14"/>
                                  </p:tgtEl>
                                  <p:attrNameLst>
                                    <p:attrName>style.visibility</p:attrName>
                                  </p:attrNameLst>
                                </p:cBhvr>
                                <p:to>
                                  <p:strVal val="visible"/>
                                </p:to>
                              </p:set>
                              <p:animEffect transition="in" filter="fade">
                                <p:cBhvr>
                                  <p:cTn id="18" dur="550"/>
                                  <p:tgtEl>
                                    <p:spTgt spid="14"/>
                                  </p:tgtEl>
                                </p:cBhvr>
                              </p:animEffect>
                            </p:childTnLst>
                          </p:cTn>
                        </p:par>
                        <p:par>
                          <p:cTn id="19" presetID="10" presetClass="entr" presetSubtype="0" fill="hold" nodeType="withEffect">
                            <p:stCondLst>
                              <p:cond delay="1250"/>
                            </p:stCondLst>
                            <p:childTnLst>
                              <p:set>
                                <p:cBhvr>
                                  <p:cTn id="20" dur="1" fill="hold"/>
                                  <p:tgtEl>
                                    <p:spTgt spid="15"/>
                                  </p:tgtEl>
                                  <p:attrNameLst>
                                    <p:attrName>style.visibility</p:attrName>
                                  </p:attrNameLst>
                                </p:cBhvr>
                                <p:to>
                                  <p:strVal val="visible"/>
                                </p:to>
                              </p:set>
                              <p:animEffect transition="in" filter="fade">
                                <p:cBhvr>
                                  <p:cTn id="21" dur="550"/>
                                  <p:tgtEl>
                                    <p:spTgt spid="15"/>
                                  </p:tgtEl>
                                </p:cBhvr>
                              </p:animEffect>
                            </p:childTnLst>
                          </p:cTn>
                        </p:par>
                        <p:par>
                          <p:cTn id="22" presetID="10" presetClass="entr" presetSubtype="0" fill="hold" nodeType="withEffect">
                            <p:stCondLst>
                              <p:cond delay="1250"/>
                            </p:stCondLst>
                            <p:childTnLst>
                              <p:set>
                                <p:cBhvr>
                                  <p:cTn id="23" dur="1" fill="hold"/>
                                  <p:tgtEl>
                                    <p:spTgt spid="16"/>
                                  </p:tgtEl>
                                  <p:attrNameLst>
                                    <p:attrName>style.visibility</p:attrName>
                                  </p:attrNameLst>
                                </p:cBhvr>
                                <p:to>
                                  <p:strVal val="visible"/>
                                </p:to>
                              </p:set>
                              <p:animEffect transition="in" filter="fade">
                                <p:cBhvr>
                                  <p:cTn id="24" dur="550"/>
                                  <p:tgtEl>
                                    <p:spTgt spid="16"/>
                                  </p:tgtEl>
                                </p:cBhvr>
                              </p:animEffect>
                            </p:childTnLst>
                          </p:cTn>
                        </p:par>
                        <p:par>
                          <p:cTn id="25" presetID="10" presetClass="entr" presetSubtype="0" fill="hold" nodeType="withEffect">
                            <p:stCondLst>
                              <p:cond delay="1250"/>
                            </p:stCondLst>
                            <p:childTnLst>
                              <p:set>
                                <p:cBhvr>
                                  <p:cTn id="26" dur="1" fill="hold"/>
                                  <p:tgtEl>
                                    <p:spTgt spid="17"/>
                                  </p:tgtEl>
                                  <p:attrNameLst>
                                    <p:attrName>style.visibility</p:attrName>
                                  </p:attrNameLst>
                                </p:cBhvr>
                                <p:to>
                                  <p:strVal val="visible"/>
                                </p:to>
                              </p:set>
                              <p:animEffect transition="in" filter="fade">
                                <p:cBhvr>
                                  <p:cTn id="27" dur="550"/>
                                  <p:tgtEl>
                                    <p:spTgt spid="17"/>
                                  </p:tgtEl>
                                </p:cBhvr>
                              </p:animEffect>
                            </p:childTnLst>
                          </p:cTn>
                        </p:par>
                        <p:par>
                          <p:cTn id="28" presetID="10" presetClass="entr" presetSubtype="0" fill="hold" nodeType="withEffect">
                            <p:stCondLst>
                              <p:cond delay="1250"/>
                            </p:stCondLst>
                            <p:childTnLst>
                              <p:set>
                                <p:cBhvr>
                                  <p:cTn id="29" dur="1" fill="hold"/>
                                  <p:tgtEl>
                                    <p:spTgt spid="18"/>
                                  </p:tgtEl>
                                  <p:attrNameLst>
                                    <p:attrName>style.visibility</p:attrName>
                                  </p:attrNameLst>
                                </p:cBhvr>
                                <p:to>
                                  <p:strVal val="visible"/>
                                </p:to>
                              </p:set>
                              <p:animEffect transition="in" filter="fade">
                                <p:cBhvr>
                                  <p:cTn id="30" dur="550"/>
                                  <p:tgtEl>
                                    <p:spTgt spid="18"/>
                                  </p:tgtEl>
                                </p:cBhvr>
                              </p:animEffect>
                            </p:childTnLst>
                          </p:cTn>
                        </p:par>
                        <p:par>
                          <p:cTn id="31" presetID="10" presetClass="entr" presetSubtype="0" fill="hold" nodeType="withEffect">
                            <p:stCondLst>
                              <p:cond delay="2500"/>
                            </p:stCondLst>
                            <p:childTnLst>
                              <p:set>
                                <p:cBhvr>
                                  <p:cTn id="32" dur="1" fill="hold"/>
                                  <p:tgtEl>
                                    <p:spTgt spid="19"/>
                                  </p:tgtEl>
                                  <p:attrNameLst>
                                    <p:attrName>style.visibility</p:attrName>
                                  </p:attrNameLst>
                                </p:cBhvr>
                                <p:to>
                                  <p:strVal val="visible"/>
                                </p:to>
                              </p:set>
                              <p:animEffect transition="in" filter="fade">
                                <p:cBhvr>
                                  <p:cTn id="33" dur="550"/>
                                  <p:tgtEl>
                                    <p:spTgt spid="19"/>
                                  </p:tgtEl>
                                </p:cBhvr>
                              </p:animEffect>
                            </p:childTnLst>
                          </p:cTn>
                        </p:par>
                        <p:par>
                          <p:cTn id="34" presetID="10" presetClass="entr" presetSubtype="0" fill="hold" nodeType="withEffect">
                            <p:stCondLst>
                              <p:cond delay="2500"/>
                            </p:stCondLst>
                            <p:childTnLst>
                              <p:set>
                                <p:cBhvr>
                                  <p:cTn id="35" dur="1" fill="hold"/>
                                  <p:tgtEl>
                                    <p:spTgt spid="20"/>
                                  </p:tgtEl>
                                  <p:attrNameLst>
                                    <p:attrName>style.visibility</p:attrName>
                                  </p:attrNameLst>
                                </p:cBhvr>
                                <p:to>
                                  <p:strVal val="visible"/>
                                </p:to>
                              </p:set>
                              <p:animEffect transition="in" filter="fade">
                                <p:cBhvr>
                                  <p:cTn id="36" dur="550"/>
                                  <p:tgtEl>
                                    <p:spTgt spid="20"/>
                                  </p:tgtEl>
                                </p:cBhvr>
                              </p:animEffect>
                            </p:childTnLst>
                          </p:cTn>
                        </p:par>
                        <p:par>
                          <p:cTn id="37" presetID="10" presetClass="entr" presetSubtype="0" fill="hold" nodeType="withEffect">
                            <p:stCondLst>
                              <p:cond delay="2500"/>
                            </p:stCondLst>
                            <p:childTnLst>
                              <p:set>
                                <p:cBhvr>
                                  <p:cTn id="38" dur="1" fill="hold"/>
                                  <p:tgtEl>
                                    <p:spTgt spid="21"/>
                                  </p:tgtEl>
                                  <p:attrNameLst>
                                    <p:attrName>style.visibility</p:attrName>
                                  </p:attrNameLst>
                                </p:cBhvr>
                                <p:to>
                                  <p:strVal val="visible"/>
                                </p:to>
                              </p:set>
                              <p:animEffect transition="in" filter="fade">
                                <p:cBhvr>
                                  <p:cTn id="39" dur="550"/>
                                  <p:tgtEl>
                                    <p:spTgt spid="21"/>
                                  </p:tgtEl>
                                </p:cBhvr>
                              </p:animEffect>
                            </p:childTnLst>
                          </p:cTn>
                        </p:par>
                        <p:par>
                          <p:cTn id="40" presetID="10" presetClass="entr" presetSubtype="0" fill="hold" nodeType="withEffect">
                            <p:stCondLst>
                              <p:cond delay="2500"/>
                            </p:stCondLst>
                            <p:childTnLst>
                              <p:set>
                                <p:cBhvr>
                                  <p:cTn id="41" dur="1" fill="hold"/>
                                  <p:tgtEl>
                                    <p:spTgt spid="22"/>
                                  </p:tgtEl>
                                  <p:attrNameLst>
                                    <p:attrName>style.visibility</p:attrName>
                                  </p:attrNameLst>
                                </p:cBhvr>
                                <p:to>
                                  <p:strVal val="visible"/>
                                </p:to>
                              </p:set>
                              <p:animEffect transition="in" filter="fade">
                                <p:cBhvr>
                                  <p:cTn id="42" dur="550"/>
                                  <p:tgtEl>
                                    <p:spTgt spid="22"/>
                                  </p:tgtEl>
                                </p:cBhvr>
                              </p:animEffect>
                            </p:childTnLst>
                          </p:cTn>
                        </p:par>
                        <p:par>
                          <p:cTn id="43" presetID="10" presetClass="entr" presetSubtype="0" fill="hold" nodeType="withEffect">
                            <p:stCondLst>
                              <p:cond delay="2500"/>
                            </p:stCondLst>
                            <p:childTnLst>
                              <p:set>
                                <p:cBhvr>
                                  <p:cTn id="44" dur="1" fill="hold"/>
                                  <p:tgtEl>
                                    <p:spTgt spid="23"/>
                                  </p:tgtEl>
                                  <p:attrNameLst>
                                    <p:attrName>style.visibility</p:attrName>
                                  </p:attrNameLst>
                                </p:cBhvr>
                                <p:to>
                                  <p:strVal val="visible"/>
                                </p:to>
                              </p:set>
                              <p:animEffect transition="in" filter="fade">
                                <p:cBhvr>
                                  <p:cTn id="45" dur="550"/>
                                  <p:tgtEl>
                                    <p:spTgt spid="23"/>
                                  </p:tgtEl>
                                </p:cBhvr>
                              </p:animEffect>
                            </p:childTnLst>
                          </p:cTn>
                        </p:par>
                        <p:par>
                          <p:cTn id="46" presetID="10" presetClass="entr" presetSubtype="0" fill="hold" nodeType="withEffect">
                            <p:stCondLst>
                              <p:cond delay="3750"/>
                            </p:stCondLst>
                            <p:childTnLst>
                              <p:set>
                                <p:cBhvr>
                                  <p:cTn id="47" dur="1" fill="hold"/>
                                  <p:tgtEl>
                                    <p:spTgt spid="24"/>
                                  </p:tgtEl>
                                  <p:attrNameLst>
                                    <p:attrName>style.visibility</p:attrName>
                                  </p:attrNameLst>
                                </p:cBhvr>
                                <p:to>
                                  <p:strVal val="visible"/>
                                </p:to>
                              </p:set>
                              <p:animEffect transition="in" filter="fade">
                                <p:cBhvr>
                                  <p:cTn id="48" dur="550"/>
                                  <p:tgtEl>
                                    <p:spTgt spid="24"/>
                                  </p:tgtEl>
                                </p:cBhvr>
                              </p:animEffect>
                            </p:childTnLst>
                          </p:cTn>
                        </p:par>
                        <p:par>
                          <p:cTn id="49" presetID="10" presetClass="entr" presetSubtype="0" fill="hold" nodeType="withEffect">
                            <p:stCondLst>
                              <p:cond delay="3750"/>
                            </p:stCondLst>
                            <p:childTnLst>
                              <p:set>
                                <p:cBhvr>
                                  <p:cTn id="50" dur="1" fill="hold"/>
                                  <p:tgtEl>
                                    <p:spTgt spid="25"/>
                                  </p:tgtEl>
                                  <p:attrNameLst>
                                    <p:attrName>style.visibility</p:attrName>
                                  </p:attrNameLst>
                                </p:cBhvr>
                                <p:to>
                                  <p:strVal val="visible"/>
                                </p:to>
                              </p:set>
                              <p:animEffect transition="in" filter="fade">
                                <p:cBhvr>
                                  <p:cTn id="51" dur="550"/>
                                  <p:tgtEl>
                                    <p:spTgt spid="25"/>
                                  </p:tgtEl>
                                </p:cBhvr>
                              </p:animEffect>
                            </p:childTnLst>
                          </p:cTn>
                        </p:par>
                        <p:par>
                          <p:cTn id="52" presetID="10" presetClass="entr" presetSubtype="0" fill="hold" nodeType="withEffect">
                            <p:stCondLst>
                              <p:cond delay="3750"/>
                            </p:stCondLst>
                            <p:childTnLst>
                              <p:set>
                                <p:cBhvr>
                                  <p:cTn id="53" dur="1" fill="hold"/>
                                  <p:tgtEl>
                                    <p:spTgt spid="26"/>
                                  </p:tgtEl>
                                  <p:attrNameLst>
                                    <p:attrName>style.visibility</p:attrName>
                                  </p:attrNameLst>
                                </p:cBhvr>
                                <p:to>
                                  <p:strVal val="visible"/>
                                </p:to>
                              </p:set>
                              <p:animEffect transition="in" filter="fade">
                                <p:cBhvr>
                                  <p:cTn id="54" dur="550"/>
                                  <p:tgtEl>
                                    <p:spTgt spid="26"/>
                                  </p:tgtEl>
                                </p:cBhvr>
                              </p:animEffect>
                            </p:childTnLst>
                          </p:cTn>
                        </p:par>
                        <p:par>
                          <p:cTn id="55" presetID="10" presetClass="entr" presetSubtype="0" fill="hold" nodeType="withEffect">
                            <p:stCondLst>
                              <p:cond delay="3750"/>
                            </p:stCondLst>
                            <p:childTnLst>
                              <p:set>
                                <p:cBhvr>
                                  <p:cTn id="56" dur="1" fill="hold"/>
                                  <p:tgtEl>
                                    <p:spTgt spid="27"/>
                                  </p:tgtEl>
                                  <p:attrNameLst>
                                    <p:attrName>style.visibility</p:attrName>
                                  </p:attrNameLst>
                                </p:cBhvr>
                                <p:to>
                                  <p:strVal val="visible"/>
                                </p:to>
                              </p:set>
                              <p:animEffect transition="in" filter="fade">
                                <p:cBhvr>
                                  <p:cTn id="57" dur="550"/>
                                  <p:tgtEl>
                                    <p:spTgt spid="27"/>
                                  </p:tgtEl>
                                </p:cBhvr>
                              </p:animEffect>
                            </p:childTnLst>
                          </p:cTn>
                        </p:par>
                        <p:par>
                          <p:cTn id="58" presetID="10" presetClass="entr" presetSubtype="0" fill="hold" nodeType="withEffect">
                            <p:stCondLst>
                              <p:cond delay="3750"/>
                            </p:stCondLst>
                            <p:childTnLst>
                              <p:set>
                                <p:cBhvr>
                                  <p:cTn id="59" dur="1" fill="hold"/>
                                  <p:tgtEl>
                                    <p:spTgt spid="28"/>
                                  </p:tgtEl>
                                  <p:attrNameLst>
                                    <p:attrName>style.visibility</p:attrName>
                                  </p:attrNameLst>
                                </p:cBhvr>
                                <p:to>
                                  <p:strVal val="visible"/>
                                </p:to>
                              </p:set>
                              <p:animEffect transition="in" filter="fade">
                                <p:cBhvr>
                                  <p:cTn id="60" dur="550"/>
                                  <p:tgtEl>
                                    <p:spTgt spid="28"/>
                                  </p:tgtEl>
                                </p:cBhvr>
                              </p:animEffect>
                            </p:childTnLst>
                          </p:cTn>
                        </p:par>
                        <p:par>
                          <p:cTn id="61" presetID="10" presetClass="entr" presetSubtype="0" fill="hold" nodeType="withEffect">
                            <p:stCondLst>
                              <p:cond delay="3750"/>
                            </p:stCondLst>
                            <p:childTnLst>
                              <p:set>
                                <p:cBhvr>
                                  <p:cTn id="62" dur="1" fill="hold"/>
                                  <p:tgtEl>
                                    <p:spTgt spid="29"/>
                                  </p:tgtEl>
                                  <p:attrNameLst>
                                    <p:attrName>style.visibility</p:attrName>
                                  </p:attrNameLst>
                                </p:cBhvr>
                                <p:to>
                                  <p:strVal val="visible"/>
                                </p:to>
                              </p:set>
                              <p:animEffect transition="in" filter="fade">
                                <p:cBhvr>
                                  <p:cTn id="63" dur="55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3162300" y="266700"/>
            <a:ext cx="8572500" cy="2667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1" lang="ar-EG">
                <a:solidFill>
                  <a:srgbClr val="69635C"/>
                </a:solidFill>
                <a:latin typeface="Manrope"/>
                <a:cs typeface="IBM Plex Sans Arabic Medium"/>
              </a:rPr>
              <a:t>٠٤ · تجربة الموظف</a:t>
            </a:r>
          </a:p>
        </p:txBody>
      </p:sp>
      <p:pic>
        <p:nvPicPr>
          <p:cNvPr id="3" name="Picture 2" descr="brand.png"/>
          <p:cNvPicPr>
            <a:picLocks noChangeAspect="1"/>
          </p:cNvPicPr>
          <p:nvPr/>
        </p:nvPicPr>
        <p:blipFill>
          <a:blip r:embed="rId2"/>
          <a:stretch>
            <a:fillRect/>
          </a:stretch>
        </p:blipFill>
        <p:spPr>
          <a:xfrm>
            <a:off x="1781175" y="220662"/>
            <a:ext cx="495300" cy="330200"/>
          </a:xfrm>
          <a:prstGeom prst="rect">
            <a:avLst/>
          </a:prstGeom>
          <a:effectLst/>
        </p:spPr>
      </p:pic>
      <p:sp>
        <p:nvSpPr>
          <p:cNvPr id="4" name="TextBox 3"/>
          <p:cNvSpPr txBox="1"/>
          <p:nvPr/>
        </p:nvSpPr>
        <p:spPr>
          <a:xfrm>
            <a:off x="457200" y="266700"/>
            <a:ext cx="1219200" cy="276225"/>
          </a:xfrm>
          <a:prstGeom prst="rect">
            <a:avLst/>
          </a:prstGeom>
          <a:noFill/>
          <a:effectLst/>
        </p:spPr>
        <p:txBody>
          <a:bodyPr wrap="square" lIns="0" rIns="0" tIns="0" bIns="0" anchor="t">
            <a:spAutoFit/>
          </a:bodyPr>
          <a:lstStyle/>
          <a:p>
            <a:pPr algn="r" rtl="0">
              <a:lnSpc>
                <a:spcPts val="1596"/>
              </a:lnSpc>
              <a:spcBef>
                <a:spcPts val="0"/>
              </a:spcBef>
              <a:spcAft>
                <a:spcPts val="0"/>
              </a:spcAft>
            </a:pPr>
            <a:r>
              <a:rPr sz="1425" b="1" lang="ar-EG">
                <a:solidFill>
                  <a:srgbClr val="23201D"/>
                </a:solidFill>
                <a:latin typeface="Manrope"/>
                <a:cs typeface="IBM Plex Sans Arabic Medium"/>
              </a:rPr>
              <a:t>GRINDCTRL</a:t>
            </a:r>
          </a:p>
        </p:txBody>
      </p:sp>
      <p:sp>
        <p:nvSpPr>
          <p:cNvPr id="5" name="TextBox 4"/>
          <p:cNvSpPr txBox="1"/>
          <p:nvPr/>
        </p:nvSpPr>
        <p:spPr>
          <a:xfrm>
            <a:off x="457200" y="819150"/>
            <a:ext cx="11277600" cy="1562100"/>
          </a:xfrm>
          <a:prstGeom prst="rect">
            <a:avLst/>
          </a:prstGeom>
          <a:noFill/>
          <a:effectLst/>
        </p:spPr>
        <p:txBody>
          <a:bodyPr wrap="square" lIns="0" rIns="0" tIns="0" bIns="0" anchor="t">
            <a:spAutoFit/>
          </a:bodyPr>
          <a:lstStyle/>
          <a:p>
            <a:pPr algn="r" rtl="1">
              <a:lnSpc>
                <a:spcPts val="5376"/>
              </a:lnSpc>
              <a:spcBef>
                <a:spcPts val="0"/>
              </a:spcBef>
              <a:spcAft>
                <a:spcPts val="0"/>
              </a:spcAft>
            </a:pPr>
            <a:r>
              <a:rPr sz="4800" b="1" lang="ar-EG">
                <a:solidFill>
                  <a:srgbClr val="23201D"/>
                </a:solidFill>
                <a:latin typeface="Manrope"/>
                <a:cs typeface="IBM Plex Sans Arabic Medium"/>
              </a:rPr>
              <a:t>يشوف التذاكر.</a:t>
            </a:r>
          </a:p>
          <a:p>
            <a:pPr algn="r" rtl="1">
              <a:lnSpc>
                <a:spcPts val="5376"/>
              </a:lnSpc>
              <a:spcBef>
                <a:spcPts val="0"/>
              </a:spcBef>
              <a:spcAft>
                <a:spcPts val="0"/>
              </a:spcAft>
            </a:pPr>
            <a:r>
              <a:rPr sz="4800" b="1" lang="ar-EG">
                <a:solidFill>
                  <a:srgbClr val="23201D"/>
                </a:solidFill>
                <a:latin typeface="Manrope"/>
                <a:cs typeface="IBM Plex Sans Arabic Medium"/>
              </a:rPr>
              <a:t>ويكمل من آخر تحديث.</a:t>
            </a:r>
          </a:p>
        </p:txBody>
      </p:sp>
      <p:sp>
        <p:nvSpPr>
          <p:cNvPr id="6" name="TextBox 5"/>
          <p:cNvSpPr txBox="1"/>
          <p:nvPr/>
        </p:nvSpPr>
        <p:spPr>
          <a:xfrm>
            <a:off x="457200" y="2419350"/>
            <a:ext cx="11277600" cy="457200"/>
          </a:xfrm>
          <a:prstGeom prst="rect">
            <a:avLst/>
          </a:prstGeom>
          <a:noFill/>
          <a:effectLst/>
        </p:spPr>
        <p:txBody>
          <a:bodyPr wrap="square" lIns="0" rIns="0" tIns="0" bIns="0" anchor="t">
            <a:spAutoFit/>
          </a:bodyPr>
          <a:lstStyle/>
          <a:p>
            <a:pPr algn="r" rtl="1">
              <a:lnSpc>
                <a:spcPts val="2688"/>
              </a:lnSpc>
              <a:spcBef>
                <a:spcPts val="0"/>
              </a:spcBef>
              <a:spcAft>
                <a:spcPts val="0"/>
              </a:spcAft>
            </a:pPr>
            <a:r>
              <a:rPr sz="2400" b="0" lang="ar-EG">
                <a:solidFill>
                  <a:srgbClr val="69635C"/>
                </a:solidFill>
                <a:latin typeface="Manrope"/>
                <a:cs typeface="IBM Plex Sans Arabic Medium"/>
              </a:rPr>
              <a:t>بيانات العميل. التذاكر السابقة. آخر ملاحظة مسجلة.</a:t>
            </a:r>
          </a:p>
        </p:txBody>
      </p:sp>
      <p:cxnSp>
        <p:nvCxnSpPr>
          <p:cNvPr id="7" name="Connector 6"/>
          <p:cNvCxnSpPr/>
          <p:nvPr/>
        </p:nvCxnSpPr>
        <p:spPr>
          <a:xfrm flipH="1">
            <a:off x="457200" y="6334125"/>
            <a:ext cx="11277600" cy="0"/>
          </a:xfrm>
          <a:prstGeom prst="line">
            <a:avLst/>
          </a:prstGeom>
          <a:ln w="9525">
            <a:solidFill>
              <a:srgbClr val="D5CFC6"/>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1447800" y="6496050"/>
            <a:ext cx="10287000" cy="209550"/>
          </a:xfrm>
          <a:prstGeom prst="rect">
            <a:avLst/>
          </a:prstGeom>
          <a:noFill/>
          <a:effectLst/>
        </p:spPr>
        <p:txBody>
          <a:bodyPr wrap="square" lIns="0" rIns="0" tIns="0" bIns="0" anchor="t">
            <a:spAutoFit/>
          </a:bodyPr>
          <a:lstStyle/>
          <a:p>
            <a:pPr algn="r" rtl="1">
              <a:lnSpc>
                <a:spcPts val="1260"/>
              </a:lnSpc>
              <a:spcBef>
                <a:spcPts val="0"/>
              </a:spcBef>
              <a:spcAft>
                <a:spcPts val="0"/>
              </a:spcAft>
            </a:pPr>
            <a:r>
              <a:rPr sz="1125" b="0" lang="ar-EG">
                <a:solidFill>
                  <a:srgbClr val="69635C"/>
                </a:solidFill>
                <a:latin typeface="Manrope"/>
                <a:cs typeface="IBM Plex Sans Arabic Medium"/>
              </a:rPr>
              <a:t>تعاون مقترح · سجلات توضيحية</a:t>
            </a:r>
          </a:p>
        </p:txBody>
      </p:sp>
      <p:sp>
        <p:nvSpPr>
          <p:cNvPr id="9" name="TextBox 8"/>
          <p:cNvSpPr txBox="1"/>
          <p:nvPr/>
        </p:nvSpPr>
        <p:spPr>
          <a:xfrm>
            <a:off x="457200" y="6496050"/>
            <a:ext cx="828675" cy="20955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ar-EG">
                <a:solidFill>
                  <a:srgbClr val="69635C"/>
                </a:solidFill>
                <a:latin typeface="Manrope"/>
                <a:cs typeface="IBM Plex Sans Arabic Medium"/>
              </a:rPr>
              <a:t>05 / 09</a:t>
            </a:r>
          </a:p>
        </p:txBody>
      </p:sp>
      <p:sp>
        <p:nvSpPr>
          <p:cNvPr id="10" name="Rounded Rectangle 9"/>
          <p:cNvSpPr/>
          <p:nvPr/>
        </p:nvSpPr>
        <p:spPr>
          <a:xfrm>
            <a:off x="457200" y="3009900"/>
            <a:ext cx="11277600" cy="2981325"/>
          </a:xfrm>
          <a:prstGeom prst="roundRect">
            <a:avLst>
              <a:gd name="adj" fmla="val 5750"/>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9039225" y="3009900"/>
            <a:ext cx="2695575" cy="2981325"/>
          </a:xfrm>
          <a:prstGeom prst="roundRect">
            <a:avLst>
              <a:gd name="adj" fmla="val 6360"/>
            </a:avLst>
          </a:prstGeom>
          <a:solidFill>
            <a:srgbClr val="23201D"/>
          </a:solidFill>
          <a:ln w="9525">
            <a:solidFill>
              <a:srgbClr val="23201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genesys-white.png"/>
          <p:cNvPicPr>
            <a:picLocks noChangeAspect="1"/>
          </p:cNvPicPr>
          <p:nvPr/>
        </p:nvPicPr>
        <p:blipFill>
          <a:blip r:embed="rId3"/>
          <a:stretch>
            <a:fillRect/>
          </a:stretch>
        </p:blipFill>
        <p:spPr>
          <a:xfrm>
            <a:off x="9363075" y="3266024"/>
            <a:ext cx="2162175" cy="421203"/>
          </a:xfrm>
          <a:prstGeom prst="rect">
            <a:avLst/>
          </a:prstGeom>
          <a:effectLst/>
        </p:spPr>
      </p:pic>
      <p:sp>
        <p:nvSpPr>
          <p:cNvPr id="13" name="Oval 12"/>
          <p:cNvSpPr/>
          <p:nvPr/>
        </p:nvSpPr>
        <p:spPr>
          <a:xfrm>
            <a:off x="10877550" y="3914775"/>
            <a:ext cx="647700" cy="647700"/>
          </a:xfrm>
          <a:prstGeom prst="ellipse">
            <a:avLst/>
          </a:prstGeom>
          <a:solidFill>
            <a:srgbClr val="FCFAF6"/>
          </a:solidFill>
          <a:ln w="9525">
            <a:solidFill>
              <a:srgbClr val="FCFAF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4" name="Picture 13" descr="icon-call.png"/>
          <p:cNvPicPr>
            <a:picLocks noChangeAspect="1"/>
          </p:cNvPicPr>
          <p:nvPr/>
        </p:nvPicPr>
        <p:blipFill>
          <a:blip r:embed="rId4"/>
          <a:stretch>
            <a:fillRect/>
          </a:stretch>
        </p:blipFill>
        <p:spPr>
          <a:xfrm>
            <a:off x="11020425" y="4057650"/>
            <a:ext cx="361950" cy="361950"/>
          </a:xfrm>
          <a:prstGeom prst="rect">
            <a:avLst/>
          </a:prstGeom>
          <a:effectLst/>
        </p:spPr>
      </p:pic>
      <p:sp>
        <p:nvSpPr>
          <p:cNvPr id="15" name="TextBox 14"/>
          <p:cNvSpPr txBox="1"/>
          <p:nvPr/>
        </p:nvSpPr>
        <p:spPr>
          <a:xfrm>
            <a:off x="9277350" y="4048125"/>
            <a:ext cx="1447800" cy="428625"/>
          </a:xfrm>
          <a:prstGeom prst="rect">
            <a:avLst/>
          </a:prstGeom>
          <a:noFill/>
          <a:effectLst/>
        </p:spPr>
        <p:txBody>
          <a:bodyPr wrap="square" lIns="0" rIns="0" tIns="0" bIns="0" anchor="t">
            <a:spAutoFit/>
          </a:bodyPr>
          <a:lstStyle/>
          <a:p>
            <a:pPr algn="r" rtl="1">
              <a:lnSpc>
                <a:spcPts val="2604"/>
              </a:lnSpc>
              <a:spcBef>
                <a:spcPts val="0"/>
              </a:spcBef>
              <a:spcAft>
                <a:spcPts val="0"/>
              </a:spcAft>
            </a:pPr>
            <a:r>
              <a:rPr sz="2325" b="0" lang="ar-EG">
                <a:solidFill>
                  <a:srgbClr val="FCFAF6"/>
                </a:solidFill>
                <a:latin typeface="Manrope"/>
                <a:cs typeface="IBM Plex Sans Arabic Medium"/>
              </a:rPr>
              <a:t>في مكالمة</a:t>
            </a:r>
          </a:p>
        </p:txBody>
      </p:sp>
      <p:sp>
        <p:nvSpPr>
          <p:cNvPr id="16" name="TextBox 15"/>
          <p:cNvSpPr txBox="1"/>
          <p:nvPr/>
        </p:nvSpPr>
        <p:spPr>
          <a:xfrm>
            <a:off x="9267825" y="4724400"/>
            <a:ext cx="2257425" cy="466725"/>
          </a:xfrm>
          <a:prstGeom prst="rect">
            <a:avLst/>
          </a:prstGeom>
          <a:noFill/>
          <a:effectLst/>
        </p:spPr>
        <p:txBody>
          <a:bodyPr wrap="square" lIns="0" rIns="0" tIns="0" bIns="0" anchor="t">
            <a:spAutoFit/>
          </a:bodyPr>
          <a:lstStyle/>
          <a:p>
            <a:pPr algn="r" rtl="1">
              <a:lnSpc>
                <a:spcPts val="3192"/>
              </a:lnSpc>
              <a:spcBef>
                <a:spcPts val="0"/>
              </a:spcBef>
              <a:spcAft>
                <a:spcPts val="0"/>
              </a:spcAft>
            </a:pPr>
            <a:r>
              <a:rPr sz="2850" b="1" lang="ar-EG">
                <a:solidFill>
                  <a:srgbClr val="FCFAF6"/>
                </a:solidFill>
                <a:latin typeface="Manrope"/>
                <a:cs typeface="IBM Plex Sans Arabic Medium"/>
              </a:rPr>
              <a:t>العميل A</a:t>
            </a:r>
          </a:p>
        </p:txBody>
      </p:sp>
      <p:sp>
        <p:nvSpPr>
          <p:cNvPr id="17" name="TextBox 16"/>
          <p:cNvSpPr txBox="1"/>
          <p:nvPr/>
        </p:nvSpPr>
        <p:spPr>
          <a:xfrm>
            <a:off x="9267825" y="5295900"/>
            <a:ext cx="2257425" cy="419100"/>
          </a:xfrm>
          <a:prstGeom prst="rect">
            <a:avLst/>
          </a:prstGeom>
          <a:noFill/>
          <a:effectLst/>
        </p:spPr>
        <p:txBody>
          <a:bodyPr wrap="square" lIns="0" rIns="0" tIns="0" bIns="0" anchor="t">
            <a:spAutoFit/>
          </a:bodyPr>
          <a:lstStyle/>
          <a:p>
            <a:pPr algn="r" rtl="0">
              <a:lnSpc>
                <a:spcPts val="2688"/>
              </a:lnSpc>
              <a:spcBef>
                <a:spcPts val="0"/>
              </a:spcBef>
              <a:spcAft>
                <a:spcPts val="0"/>
              </a:spcAft>
            </a:pPr>
            <a:r>
              <a:rPr sz="2400" b="0" lang="ar-EG">
                <a:solidFill>
                  <a:srgbClr val="D5CFC6"/>
                </a:solidFill>
                <a:latin typeface="Manrope"/>
                <a:cs typeface="IBM Plex Sans Arabic Medium"/>
              </a:rPr>
              <a:t>+20 ••• 410</a:t>
            </a:r>
          </a:p>
        </p:txBody>
      </p:sp>
      <p:pic>
        <p:nvPicPr>
          <p:cNvPr id="18" name="Picture 17" descr="zoho.png"/>
          <p:cNvPicPr>
            <a:picLocks noChangeAspect="1"/>
          </p:cNvPicPr>
          <p:nvPr/>
        </p:nvPicPr>
        <p:blipFill>
          <a:blip r:embed="rId5"/>
          <a:stretch>
            <a:fillRect/>
          </a:stretch>
        </p:blipFill>
        <p:spPr>
          <a:xfrm>
            <a:off x="7586489" y="3209925"/>
            <a:ext cx="1086196" cy="466725"/>
          </a:xfrm>
          <a:prstGeom prst="rect">
            <a:avLst/>
          </a:prstGeom>
          <a:effectLst/>
        </p:spPr>
      </p:pic>
      <p:sp>
        <p:nvSpPr>
          <p:cNvPr id="19" name="TextBox 18"/>
          <p:cNvSpPr txBox="1"/>
          <p:nvPr/>
        </p:nvSpPr>
        <p:spPr>
          <a:xfrm>
            <a:off x="5419725" y="3305175"/>
            <a:ext cx="1809750" cy="447675"/>
          </a:xfrm>
          <a:prstGeom prst="rect">
            <a:avLst/>
          </a:prstGeom>
          <a:noFill/>
          <a:effectLst/>
        </p:spPr>
        <p:txBody>
          <a:bodyPr wrap="square" lIns="0" rIns="0" tIns="0" bIns="0" anchor="t">
            <a:spAutoFit/>
          </a:bodyPr>
          <a:lstStyle/>
          <a:p>
            <a:pPr algn="r" rtl="1">
              <a:lnSpc>
                <a:spcPts val="2520"/>
              </a:lnSpc>
              <a:spcBef>
                <a:spcPts val="0"/>
              </a:spcBef>
              <a:spcAft>
                <a:spcPts val="0"/>
              </a:spcAft>
            </a:pPr>
            <a:r>
              <a:rPr sz="2250" b="1" lang="ar-EG">
                <a:solidFill>
                  <a:srgbClr val="23201D"/>
                </a:solidFill>
                <a:latin typeface="Manrope"/>
                <a:cs typeface="IBM Plex Sans Arabic Medium"/>
              </a:rPr>
              <a:t>تذاكر Desk</a:t>
            </a:r>
          </a:p>
        </p:txBody>
      </p:sp>
      <p:sp>
        <p:nvSpPr>
          <p:cNvPr id="20" name="TextBox 19"/>
          <p:cNvSpPr txBox="1"/>
          <p:nvPr/>
        </p:nvSpPr>
        <p:spPr>
          <a:xfrm>
            <a:off x="5362575" y="3886200"/>
            <a:ext cx="3429000" cy="400050"/>
          </a:xfrm>
          <a:prstGeom prst="rect">
            <a:avLst/>
          </a:prstGeom>
          <a:noFill/>
          <a:effectLst/>
        </p:spPr>
        <p:txBody>
          <a:bodyPr wrap="square" lIns="0" rIns="0" tIns="0" bIns="0" anchor="t">
            <a:spAutoFit/>
          </a:bodyPr>
          <a:lstStyle/>
          <a:p>
            <a:pPr algn="r" rtl="1">
              <a:lnSpc>
                <a:spcPts val="2604"/>
              </a:lnSpc>
              <a:spcBef>
                <a:spcPts val="0"/>
              </a:spcBef>
              <a:spcAft>
                <a:spcPts val="0"/>
              </a:spcAft>
            </a:pPr>
            <a:r>
              <a:rPr sz="2325" b="0" lang="ar-EG">
                <a:solidFill>
                  <a:srgbClr val="69635C"/>
                </a:solidFill>
                <a:latin typeface="Manrope"/>
                <a:cs typeface="IBM Plex Sans Arabic Medium"/>
              </a:rPr>
              <a:t>٢ مفتوحة · ١ مغلقة</a:t>
            </a:r>
          </a:p>
        </p:txBody>
      </p:sp>
      <p:sp>
        <p:nvSpPr>
          <p:cNvPr id="21" name="Rounded Rectangle 20"/>
          <p:cNvSpPr/>
          <p:nvPr/>
        </p:nvSpPr>
        <p:spPr>
          <a:xfrm>
            <a:off x="5305425" y="4429125"/>
            <a:ext cx="3486150" cy="581025"/>
          </a:xfrm>
          <a:prstGeom prst="roundRect">
            <a:avLst>
              <a:gd name="adj" fmla="val 12000"/>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5467350" y="4543425"/>
            <a:ext cx="3162300" cy="438150"/>
          </a:xfrm>
          <a:prstGeom prst="rect">
            <a:avLst/>
          </a:prstGeom>
          <a:noFill/>
          <a:effectLst/>
        </p:spPr>
        <p:txBody>
          <a:bodyPr wrap="square" lIns="0" rIns="0" tIns="0" bIns="0" anchor="t">
            <a:spAutoFit/>
          </a:bodyPr>
          <a:lstStyle/>
          <a:p>
            <a:pPr algn="r" rtl="1">
              <a:lnSpc>
                <a:spcPts val="2604"/>
              </a:lnSpc>
              <a:spcBef>
                <a:spcPts val="0"/>
              </a:spcBef>
              <a:spcAft>
                <a:spcPts val="0"/>
              </a:spcAft>
            </a:pPr>
            <a:r>
              <a:rPr sz="2325" b="1" lang="ar-EG">
                <a:solidFill>
                  <a:srgbClr val="23201D"/>
                </a:solidFill>
                <a:latin typeface="Manrope"/>
                <a:cs typeface="IBM Plex Sans Arabic Medium"/>
              </a:rPr>
              <a:t>T101 · استبدال</a:t>
            </a:r>
          </a:p>
        </p:txBody>
      </p:sp>
      <p:sp>
        <p:nvSpPr>
          <p:cNvPr id="23" name="Rounded Rectangle 22"/>
          <p:cNvSpPr/>
          <p:nvPr/>
        </p:nvSpPr>
        <p:spPr>
          <a:xfrm>
            <a:off x="5305425" y="5172075"/>
            <a:ext cx="3486150" cy="581025"/>
          </a:xfrm>
          <a:prstGeom prst="roundRect">
            <a:avLst>
              <a:gd name="adj" fmla="val 12000"/>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467350" y="5286375"/>
            <a:ext cx="3162300" cy="438150"/>
          </a:xfrm>
          <a:prstGeom prst="rect">
            <a:avLst/>
          </a:prstGeom>
          <a:noFill/>
          <a:effectLst/>
        </p:spPr>
        <p:txBody>
          <a:bodyPr wrap="square" lIns="0" rIns="0" tIns="0" bIns="0" anchor="t">
            <a:spAutoFit/>
          </a:bodyPr>
          <a:lstStyle/>
          <a:p>
            <a:pPr algn="r" rtl="1">
              <a:lnSpc>
                <a:spcPts val="2604"/>
              </a:lnSpc>
              <a:spcBef>
                <a:spcPts val="0"/>
              </a:spcBef>
              <a:spcAft>
                <a:spcPts val="0"/>
              </a:spcAft>
            </a:pPr>
            <a:r>
              <a:rPr sz="2325" b="1" lang="ar-EG">
                <a:solidFill>
                  <a:srgbClr val="23201D"/>
                </a:solidFill>
                <a:latin typeface="Manrope"/>
                <a:cs typeface="IBM Plex Sans Arabic Medium"/>
              </a:rPr>
              <a:t>T098 · منتج</a:t>
            </a:r>
          </a:p>
        </p:txBody>
      </p:sp>
      <p:cxnSp>
        <p:nvCxnSpPr>
          <p:cNvPr id="25" name="Connector 24"/>
          <p:cNvCxnSpPr/>
          <p:nvPr/>
        </p:nvCxnSpPr>
        <p:spPr>
          <a:xfrm>
            <a:off x="5067300" y="3257550"/>
            <a:ext cx="0" cy="2495550"/>
          </a:xfrm>
          <a:prstGeom prst="line">
            <a:avLst/>
          </a:prstGeom>
          <a:ln w="9525">
            <a:solidFill>
              <a:srgbClr val="D5CFC6"/>
            </a:solidFill>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781050" y="3276600"/>
            <a:ext cx="3981450" cy="409575"/>
          </a:xfrm>
          <a:prstGeom prst="rect">
            <a:avLst/>
          </a:prstGeom>
          <a:noFill/>
          <a:effectLst/>
        </p:spPr>
        <p:txBody>
          <a:bodyPr wrap="square" lIns="0" rIns="0" tIns="0" bIns="0" anchor="t">
            <a:spAutoFit/>
          </a:bodyPr>
          <a:lstStyle/>
          <a:p>
            <a:pPr algn="r" rtl="1">
              <a:lnSpc>
                <a:spcPts val="2352"/>
              </a:lnSpc>
              <a:spcBef>
                <a:spcPts val="0"/>
              </a:spcBef>
              <a:spcAft>
                <a:spcPts val="0"/>
              </a:spcAft>
            </a:pPr>
            <a:r>
              <a:rPr sz="2100" b="1" lang="ar-EG">
                <a:solidFill>
                  <a:srgbClr val="69635C"/>
                </a:solidFill>
                <a:latin typeface="Manrope"/>
                <a:cs typeface="IBM Plex Sans Arabic Medium"/>
              </a:rPr>
              <a:t>آخر ملاحظة مسجلة</a:t>
            </a:r>
          </a:p>
        </p:txBody>
      </p:sp>
      <p:sp>
        <p:nvSpPr>
          <p:cNvPr id="27" name="TextBox 26"/>
          <p:cNvSpPr txBox="1"/>
          <p:nvPr/>
        </p:nvSpPr>
        <p:spPr>
          <a:xfrm>
            <a:off x="781050" y="3943350"/>
            <a:ext cx="3981450" cy="904875"/>
          </a:xfrm>
          <a:prstGeom prst="rect">
            <a:avLst/>
          </a:prstGeom>
          <a:noFill/>
          <a:effectLst/>
        </p:spPr>
        <p:txBody>
          <a:bodyPr wrap="square" lIns="0" rIns="0" tIns="0" bIns="0" anchor="t">
            <a:spAutoFit/>
          </a:bodyPr>
          <a:lstStyle/>
          <a:p>
            <a:pPr algn="r" rtl="1">
              <a:lnSpc>
                <a:spcPts val="3276"/>
              </a:lnSpc>
              <a:spcBef>
                <a:spcPts val="0"/>
              </a:spcBef>
              <a:spcAft>
                <a:spcPts val="0"/>
              </a:spcAft>
            </a:pPr>
            <a:r>
              <a:rPr sz="2925" b="1" lang="ar-EG">
                <a:solidFill>
                  <a:srgbClr val="23201D"/>
                </a:solidFill>
                <a:latin typeface="Manrope"/>
                <a:cs typeface="IBM Plex Sans Arabic Medium"/>
              </a:rPr>
              <a:t>مراجعة الفرع</a:t>
            </a:r>
          </a:p>
          <a:p>
            <a:pPr algn="r" rtl="1">
              <a:lnSpc>
                <a:spcPts val="3276"/>
              </a:lnSpc>
              <a:spcBef>
                <a:spcPts val="0"/>
              </a:spcBef>
              <a:spcAft>
                <a:spcPts val="0"/>
              </a:spcAft>
            </a:pPr>
            <a:r>
              <a:rPr sz="2925" b="1" lang="ar-EG">
                <a:solidFill>
                  <a:srgbClr val="23201D"/>
                </a:solidFill>
                <a:latin typeface="Manrope"/>
                <a:cs typeface="IBM Plex Sans Arabic Medium"/>
              </a:rPr>
              <a:t>لسه مطلوبة.</a:t>
            </a:r>
          </a:p>
        </p:txBody>
      </p:sp>
      <p:sp>
        <p:nvSpPr>
          <p:cNvPr id="28" name="Rounded Rectangle 27"/>
          <p:cNvSpPr/>
          <p:nvPr/>
        </p:nvSpPr>
        <p:spPr>
          <a:xfrm>
            <a:off x="714375" y="5219700"/>
            <a:ext cx="4048125" cy="533400"/>
          </a:xfrm>
          <a:prstGeom prst="roundRect">
            <a:avLst>
              <a:gd name="adj" fmla="val 12000"/>
            </a:avLst>
          </a:prstGeom>
          <a:solidFill>
            <a:srgbClr val="E4E9DF"/>
          </a:solidFill>
          <a:ln w="9525">
            <a:solidFill>
              <a:srgbClr val="E4E9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857250" y="5324475"/>
            <a:ext cx="3762375" cy="409575"/>
          </a:xfrm>
          <a:prstGeom prst="rect">
            <a:avLst/>
          </a:prstGeom>
          <a:noFill/>
          <a:effectLst/>
        </p:spPr>
        <p:txBody>
          <a:bodyPr wrap="square" lIns="0" rIns="0" tIns="0" bIns="0" anchor="t">
            <a:spAutoFit/>
          </a:bodyPr>
          <a:lstStyle/>
          <a:p>
            <a:pPr algn="ctr" rtl="1">
              <a:lnSpc>
                <a:spcPts val="2520"/>
              </a:lnSpc>
              <a:spcBef>
                <a:spcPts val="0"/>
              </a:spcBef>
              <a:spcAft>
                <a:spcPts val="0"/>
              </a:spcAft>
            </a:pPr>
            <a:r>
              <a:rPr sz="2250" b="1" lang="ar-EG">
                <a:solidFill>
                  <a:srgbClr val="526750"/>
                </a:solidFill>
                <a:latin typeface="Manrope"/>
                <a:cs typeface="IBM Plex Sans Arabic Medium"/>
              </a:rPr>
              <a:t>نكمل من التحديث ده</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1"/>
                                  </p:tgtEl>
                                  <p:attrNameLst>
                                    <p:attrName>style.visibility</p:attrName>
                                  </p:attrNameLst>
                                </p:cBhvr>
                                <p:to>
                                  <p:strVal val="visible"/>
                                </p:to>
                              </p:set>
                              <p:animEffect transition="in" filter="fade">
                                <p:cBhvr>
                                  <p:cTn id="6" dur="550"/>
                                  <p:tgtEl>
                                    <p:spTgt spid="11"/>
                                  </p:tgtEl>
                                </p:cBhvr>
                              </p:animEffect>
                            </p:childTnLst>
                          </p:cTn>
                        </p:par>
                        <p:par>
                          <p:cTn id="7" presetID="10" presetClass="entr" presetSubtype="0" fill="hold" nodeType="withEffect">
                            <p:stCondLst>
                              <p:cond delay="0"/>
                            </p:stCondLst>
                            <p:childTnLst>
                              <p:set>
                                <p:cBhvr>
                                  <p:cTn id="8" dur="1" fill="hold"/>
                                  <p:tgtEl>
                                    <p:spTgt spid="12"/>
                                  </p:tgtEl>
                                  <p:attrNameLst>
                                    <p:attrName>style.visibility</p:attrName>
                                  </p:attrNameLst>
                                </p:cBhvr>
                                <p:to>
                                  <p:strVal val="visible"/>
                                </p:to>
                              </p:set>
                              <p:animEffect transition="in" filter="fade">
                                <p:cBhvr>
                                  <p:cTn id="9" dur="550"/>
                                  <p:tgtEl>
                                    <p:spTgt spid="12"/>
                                  </p:tgtEl>
                                </p:cBhvr>
                              </p:animEffect>
                            </p:childTnLst>
                          </p:cTn>
                        </p:par>
                        <p:par>
                          <p:cTn id="10" presetID="10" presetClass="entr" presetSubtype="0" fill="hold" nodeType="withEffect">
                            <p:stCondLst>
                              <p:cond delay="0"/>
                            </p:stCondLst>
                            <p:childTnLst>
                              <p:set>
                                <p:cBhvr>
                                  <p:cTn id="11" dur="1" fill="hold"/>
                                  <p:tgtEl>
                                    <p:spTgt spid="13"/>
                                  </p:tgtEl>
                                  <p:attrNameLst>
                                    <p:attrName>style.visibility</p:attrName>
                                  </p:attrNameLst>
                                </p:cBhvr>
                                <p:to>
                                  <p:strVal val="visible"/>
                                </p:to>
                              </p:set>
                              <p:animEffect transition="in" filter="fade">
                                <p:cBhvr>
                                  <p:cTn id="12" dur="550"/>
                                  <p:tgtEl>
                                    <p:spTgt spid="13"/>
                                  </p:tgtEl>
                                </p:cBhvr>
                              </p:animEffect>
                            </p:childTnLst>
                          </p:cTn>
                        </p:par>
                        <p:par>
                          <p:cTn id="13" presetID="10" presetClass="entr" presetSubtype="0" fill="hold" nodeType="withEffect">
                            <p:stCondLst>
                              <p:cond delay="0"/>
                            </p:stCondLst>
                            <p:childTnLst>
                              <p:set>
                                <p:cBhvr>
                                  <p:cTn id="14" dur="1" fill="hold"/>
                                  <p:tgtEl>
                                    <p:spTgt spid="14"/>
                                  </p:tgtEl>
                                  <p:attrNameLst>
                                    <p:attrName>style.visibility</p:attrName>
                                  </p:attrNameLst>
                                </p:cBhvr>
                                <p:to>
                                  <p:strVal val="visible"/>
                                </p:to>
                              </p:set>
                              <p:animEffect transition="in" filter="fade">
                                <p:cBhvr>
                                  <p:cTn id="15" dur="550"/>
                                  <p:tgtEl>
                                    <p:spTgt spid="14"/>
                                  </p:tgtEl>
                                </p:cBhvr>
                              </p:animEffect>
                            </p:childTnLst>
                          </p:cTn>
                        </p:par>
                        <p:par>
                          <p:cTn id="16" presetID="10" presetClass="entr" presetSubtype="0" fill="hold" nodeType="withEffect">
                            <p:stCondLst>
                              <p:cond delay="0"/>
                            </p:stCondLst>
                            <p:childTnLst>
                              <p:set>
                                <p:cBhvr>
                                  <p:cTn id="17" dur="1" fill="hold"/>
                                  <p:tgtEl>
                                    <p:spTgt spid="15"/>
                                  </p:tgtEl>
                                  <p:attrNameLst>
                                    <p:attrName>style.visibility</p:attrName>
                                  </p:attrNameLst>
                                </p:cBhvr>
                                <p:to>
                                  <p:strVal val="visible"/>
                                </p:to>
                              </p:set>
                              <p:animEffect transition="in" filter="fade">
                                <p:cBhvr>
                                  <p:cTn id="18" dur="550"/>
                                  <p:tgtEl>
                                    <p:spTgt spid="15"/>
                                  </p:tgtEl>
                                </p:cBhvr>
                              </p:animEffect>
                            </p:childTnLst>
                          </p:cTn>
                        </p:par>
                        <p:par>
                          <p:cTn id="19" presetID="10" presetClass="entr" presetSubtype="0" fill="hold" nodeType="withEffect">
                            <p:stCondLst>
                              <p:cond delay="1250"/>
                            </p:stCondLst>
                            <p:childTnLst>
                              <p:set>
                                <p:cBhvr>
                                  <p:cTn id="20" dur="1" fill="hold"/>
                                  <p:tgtEl>
                                    <p:spTgt spid="16"/>
                                  </p:tgtEl>
                                  <p:attrNameLst>
                                    <p:attrName>style.visibility</p:attrName>
                                  </p:attrNameLst>
                                </p:cBhvr>
                                <p:to>
                                  <p:strVal val="visible"/>
                                </p:to>
                              </p:set>
                              <p:animEffect transition="in" filter="fade">
                                <p:cBhvr>
                                  <p:cTn id="21" dur="550"/>
                                  <p:tgtEl>
                                    <p:spTgt spid="16"/>
                                  </p:tgtEl>
                                </p:cBhvr>
                              </p:animEffect>
                            </p:childTnLst>
                          </p:cTn>
                        </p:par>
                        <p:par>
                          <p:cTn id="22" presetID="10" presetClass="entr" presetSubtype="0" fill="hold" nodeType="withEffect">
                            <p:stCondLst>
                              <p:cond delay="1250"/>
                            </p:stCondLst>
                            <p:childTnLst>
                              <p:set>
                                <p:cBhvr>
                                  <p:cTn id="23" dur="1" fill="hold"/>
                                  <p:tgtEl>
                                    <p:spTgt spid="17"/>
                                  </p:tgtEl>
                                  <p:attrNameLst>
                                    <p:attrName>style.visibility</p:attrName>
                                  </p:attrNameLst>
                                </p:cBhvr>
                                <p:to>
                                  <p:strVal val="visible"/>
                                </p:to>
                              </p:set>
                              <p:animEffect transition="in" filter="fade">
                                <p:cBhvr>
                                  <p:cTn id="24" dur="550"/>
                                  <p:tgtEl>
                                    <p:spTgt spid="17"/>
                                  </p:tgtEl>
                                </p:cBhvr>
                              </p:animEffect>
                            </p:childTnLst>
                          </p:cTn>
                        </p:par>
                        <p:par>
                          <p:cTn id="25" presetID="10" presetClass="entr" presetSubtype="0" fill="hold" nodeType="withEffect">
                            <p:stCondLst>
                              <p:cond delay="2500"/>
                            </p:stCondLst>
                            <p:childTnLst>
                              <p:set>
                                <p:cBhvr>
                                  <p:cTn id="26" dur="1" fill="hold"/>
                                  <p:tgtEl>
                                    <p:spTgt spid="18"/>
                                  </p:tgtEl>
                                  <p:attrNameLst>
                                    <p:attrName>style.visibility</p:attrName>
                                  </p:attrNameLst>
                                </p:cBhvr>
                                <p:to>
                                  <p:strVal val="visible"/>
                                </p:to>
                              </p:set>
                              <p:animEffect transition="in" filter="fade">
                                <p:cBhvr>
                                  <p:cTn id="27" dur="550"/>
                                  <p:tgtEl>
                                    <p:spTgt spid="18"/>
                                  </p:tgtEl>
                                </p:cBhvr>
                              </p:animEffect>
                            </p:childTnLst>
                          </p:cTn>
                        </p:par>
                        <p:par>
                          <p:cTn id="28" presetID="10" presetClass="entr" presetSubtype="0" fill="hold" nodeType="withEffect">
                            <p:stCondLst>
                              <p:cond delay="2500"/>
                            </p:stCondLst>
                            <p:childTnLst>
                              <p:set>
                                <p:cBhvr>
                                  <p:cTn id="29" dur="1" fill="hold"/>
                                  <p:tgtEl>
                                    <p:spTgt spid="19"/>
                                  </p:tgtEl>
                                  <p:attrNameLst>
                                    <p:attrName>style.visibility</p:attrName>
                                  </p:attrNameLst>
                                </p:cBhvr>
                                <p:to>
                                  <p:strVal val="visible"/>
                                </p:to>
                              </p:set>
                              <p:animEffect transition="in" filter="fade">
                                <p:cBhvr>
                                  <p:cTn id="30" dur="550"/>
                                  <p:tgtEl>
                                    <p:spTgt spid="19"/>
                                  </p:tgtEl>
                                </p:cBhvr>
                              </p:animEffect>
                            </p:childTnLst>
                          </p:cTn>
                        </p:par>
                        <p:par>
                          <p:cTn id="31" presetID="10" presetClass="entr" presetSubtype="0" fill="hold" nodeType="withEffect">
                            <p:stCondLst>
                              <p:cond delay="2500"/>
                            </p:stCondLst>
                            <p:childTnLst>
                              <p:set>
                                <p:cBhvr>
                                  <p:cTn id="32" dur="1" fill="hold"/>
                                  <p:tgtEl>
                                    <p:spTgt spid="20"/>
                                  </p:tgtEl>
                                  <p:attrNameLst>
                                    <p:attrName>style.visibility</p:attrName>
                                  </p:attrNameLst>
                                </p:cBhvr>
                                <p:to>
                                  <p:strVal val="visible"/>
                                </p:to>
                              </p:set>
                              <p:animEffect transition="in" filter="fade">
                                <p:cBhvr>
                                  <p:cTn id="33" dur="550"/>
                                  <p:tgtEl>
                                    <p:spTgt spid="20"/>
                                  </p:tgtEl>
                                </p:cBhvr>
                              </p:animEffect>
                            </p:childTnLst>
                          </p:cTn>
                        </p:par>
                        <p:par>
                          <p:cTn id="34" presetID="10" presetClass="entr" presetSubtype="0" fill="hold" nodeType="withEffect">
                            <p:stCondLst>
                              <p:cond delay="2500"/>
                            </p:stCondLst>
                            <p:childTnLst>
                              <p:set>
                                <p:cBhvr>
                                  <p:cTn id="35" dur="1" fill="hold"/>
                                  <p:tgtEl>
                                    <p:spTgt spid="21"/>
                                  </p:tgtEl>
                                  <p:attrNameLst>
                                    <p:attrName>style.visibility</p:attrName>
                                  </p:attrNameLst>
                                </p:cBhvr>
                                <p:to>
                                  <p:strVal val="visible"/>
                                </p:to>
                              </p:set>
                              <p:animEffect transition="in" filter="fade">
                                <p:cBhvr>
                                  <p:cTn id="36" dur="550"/>
                                  <p:tgtEl>
                                    <p:spTgt spid="21"/>
                                  </p:tgtEl>
                                </p:cBhvr>
                              </p:animEffect>
                            </p:childTnLst>
                          </p:cTn>
                        </p:par>
                        <p:par>
                          <p:cTn id="37" presetID="10" presetClass="entr" presetSubtype="0" fill="hold" nodeType="withEffect">
                            <p:stCondLst>
                              <p:cond delay="2500"/>
                            </p:stCondLst>
                            <p:childTnLst>
                              <p:set>
                                <p:cBhvr>
                                  <p:cTn id="38" dur="1" fill="hold"/>
                                  <p:tgtEl>
                                    <p:spTgt spid="22"/>
                                  </p:tgtEl>
                                  <p:attrNameLst>
                                    <p:attrName>style.visibility</p:attrName>
                                  </p:attrNameLst>
                                </p:cBhvr>
                                <p:to>
                                  <p:strVal val="visible"/>
                                </p:to>
                              </p:set>
                              <p:animEffect transition="in" filter="fade">
                                <p:cBhvr>
                                  <p:cTn id="39" dur="550"/>
                                  <p:tgtEl>
                                    <p:spTgt spid="22"/>
                                  </p:tgtEl>
                                </p:cBhvr>
                              </p:animEffect>
                            </p:childTnLst>
                          </p:cTn>
                        </p:par>
                        <p:par>
                          <p:cTn id="40" presetID="10" presetClass="entr" presetSubtype="0" fill="hold" nodeType="withEffect">
                            <p:stCondLst>
                              <p:cond delay="2500"/>
                            </p:stCondLst>
                            <p:childTnLst>
                              <p:set>
                                <p:cBhvr>
                                  <p:cTn id="41" dur="1" fill="hold"/>
                                  <p:tgtEl>
                                    <p:spTgt spid="23"/>
                                  </p:tgtEl>
                                  <p:attrNameLst>
                                    <p:attrName>style.visibility</p:attrName>
                                  </p:attrNameLst>
                                </p:cBhvr>
                                <p:to>
                                  <p:strVal val="visible"/>
                                </p:to>
                              </p:set>
                              <p:animEffect transition="in" filter="fade">
                                <p:cBhvr>
                                  <p:cTn id="42" dur="550"/>
                                  <p:tgtEl>
                                    <p:spTgt spid="23"/>
                                  </p:tgtEl>
                                </p:cBhvr>
                              </p:animEffect>
                            </p:childTnLst>
                          </p:cTn>
                        </p:par>
                        <p:par>
                          <p:cTn id="43" presetID="10" presetClass="entr" presetSubtype="0" fill="hold" nodeType="withEffect">
                            <p:stCondLst>
                              <p:cond delay="2500"/>
                            </p:stCondLst>
                            <p:childTnLst>
                              <p:set>
                                <p:cBhvr>
                                  <p:cTn id="44" dur="1" fill="hold"/>
                                  <p:tgtEl>
                                    <p:spTgt spid="24"/>
                                  </p:tgtEl>
                                  <p:attrNameLst>
                                    <p:attrName>style.visibility</p:attrName>
                                  </p:attrNameLst>
                                </p:cBhvr>
                                <p:to>
                                  <p:strVal val="visible"/>
                                </p:to>
                              </p:set>
                              <p:animEffect transition="in" filter="fade">
                                <p:cBhvr>
                                  <p:cTn id="45" dur="550"/>
                                  <p:tgtEl>
                                    <p:spTgt spid="24"/>
                                  </p:tgtEl>
                                </p:cBhvr>
                              </p:animEffect>
                            </p:childTnLst>
                          </p:cTn>
                        </p:par>
                        <p:par>
                          <p:cTn id="46" presetID="10" presetClass="entr" presetSubtype="0" fill="hold" nodeType="withEffect">
                            <p:stCondLst>
                              <p:cond delay="3750"/>
                            </p:stCondLst>
                            <p:childTnLst>
                              <p:set>
                                <p:cBhvr>
                                  <p:cTn id="47" dur="1" fill="hold"/>
                                  <p:tgtEl>
                                    <p:spTgt spid="26"/>
                                  </p:tgtEl>
                                  <p:attrNameLst>
                                    <p:attrName>style.visibility</p:attrName>
                                  </p:attrNameLst>
                                </p:cBhvr>
                                <p:to>
                                  <p:strVal val="visible"/>
                                </p:to>
                              </p:set>
                              <p:animEffect transition="in" filter="fade">
                                <p:cBhvr>
                                  <p:cTn id="48" dur="550"/>
                                  <p:tgtEl>
                                    <p:spTgt spid="26"/>
                                  </p:tgtEl>
                                </p:cBhvr>
                              </p:animEffect>
                            </p:childTnLst>
                          </p:cTn>
                        </p:par>
                        <p:par>
                          <p:cTn id="49" presetID="10" presetClass="entr" presetSubtype="0" fill="hold" nodeType="withEffect">
                            <p:stCondLst>
                              <p:cond delay="3750"/>
                            </p:stCondLst>
                            <p:childTnLst>
                              <p:set>
                                <p:cBhvr>
                                  <p:cTn id="50" dur="1" fill="hold"/>
                                  <p:tgtEl>
                                    <p:spTgt spid="27"/>
                                  </p:tgtEl>
                                  <p:attrNameLst>
                                    <p:attrName>style.visibility</p:attrName>
                                  </p:attrNameLst>
                                </p:cBhvr>
                                <p:to>
                                  <p:strVal val="visible"/>
                                </p:to>
                              </p:set>
                              <p:animEffect transition="in" filter="fade">
                                <p:cBhvr>
                                  <p:cTn id="51" dur="550"/>
                                  <p:tgtEl>
                                    <p:spTgt spid="27"/>
                                  </p:tgtEl>
                                </p:cBhvr>
                              </p:animEffect>
                            </p:childTnLst>
                          </p:cTn>
                        </p:par>
                        <p:par>
                          <p:cTn id="52" presetID="10" presetClass="entr" presetSubtype="0" fill="hold" nodeType="withEffect">
                            <p:stCondLst>
                              <p:cond delay="5000"/>
                            </p:stCondLst>
                            <p:childTnLst>
                              <p:set>
                                <p:cBhvr>
                                  <p:cTn id="53" dur="1" fill="hold"/>
                                  <p:tgtEl>
                                    <p:spTgt spid="28"/>
                                  </p:tgtEl>
                                  <p:attrNameLst>
                                    <p:attrName>style.visibility</p:attrName>
                                  </p:attrNameLst>
                                </p:cBhvr>
                                <p:to>
                                  <p:strVal val="visible"/>
                                </p:to>
                              </p:set>
                              <p:animEffect transition="in" filter="fade">
                                <p:cBhvr>
                                  <p:cTn id="54" dur="550"/>
                                  <p:tgtEl>
                                    <p:spTgt spid="28"/>
                                  </p:tgtEl>
                                </p:cBhvr>
                              </p:animEffect>
                            </p:childTnLst>
                          </p:cTn>
                        </p:par>
                        <p:par>
                          <p:cTn id="55" presetID="10" presetClass="entr" presetSubtype="0" fill="hold" nodeType="withEffect">
                            <p:stCondLst>
                              <p:cond delay="5000"/>
                            </p:stCondLst>
                            <p:childTnLst>
                              <p:set>
                                <p:cBhvr>
                                  <p:cTn id="56" dur="1" fill="hold"/>
                                  <p:tgtEl>
                                    <p:spTgt spid="29"/>
                                  </p:tgtEl>
                                  <p:attrNameLst>
                                    <p:attrName>style.visibility</p:attrName>
                                  </p:attrNameLst>
                                </p:cBhvr>
                                <p:to>
                                  <p:strVal val="visible"/>
                                </p:to>
                              </p:set>
                              <p:animEffect transition="in" filter="fade">
                                <p:cBhvr>
                                  <p:cTn id="57" dur="55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3162300" y="266700"/>
            <a:ext cx="8572500" cy="2667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1" lang="ar-EG">
                <a:solidFill>
                  <a:srgbClr val="69635C"/>
                </a:solidFill>
                <a:latin typeface="Manrope"/>
                <a:cs typeface="IBM Plex Sans Arabic Medium"/>
              </a:rPr>
              <a:t>٠٥ · قبل وبعد</a:t>
            </a:r>
          </a:p>
        </p:txBody>
      </p:sp>
      <p:pic>
        <p:nvPicPr>
          <p:cNvPr id="3" name="Picture 2" descr="brand.png"/>
          <p:cNvPicPr>
            <a:picLocks noChangeAspect="1"/>
          </p:cNvPicPr>
          <p:nvPr/>
        </p:nvPicPr>
        <p:blipFill>
          <a:blip r:embed="rId2"/>
          <a:stretch>
            <a:fillRect/>
          </a:stretch>
        </p:blipFill>
        <p:spPr>
          <a:xfrm>
            <a:off x="1781175" y="220662"/>
            <a:ext cx="495300" cy="330200"/>
          </a:xfrm>
          <a:prstGeom prst="rect">
            <a:avLst/>
          </a:prstGeom>
          <a:effectLst/>
        </p:spPr>
      </p:pic>
      <p:sp>
        <p:nvSpPr>
          <p:cNvPr id="4" name="TextBox 3"/>
          <p:cNvSpPr txBox="1"/>
          <p:nvPr/>
        </p:nvSpPr>
        <p:spPr>
          <a:xfrm>
            <a:off x="457200" y="266700"/>
            <a:ext cx="1219200" cy="276225"/>
          </a:xfrm>
          <a:prstGeom prst="rect">
            <a:avLst/>
          </a:prstGeom>
          <a:noFill/>
          <a:effectLst/>
        </p:spPr>
        <p:txBody>
          <a:bodyPr wrap="square" lIns="0" rIns="0" tIns="0" bIns="0" anchor="t">
            <a:spAutoFit/>
          </a:bodyPr>
          <a:lstStyle/>
          <a:p>
            <a:pPr algn="r" rtl="0">
              <a:lnSpc>
                <a:spcPts val="1596"/>
              </a:lnSpc>
              <a:spcBef>
                <a:spcPts val="0"/>
              </a:spcBef>
              <a:spcAft>
                <a:spcPts val="0"/>
              </a:spcAft>
            </a:pPr>
            <a:r>
              <a:rPr sz="1425" b="1" lang="ar-EG">
                <a:solidFill>
                  <a:srgbClr val="23201D"/>
                </a:solidFill>
                <a:latin typeface="Manrope"/>
                <a:cs typeface="IBM Plex Sans Arabic Medium"/>
              </a:rPr>
              <a:t>GRINDCTRL</a:t>
            </a:r>
          </a:p>
        </p:txBody>
      </p:sp>
      <p:sp>
        <p:nvSpPr>
          <p:cNvPr id="5" name="TextBox 4"/>
          <p:cNvSpPr txBox="1"/>
          <p:nvPr/>
        </p:nvSpPr>
        <p:spPr>
          <a:xfrm>
            <a:off x="457200" y="819150"/>
            <a:ext cx="11277600" cy="1562100"/>
          </a:xfrm>
          <a:prstGeom prst="rect">
            <a:avLst/>
          </a:prstGeom>
          <a:noFill/>
          <a:effectLst/>
        </p:spPr>
        <p:txBody>
          <a:bodyPr wrap="square" lIns="0" rIns="0" tIns="0" bIns="0" anchor="t">
            <a:spAutoFit/>
          </a:bodyPr>
          <a:lstStyle/>
          <a:p>
            <a:pPr algn="r" rtl="1">
              <a:lnSpc>
                <a:spcPts val="5376"/>
              </a:lnSpc>
              <a:spcBef>
                <a:spcPts val="0"/>
              </a:spcBef>
              <a:spcAft>
                <a:spcPts val="0"/>
              </a:spcAft>
            </a:pPr>
            <a:r>
              <a:rPr sz="4800" b="1" lang="ar-EG">
                <a:solidFill>
                  <a:srgbClr val="23201D"/>
                </a:solidFill>
                <a:latin typeface="Manrope"/>
                <a:cs typeface="IBM Plex Sans Arabic Medium"/>
              </a:rPr>
              <a:t>نفس المتصل. نفس التذاكر.</a:t>
            </a:r>
          </a:p>
          <a:p>
            <a:pPr algn="r" rtl="1">
              <a:lnSpc>
                <a:spcPts val="5376"/>
              </a:lnSpc>
              <a:spcBef>
                <a:spcPts val="0"/>
              </a:spcBef>
              <a:spcAft>
                <a:spcPts val="0"/>
              </a:spcAft>
            </a:pPr>
            <a:r>
              <a:rPr sz="4800" b="1" lang="ar-EG">
                <a:solidFill>
                  <a:srgbClr val="23201D"/>
                </a:solidFill>
                <a:latin typeface="Manrope"/>
                <a:cs typeface="IBM Plex Sans Arabic Medium"/>
              </a:rPr>
              <a:t>خطوات يدوية أقل.</a:t>
            </a:r>
          </a:p>
        </p:txBody>
      </p:sp>
      <p:sp>
        <p:nvSpPr>
          <p:cNvPr id="6" name="TextBox 5"/>
          <p:cNvSpPr txBox="1"/>
          <p:nvPr/>
        </p:nvSpPr>
        <p:spPr>
          <a:xfrm>
            <a:off x="457200" y="2419350"/>
            <a:ext cx="11277600" cy="457200"/>
          </a:xfrm>
          <a:prstGeom prst="rect">
            <a:avLst/>
          </a:prstGeom>
          <a:noFill/>
          <a:effectLst/>
        </p:spPr>
        <p:txBody>
          <a:bodyPr wrap="square" lIns="0" rIns="0" tIns="0" bIns="0" anchor="t">
            <a:spAutoFit/>
          </a:bodyPr>
          <a:lstStyle/>
          <a:p>
            <a:pPr algn="r" rtl="1">
              <a:lnSpc>
                <a:spcPts val="2688"/>
              </a:lnSpc>
              <a:spcBef>
                <a:spcPts val="0"/>
              </a:spcBef>
              <a:spcAft>
                <a:spcPts val="0"/>
              </a:spcAft>
            </a:pPr>
            <a:r>
              <a:rPr sz="2400" b="0" lang="ar-EG">
                <a:solidFill>
                  <a:srgbClr val="69635C"/>
                </a:solidFill>
                <a:latin typeface="Manrope"/>
                <a:cs typeface="IBM Plex Sans Arabic Medium"/>
              </a:rPr>
              <a:t>الفرق في إزاي الموظف يوصل للمعلومات.</a:t>
            </a:r>
          </a:p>
        </p:txBody>
      </p:sp>
      <p:cxnSp>
        <p:nvCxnSpPr>
          <p:cNvPr id="7" name="Connector 6"/>
          <p:cNvCxnSpPr/>
          <p:nvPr/>
        </p:nvCxnSpPr>
        <p:spPr>
          <a:xfrm flipH="1">
            <a:off x="457200" y="6334125"/>
            <a:ext cx="11277600" cy="0"/>
          </a:xfrm>
          <a:prstGeom prst="line">
            <a:avLst/>
          </a:prstGeom>
          <a:ln w="9525">
            <a:solidFill>
              <a:srgbClr val="D5CFC6"/>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1447800" y="6496050"/>
            <a:ext cx="10287000" cy="209550"/>
          </a:xfrm>
          <a:prstGeom prst="rect">
            <a:avLst/>
          </a:prstGeom>
          <a:noFill/>
          <a:effectLst/>
        </p:spPr>
        <p:txBody>
          <a:bodyPr wrap="square" lIns="0" rIns="0" tIns="0" bIns="0" anchor="t">
            <a:spAutoFit/>
          </a:bodyPr>
          <a:lstStyle/>
          <a:p>
            <a:pPr algn="r" rtl="1">
              <a:lnSpc>
                <a:spcPts val="1260"/>
              </a:lnSpc>
              <a:spcBef>
                <a:spcPts val="0"/>
              </a:spcBef>
              <a:spcAft>
                <a:spcPts val="0"/>
              </a:spcAft>
            </a:pPr>
            <a:r>
              <a:rPr sz="1125" b="0" lang="ar-EG">
                <a:solidFill>
                  <a:srgbClr val="69635C"/>
                </a:solidFill>
                <a:latin typeface="Manrope"/>
                <a:cs typeface="IBM Plex Sans Arabic Medium"/>
              </a:rPr>
              <a:t>تعاون مقترح · سجلات توضيحية</a:t>
            </a:r>
          </a:p>
        </p:txBody>
      </p:sp>
      <p:sp>
        <p:nvSpPr>
          <p:cNvPr id="9" name="TextBox 8"/>
          <p:cNvSpPr txBox="1"/>
          <p:nvPr/>
        </p:nvSpPr>
        <p:spPr>
          <a:xfrm>
            <a:off x="457200" y="6496050"/>
            <a:ext cx="828675" cy="20955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ar-EG">
                <a:solidFill>
                  <a:srgbClr val="69635C"/>
                </a:solidFill>
                <a:latin typeface="Manrope"/>
                <a:cs typeface="IBM Plex Sans Arabic Medium"/>
              </a:rPr>
              <a:t>06 / 09</a:t>
            </a:r>
          </a:p>
        </p:txBody>
      </p:sp>
      <p:sp>
        <p:nvSpPr>
          <p:cNvPr id="10" name="Rounded Rectangle 9"/>
          <p:cNvSpPr/>
          <p:nvPr/>
        </p:nvSpPr>
        <p:spPr>
          <a:xfrm>
            <a:off x="6400800" y="3009900"/>
            <a:ext cx="5334000" cy="2809875"/>
          </a:xfrm>
          <a:prstGeom prst="roundRect">
            <a:avLst>
              <a:gd name="adj" fmla="val 5423"/>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629400" y="3162300"/>
            <a:ext cx="4876800" cy="409575"/>
          </a:xfrm>
          <a:prstGeom prst="rect">
            <a:avLst/>
          </a:prstGeom>
          <a:noFill/>
          <a:effectLst/>
        </p:spPr>
        <p:txBody>
          <a:bodyPr wrap="square" lIns="0" rIns="0" tIns="0" bIns="0" anchor="t">
            <a:spAutoFit/>
          </a:bodyPr>
          <a:lstStyle/>
          <a:p>
            <a:pPr algn="r" rtl="1">
              <a:lnSpc>
                <a:spcPts val="2604"/>
              </a:lnSpc>
              <a:spcBef>
                <a:spcPts val="0"/>
              </a:spcBef>
              <a:spcAft>
                <a:spcPts val="0"/>
              </a:spcAft>
            </a:pPr>
            <a:r>
              <a:rPr sz="2325" b="1" lang="ar-EG">
                <a:solidFill>
                  <a:srgbClr val="69635C"/>
                </a:solidFill>
                <a:latin typeface="Manrope"/>
                <a:cs typeface="IBM Plex Sans Arabic Medium"/>
              </a:rPr>
              <a:t>قبل</a:t>
            </a:r>
          </a:p>
        </p:txBody>
      </p:sp>
      <p:pic>
        <p:nvPicPr>
          <p:cNvPr id="12" name="Picture 11" descr="icon-copy.png"/>
          <p:cNvPicPr>
            <a:picLocks noChangeAspect="1"/>
          </p:cNvPicPr>
          <p:nvPr/>
        </p:nvPicPr>
        <p:blipFill>
          <a:blip r:embed="rId3"/>
          <a:stretch>
            <a:fillRect/>
          </a:stretch>
        </p:blipFill>
        <p:spPr>
          <a:xfrm>
            <a:off x="11106150" y="3724275"/>
            <a:ext cx="400050" cy="400050"/>
          </a:xfrm>
          <a:prstGeom prst="rect">
            <a:avLst/>
          </a:prstGeom>
          <a:effectLst/>
        </p:spPr>
      </p:pic>
      <p:sp>
        <p:nvSpPr>
          <p:cNvPr id="13" name="TextBox 12"/>
          <p:cNvSpPr txBox="1"/>
          <p:nvPr/>
        </p:nvSpPr>
        <p:spPr>
          <a:xfrm>
            <a:off x="6629400" y="3743325"/>
            <a:ext cx="4286250" cy="485775"/>
          </a:xfrm>
          <a:prstGeom prst="rect">
            <a:avLst/>
          </a:prstGeom>
          <a:noFill/>
          <a:effectLst/>
        </p:spPr>
        <p:txBody>
          <a:bodyPr wrap="square" lIns="0" rIns="0" tIns="0" bIns="0" anchor="t">
            <a:spAutoFit/>
          </a:bodyPr>
          <a:lstStyle/>
          <a:p>
            <a:pPr algn="r" rtl="1">
              <a:lnSpc>
                <a:spcPts val="2688"/>
              </a:lnSpc>
              <a:spcBef>
                <a:spcPts val="0"/>
              </a:spcBef>
              <a:spcAft>
                <a:spcPts val="0"/>
              </a:spcAft>
            </a:pPr>
            <a:r>
              <a:rPr sz="2400" b="0" lang="ar-EG">
                <a:solidFill>
                  <a:srgbClr val="23201D"/>
                </a:solidFill>
                <a:latin typeface="Manrope"/>
                <a:cs typeface="IBM Plex Sans Arabic Medium"/>
              </a:rPr>
              <a:t>استخدام الرقم</a:t>
            </a:r>
          </a:p>
        </p:txBody>
      </p:sp>
      <p:pic>
        <p:nvPicPr>
          <p:cNvPr id="14" name="Picture 13" descr="icon-search.png"/>
          <p:cNvPicPr>
            <a:picLocks noChangeAspect="1"/>
          </p:cNvPicPr>
          <p:nvPr/>
        </p:nvPicPr>
        <p:blipFill>
          <a:blip r:embed="rId4"/>
          <a:stretch>
            <a:fillRect/>
          </a:stretch>
        </p:blipFill>
        <p:spPr>
          <a:xfrm>
            <a:off x="11106150" y="4381500"/>
            <a:ext cx="400050" cy="400050"/>
          </a:xfrm>
          <a:prstGeom prst="rect">
            <a:avLst/>
          </a:prstGeom>
          <a:effectLst/>
        </p:spPr>
      </p:pic>
      <p:sp>
        <p:nvSpPr>
          <p:cNvPr id="15" name="TextBox 14"/>
          <p:cNvSpPr txBox="1"/>
          <p:nvPr/>
        </p:nvSpPr>
        <p:spPr>
          <a:xfrm>
            <a:off x="6629400" y="4400550"/>
            <a:ext cx="4286250" cy="485775"/>
          </a:xfrm>
          <a:prstGeom prst="rect">
            <a:avLst/>
          </a:prstGeom>
          <a:noFill/>
          <a:effectLst/>
        </p:spPr>
        <p:txBody>
          <a:bodyPr wrap="square" lIns="0" rIns="0" tIns="0" bIns="0" anchor="t">
            <a:spAutoFit/>
          </a:bodyPr>
          <a:lstStyle/>
          <a:p>
            <a:pPr algn="r" rtl="1">
              <a:lnSpc>
                <a:spcPts val="2688"/>
              </a:lnSpc>
              <a:spcBef>
                <a:spcPts val="0"/>
              </a:spcBef>
              <a:spcAft>
                <a:spcPts val="0"/>
              </a:spcAft>
            </a:pPr>
            <a:r>
              <a:rPr sz="2400" b="0" lang="ar-EG">
                <a:solidFill>
                  <a:srgbClr val="23201D"/>
                </a:solidFill>
                <a:latin typeface="Manrope"/>
                <a:cs typeface="IBM Plex Sans Arabic Medium"/>
              </a:rPr>
              <a:t>بحث في Desk</a:t>
            </a:r>
          </a:p>
        </p:txBody>
      </p:sp>
      <p:pic>
        <p:nvPicPr>
          <p:cNvPr id="16" name="Picture 15" descr="icon-file.png"/>
          <p:cNvPicPr>
            <a:picLocks noChangeAspect="1"/>
          </p:cNvPicPr>
          <p:nvPr/>
        </p:nvPicPr>
        <p:blipFill>
          <a:blip r:embed="rId5"/>
          <a:stretch>
            <a:fillRect/>
          </a:stretch>
        </p:blipFill>
        <p:spPr>
          <a:xfrm>
            <a:off x="11106150" y="5038725"/>
            <a:ext cx="400050" cy="400050"/>
          </a:xfrm>
          <a:prstGeom prst="rect">
            <a:avLst/>
          </a:prstGeom>
          <a:effectLst/>
        </p:spPr>
      </p:pic>
      <p:sp>
        <p:nvSpPr>
          <p:cNvPr id="17" name="TextBox 16"/>
          <p:cNvSpPr txBox="1"/>
          <p:nvPr/>
        </p:nvSpPr>
        <p:spPr>
          <a:xfrm>
            <a:off x="6629400" y="5057775"/>
            <a:ext cx="4286250" cy="485775"/>
          </a:xfrm>
          <a:prstGeom prst="rect">
            <a:avLst/>
          </a:prstGeom>
          <a:noFill/>
          <a:effectLst/>
        </p:spPr>
        <p:txBody>
          <a:bodyPr wrap="square" lIns="0" rIns="0" tIns="0" bIns="0" anchor="t">
            <a:spAutoFit/>
          </a:bodyPr>
          <a:lstStyle/>
          <a:p>
            <a:pPr algn="r" rtl="1">
              <a:lnSpc>
                <a:spcPts val="2688"/>
              </a:lnSpc>
              <a:spcBef>
                <a:spcPts val="0"/>
              </a:spcBef>
              <a:spcAft>
                <a:spcPts val="0"/>
              </a:spcAft>
            </a:pPr>
            <a:r>
              <a:rPr sz="2400" b="0" lang="ar-EG">
                <a:solidFill>
                  <a:srgbClr val="23201D"/>
                </a:solidFill>
                <a:latin typeface="Manrope"/>
                <a:cs typeface="IBM Plex Sans Arabic Medium"/>
              </a:rPr>
              <a:t>الوصول لآخر تحديث</a:t>
            </a:r>
          </a:p>
        </p:txBody>
      </p:sp>
      <p:sp>
        <p:nvSpPr>
          <p:cNvPr id="18" name="Rounded Rectangle 17"/>
          <p:cNvSpPr/>
          <p:nvPr/>
        </p:nvSpPr>
        <p:spPr>
          <a:xfrm>
            <a:off x="457200" y="3009900"/>
            <a:ext cx="5334000" cy="2809875"/>
          </a:xfrm>
          <a:prstGeom prst="roundRect">
            <a:avLst>
              <a:gd name="adj" fmla="val 5423"/>
            </a:avLst>
          </a:prstGeom>
          <a:solidFill>
            <a:srgbClr val="E4E9DF"/>
          </a:solidFill>
          <a:ln w="9525">
            <a:solidFill>
              <a:srgbClr val="52675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85800" y="3162300"/>
            <a:ext cx="4876800" cy="409575"/>
          </a:xfrm>
          <a:prstGeom prst="rect">
            <a:avLst/>
          </a:prstGeom>
          <a:noFill/>
          <a:effectLst/>
        </p:spPr>
        <p:txBody>
          <a:bodyPr wrap="square" lIns="0" rIns="0" tIns="0" bIns="0" anchor="t">
            <a:spAutoFit/>
          </a:bodyPr>
          <a:lstStyle/>
          <a:p>
            <a:pPr algn="r" rtl="1">
              <a:lnSpc>
                <a:spcPts val="2604"/>
              </a:lnSpc>
              <a:spcBef>
                <a:spcPts val="0"/>
              </a:spcBef>
              <a:spcAft>
                <a:spcPts val="0"/>
              </a:spcAft>
            </a:pPr>
            <a:r>
              <a:rPr sz="2325" b="1" lang="ar-EG">
                <a:solidFill>
                  <a:srgbClr val="526750"/>
                </a:solidFill>
                <a:latin typeface="Manrope"/>
                <a:cs typeface="IBM Plex Sans Arabic Medium"/>
              </a:rPr>
              <a:t>بعد الربط المقترح</a:t>
            </a:r>
          </a:p>
        </p:txBody>
      </p:sp>
      <p:pic>
        <p:nvPicPr>
          <p:cNvPr id="20" name="Picture 19" descr="icon-case.png"/>
          <p:cNvPicPr>
            <a:picLocks noChangeAspect="1"/>
          </p:cNvPicPr>
          <p:nvPr/>
        </p:nvPicPr>
        <p:blipFill>
          <a:blip r:embed="rId6"/>
          <a:stretch>
            <a:fillRect/>
          </a:stretch>
        </p:blipFill>
        <p:spPr>
          <a:xfrm>
            <a:off x="5162550" y="3724275"/>
            <a:ext cx="400050" cy="400050"/>
          </a:xfrm>
          <a:prstGeom prst="rect">
            <a:avLst/>
          </a:prstGeom>
          <a:effectLst/>
        </p:spPr>
      </p:pic>
      <p:sp>
        <p:nvSpPr>
          <p:cNvPr id="21" name="TextBox 20"/>
          <p:cNvSpPr txBox="1"/>
          <p:nvPr/>
        </p:nvSpPr>
        <p:spPr>
          <a:xfrm>
            <a:off x="685800" y="3743325"/>
            <a:ext cx="4286250" cy="485775"/>
          </a:xfrm>
          <a:prstGeom prst="rect">
            <a:avLst/>
          </a:prstGeom>
          <a:noFill/>
          <a:effectLst/>
        </p:spPr>
        <p:txBody>
          <a:bodyPr wrap="square" lIns="0" rIns="0" tIns="0" bIns="0" anchor="t">
            <a:spAutoFit/>
          </a:bodyPr>
          <a:lstStyle/>
          <a:p>
            <a:pPr algn="r" rtl="1">
              <a:lnSpc>
                <a:spcPts val="2688"/>
              </a:lnSpc>
              <a:spcBef>
                <a:spcPts val="0"/>
              </a:spcBef>
              <a:spcAft>
                <a:spcPts val="0"/>
              </a:spcAft>
            </a:pPr>
            <a:r>
              <a:rPr sz="2400" b="1" lang="ar-EG">
                <a:solidFill>
                  <a:srgbClr val="23201D"/>
                </a:solidFill>
                <a:latin typeface="Manrope"/>
                <a:cs typeface="IBM Plex Sans Arabic Medium"/>
              </a:rPr>
              <a:t>التذاكر تظهر مع المكالمة</a:t>
            </a:r>
          </a:p>
        </p:txBody>
      </p:sp>
      <p:pic>
        <p:nvPicPr>
          <p:cNvPr id="22" name="Picture 21" descr="icon-file.png"/>
          <p:cNvPicPr>
            <a:picLocks noChangeAspect="1"/>
          </p:cNvPicPr>
          <p:nvPr/>
        </p:nvPicPr>
        <p:blipFill>
          <a:blip r:embed="rId5"/>
          <a:stretch>
            <a:fillRect/>
          </a:stretch>
        </p:blipFill>
        <p:spPr>
          <a:xfrm>
            <a:off x="5162550" y="4381500"/>
            <a:ext cx="400050" cy="400050"/>
          </a:xfrm>
          <a:prstGeom prst="rect">
            <a:avLst/>
          </a:prstGeom>
          <a:effectLst/>
        </p:spPr>
      </p:pic>
      <p:sp>
        <p:nvSpPr>
          <p:cNvPr id="23" name="TextBox 22"/>
          <p:cNvSpPr txBox="1"/>
          <p:nvPr/>
        </p:nvSpPr>
        <p:spPr>
          <a:xfrm>
            <a:off x="685800" y="4400550"/>
            <a:ext cx="4286250" cy="485775"/>
          </a:xfrm>
          <a:prstGeom prst="rect">
            <a:avLst/>
          </a:prstGeom>
          <a:noFill/>
          <a:effectLst/>
        </p:spPr>
        <p:txBody>
          <a:bodyPr wrap="square" lIns="0" rIns="0" tIns="0" bIns="0" anchor="t">
            <a:spAutoFit/>
          </a:bodyPr>
          <a:lstStyle/>
          <a:p>
            <a:pPr algn="r" rtl="1">
              <a:lnSpc>
                <a:spcPts val="2688"/>
              </a:lnSpc>
              <a:spcBef>
                <a:spcPts val="0"/>
              </a:spcBef>
              <a:spcAft>
                <a:spcPts val="0"/>
              </a:spcAft>
            </a:pPr>
            <a:r>
              <a:rPr sz="2400" b="1" lang="ar-EG">
                <a:solidFill>
                  <a:srgbClr val="23201D"/>
                </a:solidFill>
                <a:latin typeface="Manrope"/>
                <a:cs typeface="IBM Plex Sans Arabic Medium"/>
              </a:rPr>
              <a:t>قراءة آخر تحديث</a:t>
            </a:r>
          </a:p>
        </p:txBody>
      </p:sp>
      <p:pic>
        <p:nvPicPr>
          <p:cNvPr id="24" name="Picture 23" descr="icon-actor.png"/>
          <p:cNvPicPr>
            <a:picLocks noChangeAspect="1"/>
          </p:cNvPicPr>
          <p:nvPr/>
        </p:nvPicPr>
        <p:blipFill>
          <a:blip r:embed="rId7"/>
          <a:stretch>
            <a:fillRect/>
          </a:stretch>
        </p:blipFill>
        <p:spPr>
          <a:xfrm>
            <a:off x="5162550" y="5038725"/>
            <a:ext cx="400050" cy="400050"/>
          </a:xfrm>
          <a:prstGeom prst="rect">
            <a:avLst/>
          </a:prstGeom>
          <a:effectLst/>
        </p:spPr>
      </p:pic>
      <p:sp>
        <p:nvSpPr>
          <p:cNvPr id="25" name="TextBox 24"/>
          <p:cNvSpPr txBox="1"/>
          <p:nvPr/>
        </p:nvSpPr>
        <p:spPr>
          <a:xfrm>
            <a:off x="685800" y="5057775"/>
            <a:ext cx="4286250" cy="485775"/>
          </a:xfrm>
          <a:prstGeom prst="rect">
            <a:avLst/>
          </a:prstGeom>
          <a:noFill/>
          <a:effectLst/>
        </p:spPr>
        <p:txBody>
          <a:bodyPr wrap="square" lIns="0" rIns="0" tIns="0" bIns="0" anchor="t">
            <a:spAutoFit/>
          </a:bodyPr>
          <a:lstStyle/>
          <a:p>
            <a:pPr algn="r" rtl="1">
              <a:lnSpc>
                <a:spcPts val="2688"/>
              </a:lnSpc>
              <a:spcBef>
                <a:spcPts val="0"/>
              </a:spcBef>
              <a:spcAft>
                <a:spcPts val="0"/>
              </a:spcAft>
            </a:pPr>
            <a:r>
              <a:rPr sz="2400" b="1" lang="ar-EG">
                <a:solidFill>
                  <a:srgbClr val="23201D"/>
                </a:solidFill>
                <a:latin typeface="Manrope"/>
                <a:cs typeface="IBM Plex Sans Arabic Medium"/>
              </a:rPr>
              <a:t>المتابعة بمعلومات أوضح</a:t>
            </a:r>
          </a:p>
        </p:txBody>
      </p:sp>
      <p:sp>
        <p:nvSpPr>
          <p:cNvPr id="26" name="TextBox 25"/>
          <p:cNvSpPr txBox="1"/>
          <p:nvPr/>
        </p:nvSpPr>
        <p:spPr>
          <a:xfrm>
            <a:off x="457200" y="5934075"/>
            <a:ext cx="11277600" cy="371475"/>
          </a:xfrm>
          <a:prstGeom prst="rect">
            <a:avLst/>
          </a:prstGeom>
          <a:noFill/>
          <a:effectLst/>
        </p:spPr>
        <p:txBody>
          <a:bodyPr wrap="square" lIns="0" rIns="0" tIns="0" bIns="0" anchor="t">
            <a:spAutoFit/>
          </a:bodyPr>
          <a:lstStyle/>
          <a:p>
            <a:pPr algn="r" rtl="1">
              <a:lnSpc>
                <a:spcPts val="2604"/>
              </a:lnSpc>
              <a:spcBef>
                <a:spcPts val="0"/>
              </a:spcBef>
              <a:spcAft>
                <a:spcPts val="0"/>
              </a:spcAft>
            </a:pPr>
            <a:r>
              <a:rPr sz="2325" b="1" lang="ar-EG">
                <a:solidFill>
                  <a:srgbClr val="BA4C24"/>
                </a:solidFill>
                <a:latin typeface="Manrope"/>
                <a:cs typeface="IBM Plex Sans Arabic Medium"/>
              </a:rPr>
              <a:t>من البحث عن المعلومة لاستخدامها.</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2"/>
                                  </p:tgtEl>
                                  <p:attrNameLst>
                                    <p:attrName>style.visibility</p:attrName>
                                  </p:attrNameLst>
                                </p:cBhvr>
                                <p:to>
                                  <p:strVal val="visible"/>
                                </p:to>
                              </p:set>
                              <p:animEffect transition="in" filter="fade">
                                <p:cBhvr>
                                  <p:cTn id="6" dur="550"/>
                                  <p:tgtEl>
                                    <p:spTgt spid="12"/>
                                  </p:tgtEl>
                                </p:cBhvr>
                              </p:animEffect>
                            </p:childTnLst>
                          </p:cTn>
                        </p:par>
                        <p:par>
                          <p:cTn id="7" presetID="10" presetClass="entr" presetSubtype="0" fill="hold" nodeType="withEffect">
                            <p:stCondLst>
                              <p:cond delay="0"/>
                            </p:stCondLst>
                            <p:childTnLst>
                              <p:set>
                                <p:cBhvr>
                                  <p:cTn id="8" dur="1" fill="hold"/>
                                  <p:tgtEl>
                                    <p:spTgt spid="13"/>
                                  </p:tgtEl>
                                  <p:attrNameLst>
                                    <p:attrName>style.visibility</p:attrName>
                                  </p:attrNameLst>
                                </p:cBhvr>
                                <p:to>
                                  <p:strVal val="visible"/>
                                </p:to>
                              </p:set>
                              <p:animEffect transition="in" filter="fade">
                                <p:cBhvr>
                                  <p:cTn id="9" dur="550"/>
                                  <p:tgtEl>
                                    <p:spTgt spid="13"/>
                                  </p:tgtEl>
                                </p:cBhvr>
                              </p:animEffect>
                            </p:childTnLst>
                          </p:cTn>
                        </p:par>
                        <p:par>
                          <p:cTn id="10" presetID="10" presetClass="entr" presetSubtype="0" fill="hold" nodeType="withEffect">
                            <p:stCondLst>
                              <p:cond delay="1250"/>
                            </p:stCondLst>
                            <p:childTnLst>
                              <p:set>
                                <p:cBhvr>
                                  <p:cTn id="11" dur="1" fill="hold"/>
                                  <p:tgtEl>
                                    <p:spTgt spid="14"/>
                                  </p:tgtEl>
                                  <p:attrNameLst>
                                    <p:attrName>style.visibility</p:attrName>
                                  </p:attrNameLst>
                                </p:cBhvr>
                                <p:to>
                                  <p:strVal val="visible"/>
                                </p:to>
                              </p:set>
                              <p:animEffect transition="in" filter="fade">
                                <p:cBhvr>
                                  <p:cTn id="12" dur="550"/>
                                  <p:tgtEl>
                                    <p:spTgt spid="14"/>
                                  </p:tgtEl>
                                </p:cBhvr>
                              </p:animEffect>
                            </p:childTnLst>
                          </p:cTn>
                        </p:par>
                        <p:par>
                          <p:cTn id="13" presetID="10" presetClass="entr" presetSubtype="0" fill="hold" nodeType="withEffect">
                            <p:stCondLst>
                              <p:cond delay="1250"/>
                            </p:stCondLst>
                            <p:childTnLst>
                              <p:set>
                                <p:cBhvr>
                                  <p:cTn id="14" dur="1" fill="hold"/>
                                  <p:tgtEl>
                                    <p:spTgt spid="15"/>
                                  </p:tgtEl>
                                  <p:attrNameLst>
                                    <p:attrName>style.visibility</p:attrName>
                                  </p:attrNameLst>
                                </p:cBhvr>
                                <p:to>
                                  <p:strVal val="visible"/>
                                </p:to>
                              </p:set>
                              <p:animEffect transition="in" filter="fade">
                                <p:cBhvr>
                                  <p:cTn id="15" dur="550"/>
                                  <p:tgtEl>
                                    <p:spTgt spid="15"/>
                                  </p:tgtEl>
                                </p:cBhvr>
                              </p:animEffect>
                            </p:childTnLst>
                          </p:cTn>
                        </p:par>
                        <p:par>
                          <p:cTn id="16" presetID="10" presetClass="entr" presetSubtype="0" fill="hold" nodeType="withEffect">
                            <p:stCondLst>
                              <p:cond delay="2500"/>
                            </p:stCondLst>
                            <p:childTnLst>
                              <p:set>
                                <p:cBhvr>
                                  <p:cTn id="17" dur="1" fill="hold"/>
                                  <p:tgtEl>
                                    <p:spTgt spid="16"/>
                                  </p:tgtEl>
                                  <p:attrNameLst>
                                    <p:attrName>style.visibility</p:attrName>
                                  </p:attrNameLst>
                                </p:cBhvr>
                                <p:to>
                                  <p:strVal val="visible"/>
                                </p:to>
                              </p:set>
                              <p:animEffect transition="in" filter="fade">
                                <p:cBhvr>
                                  <p:cTn id="18" dur="550"/>
                                  <p:tgtEl>
                                    <p:spTgt spid="16"/>
                                  </p:tgtEl>
                                </p:cBhvr>
                              </p:animEffect>
                            </p:childTnLst>
                          </p:cTn>
                        </p:par>
                        <p:par>
                          <p:cTn id="19" presetID="10" presetClass="entr" presetSubtype="0" fill="hold" nodeType="withEffect">
                            <p:stCondLst>
                              <p:cond delay="2500"/>
                            </p:stCondLst>
                            <p:childTnLst>
                              <p:set>
                                <p:cBhvr>
                                  <p:cTn id="20" dur="1" fill="hold"/>
                                  <p:tgtEl>
                                    <p:spTgt spid="17"/>
                                  </p:tgtEl>
                                  <p:attrNameLst>
                                    <p:attrName>style.visibility</p:attrName>
                                  </p:attrNameLst>
                                </p:cBhvr>
                                <p:to>
                                  <p:strVal val="visible"/>
                                </p:to>
                              </p:set>
                              <p:animEffect transition="in" filter="fade">
                                <p:cBhvr>
                                  <p:cTn id="21" dur="550"/>
                                  <p:tgtEl>
                                    <p:spTgt spid="17"/>
                                  </p:tgtEl>
                                </p:cBhvr>
                              </p:animEffect>
                            </p:childTnLst>
                          </p:cTn>
                        </p:par>
                        <p:par>
                          <p:cTn id="22" presetID="10" presetClass="entr" presetSubtype="0" fill="hold" nodeType="withEffect">
                            <p:stCondLst>
                              <p:cond delay="0"/>
                            </p:stCondLst>
                            <p:childTnLst>
                              <p:set>
                                <p:cBhvr>
                                  <p:cTn id="23" dur="1" fill="hold"/>
                                  <p:tgtEl>
                                    <p:spTgt spid="20"/>
                                  </p:tgtEl>
                                  <p:attrNameLst>
                                    <p:attrName>style.visibility</p:attrName>
                                  </p:attrNameLst>
                                </p:cBhvr>
                                <p:to>
                                  <p:strVal val="visible"/>
                                </p:to>
                              </p:set>
                              <p:animEffect transition="in" filter="fade">
                                <p:cBhvr>
                                  <p:cTn id="24" dur="550"/>
                                  <p:tgtEl>
                                    <p:spTgt spid="20"/>
                                  </p:tgtEl>
                                </p:cBhvr>
                              </p:animEffect>
                            </p:childTnLst>
                          </p:cTn>
                        </p:par>
                        <p:par>
                          <p:cTn id="25" presetID="10" presetClass="entr" presetSubtype="0" fill="hold" nodeType="withEffect">
                            <p:stCondLst>
                              <p:cond delay="0"/>
                            </p:stCondLst>
                            <p:childTnLst>
                              <p:set>
                                <p:cBhvr>
                                  <p:cTn id="26" dur="1" fill="hold"/>
                                  <p:tgtEl>
                                    <p:spTgt spid="21"/>
                                  </p:tgtEl>
                                  <p:attrNameLst>
                                    <p:attrName>style.visibility</p:attrName>
                                  </p:attrNameLst>
                                </p:cBhvr>
                                <p:to>
                                  <p:strVal val="visible"/>
                                </p:to>
                              </p:set>
                              <p:animEffect transition="in" filter="fade">
                                <p:cBhvr>
                                  <p:cTn id="27" dur="550"/>
                                  <p:tgtEl>
                                    <p:spTgt spid="21"/>
                                  </p:tgtEl>
                                </p:cBhvr>
                              </p:animEffect>
                            </p:childTnLst>
                          </p:cTn>
                        </p:par>
                        <p:par>
                          <p:cTn id="28" presetID="10" presetClass="entr" presetSubtype="0" fill="hold" nodeType="withEffect">
                            <p:stCondLst>
                              <p:cond delay="1250"/>
                            </p:stCondLst>
                            <p:childTnLst>
                              <p:set>
                                <p:cBhvr>
                                  <p:cTn id="29" dur="1" fill="hold"/>
                                  <p:tgtEl>
                                    <p:spTgt spid="22"/>
                                  </p:tgtEl>
                                  <p:attrNameLst>
                                    <p:attrName>style.visibility</p:attrName>
                                  </p:attrNameLst>
                                </p:cBhvr>
                                <p:to>
                                  <p:strVal val="visible"/>
                                </p:to>
                              </p:set>
                              <p:animEffect transition="in" filter="fade">
                                <p:cBhvr>
                                  <p:cTn id="30" dur="550"/>
                                  <p:tgtEl>
                                    <p:spTgt spid="22"/>
                                  </p:tgtEl>
                                </p:cBhvr>
                              </p:animEffect>
                            </p:childTnLst>
                          </p:cTn>
                        </p:par>
                        <p:par>
                          <p:cTn id="31" presetID="10" presetClass="entr" presetSubtype="0" fill="hold" nodeType="withEffect">
                            <p:stCondLst>
                              <p:cond delay="1250"/>
                            </p:stCondLst>
                            <p:childTnLst>
                              <p:set>
                                <p:cBhvr>
                                  <p:cTn id="32" dur="1" fill="hold"/>
                                  <p:tgtEl>
                                    <p:spTgt spid="23"/>
                                  </p:tgtEl>
                                  <p:attrNameLst>
                                    <p:attrName>style.visibility</p:attrName>
                                  </p:attrNameLst>
                                </p:cBhvr>
                                <p:to>
                                  <p:strVal val="visible"/>
                                </p:to>
                              </p:set>
                              <p:animEffect transition="in" filter="fade">
                                <p:cBhvr>
                                  <p:cTn id="33" dur="550"/>
                                  <p:tgtEl>
                                    <p:spTgt spid="23"/>
                                  </p:tgtEl>
                                </p:cBhvr>
                              </p:animEffect>
                            </p:childTnLst>
                          </p:cTn>
                        </p:par>
                        <p:par>
                          <p:cTn id="34" presetID="10" presetClass="entr" presetSubtype="0" fill="hold" nodeType="withEffect">
                            <p:stCondLst>
                              <p:cond delay="2500"/>
                            </p:stCondLst>
                            <p:childTnLst>
                              <p:set>
                                <p:cBhvr>
                                  <p:cTn id="35" dur="1" fill="hold"/>
                                  <p:tgtEl>
                                    <p:spTgt spid="24"/>
                                  </p:tgtEl>
                                  <p:attrNameLst>
                                    <p:attrName>style.visibility</p:attrName>
                                  </p:attrNameLst>
                                </p:cBhvr>
                                <p:to>
                                  <p:strVal val="visible"/>
                                </p:to>
                              </p:set>
                              <p:animEffect transition="in" filter="fade">
                                <p:cBhvr>
                                  <p:cTn id="36" dur="550"/>
                                  <p:tgtEl>
                                    <p:spTgt spid="24"/>
                                  </p:tgtEl>
                                </p:cBhvr>
                              </p:animEffect>
                            </p:childTnLst>
                          </p:cTn>
                        </p:par>
                        <p:par>
                          <p:cTn id="37" presetID="10" presetClass="entr" presetSubtype="0" fill="hold" nodeType="withEffect">
                            <p:stCondLst>
                              <p:cond delay="2500"/>
                            </p:stCondLst>
                            <p:childTnLst>
                              <p:set>
                                <p:cBhvr>
                                  <p:cTn id="38" dur="1" fill="hold"/>
                                  <p:tgtEl>
                                    <p:spTgt spid="25"/>
                                  </p:tgtEl>
                                  <p:attrNameLst>
                                    <p:attrName>style.visibility</p:attrName>
                                  </p:attrNameLst>
                                </p:cBhvr>
                                <p:to>
                                  <p:strVal val="visible"/>
                                </p:to>
                              </p:set>
                              <p:animEffect transition="in" filter="fade">
                                <p:cBhvr>
                                  <p:cTn id="39" dur="550"/>
                                  <p:tgtEl>
                                    <p:spTgt spid="25"/>
                                  </p:tgtEl>
                                </p:cBhvr>
                              </p:animEffect>
                            </p:childTnLst>
                          </p:cTn>
                        </p:par>
                        <p:par>
                          <p:cTn id="40" presetID="10" presetClass="entr" presetSubtype="0" fill="hold" nodeType="withEffect">
                            <p:stCondLst>
                              <p:cond delay="3750"/>
                            </p:stCondLst>
                            <p:childTnLst>
                              <p:set>
                                <p:cBhvr>
                                  <p:cTn id="41" dur="1" fill="hold"/>
                                  <p:tgtEl>
                                    <p:spTgt spid="26"/>
                                  </p:tgtEl>
                                  <p:attrNameLst>
                                    <p:attrName>style.visibility</p:attrName>
                                  </p:attrNameLst>
                                </p:cBhvr>
                                <p:to>
                                  <p:strVal val="visible"/>
                                </p:to>
                              </p:set>
                              <p:animEffect transition="in" filter="fade">
                                <p:cBhvr>
                                  <p:cTn id="42" dur="550"/>
                                  <p:tgtEl>
                                    <p:spTgt spid="2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3162300" y="266700"/>
            <a:ext cx="8572500" cy="2667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1" lang="ar-EG">
                <a:solidFill>
                  <a:srgbClr val="69635C"/>
                </a:solidFill>
                <a:latin typeface="Manrope"/>
                <a:cs typeface="IBM Plex Sans Arabic Medium"/>
              </a:rPr>
              <a:t>٠٦ · القيمة لكونكريت</a:t>
            </a:r>
          </a:p>
        </p:txBody>
      </p:sp>
      <p:pic>
        <p:nvPicPr>
          <p:cNvPr id="3" name="Picture 2" descr="brand.png"/>
          <p:cNvPicPr>
            <a:picLocks noChangeAspect="1"/>
          </p:cNvPicPr>
          <p:nvPr/>
        </p:nvPicPr>
        <p:blipFill>
          <a:blip r:embed="rId2"/>
          <a:stretch>
            <a:fillRect/>
          </a:stretch>
        </p:blipFill>
        <p:spPr>
          <a:xfrm>
            <a:off x="1781175" y="220662"/>
            <a:ext cx="495300" cy="330200"/>
          </a:xfrm>
          <a:prstGeom prst="rect">
            <a:avLst/>
          </a:prstGeom>
          <a:effectLst/>
        </p:spPr>
      </p:pic>
      <p:sp>
        <p:nvSpPr>
          <p:cNvPr id="4" name="TextBox 3"/>
          <p:cNvSpPr txBox="1"/>
          <p:nvPr/>
        </p:nvSpPr>
        <p:spPr>
          <a:xfrm>
            <a:off x="457200" y="266700"/>
            <a:ext cx="1219200" cy="276225"/>
          </a:xfrm>
          <a:prstGeom prst="rect">
            <a:avLst/>
          </a:prstGeom>
          <a:noFill/>
          <a:effectLst/>
        </p:spPr>
        <p:txBody>
          <a:bodyPr wrap="square" lIns="0" rIns="0" tIns="0" bIns="0" anchor="t">
            <a:spAutoFit/>
          </a:bodyPr>
          <a:lstStyle/>
          <a:p>
            <a:pPr algn="r" rtl="0">
              <a:lnSpc>
                <a:spcPts val="1596"/>
              </a:lnSpc>
              <a:spcBef>
                <a:spcPts val="0"/>
              </a:spcBef>
              <a:spcAft>
                <a:spcPts val="0"/>
              </a:spcAft>
            </a:pPr>
            <a:r>
              <a:rPr sz="1425" b="1" lang="ar-EG">
                <a:solidFill>
                  <a:srgbClr val="23201D"/>
                </a:solidFill>
                <a:latin typeface="Manrope"/>
                <a:cs typeface="IBM Plex Sans Arabic Medium"/>
              </a:rPr>
              <a:t>GRINDCTRL</a:t>
            </a:r>
          </a:p>
        </p:txBody>
      </p:sp>
      <p:sp>
        <p:nvSpPr>
          <p:cNvPr id="5" name="TextBox 4"/>
          <p:cNvSpPr txBox="1"/>
          <p:nvPr/>
        </p:nvSpPr>
        <p:spPr>
          <a:xfrm>
            <a:off x="457200" y="819150"/>
            <a:ext cx="11277600" cy="1562100"/>
          </a:xfrm>
          <a:prstGeom prst="rect">
            <a:avLst/>
          </a:prstGeom>
          <a:noFill/>
          <a:effectLst/>
        </p:spPr>
        <p:txBody>
          <a:bodyPr wrap="square" lIns="0" rIns="0" tIns="0" bIns="0" anchor="t">
            <a:spAutoFit/>
          </a:bodyPr>
          <a:lstStyle/>
          <a:p>
            <a:pPr algn="r" rtl="1">
              <a:lnSpc>
                <a:spcPts val="5376"/>
              </a:lnSpc>
              <a:spcBef>
                <a:spcPts val="0"/>
              </a:spcBef>
              <a:spcAft>
                <a:spcPts val="0"/>
              </a:spcAft>
            </a:pPr>
            <a:r>
              <a:rPr sz="4800" b="1" lang="ar-EG">
                <a:solidFill>
                  <a:srgbClr val="23201D"/>
                </a:solidFill>
                <a:latin typeface="Manrope"/>
                <a:cs typeface="IBM Plex Sans Arabic Medium"/>
              </a:rPr>
              <a:t>بحث أقل.</a:t>
            </a:r>
          </a:p>
          <a:p>
            <a:pPr algn="r" rtl="1">
              <a:lnSpc>
                <a:spcPts val="5376"/>
              </a:lnSpc>
              <a:spcBef>
                <a:spcPts val="0"/>
              </a:spcBef>
              <a:spcAft>
                <a:spcPts val="0"/>
              </a:spcAft>
            </a:pPr>
            <a:r>
              <a:rPr sz="4800" b="1" lang="ar-EG">
                <a:solidFill>
                  <a:srgbClr val="23201D"/>
                </a:solidFill>
                <a:latin typeface="Manrope"/>
                <a:cs typeface="IBM Plex Sans Arabic Medium"/>
              </a:rPr>
              <a:t>وتركيز أكبر مع العميل.</a:t>
            </a:r>
          </a:p>
        </p:txBody>
      </p:sp>
      <p:sp>
        <p:nvSpPr>
          <p:cNvPr id="6" name="TextBox 5"/>
          <p:cNvSpPr txBox="1"/>
          <p:nvPr/>
        </p:nvSpPr>
        <p:spPr>
          <a:xfrm>
            <a:off x="457200" y="2419350"/>
            <a:ext cx="11277600" cy="457200"/>
          </a:xfrm>
          <a:prstGeom prst="rect">
            <a:avLst/>
          </a:prstGeom>
          <a:noFill/>
          <a:effectLst/>
        </p:spPr>
        <p:txBody>
          <a:bodyPr wrap="square" lIns="0" rIns="0" tIns="0" bIns="0" anchor="t">
            <a:spAutoFit/>
          </a:bodyPr>
          <a:lstStyle/>
          <a:p>
            <a:pPr algn="r" rtl="1">
              <a:lnSpc>
                <a:spcPts val="2688"/>
              </a:lnSpc>
              <a:spcBef>
                <a:spcPts val="0"/>
              </a:spcBef>
              <a:spcAft>
                <a:spcPts val="0"/>
              </a:spcAft>
            </a:pPr>
            <a:r>
              <a:rPr sz="2400" b="0" lang="ar-EG">
                <a:solidFill>
                  <a:srgbClr val="69635C"/>
                </a:solidFill>
                <a:latin typeface="Manrope"/>
                <a:cs typeface="IBM Plex Sans Arabic Medium"/>
              </a:rPr>
              <a:t>تحسين عملي في شغل المكالمات اليومي.</a:t>
            </a:r>
          </a:p>
        </p:txBody>
      </p:sp>
      <p:cxnSp>
        <p:nvCxnSpPr>
          <p:cNvPr id="7" name="Connector 6"/>
          <p:cNvCxnSpPr/>
          <p:nvPr/>
        </p:nvCxnSpPr>
        <p:spPr>
          <a:xfrm flipH="1">
            <a:off x="457200" y="6334125"/>
            <a:ext cx="11277600" cy="0"/>
          </a:xfrm>
          <a:prstGeom prst="line">
            <a:avLst/>
          </a:prstGeom>
          <a:ln w="9525">
            <a:solidFill>
              <a:srgbClr val="D5CFC6"/>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1447800" y="6496050"/>
            <a:ext cx="10287000" cy="209550"/>
          </a:xfrm>
          <a:prstGeom prst="rect">
            <a:avLst/>
          </a:prstGeom>
          <a:noFill/>
          <a:effectLst/>
        </p:spPr>
        <p:txBody>
          <a:bodyPr wrap="square" lIns="0" rIns="0" tIns="0" bIns="0" anchor="t">
            <a:spAutoFit/>
          </a:bodyPr>
          <a:lstStyle/>
          <a:p>
            <a:pPr algn="r" rtl="1">
              <a:lnSpc>
                <a:spcPts val="1260"/>
              </a:lnSpc>
              <a:spcBef>
                <a:spcPts val="0"/>
              </a:spcBef>
              <a:spcAft>
                <a:spcPts val="0"/>
              </a:spcAft>
            </a:pPr>
            <a:r>
              <a:rPr sz="1125" b="0" lang="ar-EG">
                <a:solidFill>
                  <a:srgbClr val="69635C"/>
                </a:solidFill>
                <a:latin typeface="Manrope"/>
                <a:cs typeface="IBM Plex Sans Arabic Medium"/>
              </a:rPr>
              <a:t>تعاون مقترح · سجلات توضيحية</a:t>
            </a:r>
          </a:p>
        </p:txBody>
      </p:sp>
      <p:sp>
        <p:nvSpPr>
          <p:cNvPr id="9" name="TextBox 8"/>
          <p:cNvSpPr txBox="1"/>
          <p:nvPr/>
        </p:nvSpPr>
        <p:spPr>
          <a:xfrm>
            <a:off x="457200" y="6496050"/>
            <a:ext cx="828675" cy="20955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ar-EG">
                <a:solidFill>
                  <a:srgbClr val="69635C"/>
                </a:solidFill>
                <a:latin typeface="Manrope"/>
                <a:cs typeface="IBM Plex Sans Arabic Medium"/>
              </a:rPr>
              <a:t>07 / 09</a:t>
            </a:r>
          </a:p>
        </p:txBody>
      </p:sp>
      <p:sp>
        <p:nvSpPr>
          <p:cNvPr id="10" name="Rounded Rectangle 9"/>
          <p:cNvSpPr/>
          <p:nvPr/>
        </p:nvSpPr>
        <p:spPr>
          <a:xfrm>
            <a:off x="8420100" y="3057525"/>
            <a:ext cx="3314700" cy="2647950"/>
          </a:xfrm>
          <a:prstGeom prst="roundRect">
            <a:avLst>
              <a:gd name="adj" fmla="val 5755"/>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10744200" y="3267075"/>
            <a:ext cx="742950" cy="742950"/>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icon-clock.png"/>
          <p:cNvPicPr>
            <a:picLocks noChangeAspect="1"/>
          </p:cNvPicPr>
          <p:nvPr/>
        </p:nvPicPr>
        <p:blipFill>
          <a:blip r:embed="rId3"/>
          <a:stretch>
            <a:fillRect/>
          </a:stretch>
        </p:blipFill>
        <p:spPr>
          <a:xfrm>
            <a:off x="10887075" y="3409950"/>
            <a:ext cx="457200" cy="457200"/>
          </a:xfrm>
          <a:prstGeom prst="rect">
            <a:avLst/>
          </a:prstGeom>
          <a:effectLst/>
        </p:spPr>
      </p:pic>
      <p:sp>
        <p:nvSpPr>
          <p:cNvPr id="13" name="TextBox 12"/>
          <p:cNvSpPr txBox="1"/>
          <p:nvPr/>
        </p:nvSpPr>
        <p:spPr>
          <a:xfrm>
            <a:off x="8667750" y="4210050"/>
            <a:ext cx="2819400" cy="876300"/>
          </a:xfrm>
          <a:prstGeom prst="rect">
            <a:avLst/>
          </a:prstGeom>
          <a:noFill/>
          <a:effectLst/>
        </p:spPr>
        <p:txBody>
          <a:bodyPr wrap="square" lIns="0" rIns="0" tIns="0" bIns="0" anchor="t">
            <a:spAutoFit/>
          </a:bodyPr>
          <a:lstStyle/>
          <a:p>
            <a:pPr algn="r" rtl="1">
              <a:lnSpc>
                <a:spcPts val="3108"/>
              </a:lnSpc>
              <a:spcBef>
                <a:spcPts val="0"/>
              </a:spcBef>
              <a:spcAft>
                <a:spcPts val="0"/>
              </a:spcAft>
            </a:pPr>
            <a:r>
              <a:rPr sz="2775" b="1" lang="ar-EG">
                <a:solidFill>
                  <a:srgbClr val="23201D"/>
                </a:solidFill>
                <a:latin typeface="Manrope"/>
                <a:cs typeface="IBM Plex Sans Arabic Medium"/>
              </a:rPr>
              <a:t>كفاءة</a:t>
            </a:r>
          </a:p>
          <a:p>
            <a:pPr algn="r" rtl="1">
              <a:lnSpc>
                <a:spcPts val="3108"/>
              </a:lnSpc>
              <a:spcBef>
                <a:spcPts val="0"/>
              </a:spcBef>
              <a:spcAft>
                <a:spcPts val="0"/>
              </a:spcAft>
            </a:pPr>
            <a:r>
              <a:rPr sz="2775" b="1" lang="ar-EG">
                <a:solidFill>
                  <a:srgbClr val="23201D"/>
                </a:solidFill>
                <a:latin typeface="Manrope"/>
                <a:cs typeface="IBM Plex Sans Arabic Medium"/>
              </a:rPr>
              <a:t>الموظف</a:t>
            </a:r>
          </a:p>
        </p:txBody>
      </p:sp>
      <p:sp>
        <p:nvSpPr>
          <p:cNvPr id="14" name="TextBox 13"/>
          <p:cNvSpPr txBox="1"/>
          <p:nvPr/>
        </p:nvSpPr>
        <p:spPr>
          <a:xfrm>
            <a:off x="8667750" y="5248275"/>
            <a:ext cx="2819400" cy="419100"/>
          </a:xfrm>
          <a:prstGeom prst="rect">
            <a:avLst/>
          </a:prstGeom>
          <a:noFill/>
          <a:effectLst/>
        </p:spPr>
        <p:txBody>
          <a:bodyPr wrap="square" lIns="0" rIns="0" tIns="0" bIns="0" anchor="t">
            <a:spAutoFit/>
          </a:bodyPr>
          <a:lstStyle/>
          <a:p>
            <a:pPr algn="r" rtl="1">
              <a:lnSpc>
                <a:spcPts val="2520"/>
              </a:lnSpc>
              <a:spcBef>
                <a:spcPts val="0"/>
              </a:spcBef>
              <a:spcAft>
                <a:spcPts val="0"/>
              </a:spcAft>
            </a:pPr>
            <a:r>
              <a:rPr sz="2250" b="0" lang="ar-EG">
                <a:solidFill>
                  <a:srgbClr val="69635C"/>
                </a:solidFill>
                <a:latin typeface="Manrope"/>
                <a:cs typeface="IBM Plex Sans Arabic Medium"/>
              </a:rPr>
              <a:t>خطوات يدوية أقل</a:t>
            </a:r>
          </a:p>
        </p:txBody>
      </p:sp>
      <p:sp>
        <p:nvSpPr>
          <p:cNvPr id="15" name="Rounded Rectangle 14"/>
          <p:cNvSpPr/>
          <p:nvPr/>
        </p:nvSpPr>
        <p:spPr>
          <a:xfrm>
            <a:off x="4438650" y="3057525"/>
            <a:ext cx="3314700" cy="2647950"/>
          </a:xfrm>
          <a:prstGeom prst="roundRect">
            <a:avLst>
              <a:gd name="adj" fmla="val 5755"/>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6762750" y="3267075"/>
            <a:ext cx="742950" cy="742950"/>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icon-file.png"/>
          <p:cNvPicPr>
            <a:picLocks noChangeAspect="1"/>
          </p:cNvPicPr>
          <p:nvPr/>
        </p:nvPicPr>
        <p:blipFill>
          <a:blip r:embed="rId4"/>
          <a:stretch>
            <a:fillRect/>
          </a:stretch>
        </p:blipFill>
        <p:spPr>
          <a:xfrm>
            <a:off x="6905625" y="3409950"/>
            <a:ext cx="457200" cy="457200"/>
          </a:xfrm>
          <a:prstGeom prst="rect">
            <a:avLst/>
          </a:prstGeom>
          <a:effectLst/>
        </p:spPr>
      </p:pic>
      <p:sp>
        <p:nvSpPr>
          <p:cNvPr id="18" name="TextBox 17"/>
          <p:cNvSpPr txBox="1"/>
          <p:nvPr/>
        </p:nvSpPr>
        <p:spPr>
          <a:xfrm>
            <a:off x="4686300" y="4210050"/>
            <a:ext cx="2819400" cy="876300"/>
          </a:xfrm>
          <a:prstGeom prst="rect">
            <a:avLst/>
          </a:prstGeom>
          <a:noFill/>
          <a:effectLst/>
        </p:spPr>
        <p:txBody>
          <a:bodyPr wrap="square" lIns="0" rIns="0" tIns="0" bIns="0" anchor="t">
            <a:spAutoFit/>
          </a:bodyPr>
          <a:lstStyle/>
          <a:p>
            <a:pPr algn="r" rtl="1">
              <a:lnSpc>
                <a:spcPts val="3108"/>
              </a:lnSpc>
              <a:spcBef>
                <a:spcPts val="0"/>
              </a:spcBef>
              <a:spcAft>
                <a:spcPts val="0"/>
              </a:spcAft>
            </a:pPr>
            <a:r>
              <a:rPr sz="2775" b="1" lang="ar-EG">
                <a:solidFill>
                  <a:srgbClr val="23201D"/>
                </a:solidFill>
                <a:latin typeface="Manrope"/>
                <a:cs typeface="IBM Plex Sans Arabic Medium"/>
              </a:rPr>
              <a:t>استمرارية</a:t>
            </a:r>
          </a:p>
          <a:p>
            <a:pPr algn="r" rtl="1">
              <a:lnSpc>
                <a:spcPts val="3108"/>
              </a:lnSpc>
              <a:spcBef>
                <a:spcPts val="0"/>
              </a:spcBef>
              <a:spcAft>
                <a:spcPts val="0"/>
              </a:spcAft>
            </a:pPr>
            <a:r>
              <a:rPr sz="2775" b="1" lang="ar-EG">
                <a:solidFill>
                  <a:srgbClr val="23201D"/>
                </a:solidFill>
                <a:latin typeface="Manrope"/>
                <a:cs typeface="IBM Plex Sans Arabic Medium"/>
              </a:rPr>
              <a:t>المتابعة</a:t>
            </a:r>
          </a:p>
        </p:txBody>
      </p:sp>
      <p:sp>
        <p:nvSpPr>
          <p:cNvPr id="19" name="TextBox 18"/>
          <p:cNvSpPr txBox="1"/>
          <p:nvPr/>
        </p:nvSpPr>
        <p:spPr>
          <a:xfrm>
            <a:off x="4686300" y="5248275"/>
            <a:ext cx="2819400" cy="419100"/>
          </a:xfrm>
          <a:prstGeom prst="rect">
            <a:avLst/>
          </a:prstGeom>
          <a:noFill/>
          <a:effectLst/>
        </p:spPr>
        <p:txBody>
          <a:bodyPr wrap="square" lIns="0" rIns="0" tIns="0" bIns="0" anchor="t">
            <a:spAutoFit/>
          </a:bodyPr>
          <a:lstStyle/>
          <a:p>
            <a:pPr algn="r" rtl="1">
              <a:lnSpc>
                <a:spcPts val="2520"/>
              </a:lnSpc>
              <a:spcBef>
                <a:spcPts val="0"/>
              </a:spcBef>
              <a:spcAft>
                <a:spcPts val="0"/>
              </a:spcAft>
            </a:pPr>
            <a:r>
              <a:rPr sz="2250" b="0" lang="ar-EG">
                <a:solidFill>
                  <a:srgbClr val="69635C"/>
                </a:solidFill>
                <a:latin typeface="Manrope"/>
                <a:cs typeface="IBM Plex Sans Arabic Medium"/>
              </a:rPr>
              <a:t>استخدام آخر ملاحظة</a:t>
            </a:r>
          </a:p>
        </p:txBody>
      </p:sp>
      <p:sp>
        <p:nvSpPr>
          <p:cNvPr id="20" name="Rounded Rectangle 19"/>
          <p:cNvSpPr/>
          <p:nvPr/>
        </p:nvSpPr>
        <p:spPr>
          <a:xfrm>
            <a:off x="457200" y="3057525"/>
            <a:ext cx="3314700" cy="2647950"/>
          </a:xfrm>
          <a:prstGeom prst="roundRect">
            <a:avLst>
              <a:gd name="adj" fmla="val 5755"/>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2781300" y="3267075"/>
            <a:ext cx="742950" cy="742950"/>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icon-actor.png"/>
          <p:cNvPicPr>
            <a:picLocks noChangeAspect="1"/>
          </p:cNvPicPr>
          <p:nvPr/>
        </p:nvPicPr>
        <p:blipFill>
          <a:blip r:embed="rId5"/>
          <a:stretch>
            <a:fillRect/>
          </a:stretch>
        </p:blipFill>
        <p:spPr>
          <a:xfrm>
            <a:off x="2924175" y="3409950"/>
            <a:ext cx="457200" cy="457200"/>
          </a:xfrm>
          <a:prstGeom prst="rect">
            <a:avLst/>
          </a:prstGeom>
          <a:effectLst/>
        </p:spPr>
      </p:pic>
      <p:sp>
        <p:nvSpPr>
          <p:cNvPr id="23" name="TextBox 22"/>
          <p:cNvSpPr txBox="1"/>
          <p:nvPr/>
        </p:nvSpPr>
        <p:spPr>
          <a:xfrm>
            <a:off x="704850" y="4210050"/>
            <a:ext cx="2819400" cy="876300"/>
          </a:xfrm>
          <a:prstGeom prst="rect">
            <a:avLst/>
          </a:prstGeom>
          <a:noFill/>
          <a:effectLst/>
        </p:spPr>
        <p:txBody>
          <a:bodyPr wrap="square" lIns="0" rIns="0" tIns="0" bIns="0" anchor="t">
            <a:spAutoFit/>
          </a:bodyPr>
          <a:lstStyle/>
          <a:p>
            <a:pPr algn="r" rtl="1">
              <a:lnSpc>
                <a:spcPts val="3108"/>
              </a:lnSpc>
              <a:spcBef>
                <a:spcPts val="0"/>
              </a:spcBef>
              <a:spcAft>
                <a:spcPts val="0"/>
              </a:spcAft>
            </a:pPr>
            <a:r>
              <a:rPr sz="2775" b="1" lang="ar-EG">
                <a:solidFill>
                  <a:srgbClr val="23201D"/>
                </a:solidFill>
                <a:latin typeface="Manrope"/>
                <a:cs typeface="IBM Plex Sans Arabic Medium"/>
              </a:rPr>
              <a:t>محادثات</a:t>
            </a:r>
          </a:p>
          <a:p>
            <a:pPr algn="r" rtl="1">
              <a:lnSpc>
                <a:spcPts val="3108"/>
              </a:lnSpc>
              <a:spcBef>
                <a:spcPts val="0"/>
              </a:spcBef>
              <a:spcAft>
                <a:spcPts val="0"/>
              </a:spcAft>
            </a:pPr>
            <a:r>
              <a:rPr sz="2775" b="1" lang="ar-EG">
                <a:solidFill>
                  <a:srgbClr val="23201D"/>
                </a:solidFill>
                <a:latin typeface="Manrope"/>
                <a:cs typeface="IBM Plex Sans Arabic Medium"/>
              </a:rPr>
              <a:t>بمعلومات أوضح</a:t>
            </a:r>
          </a:p>
        </p:txBody>
      </p:sp>
      <p:sp>
        <p:nvSpPr>
          <p:cNvPr id="24" name="TextBox 23"/>
          <p:cNvSpPr txBox="1"/>
          <p:nvPr/>
        </p:nvSpPr>
        <p:spPr>
          <a:xfrm>
            <a:off x="704850" y="5248275"/>
            <a:ext cx="2819400" cy="419100"/>
          </a:xfrm>
          <a:prstGeom prst="rect">
            <a:avLst/>
          </a:prstGeom>
          <a:noFill/>
          <a:effectLst/>
        </p:spPr>
        <p:txBody>
          <a:bodyPr wrap="square" lIns="0" rIns="0" tIns="0" bIns="0" anchor="t">
            <a:spAutoFit/>
          </a:bodyPr>
          <a:lstStyle/>
          <a:p>
            <a:pPr algn="r" rtl="1">
              <a:lnSpc>
                <a:spcPts val="2520"/>
              </a:lnSpc>
              <a:spcBef>
                <a:spcPts val="0"/>
              </a:spcBef>
              <a:spcAft>
                <a:spcPts val="0"/>
              </a:spcAft>
            </a:pPr>
            <a:r>
              <a:rPr sz="2250" b="0" lang="ar-EG">
                <a:solidFill>
                  <a:srgbClr val="69635C"/>
                </a:solidFill>
                <a:latin typeface="Manrope"/>
                <a:cs typeface="IBM Plex Sans Arabic Medium"/>
              </a:rPr>
              <a:t>تكرار أقل للشرح</a:t>
            </a:r>
          </a:p>
        </p:txBody>
      </p:sp>
      <p:sp>
        <p:nvSpPr>
          <p:cNvPr id="25" name="TextBox 24"/>
          <p:cNvSpPr txBox="1"/>
          <p:nvPr/>
        </p:nvSpPr>
        <p:spPr>
          <a:xfrm>
            <a:off x="457200" y="5905500"/>
            <a:ext cx="11277600" cy="371475"/>
          </a:xfrm>
          <a:prstGeom prst="rect">
            <a:avLst/>
          </a:prstGeom>
          <a:noFill/>
          <a:effectLst/>
        </p:spPr>
        <p:txBody>
          <a:bodyPr wrap="square" lIns="0" rIns="0" tIns="0" bIns="0" anchor="t">
            <a:spAutoFit/>
          </a:bodyPr>
          <a:lstStyle/>
          <a:p>
            <a:pPr algn="r" rtl="1">
              <a:lnSpc>
                <a:spcPts val="2520"/>
              </a:lnSpc>
              <a:spcBef>
                <a:spcPts val="0"/>
              </a:spcBef>
              <a:spcAft>
                <a:spcPts val="0"/>
              </a:spcAft>
            </a:pPr>
            <a:r>
              <a:rPr sz="2250" b="0" lang="ar-EG">
                <a:solidFill>
                  <a:srgbClr val="69635C"/>
                </a:solidFill>
                <a:latin typeface="Manrope"/>
                <a:cs typeface="IBM Plex Sans Arabic Medium"/>
              </a:rPr>
              <a:t>فوائد متوقعة · نقيسها في تجربة نتفق عليها.</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0"/>
                                  </p:tgtEl>
                                  <p:attrNameLst>
                                    <p:attrName>style.visibility</p:attrName>
                                  </p:attrNameLst>
                                </p:cBhvr>
                                <p:to>
                                  <p:strVal val="visible"/>
                                </p:to>
                              </p:set>
                              <p:animEffect transition="in" filter="fade">
                                <p:cBhvr>
                                  <p:cTn id="6" dur="550"/>
                                  <p:tgtEl>
                                    <p:spTgt spid="10"/>
                                  </p:tgtEl>
                                </p:cBhvr>
                              </p:animEffect>
                            </p:childTnLst>
                          </p:cTn>
                        </p:par>
                        <p:par>
                          <p:cTn id="7" presetID="10" presetClass="entr" presetSubtype="0" fill="hold" nodeType="withEffect">
                            <p:stCondLst>
                              <p:cond delay="0"/>
                            </p:stCondLst>
                            <p:childTnLst>
                              <p:set>
                                <p:cBhvr>
                                  <p:cTn id="8" dur="1" fill="hold"/>
                                  <p:tgtEl>
                                    <p:spTgt spid="11"/>
                                  </p:tgtEl>
                                  <p:attrNameLst>
                                    <p:attrName>style.visibility</p:attrName>
                                  </p:attrNameLst>
                                </p:cBhvr>
                                <p:to>
                                  <p:strVal val="visible"/>
                                </p:to>
                              </p:set>
                              <p:animEffect transition="in" filter="fade">
                                <p:cBhvr>
                                  <p:cTn id="9" dur="550"/>
                                  <p:tgtEl>
                                    <p:spTgt spid="11"/>
                                  </p:tgtEl>
                                </p:cBhvr>
                              </p:animEffect>
                            </p:childTnLst>
                          </p:cTn>
                        </p:par>
                        <p:par>
                          <p:cTn id="10" presetID="10" presetClass="entr" presetSubtype="0" fill="hold" nodeType="withEffect">
                            <p:stCondLst>
                              <p:cond delay="0"/>
                            </p:stCondLst>
                            <p:childTnLst>
                              <p:set>
                                <p:cBhvr>
                                  <p:cTn id="11" dur="1" fill="hold"/>
                                  <p:tgtEl>
                                    <p:spTgt spid="12"/>
                                  </p:tgtEl>
                                  <p:attrNameLst>
                                    <p:attrName>style.visibility</p:attrName>
                                  </p:attrNameLst>
                                </p:cBhvr>
                                <p:to>
                                  <p:strVal val="visible"/>
                                </p:to>
                              </p:set>
                              <p:animEffect transition="in" filter="fade">
                                <p:cBhvr>
                                  <p:cTn id="12" dur="550"/>
                                  <p:tgtEl>
                                    <p:spTgt spid="12"/>
                                  </p:tgtEl>
                                </p:cBhvr>
                              </p:animEffect>
                            </p:childTnLst>
                          </p:cTn>
                        </p:par>
                        <p:par>
                          <p:cTn id="13" presetID="10" presetClass="entr" presetSubtype="0" fill="hold" nodeType="withEffect">
                            <p:stCondLst>
                              <p:cond delay="0"/>
                            </p:stCondLst>
                            <p:childTnLst>
                              <p:set>
                                <p:cBhvr>
                                  <p:cTn id="14" dur="1" fill="hold"/>
                                  <p:tgtEl>
                                    <p:spTgt spid="13"/>
                                  </p:tgtEl>
                                  <p:attrNameLst>
                                    <p:attrName>style.visibility</p:attrName>
                                  </p:attrNameLst>
                                </p:cBhvr>
                                <p:to>
                                  <p:strVal val="visible"/>
                                </p:to>
                              </p:set>
                              <p:animEffect transition="in" filter="fade">
                                <p:cBhvr>
                                  <p:cTn id="15" dur="550"/>
                                  <p:tgtEl>
                                    <p:spTgt spid="13"/>
                                  </p:tgtEl>
                                </p:cBhvr>
                              </p:animEffect>
                            </p:childTnLst>
                          </p:cTn>
                        </p:par>
                        <p:par>
                          <p:cTn id="16" presetID="10" presetClass="entr" presetSubtype="0" fill="hold" nodeType="withEffect">
                            <p:stCondLst>
                              <p:cond delay="0"/>
                            </p:stCondLst>
                            <p:childTnLst>
                              <p:set>
                                <p:cBhvr>
                                  <p:cTn id="17" dur="1" fill="hold"/>
                                  <p:tgtEl>
                                    <p:spTgt spid="14"/>
                                  </p:tgtEl>
                                  <p:attrNameLst>
                                    <p:attrName>style.visibility</p:attrName>
                                  </p:attrNameLst>
                                </p:cBhvr>
                                <p:to>
                                  <p:strVal val="visible"/>
                                </p:to>
                              </p:set>
                              <p:animEffect transition="in" filter="fade">
                                <p:cBhvr>
                                  <p:cTn id="18" dur="550"/>
                                  <p:tgtEl>
                                    <p:spTgt spid="14"/>
                                  </p:tgtEl>
                                </p:cBhvr>
                              </p:animEffect>
                            </p:childTnLst>
                          </p:cTn>
                        </p:par>
                        <p:par>
                          <p:cTn id="19" presetID="10" presetClass="entr" presetSubtype="0" fill="hold" nodeType="withEffect">
                            <p:stCondLst>
                              <p:cond delay="1250"/>
                            </p:stCondLst>
                            <p:childTnLst>
                              <p:set>
                                <p:cBhvr>
                                  <p:cTn id="20" dur="1" fill="hold"/>
                                  <p:tgtEl>
                                    <p:spTgt spid="15"/>
                                  </p:tgtEl>
                                  <p:attrNameLst>
                                    <p:attrName>style.visibility</p:attrName>
                                  </p:attrNameLst>
                                </p:cBhvr>
                                <p:to>
                                  <p:strVal val="visible"/>
                                </p:to>
                              </p:set>
                              <p:animEffect transition="in" filter="fade">
                                <p:cBhvr>
                                  <p:cTn id="21" dur="550"/>
                                  <p:tgtEl>
                                    <p:spTgt spid="15"/>
                                  </p:tgtEl>
                                </p:cBhvr>
                              </p:animEffect>
                            </p:childTnLst>
                          </p:cTn>
                        </p:par>
                        <p:par>
                          <p:cTn id="22" presetID="10" presetClass="entr" presetSubtype="0" fill="hold" nodeType="withEffect">
                            <p:stCondLst>
                              <p:cond delay="1250"/>
                            </p:stCondLst>
                            <p:childTnLst>
                              <p:set>
                                <p:cBhvr>
                                  <p:cTn id="23" dur="1" fill="hold"/>
                                  <p:tgtEl>
                                    <p:spTgt spid="16"/>
                                  </p:tgtEl>
                                  <p:attrNameLst>
                                    <p:attrName>style.visibility</p:attrName>
                                  </p:attrNameLst>
                                </p:cBhvr>
                                <p:to>
                                  <p:strVal val="visible"/>
                                </p:to>
                              </p:set>
                              <p:animEffect transition="in" filter="fade">
                                <p:cBhvr>
                                  <p:cTn id="24" dur="550"/>
                                  <p:tgtEl>
                                    <p:spTgt spid="16"/>
                                  </p:tgtEl>
                                </p:cBhvr>
                              </p:animEffect>
                            </p:childTnLst>
                          </p:cTn>
                        </p:par>
                        <p:par>
                          <p:cTn id="25" presetID="10" presetClass="entr" presetSubtype="0" fill="hold" nodeType="withEffect">
                            <p:stCondLst>
                              <p:cond delay="1250"/>
                            </p:stCondLst>
                            <p:childTnLst>
                              <p:set>
                                <p:cBhvr>
                                  <p:cTn id="26" dur="1" fill="hold"/>
                                  <p:tgtEl>
                                    <p:spTgt spid="17"/>
                                  </p:tgtEl>
                                  <p:attrNameLst>
                                    <p:attrName>style.visibility</p:attrName>
                                  </p:attrNameLst>
                                </p:cBhvr>
                                <p:to>
                                  <p:strVal val="visible"/>
                                </p:to>
                              </p:set>
                              <p:animEffect transition="in" filter="fade">
                                <p:cBhvr>
                                  <p:cTn id="27" dur="550"/>
                                  <p:tgtEl>
                                    <p:spTgt spid="17"/>
                                  </p:tgtEl>
                                </p:cBhvr>
                              </p:animEffect>
                            </p:childTnLst>
                          </p:cTn>
                        </p:par>
                        <p:par>
                          <p:cTn id="28" presetID="10" presetClass="entr" presetSubtype="0" fill="hold" nodeType="withEffect">
                            <p:stCondLst>
                              <p:cond delay="1250"/>
                            </p:stCondLst>
                            <p:childTnLst>
                              <p:set>
                                <p:cBhvr>
                                  <p:cTn id="29" dur="1" fill="hold"/>
                                  <p:tgtEl>
                                    <p:spTgt spid="18"/>
                                  </p:tgtEl>
                                  <p:attrNameLst>
                                    <p:attrName>style.visibility</p:attrName>
                                  </p:attrNameLst>
                                </p:cBhvr>
                                <p:to>
                                  <p:strVal val="visible"/>
                                </p:to>
                              </p:set>
                              <p:animEffect transition="in" filter="fade">
                                <p:cBhvr>
                                  <p:cTn id="30" dur="550"/>
                                  <p:tgtEl>
                                    <p:spTgt spid="18"/>
                                  </p:tgtEl>
                                </p:cBhvr>
                              </p:animEffect>
                            </p:childTnLst>
                          </p:cTn>
                        </p:par>
                        <p:par>
                          <p:cTn id="31" presetID="10" presetClass="entr" presetSubtype="0" fill="hold" nodeType="withEffect">
                            <p:stCondLst>
                              <p:cond delay="1250"/>
                            </p:stCondLst>
                            <p:childTnLst>
                              <p:set>
                                <p:cBhvr>
                                  <p:cTn id="32" dur="1" fill="hold"/>
                                  <p:tgtEl>
                                    <p:spTgt spid="19"/>
                                  </p:tgtEl>
                                  <p:attrNameLst>
                                    <p:attrName>style.visibility</p:attrName>
                                  </p:attrNameLst>
                                </p:cBhvr>
                                <p:to>
                                  <p:strVal val="visible"/>
                                </p:to>
                              </p:set>
                              <p:animEffect transition="in" filter="fade">
                                <p:cBhvr>
                                  <p:cTn id="33" dur="550"/>
                                  <p:tgtEl>
                                    <p:spTgt spid="19"/>
                                  </p:tgtEl>
                                </p:cBhvr>
                              </p:animEffect>
                            </p:childTnLst>
                          </p:cTn>
                        </p:par>
                        <p:par>
                          <p:cTn id="34" presetID="10" presetClass="entr" presetSubtype="0" fill="hold" nodeType="withEffect">
                            <p:stCondLst>
                              <p:cond delay="2500"/>
                            </p:stCondLst>
                            <p:childTnLst>
                              <p:set>
                                <p:cBhvr>
                                  <p:cTn id="35" dur="1" fill="hold"/>
                                  <p:tgtEl>
                                    <p:spTgt spid="20"/>
                                  </p:tgtEl>
                                  <p:attrNameLst>
                                    <p:attrName>style.visibility</p:attrName>
                                  </p:attrNameLst>
                                </p:cBhvr>
                                <p:to>
                                  <p:strVal val="visible"/>
                                </p:to>
                              </p:set>
                              <p:animEffect transition="in" filter="fade">
                                <p:cBhvr>
                                  <p:cTn id="36" dur="550"/>
                                  <p:tgtEl>
                                    <p:spTgt spid="20"/>
                                  </p:tgtEl>
                                </p:cBhvr>
                              </p:animEffect>
                            </p:childTnLst>
                          </p:cTn>
                        </p:par>
                        <p:par>
                          <p:cTn id="37" presetID="10" presetClass="entr" presetSubtype="0" fill="hold" nodeType="withEffect">
                            <p:stCondLst>
                              <p:cond delay="2500"/>
                            </p:stCondLst>
                            <p:childTnLst>
                              <p:set>
                                <p:cBhvr>
                                  <p:cTn id="38" dur="1" fill="hold"/>
                                  <p:tgtEl>
                                    <p:spTgt spid="21"/>
                                  </p:tgtEl>
                                  <p:attrNameLst>
                                    <p:attrName>style.visibility</p:attrName>
                                  </p:attrNameLst>
                                </p:cBhvr>
                                <p:to>
                                  <p:strVal val="visible"/>
                                </p:to>
                              </p:set>
                              <p:animEffect transition="in" filter="fade">
                                <p:cBhvr>
                                  <p:cTn id="39" dur="550"/>
                                  <p:tgtEl>
                                    <p:spTgt spid="21"/>
                                  </p:tgtEl>
                                </p:cBhvr>
                              </p:animEffect>
                            </p:childTnLst>
                          </p:cTn>
                        </p:par>
                        <p:par>
                          <p:cTn id="40" presetID="10" presetClass="entr" presetSubtype="0" fill="hold" nodeType="withEffect">
                            <p:stCondLst>
                              <p:cond delay="2500"/>
                            </p:stCondLst>
                            <p:childTnLst>
                              <p:set>
                                <p:cBhvr>
                                  <p:cTn id="41" dur="1" fill="hold"/>
                                  <p:tgtEl>
                                    <p:spTgt spid="22"/>
                                  </p:tgtEl>
                                  <p:attrNameLst>
                                    <p:attrName>style.visibility</p:attrName>
                                  </p:attrNameLst>
                                </p:cBhvr>
                                <p:to>
                                  <p:strVal val="visible"/>
                                </p:to>
                              </p:set>
                              <p:animEffect transition="in" filter="fade">
                                <p:cBhvr>
                                  <p:cTn id="42" dur="550"/>
                                  <p:tgtEl>
                                    <p:spTgt spid="22"/>
                                  </p:tgtEl>
                                </p:cBhvr>
                              </p:animEffect>
                            </p:childTnLst>
                          </p:cTn>
                        </p:par>
                        <p:par>
                          <p:cTn id="43" presetID="10" presetClass="entr" presetSubtype="0" fill="hold" nodeType="withEffect">
                            <p:stCondLst>
                              <p:cond delay="2500"/>
                            </p:stCondLst>
                            <p:childTnLst>
                              <p:set>
                                <p:cBhvr>
                                  <p:cTn id="44" dur="1" fill="hold"/>
                                  <p:tgtEl>
                                    <p:spTgt spid="23"/>
                                  </p:tgtEl>
                                  <p:attrNameLst>
                                    <p:attrName>style.visibility</p:attrName>
                                  </p:attrNameLst>
                                </p:cBhvr>
                                <p:to>
                                  <p:strVal val="visible"/>
                                </p:to>
                              </p:set>
                              <p:animEffect transition="in" filter="fade">
                                <p:cBhvr>
                                  <p:cTn id="45" dur="550"/>
                                  <p:tgtEl>
                                    <p:spTgt spid="23"/>
                                  </p:tgtEl>
                                </p:cBhvr>
                              </p:animEffect>
                            </p:childTnLst>
                          </p:cTn>
                        </p:par>
                        <p:par>
                          <p:cTn id="46" presetID="10" presetClass="entr" presetSubtype="0" fill="hold" nodeType="withEffect">
                            <p:stCondLst>
                              <p:cond delay="2500"/>
                            </p:stCondLst>
                            <p:childTnLst>
                              <p:set>
                                <p:cBhvr>
                                  <p:cTn id="47" dur="1" fill="hold"/>
                                  <p:tgtEl>
                                    <p:spTgt spid="24"/>
                                  </p:tgtEl>
                                  <p:attrNameLst>
                                    <p:attrName>style.visibility</p:attrName>
                                  </p:attrNameLst>
                                </p:cBhvr>
                                <p:to>
                                  <p:strVal val="visible"/>
                                </p:to>
                              </p:set>
                              <p:animEffect transition="in" filter="fade">
                                <p:cBhvr>
                                  <p:cTn id="48" dur="550"/>
                                  <p:tgtEl>
                                    <p:spTgt spid="2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3162300" y="266700"/>
            <a:ext cx="8572500" cy="2667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1" lang="ar-EG">
                <a:solidFill>
                  <a:srgbClr val="69635C"/>
                </a:solidFill>
                <a:latin typeface="Manrope"/>
                <a:cs typeface="IBM Plex Sans Arabic Medium"/>
              </a:rPr>
              <a:t>٠٧ · خطوة مستقبلية اختيارية</a:t>
            </a:r>
          </a:p>
        </p:txBody>
      </p:sp>
      <p:pic>
        <p:nvPicPr>
          <p:cNvPr id="3" name="Picture 2" descr="brand.png"/>
          <p:cNvPicPr>
            <a:picLocks noChangeAspect="1"/>
          </p:cNvPicPr>
          <p:nvPr/>
        </p:nvPicPr>
        <p:blipFill>
          <a:blip r:embed="rId2"/>
          <a:stretch>
            <a:fillRect/>
          </a:stretch>
        </p:blipFill>
        <p:spPr>
          <a:xfrm>
            <a:off x="1781175" y="220662"/>
            <a:ext cx="495300" cy="330200"/>
          </a:xfrm>
          <a:prstGeom prst="rect">
            <a:avLst/>
          </a:prstGeom>
          <a:effectLst/>
        </p:spPr>
      </p:pic>
      <p:sp>
        <p:nvSpPr>
          <p:cNvPr id="4" name="TextBox 3"/>
          <p:cNvSpPr txBox="1"/>
          <p:nvPr/>
        </p:nvSpPr>
        <p:spPr>
          <a:xfrm>
            <a:off x="457200" y="266700"/>
            <a:ext cx="1219200" cy="276225"/>
          </a:xfrm>
          <a:prstGeom prst="rect">
            <a:avLst/>
          </a:prstGeom>
          <a:noFill/>
          <a:effectLst/>
        </p:spPr>
        <p:txBody>
          <a:bodyPr wrap="square" lIns="0" rIns="0" tIns="0" bIns="0" anchor="t">
            <a:spAutoFit/>
          </a:bodyPr>
          <a:lstStyle/>
          <a:p>
            <a:pPr algn="r" rtl="0">
              <a:lnSpc>
                <a:spcPts val="1596"/>
              </a:lnSpc>
              <a:spcBef>
                <a:spcPts val="0"/>
              </a:spcBef>
              <a:spcAft>
                <a:spcPts val="0"/>
              </a:spcAft>
            </a:pPr>
            <a:r>
              <a:rPr sz="1425" b="1" lang="ar-EG">
                <a:solidFill>
                  <a:srgbClr val="23201D"/>
                </a:solidFill>
                <a:latin typeface="Manrope"/>
                <a:cs typeface="IBM Plex Sans Arabic Medium"/>
              </a:rPr>
              <a:t>GRINDCTRL</a:t>
            </a:r>
          </a:p>
        </p:txBody>
      </p:sp>
      <p:sp>
        <p:nvSpPr>
          <p:cNvPr id="5" name="TextBox 4"/>
          <p:cNvSpPr txBox="1"/>
          <p:nvPr/>
        </p:nvSpPr>
        <p:spPr>
          <a:xfrm>
            <a:off x="457200" y="819150"/>
            <a:ext cx="11277600" cy="1562100"/>
          </a:xfrm>
          <a:prstGeom prst="rect">
            <a:avLst/>
          </a:prstGeom>
          <a:noFill/>
          <a:effectLst/>
        </p:spPr>
        <p:txBody>
          <a:bodyPr wrap="square" lIns="0" rIns="0" tIns="0" bIns="0" anchor="t">
            <a:spAutoFit/>
          </a:bodyPr>
          <a:lstStyle/>
          <a:p>
            <a:pPr algn="r" rtl="1">
              <a:lnSpc>
                <a:spcPts val="5376"/>
              </a:lnSpc>
              <a:spcBef>
                <a:spcPts val="0"/>
              </a:spcBef>
              <a:spcAft>
                <a:spcPts val="0"/>
              </a:spcAft>
            </a:pPr>
            <a:r>
              <a:rPr sz="4800" b="1" lang="ar-EG">
                <a:solidFill>
                  <a:srgbClr val="23201D"/>
                </a:solidFill>
                <a:latin typeface="Manrope"/>
                <a:cs typeface="IBM Plex Sans Arabic Medium"/>
              </a:rPr>
              <a:t>بعد ما الربط يشتغل،</a:t>
            </a:r>
          </a:p>
          <a:p>
            <a:pPr algn="r" rtl="1">
              <a:lnSpc>
                <a:spcPts val="5376"/>
              </a:lnSpc>
              <a:spcBef>
                <a:spcPts val="0"/>
              </a:spcBef>
              <a:spcAft>
                <a:spcPts val="0"/>
              </a:spcAft>
            </a:pPr>
            <a:r>
              <a:rPr sz="4800" b="1" lang="ar-EG">
                <a:solidFill>
                  <a:srgbClr val="23201D"/>
                </a:solidFill>
                <a:latin typeface="Manrope"/>
                <a:cs typeface="IBM Plex Sans Arabic Medium"/>
              </a:rPr>
              <a:t>نقدر نضيف طبقة AI.</a:t>
            </a:r>
          </a:p>
        </p:txBody>
      </p:sp>
      <p:sp>
        <p:nvSpPr>
          <p:cNvPr id="6" name="TextBox 5"/>
          <p:cNvSpPr txBox="1"/>
          <p:nvPr/>
        </p:nvSpPr>
        <p:spPr>
          <a:xfrm>
            <a:off x="457200" y="2419350"/>
            <a:ext cx="11277600" cy="457200"/>
          </a:xfrm>
          <a:prstGeom prst="rect">
            <a:avLst/>
          </a:prstGeom>
          <a:noFill/>
          <a:effectLst/>
        </p:spPr>
        <p:txBody>
          <a:bodyPr wrap="square" lIns="0" rIns="0" tIns="0" bIns="0" anchor="t">
            <a:spAutoFit/>
          </a:bodyPr>
          <a:lstStyle/>
          <a:p>
            <a:pPr algn="r" rtl="1">
              <a:lnSpc>
                <a:spcPts val="2688"/>
              </a:lnSpc>
              <a:spcBef>
                <a:spcPts val="0"/>
              </a:spcBef>
              <a:spcAft>
                <a:spcPts val="0"/>
              </a:spcAft>
            </a:pPr>
            <a:r>
              <a:rPr sz="2400" b="0" lang="ar-EG">
                <a:solidFill>
                  <a:srgbClr val="69635C"/>
                </a:solidFill>
                <a:latin typeface="Manrope"/>
                <a:cs typeface="IBM Plex Sans Arabic Medium"/>
              </a:rPr>
              <a:t>إمكانيات مستقبلية، منفصلة عن التسليم الأول.</a:t>
            </a:r>
          </a:p>
        </p:txBody>
      </p:sp>
      <p:cxnSp>
        <p:nvCxnSpPr>
          <p:cNvPr id="7" name="Connector 6"/>
          <p:cNvCxnSpPr/>
          <p:nvPr/>
        </p:nvCxnSpPr>
        <p:spPr>
          <a:xfrm flipH="1">
            <a:off x="457200" y="6334125"/>
            <a:ext cx="11277600" cy="0"/>
          </a:xfrm>
          <a:prstGeom prst="line">
            <a:avLst/>
          </a:prstGeom>
          <a:ln w="9525">
            <a:solidFill>
              <a:srgbClr val="D5CFC6"/>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1447800" y="6496050"/>
            <a:ext cx="10287000" cy="209550"/>
          </a:xfrm>
          <a:prstGeom prst="rect">
            <a:avLst/>
          </a:prstGeom>
          <a:noFill/>
          <a:effectLst/>
        </p:spPr>
        <p:txBody>
          <a:bodyPr wrap="square" lIns="0" rIns="0" tIns="0" bIns="0" anchor="t">
            <a:spAutoFit/>
          </a:bodyPr>
          <a:lstStyle/>
          <a:p>
            <a:pPr algn="r" rtl="1">
              <a:lnSpc>
                <a:spcPts val="1260"/>
              </a:lnSpc>
              <a:spcBef>
                <a:spcPts val="0"/>
              </a:spcBef>
              <a:spcAft>
                <a:spcPts val="0"/>
              </a:spcAft>
            </a:pPr>
            <a:r>
              <a:rPr sz="1125" b="0" lang="ar-EG">
                <a:solidFill>
                  <a:srgbClr val="69635C"/>
                </a:solidFill>
                <a:latin typeface="Manrope"/>
                <a:cs typeface="IBM Plex Sans Arabic Medium"/>
              </a:rPr>
              <a:t>تعاون مقترح · سجلات توضيحية</a:t>
            </a:r>
          </a:p>
        </p:txBody>
      </p:sp>
      <p:sp>
        <p:nvSpPr>
          <p:cNvPr id="9" name="TextBox 8"/>
          <p:cNvSpPr txBox="1"/>
          <p:nvPr/>
        </p:nvSpPr>
        <p:spPr>
          <a:xfrm>
            <a:off x="457200" y="6496050"/>
            <a:ext cx="828675" cy="20955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ar-EG">
                <a:solidFill>
                  <a:srgbClr val="69635C"/>
                </a:solidFill>
                <a:latin typeface="Manrope"/>
                <a:cs typeface="IBM Plex Sans Arabic Medium"/>
              </a:rPr>
              <a:t>08 / 09</a:t>
            </a:r>
          </a:p>
        </p:txBody>
      </p:sp>
      <p:sp>
        <p:nvSpPr>
          <p:cNvPr id="10" name="Rounded Rectangle 9"/>
          <p:cNvSpPr/>
          <p:nvPr/>
        </p:nvSpPr>
        <p:spPr>
          <a:xfrm>
            <a:off x="6400800" y="3000375"/>
            <a:ext cx="5334000" cy="1381125"/>
          </a:xfrm>
          <a:prstGeom prst="roundRect">
            <a:avLst>
              <a:gd name="adj" fmla="val 11034"/>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10829925" y="3286125"/>
            <a:ext cx="714375" cy="714375"/>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icon-file.png"/>
          <p:cNvPicPr>
            <a:picLocks noChangeAspect="1"/>
          </p:cNvPicPr>
          <p:nvPr/>
        </p:nvPicPr>
        <p:blipFill>
          <a:blip r:embed="rId3"/>
          <a:stretch>
            <a:fillRect/>
          </a:stretch>
        </p:blipFill>
        <p:spPr>
          <a:xfrm>
            <a:off x="10972800" y="3429000"/>
            <a:ext cx="428625" cy="428625"/>
          </a:xfrm>
          <a:prstGeom prst="rect">
            <a:avLst/>
          </a:prstGeom>
          <a:effectLst/>
        </p:spPr>
      </p:pic>
      <p:sp>
        <p:nvSpPr>
          <p:cNvPr id="13" name="TextBox 12"/>
          <p:cNvSpPr txBox="1"/>
          <p:nvPr/>
        </p:nvSpPr>
        <p:spPr>
          <a:xfrm>
            <a:off x="6591300" y="3171825"/>
            <a:ext cx="4048125" cy="495300"/>
          </a:xfrm>
          <a:prstGeom prst="rect">
            <a:avLst/>
          </a:prstGeom>
          <a:noFill/>
          <a:effectLst/>
        </p:spPr>
        <p:txBody>
          <a:bodyPr wrap="square" lIns="0" rIns="0" tIns="0" bIns="0" anchor="t">
            <a:spAutoFit/>
          </a:bodyPr>
          <a:lstStyle/>
          <a:p>
            <a:pPr algn="r" rtl="1">
              <a:lnSpc>
                <a:spcPts val="2940"/>
              </a:lnSpc>
              <a:spcBef>
                <a:spcPts val="0"/>
              </a:spcBef>
              <a:spcAft>
                <a:spcPts val="0"/>
              </a:spcAft>
            </a:pPr>
            <a:r>
              <a:rPr sz="2625" b="1" lang="ar-EG">
                <a:solidFill>
                  <a:srgbClr val="23201D"/>
                </a:solidFill>
                <a:latin typeface="Manrope"/>
                <a:cs typeface="IBM Plex Sans Arabic Medium"/>
              </a:rPr>
              <a:t>ملخصات التذاكر</a:t>
            </a:r>
          </a:p>
        </p:txBody>
      </p:sp>
      <p:sp>
        <p:nvSpPr>
          <p:cNvPr id="14" name="TextBox 13"/>
          <p:cNvSpPr txBox="1"/>
          <p:nvPr/>
        </p:nvSpPr>
        <p:spPr>
          <a:xfrm>
            <a:off x="6591300" y="3810000"/>
            <a:ext cx="4048125" cy="428625"/>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0" lang="ar-EG">
                <a:solidFill>
                  <a:srgbClr val="69635C"/>
                </a:solidFill>
                <a:latin typeface="Manrope"/>
                <a:cs typeface="IBM Plex Sans Arabic Medium"/>
              </a:rPr>
              <a:t>بمراجع للملاحظات الأصلية</a:t>
            </a:r>
          </a:p>
        </p:txBody>
      </p:sp>
      <p:sp>
        <p:nvSpPr>
          <p:cNvPr id="15" name="Rounded Rectangle 14"/>
          <p:cNvSpPr/>
          <p:nvPr/>
        </p:nvSpPr>
        <p:spPr>
          <a:xfrm>
            <a:off x="457200" y="3000375"/>
            <a:ext cx="5334000" cy="1381125"/>
          </a:xfrm>
          <a:prstGeom prst="roundRect">
            <a:avLst>
              <a:gd name="adj" fmla="val 11034"/>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4886325" y="3286125"/>
            <a:ext cx="714375" cy="714375"/>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icon-quality.png"/>
          <p:cNvPicPr>
            <a:picLocks noChangeAspect="1"/>
          </p:cNvPicPr>
          <p:nvPr/>
        </p:nvPicPr>
        <p:blipFill>
          <a:blip r:embed="rId4"/>
          <a:stretch>
            <a:fillRect/>
          </a:stretch>
        </p:blipFill>
        <p:spPr>
          <a:xfrm>
            <a:off x="5029200" y="3429000"/>
            <a:ext cx="428625" cy="428625"/>
          </a:xfrm>
          <a:prstGeom prst="rect">
            <a:avLst/>
          </a:prstGeom>
          <a:effectLst/>
        </p:spPr>
      </p:pic>
      <p:sp>
        <p:nvSpPr>
          <p:cNvPr id="18" name="TextBox 17"/>
          <p:cNvSpPr txBox="1"/>
          <p:nvPr/>
        </p:nvSpPr>
        <p:spPr>
          <a:xfrm>
            <a:off x="647700" y="3171825"/>
            <a:ext cx="4048125" cy="495300"/>
          </a:xfrm>
          <a:prstGeom prst="rect">
            <a:avLst/>
          </a:prstGeom>
          <a:noFill/>
          <a:effectLst/>
        </p:spPr>
        <p:txBody>
          <a:bodyPr wrap="square" lIns="0" rIns="0" tIns="0" bIns="0" anchor="t">
            <a:spAutoFit/>
          </a:bodyPr>
          <a:lstStyle/>
          <a:p>
            <a:pPr algn="r" rtl="1">
              <a:lnSpc>
                <a:spcPts val="2940"/>
              </a:lnSpc>
              <a:spcBef>
                <a:spcPts val="0"/>
              </a:spcBef>
              <a:spcAft>
                <a:spcPts val="0"/>
              </a:spcAft>
            </a:pPr>
            <a:r>
              <a:rPr sz="2625" b="1" lang="ar-EG">
                <a:solidFill>
                  <a:srgbClr val="23201D"/>
                </a:solidFill>
                <a:latin typeface="Manrope"/>
                <a:cs typeface="IBM Plex Sans Arabic Medium"/>
              </a:rPr>
              <a:t>مشكلات متكررة</a:t>
            </a:r>
          </a:p>
        </p:txBody>
      </p:sp>
      <p:sp>
        <p:nvSpPr>
          <p:cNvPr id="19" name="TextBox 18"/>
          <p:cNvSpPr txBox="1"/>
          <p:nvPr/>
        </p:nvSpPr>
        <p:spPr>
          <a:xfrm>
            <a:off x="647700" y="3810000"/>
            <a:ext cx="4048125" cy="428625"/>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0" lang="ar-EG">
                <a:solidFill>
                  <a:srgbClr val="69635C"/>
                </a:solidFill>
                <a:latin typeface="Manrope"/>
                <a:cs typeface="IBM Plex Sans Arabic Medium"/>
              </a:rPr>
              <a:t>أنماط عبر التذاكر</a:t>
            </a:r>
          </a:p>
        </p:txBody>
      </p:sp>
      <p:sp>
        <p:nvSpPr>
          <p:cNvPr id="20" name="Rounded Rectangle 19"/>
          <p:cNvSpPr/>
          <p:nvPr/>
        </p:nvSpPr>
        <p:spPr>
          <a:xfrm>
            <a:off x="6400800" y="4572000"/>
            <a:ext cx="5334000" cy="1381125"/>
          </a:xfrm>
          <a:prstGeom prst="roundRect">
            <a:avLst>
              <a:gd name="adj" fmla="val 11034"/>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10829925" y="4857750"/>
            <a:ext cx="714375" cy="714375"/>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icon-actor.png"/>
          <p:cNvPicPr>
            <a:picLocks noChangeAspect="1"/>
          </p:cNvPicPr>
          <p:nvPr/>
        </p:nvPicPr>
        <p:blipFill>
          <a:blip r:embed="rId5"/>
          <a:stretch>
            <a:fillRect/>
          </a:stretch>
        </p:blipFill>
        <p:spPr>
          <a:xfrm>
            <a:off x="10972800" y="5000625"/>
            <a:ext cx="428625" cy="428625"/>
          </a:xfrm>
          <a:prstGeom prst="rect">
            <a:avLst/>
          </a:prstGeom>
          <a:effectLst/>
        </p:spPr>
      </p:pic>
      <p:sp>
        <p:nvSpPr>
          <p:cNvPr id="23" name="TextBox 22"/>
          <p:cNvSpPr txBox="1"/>
          <p:nvPr/>
        </p:nvSpPr>
        <p:spPr>
          <a:xfrm>
            <a:off x="6591300" y="4743450"/>
            <a:ext cx="4048125" cy="495300"/>
          </a:xfrm>
          <a:prstGeom prst="rect">
            <a:avLst/>
          </a:prstGeom>
          <a:noFill/>
          <a:effectLst/>
        </p:spPr>
        <p:txBody>
          <a:bodyPr wrap="square" lIns="0" rIns="0" tIns="0" bIns="0" anchor="t">
            <a:spAutoFit/>
          </a:bodyPr>
          <a:lstStyle/>
          <a:p>
            <a:pPr algn="r" rtl="1">
              <a:lnSpc>
                <a:spcPts val="2940"/>
              </a:lnSpc>
              <a:spcBef>
                <a:spcPts val="0"/>
              </a:spcBef>
              <a:spcAft>
                <a:spcPts val="0"/>
              </a:spcAft>
            </a:pPr>
            <a:r>
              <a:rPr sz="2625" b="1" lang="ar-EG">
                <a:solidFill>
                  <a:srgbClr val="23201D"/>
                </a:solidFill>
                <a:latin typeface="Manrope"/>
                <a:cs typeface="IBM Plex Sans Arabic Medium"/>
              </a:rPr>
              <a:t>لوحة للإدارة</a:t>
            </a:r>
          </a:p>
        </p:txBody>
      </p:sp>
      <p:sp>
        <p:nvSpPr>
          <p:cNvPr id="24" name="TextBox 23"/>
          <p:cNvSpPr txBox="1"/>
          <p:nvPr/>
        </p:nvSpPr>
        <p:spPr>
          <a:xfrm>
            <a:off x="6591300" y="5381625"/>
            <a:ext cx="4048125" cy="428625"/>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0" lang="ar-EG">
                <a:solidFill>
                  <a:srgbClr val="69635C"/>
                </a:solidFill>
                <a:latin typeface="Manrope"/>
                <a:cs typeface="IBM Plex Sans Arabic Medium"/>
              </a:rPr>
              <a:t>متابعة أنماط الخدمة</a:t>
            </a:r>
          </a:p>
        </p:txBody>
      </p:sp>
      <p:sp>
        <p:nvSpPr>
          <p:cNvPr id="25" name="Rounded Rectangle 24"/>
          <p:cNvSpPr/>
          <p:nvPr/>
        </p:nvSpPr>
        <p:spPr>
          <a:xfrm>
            <a:off x="457200" y="4572000"/>
            <a:ext cx="5334000" cy="1381125"/>
          </a:xfrm>
          <a:prstGeom prst="roundRect">
            <a:avLst>
              <a:gd name="adj" fmla="val 11034"/>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4886325" y="4857750"/>
            <a:ext cx="714375" cy="714375"/>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clock.png"/>
          <p:cNvPicPr>
            <a:picLocks noChangeAspect="1"/>
          </p:cNvPicPr>
          <p:nvPr/>
        </p:nvPicPr>
        <p:blipFill>
          <a:blip r:embed="rId6"/>
          <a:stretch>
            <a:fillRect/>
          </a:stretch>
        </p:blipFill>
        <p:spPr>
          <a:xfrm>
            <a:off x="5029200" y="5000625"/>
            <a:ext cx="428625" cy="428625"/>
          </a:xfrm>
          <a:prstGeom prst="rect">
            <a:avLst/>
          </a:prstGeom>
          <a:effectLst/>
        </p:spPr>
      </p:pic>
      <p:sp>
        <p:nvSpPr>
          <p:cNvPr id="28" name="TextBox 27"/>
          <p:cNvSpPr txBox="1"/>
          <p:nvPr/>
        </p:nvSpPr>
        <p:spPr>
          <a:xfrm>
            <a:off x="647700" y="4743450"/>
            <a:ext cx="4048125" cy="495300"/>
          </a:xfrm>
          <a:prstGeom prst="rect">
            <a:avLst/>
          </a:prstGeom>
          <a:noFill/>
          <a:effectLst/>
        </p:spPr>
        <p:txBody>
          <a:bodyPr wrap="square" lIns="0" rIns="0" tIns="0" bIns="0" anchor="t">
            <a:spAutoFit/>
          </a:bodyPr>
          <a:lstStyle/>
          <a:p>
            <a:pPr algn="r" rtl="1">
              <a:lnSpc>
                <a:spcPts val="2940"/>
              </a:lnSpc>
              <a:spcBef>
                <a:spcPts val="0"/>
              </a:spcBef>
              <a:spcAft>
                <a:spcPts val="0"/>
              </a:spcAft>
            </a:pPr>
            <a:r>
              <a:rPr sz="2625" b="1" lang="ar-EG">
                <a:solidFill>
                  <a:srgbClr val="23201D"/>
                </a:solidFill>
                <a:latin typeface="Manrope"/>
                <a:cs typeface="IBM Plex Sans Arabic Medium"/>
              </a:rPr>
              <a:t>مساعدة في المتابعة</a:t>
            </a:r>
          </a:p>
        </p:txBody>
      </p:sp>
      <p:sp>
        <p:nvSpPr>
          <p:cNvPr id="29" name="TextBox 28"/>
          <p:cNvSpPr txBox="1"/>
          <p:nvPr/>
        </p:nvSpPr>
        <p:spPr>
          <a:xfrm>
            <a:off x="647700" y="5381625"/>
            <a:ext cx="4048125" cy="428625"/>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0" lang="ar-EG">
                <a:solidFill>
                  <a:srgbClr val="69635C"/>
                </a:solidFill>
                <a:latin typeface="Manrope"/>
                <a:cs typeface="IBM Plex Sans Arabic Medium"/>
              </a:rPr>
              <a:t>اقتراحات يراجعها الموظف</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0"/>
                                  </p:tgtEl>
                                  <p:attrNameLst>
                                    <p:attrName>style.visibility</p:attrName>
                                  </p:attrNameLst>
                                </p:cBhvr>
                                <p:to>
                                  <p:strVal val="visible"/>
                                </p:to>
                              </p:set>
                              <p:animEffect transition="in" filter="fade">
                                <p:cBhvr>
                                  <p:cTn id="6" dur="550"/>
                                  <p:tgtEl>
                                    <p:spTgt spid="10"/>
                                  </p:tgtEl>
                                </p:cBhvr>
                              </p:animEffect>
                            </p:childTnLst>
                          </p:cTn>
                        </p:par>
                        <p:par>
                          <p:cTn id="7" presetID="10" presetClass="entr" presetSubtype="0" fill="hold" nodeType="withEffect">
                            <p:stCondLst>
                              <p:cond delay="0"/>
                            </p:stCondLst>
                            <p:childTnLst>
                              <p:set>
                                <p:cBhvr>
                                  <p:cTn id="8" dur="1" fill="hold"/>
                                  <p:tgtEl>
                                    <p:spTgt spid="11"/>
                                  </p:tgtEl>
                                  <p:attrNameLst>
                                    <p:attrName>style.visibility</p:attrName>
                                  </p:attrNameLst>
                                </p:cBhvr>
                                <p:to>
                                  <p:strVal val="visible"/>
                                </p:to>
                              </p:set>
                              <p:animEffect transition="in" filter="fade">
                                <p:cBhvr>
                                  <p:cTn id="9" dur="550"/>
                                  <p:tgtEl>
                                    <p:spTgt spid="11"/>
                                  </p:tgtEl>
                                </p:cBhvr>
                              </p:animEffect>
                            </p:childTnLst>
                          </p:cTn>
                        </p:par>
                        <p:par>
                          <p:cTn id="10" presetID="10" presetClass="entr" presetSubtype="0" fill="hold" nodeType="withEffect">
                            <p:stCondLst>
                              <p:cond delay="0"/>
                            </p:stCondLst>
                            <p:childTnLst>
                              <p:set>
                                <p:cBhvr>
                                  <p:cTn id="11" dur="1" fill="hold"/>
                                  <p:tgtEl>
                                    <p:spTgt spid="12"/>
                                  </p:tgtEl>
                                  <p:attrNameLst>
                                    <p:attrName>style.visibility</p:attrName>
                                  </p:attrNameLst>
                                </p:cBhvr>
                                <p:to>
                                  <p:strVal val="visible"/>
                                </p:to>
                              </p:set>
                              <p:animEffect transition="in" filter="fade">
                                <p:cBhvr>
                                  <p:cTn id="12" dur="550"/>
                                  <p:tgtEl>
                                    <p:spTgt spid="12"/>
                                  </p:tgtEl>
                                </p:cBhvr>
                              </p:animEffect>
                            </p:childTnLst>
                          </p:cTn>
                        </p:par>
                        <p:par>
                          <p:cTn id="13" presetID="10" presetClass="entr" presetSubtype="0" fill="hold" nodeType="withEffect">
                            <p:stCondLst>
                              <p:cond delay="0"/>
                            </p:stCondLst>
                            <p:childTnLst>
                              <p:set>
                                <p:cBhvr>
                                  <p:cTn id="14" dur="1" fill="hold"/>
                                  <p:tgtEl>
                                    <p:spTgt spid="13"/>
                                  </p:tgtEl>
                                  <p:attrNameLst>
                                    <p:attrName>style.visibility</p:attrName>
                                  </p:attrNameLst>
                                </p:cBhvr>
                                <p:to>
                                  <p:strVal val="visible"/>
                                </p:to>
                              </p:set>
                              <p:animEffect transition="in" filter="fade">
                                <p:cBhvr>
                                  <p:cTn id="15" dur="550"/>
                                  <p:tgtEl>
                                    <p:spTgt spid="13"/>
                                  </p:tgtEl>
                                </p:cBhvr>
                              </p:animEffect>
                            </p:childTnLst>
                          </p:cTn>
                        </p:par>
                        <p:par>
                          <p:cTn id="16" presetID="10" presetClass="entr" presetSubtype="0" fill="hold" nodeType="withEffect">
                            <p:stCondLst>
                              <p:cond delay="0"/>
                            </p:stCondLst>
                            <p:childTnLst>
                              <p:set>
                                <p:cBhvr>
                                  <p:cTn id="17" dur="1" fill="hold"/>
                                  <p:tgtEl>
                                    <p:spTgt spid="14"/>
                                  </p:tgtEl>
                                  <p:attrNameLst>
                                    <p:attrName>style.visibility</p:attrName>
                                  </p:attrNameLst>
                                </p:cBhvr>
                                <p:to>
                                  <p:strVal val="visible"/>
                                </p:to>
                              </p:set>
                              <p:animEffect transition="in" filter="fade">
                                <p:cBhvr>
                                  <p:cTn id="18" dur="550"/>
                                  <p:tgtEl>
                                    <p:spTgt spid="14"/>
                                  </p:tgtEl>
                                </p:cBhvr>
                              </p:animEffect>
                            </p:childTnLst>
                          </p:cTn>
                        </p:par>
                        <p:par>
                          <p:cTn id="19" presetID="10" presetClass="entr" presetSubtype="0" fill="hold" nodeType="withEffect">
                            <p:stCondLst>
                              <p:cond delay="1250"/>
                            </p:stCondLst>
                            <p:childTnLst>
                              <p:set>
                                <p:cBhvr>
                                  <p:cTn id="20" dur="1" fill="hold"/>
                                  <p:tgtEl>
                                    <p:spTgt spid="15"/>
                                  </p:tgtEl>
                                  <p:attrNameLst>
                                    <p:attrName>style.visibility</p:attrName>
                                  </p:attrNameLst>
                                </p:cBhvr>
                                <p:to>
                                  <p:strVal val="visible"/>
                                </p:to>
                              </p:set>
                              <p:animEffect transition="in" filter="fade">
                                <p:cBhvr>
                                  <p:cTn id="21" dur="550"/>
                                  <p:tgtEl>
                                    <p:spTgt spid="15"/>
                                  </p:tgtEl>
                                </p:cBhvr>
                              </p:animEffect>
                            </p:childTnLst>
                          </p:cTn>
                        </p:par>
                        <p:par>
                          <p:cTn id="22" presetID="10" presetClass="entr" presetSubtype="0" fill="hold" nodeType="withEffect">
                            <p:stCondLst>
                              <p:cond delay="1250"/>
                            </p:stCondLst>
                            <p:childTnLst>
                              <p:set>
                                <p:cBhvr>
                                  <p:cTn id="23" dur="1" fill="hold"/>
                                  <p:tgtEl>
                                    <p:spTgt spid="16"/>
                                  </p:tgtEl>
                                  <p:attrNameLst>
                                    <p:attrName>style.visibility</p:attrName>
                                  </p:attrNameLst>
                                </p:cBhvr>
                                <p:to>
                                  <p:strVal val="visible"/>
                                </p:to>
                              </p:set>
                              <p:animEffect transition="in" filter="fade">
                                <p:cBhvr>
                                  <p:cTn id="24" dur="550"/>
                                  <p:tgtEl>
                                    <p:spTgt spid="16"/>
                                  </p:tgtEl>
                                </p:cBhvr>
                              </p:animEffect>
                            </p:childTnLst>
                          </p:cTn>
                        </p:par>
                        <p:par>
                          <p:cTn id="25" presetID="10" presetClass="entr" presetSubtype="0" fill="hold" nodeType="withEffect">
                            <p:stCondLst>
                              <p:cond delay="1250"/>
                            </p:stCondLst>
                            <p:childTnLst>
                              <p:set>
                                <p:cBhvr>
                                  <p:cTn id="26" dur="1" fill="hold"/>
                                  <p:tgtEl>
                                    <p:spTgt spid="17"/>
                                  </p:tgtEl>
                                  <p:attrNameLst>
                                    <p:attrName>style.visibility</p:attrName>
                                  </p:attrNameLst>
                                </p:cBhvr>
                                <p:to>
                                  <p:strVal val="visible"/>
                                </p:to>
                              </p:set>
                              <p:animEffect transition="in" filter="fade">
                                <p:cBhvr>
                                  <p:cTn id="27" dur="550"/>
                                  <p:tgtEl>
                                    <p:spTgt spid="17"/>
                                  </p:tgtEl>
                                </p:cBhvr>
                              </p:animEffect>
                            </p:childTnLst>
                          </p:cTn>
                        </p:par>
                        <p:par>
                          <p:cTn id="28" presetID="10" presetClass="entr" presetSubtype="0" fill="hold" nodeType="withEffect">
                            <p:stCondLst>
                              <p:cond delay="1250"/>
                            </p:stCondLst>
                            <p:childTnLst>
                              <p:set>
                                <p:cBhvr>
                                  <p:cTn id="29" dur="1" fill="hold"/>
                                  <p:tgtEl>
                                    <p:spTgt spid="18"/>
                                  </p:tgtEl>
                                  <p:attrNameLst>
                                    <p:attrName>style.visibility</p:attrName>
                                  </p:attrNameLst>
                                </p:cBhvr>
                                <p:to>
                                  <p:strVal val="visible"/>
                                </p:to>
                              </p:set>
                              <p:animEffect transition="in" filter="fade">
                                <p:cBhvr>
                                  <p:cTn id="30" dur="550"/>
                                  <p:tgtEl>
                                    <p:spTgt spid="18"/>
                                  </p:tgtEl>
                                </p:cBhvr>
                              </p:animEffect>
                            </p:childTnLst>
                          </p:cTn>
                        </p:par>
                        <p:par>
                          <p:cTn id="31" presetID="10" presetClass="entr" presetSubtype="0" fill="hold" nodeType="withEffect">
                            <p:stCondLst>
                              <p:cond delay="1250"/>
                            </p:stCondLst>
                            <p:childTnLst>
                              <p:set>
                                <p:cBhvr>
                                  <p:cTn id="32" dur="1" fill="hold"/>
                                  <p:tgtEl>
                                    <p:spTgt spid="19"/>
                                  </p:tgtEl>
                                  <p:attrNameLst>
                                    <p:attrName>style.visibility</p:attrName>
                                  </p:attrNameLst>
                                </p:cBhvr>
                                <p:to>
                                  <p:strVal val="visible"/>
                                </p:to>
                              </p:set>
                              <p:animEffect transition="in" filter="fade">
                                <p:cBhvr>
                                  <p:cTn id="33" dur="550"/>
                                  <p:tgtEl>
                                    <p:spTgt spid="19"/>
                                  </p:tgtEl>
                                </p:cBhvr>
                              </p:animEffect>
                            </p:childTnLst>
                          </p:cTn>
                        </p:par>
                        <p:par>
                          <p:cTn id="34" presetID="10" presetClass="entr" presetSubtype="0" fill="hold" nodeType="withEffect">
                            <p:stCondLst>
                              <p:cond delay="2500"/>
                            </p:stCondLst>
                            <p:childTnLst>
                              <p:set>
                                <p:cBhvr>
                                  <p:cTn id="35" dur="1" fill="hold"/>
                                  <p:tgtEl>
                                    <p:spTgt spid="20"/>
                                  </p:tgtEl>
                                  <p:attrNameLst>
                                    <p:attrName>style.visibility</p:attrName>
                                  </p:attrNameLst>
                                </p:cBhvr>
                                <p:to>
                                  <p:strVal val="visible"/>
                                </p:to>
                              </p:set>
                              <p:animEffect transition="in" filter="fade">
                                <p:cBhvr>
                                  <p:cTn id="36" dur="550"/>
                                  <p:tgtEl>
                                    <p:spTgt spid="20"/>
                                  </p:tgtEl>
                                </p:cBhvr>
                              </p:animEffect>
                            </p:childTnLst>
                          </p:cTn>
                        </p:par>
                        <p:par>
                          <p:cTn id="37" presetID="10" presetClass="entr" presetSubtype="0" fill="hold" nodeType="withEffect">
                            <p:stCondLst>
                              <p:cond delay="2500"/>
                            </p:stCondLst>
                            <p:childTnLst>
                              <p:set>
                                <p:cBhvr>
                                  <p:cTn id="38" dur="1" fill="hold"/>
                                  <p:tgtEl>
                                    <p:spTgt spid="21"/>
                                  </p:tgtEl>
                                  <p:attrNameLst>
                                    <p:attrName>style.visibility</p:attrName>
                                  </p:attrNameLst>
                                </p:cBhvr>
                                <p:to>
                                  <p:strVal val="visible"/>
                                </p:to>
                              </p:set>
                              <p:animEffect transition="in" filter="fade">
                                <p:cBhvr>
                                  <p:cTn id="39" dur="550"/>
                                  <p:tgtEl>
                                    <p:spTgt spid="21"/>
                                  </p:tgtEl>
                                </p:cBhvr>
                              </p:animEffect>
                            </p:childTnLst>
                          </p:cTn>
                        </p:par>
                        <p:par>
                          <p:cTn id="40" presetID="10" presetClass="entr" presetSubtype="0" fill="hold" nodeType="withEffect">
                            <p:stCondLst>
                              <p:cond delay="2500"/>
                            </p:stCondLst>
                            <p:childTnLst>
                              <p:set>
                                <p:cBhvr>
                                  <p:cTn id="41" dur="1" fill="hold"/>
                                  <p:tgtEl>
                                    <p:spTgt spid="22"/>
                                  </p:tgtEl>
                                  <p:attrNameLst>
                                    <p:attrName>style.visibility</p:attrName>
                                  </p:attrNameLst>
                                </p:cBhvr>
                                <p:to>
                                  <p:strVal val="visible"/>
                                </p:to>
                              </p:set>
                              <p:animEffect transition="in" filter="fade">
                                <p:cBhvr>
                                  <p:cTn id="42" dur="550"/>
                                  <p:tgtEl>
                                    <p:spTgt spid="22"/>
                                  </p:tgtEl>
                                </p:cBhvr>
                              </p:animEffect>
                            </p:childTnLst>
                          </p:cTn>
                        </p:par>
                        <p:par>
                          <p:cTn id="43" presetID="10" presetClass="entr" presetSubtype="0" fill="hold" nodeType="withEffect">
                            <p:stCondLst>
                              <p:cond delay="2500"/>
                            </p:stCondLst>
                            <p:childTnLst>
                              <p:set>
                                <p:cBhvr>
                                  <p:cTn id="44" dur="1" fill="hold"/>
                                  <p:tgtEl>
                                    <p:spTgt spid="23"/>
                                  </p:tgtEl>
                                  <p:attrNameLst>
                                    <p:attrName>style.visibility</p:attrName>
                                  </p:attrNameLst>
                                </p:cBhvr>
                                <p:to>
                                  <p:strVal val="visible"/>
                                </p:to>
                              </p:set>
                              <p:animEffect transition="in" filter="fade">
                                <p:cBhvr>
                                  <p:cTn id="45" dur="550"/>
                                  <p:tgtEl>
                                    <p:spTgt spid="23"/>
                                  </p:tgtEl>
                                </p:cBhvr>
                              </p:animEffect>
                            </p:childTnLst>
                          </p:cTn>
                        </p:par>
                        <p:par>
                          <p:cTn id="46" presetID="10" presetClass="entr" presetSubtype="0" fill="hold" nodeType="withEffect">
                            <p:stCondLst>
                              <p:cond delay="2500"/>
                            </p:stCondLst>
                            <p:childTnLst>
                              <p:set>
                                <p:cBhvr>
                                  <p:cTn id="47" dur="1" fill="hold"/>
                                  <p:tgtEl>
                                    <p:spTgt spid="24"/>
                                  </p:tgtEl>
                                  <p:attrNameLst>
                                    <p:attrName>style.visibility</p:attrName>
                                  </p:attrNameLst>
                                </p:cBhvr>
                                <p:to>
                                  <p:strVal val="visible"/>
                                </p:to>
                              </p:set>
                              <p:animEffect transition="in" filter="fade">
                                <p:cBhvr>
                                  <p:cTn id="48" dur="550"/>
                                  <p:tgtEl>
                                    <p:spTgt spid="24"/>
                                  </p:tgtEl>
                                </p:cBhvr>
                              </p:animEffect>
                            </p:childTnLst>
                          </p:cTn>
                        </p:par>
                        <p:par>
                          <p:cTn id="49" presetID="10" presetClass="entr" presetSubtype="0" fill="hold" nodeType="withEffect">
                            <p:stCondLst>
                              <p:cond delay="3750"/>
                            </p:stCondLst>
                            <p:childTnLst>
                              <p:set>
                                <p:cBhvr>
                                  <p:cTn id="50" dur="1" fill="hold"/>
                                  <p:tgtEl>
                                    <p:spTgt spid="25"/>
                                  </p:tgtEl>
                                  <p:attrNameLst>
                                    <p:attrName>style.visibility</p:attrName>
                                  </p:attrNameLst>
                                </p:cBhvr>
                                <p:to>
                                  <p:strVal val="visible"/>
                                </p:to>
                              </p:set>
                              <p:animEffect transition="in" filter="fade">
                                <p:cBhvr>
                                  <p:cTn id="51" dur="550"/>
                                  <p:tgtEl>
                                    <p:spTgt spid="25"/>
                                  </p:tgtEl>
                                </p:cBhvr>
                              </p:animEffect>
                            </p:childTnLst>
                          </p:cTn>
                        </p:par>
                        <p:par>
                          <p:cTn id="52" presetID="10" presetClass="entr" presetSubtype="0" fill="hold" nodeType="withEffect">
                            <p:stCondLst>
                              <p:cond delay="3750"/>
                            </p:stCondLst>
                            <p:childTnLst>
                              <p:set>
                                <p:cBhvr>
                                  <p:cTn id="53" dur="1" fill="hold"/>
                                  <p:tgtEl>
                                    <p:spTgt spid="26"/>
                                  </p:tgtEl>
                                  <p:attrNameLst>
                                    <p:attrName>style.visibility</p:attrName>
                                  </p:attrNameLst>
                                </p:cBhvr>
                                <p:to>
                                  <p:strVal val="visible"/>
                                </p:to>
                              </p:set>
                              <p:animEffect transition="in" filter="fade">
                                <p:cBhvr>
                                  <p:cTn id="54" dur="550"/>
                                  <p:tgtEl>
                                    <p:spTgt spid="26"/>
                                  </p:tgtEl>
                                </p:cBhvr>
                              </p:animEffect>
                            </p:childTnLst>
                          </p:cTn>
                        </p:par>
                        <p:par>
                          <p:cTn id="55" presetID="10" presetClass="entr" presetSubtype="0" fill="hold" nodeType="withEffect">
                            <p:stCondLst>
                              <p:cond delay="3750"/>
                            </p:stCondLst>
                            <p:childTnLst>
                              <p:set>
                                <p:cBhvr>
                                  <p:cTn id="56" dur="1" fill="hold"/>
                                  <p:tgtEl>
                                    <p:spTgt spid="27"/>
                                  </p:tgtEl>
                                  <p:attrNameLst>
                                    <p:attrName>style.visibility</p:attrName>
                                  </p:attrNameLst>
                                </p:cBhvr>
                                <p:to>
                                  <p:strVal val="visible"/>
                                </p:to>
                              </p:set>
                              <p:animEffect transition="in" filter="fade">
                                <p:cBhvr>
                                  <p:cTn id="57" dur="550"/>
                                  <p:tgtEl>
                                    <p:spTgt spid="27"/>
                                  </p:tgtEl>
                                </p:cBhvr>
                              </p:animEffect>
                            </p:childTnLst>
                          </p:cTn>
                        </p:par>
                        <p:par>
                          <p:cTn id="58" presetID="10" presetClass="entr" presetSubtype="0" fill="hold" nodeType="withEffect">
                            <p:stCondLst>
                              <p:cond delay="3750"/>
                            </p:stCondLst>
                            <p:childTnLst>
                              <p:set>
                                <p:cBhvr>
                                  <p:cTn id="59" dur="1" fill="hold"/>
                                  <p:tgtEl>
                                    <p:spTgt spid="28"/>
                                  </p:tgtEl>
                                  <p:attrNameLst>
                                    <p:attrName>style.visibility</p:attrName>
                                  </p:attrNameLst>
                                </p:cBhvr>
                                <p:to>
                                  <p:strVal val="visible"/>
                                </p:to>
                              </p:set>
                              <p:animEffect transition="in" filter="fade">
                                <p:cBhvr>
                                  <p:cTn id="60" dur="550"/>
                                  <p:tgtEl>
                                    <p:spTgt spid="28"/>
                                  </p:tgtEl>
                                </p:cBhvr>
                              </p:animEffect>
                            </p:childTnLst>
                          </p:cTn>
                        </p:par>
                        <p:par>
                          <p:cTn id="61" presetID="10" presetClass="entr" presetSubtype="0" fill="hold" nodeType="withEffect">
                            <p:stCondLst>
                              <p:cond delay="3750"/>
                            </p:stCondLst>
                            <p:childTnLst>
                              <p:set>
                                <p:cBhvr>
                                  <p:cTn id="62" dur="1" fill="hold"/>
                                  <p:tgtEl>
                                    <p:spTgt spid="29"/>
                                  </p:tgtEl>
                                  <p:attrNameLst>
                                    <p:attrName>style.visibility</p:attrName>
                                  </p:attrNameLst>
                                </p:cBhvr>
                                <p:to>
                                  <p:strVal val="visible"/>
                                </p:to>
                              </p:set>
                              <p:animEffect transition="in" filter="fade">
                                <p:cBhvr>
                                  <p:cTn id="63" dur="55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3201D"/>
        </a:solidFill>
        <a:effectLst/>
      </p:bgPr>
    </p:bg>
    <p:spTree>
      <p:nvGrpSpPr>
        <p:cNvPr id="1" name=""/>
        <p:cNvGrpSpPr/>
        <p:nvPr/>
      </p:nvGrpSpPr>
      <p:grpSpPr/>
      <p:sp>
        <p:nvSpPr>
          <p:cNvPr id="2" name="TextBox 1"/>
          <p:cNvSpPr txBox="1"/>
          <p:nvPr/>
        </p:nvSpPr>
        <p:spPr>
          <a:xfrm>
            <a:off x="3162300" y="266700"/>
            <a:ext cx="8572500" cy="2667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1" lang="ar-EG">
                <a:solidFill>
                  <a:srgbClr val="D5CFC6"/>
                </a:solidFill>
                <a:latin typeface="Manrope"/>
                <a:cs typeface="IBM Plex Sans Arabic Medium"/>
              </a:rPr>
              <a:t>٠٨ · بداية تعاون محددة</a:t>
            </a:r>
          </a:p>
        </p:txBody>
      </p:sp>
      <p:pic>
        <p:nvPicPr>
          <p:cNvPr id="3" name="Picture 2" descr="brand-white.png"/>
          <p:cNvPicPr>
            <a:picLocks noChangeAspect="1"/>
          </p:cNvPicPr>
          <p:nvPr/>
        </p:nvPicPr>
        <p:blipFill>
          <a:blip r:embed="rId2"/>
          <a:stretch>
            <a:fillRect/>
          </a:stretch>
        </p:blipFill>
        <p:spPr>
          <a:xfrm>
            <a:off x="1781175" y="220662"/>
            <a:ext cx="495300" cy="330200"/>
          </a:xfrm>
          <a:prstGeom prst="rect">
            <a:avLst/>
          </a:prstGeom>
          <a:effectLst/>
        </p:spPr>
      </p:pic>
      <p:sp>
        <p:nvSpPr>
          <p:cNvPr id="4" name="TextBox 3"/>
          <p:cNvSpPr txBox="1"/>
          <p:nvPr/>
        </p:nvSpPr>
        <p:spPr>
          <a:xfrm>
            <a:off x="457200" y="266700"/>
            <a:ext cx="1219200" cy="276225"/>
          </a:xfrm>
          <a:prstGeom prst="rect">
            <a:avLst/>
          </a:prstGeom>
          <a:noFill/>
          <a:effectLst/>
        </p:spPr>
        <p:txBody>
          <a:bodyPr wrap="square" lIns="0" rIns="0" tIns="0" bIns="0" anchor="t">
            <a:spAutoFit/>
          </a:bodyPr>
          <a:lstStyle/>
          <a:p>
            <a:pPr algn="r" rtl="0">
              <a:lnSpc>
                <a:spcPts val="1596"/>
              </a:lnSpc>
              <a:spcBef>
                <a:spcPts val="0"/>
              </a:spcBef>
              <a:spcAft>
                <a:spcPts val="0"/>
              </a:spcAft>
            </a:pPr>
            <a:r>
              <a:rPr sz="1425" b="1" lang="ar-EG">
                <a:solidFill>
                  <a:srgbClr val="FCFAF6"/>
                </a:solidFill>
                <a:latin typeface="Manrope"/>
                <a:cs typeface="IBM Plex Sans Arabic Medium"/>
              </a:rPr>
              <a:t>GRINDCTRL</a:t>
            </a:r>
          </a:p>
        </p:txBody>
      </p:sp>
      <p:sp>
        <p:nvSpPr>
          <p:cNvPr id="5" name="TextBox 4"/>
          <p:cNvSpPr txBox="1"/>
          <p:nvPr/>
        </p:nvSpPr>
        <p:spPr>
          <a:xfrm>
            <a:off x="457200" y="819150"/>
            <a:ext cx="11277600" cy="1562100"/>
          </a:xfrm>
          <a:prstGeom prst="rect">
            <a:avLst/>
          </a:prstGeom>
          <a:noFill/>
          <a:effectLst/>
        </p:spPr>
        <p:txBody>
          <a:bodyPr wrap="square" lIns="0" rIns="0" tIns="0" bIns="0" anchor="t">
            <a:spAutoFit/>
          </a:bodyPr>
          <a:lstStyle/>
          <a:p>
            <a:pPr algn="r" rtl="1">
              <a:lnSpc>
                <a:spcPts val="5376"/>
              </a:lnSpc>
              <a:spcBef>
                <a:spcPts val="0"/>
              </a:spcBef>
              <a:spcAft>
                <a:spcPts val="0"/>
              </a:spcAft>
            </a:pPr>
            <a:r>
              <a:rPr sz="4800" b="1" lang="ar-EG">
                <a:solidFill>
                  <a:srgbClr val="FCFAF6"/>
                </a:solidFill>
                <a:latin typeface="Manrope"/>
                <a:cs typeface="IBM Plex Sans Arabic Medium"/>
              </a:rPr>
              <a:t>نخلي المكالمة تبدأ</a:t>
            </a:r>
          </a:p>
          <a:p>
            <a:pPr algn="r" rtl="1">
              <a:lnSpc>
                <a:spcPts val="5376"/>
              </a:lnSpc>
              <a:spcBef>
                <a:spcPts val="0"/>
              </a:spcBef>
              <a:spcAft>
                <a:spcPts val="0"/>
              </a:spcAft>
            </a:pPr>
            <a:r>
              <a:rPr sz="4800" b="1" lang="ar-EG">
                <a:solidFill>
                  <a:srgbClr val="FCFAF6"/>
                </a:solidFill>
                <a:latin typeface="Manrope"/>
                <a:cs typeface="IBM Plex Sans Arabic Medium"/>
              </a:rPr>
              <a:t>بمعلومات العميل.</a:t>
            </a:r>
          </a:p>
        </p:txBody>
      </p:sp>
      <p:sp>
        <p:nvSpPr>
          <p:cNvPr id="6" name="TextBox 5"/>
          <p:cNvSpPr txBox="1"/>
          <p:nvPr/>
        </p:nvSpPr>
        <p:spPr>
          <a:xfrm>
            <a:off x="457200" y="2419350"/>
            <a:ext cx="11277600" cy="457200"/>
          </a:xfrm>
          <a:prstGeom prst="rect">
            <a:avLst/>
          </a:prstGeom>
          <a:noFill/>
          <a:effectLst/>
        </p:spPr>
        <p:txBody>
          <a:bodyPr wrap="square" lIns="0" rIns="0" tIns="0" bIns="0" anchor="t">
            <a:spAutoFit/>
          </a:bodyPr>
          <a:lstStyle/>
          <a:p>
            <a:pPr algn="r" rtl="1">
              <a:lnSpc>
                <a:spcPts val="2688"/>
              </a:lnSpc>
              <a:spcBef>
                <a:spcPts val="0"/>
              </a:spcBef>
              <a:spcAft>
                <a:spcPts val="0"/>
              </a:spcAft>
            </a:pPr>
            <a:r>
              <a:rPr sz="2400" b="0" lang="ar-EG">
                <a:solidFill>
                  <a:srgbClr val="D5CFC6"/>
                </a:solidFill>
                <a:latin typeface="Manrope"/>
                <a:cs typeface="IBM Plex Sans Arabic Medium"/>
              </a:rPr>
              <a:t>تحسين واضح في تجربة موظف وعميل كونكريت.</a:t>
            </a:r>
          </a:p>
        </p:txBody>
      </p:sp>
      <p:cxnSp>
        <p:nvCxnSpPr>
          <p:cNvPr id="7" name="Connector 6"/>
          <p:cNvCxnSpPr/>
          <p:nvPr/>
        </p:nvCxnSpPr>
        <p:spPr>
          <a:xfrm flipH="1">
            <a:off x="457200" y="6334125"/>
            <a:ext cx="11277600" cy="0"/>
          </a:xfrm>
          <a:prstGeom prst="line">
            <a:avLst/>
          </a:prstGeom>
          <a:ln w="9525">
            <a:solidFill>
              <a:srgbClr val="675E55"/>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1447800" y="6496050"/>
            <a:ext cx="10287000" cy="209550"/>
          </a:xfrm>
          <a:prstGeom prst="rect">
            <a:avLst/>
          </a:prstGeom>
          <a:noFill/>
          <a:effectLst/>
        </p:spPr>
        <p:txBody>
          <a:bodyPr wrap="square" lIns="0" rIns="0" tIns="0" bIns="0" anchor="t">
            <a:spAutoFit/>
          </a:bodyPr>
          <a:lstStyle/>
          <a:p>
            <a:pPr algn="r" rtl="1">
              <a:lnSpc>
                <a:spcPts val="1260"/>
              </a:lnSpc>
              <a:spcBef>
                <a:spcPts val="0"/>
              </a:spcBef>
              <a:spcAft>
                <a:spcPts val="0"/>
              </a:spcAft>
            </a:pPr>
            <a:r>
              <a:rPr sz="1125" b="0" lang="ar-EG">
                <a:solidFill>
                  <a:srgbClr val="D5CFC6"/>
                </a:solidFill>
                <a:latin typeface="Manrope"/>
                <a:cs typeface="IBM Plex Sans Arabic Medium"/>
              </a:rPr>
              <a:t>تعاون مقترح · سجلات توضيحية</a:t>
            </a:r>
          </a:p>
        </p:txBody>
      </p:sp>
      <p:sp>
        <p:nvSpPr>
          <p:cNvPr id="9" name="TextBox 8"/>
          <p:cNvSpPr txBox="1"/>
          <p:nvPr/>
        </p:nvSpPr>
        <p:spPr>
          <a:xfrm>
            <a:off x="457200" y="6496050"/>
            <a:ext cx="828675" cy="20955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ar-EG">
                <a:solidFill>
                  <a:srgbClr val="D5CFC6"/>
                </a:solidFill>
                <a:latin typeface="Manrope"/>
                <a:cs typeface="IBM Plex Sans Arabic Medium"/>
              </a:rPr>
              <a:t>09 / 09</a:t>
            </a:r>
          </a:p>
        </p:txBody>
      </p:sp>
      <p:sp>
        <p:nvSpPr>
          <p:cNvPr id="10" name="Rounded Rectangle 9"/>
          <p:cNvSpPr/>
          <p:nvPr/>
        </p:nvSpPr>
        <p:spPr>
          <a:xfrm>
            <a:off x="8420100" y="3048000"/>
            <a:ext cx="3314700" cy="2752725"/>
          </a:xfrm>
          <a:prstGeom prst="roundRect">
            <a:avLst>
              <a:gd name="adj" fmla="val 5536"/>
            </a:avLst>
          </a:prstGeom>
          <a:solidFill>
            <a:srgbClr val="302B26"/>
          </a:solidFill>
          <a:ln w="9525">
            <a:solidFill>
              <a:srgbClr val="675E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10744200" y="3248025"/>
            <a:ext cx="742950" cy="742950"/>
          </a:xfrm>
          <a:prstGeom prst="ellipse">
            <a:avLst/>
          </a:prstGeom>
          <a:solidFill>
            <a:srgbClr val="FCFAF6"/>
          </a:solidFill>
          <a:ln w="9525">
            <a:solidFill>
              <a:srgbClr val="FCFAF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icon-file.png"/>
          <p:cNvPicPr>
            <a:picLocks noChangeAspect="1"/>
          </p:cNvPicPr>
          <p:nvPr/>
        </p:nvPicPr>
        <p:blipFill>
          <a:blip r:embed="rId3"/>
          <a:stretch>
            <a:fillRect/>
          </a:stretch>
        </p:blipFill>
        <p:spPr>
          <a:xfrm>
            <a:off x="10887075" y="3390900"/>
            <a:ext cx="457200" cy="457200"/>
          </a:xfrm>
          <a:prstGeom prst="rect">
            <a:avLst/>
          </a:prstGeom>
          <a:effectLst/>
        </p:spPr>
      </p:pic>
      <p:sp>
        <p:nvSpPr>
          <p:cNvPr id="13" name="TextBox 12"/>
          <p:cNvSpPr txBox="1"/>
          <p:nvPr/>
        </p:nvSpPr>
        <p:spPr>
          <a:xfrm>
            <a:off x="8667750" y="4191000"/>
            <a:ext cx="2819400" cy="895350"/>
          </a:xfrm>
          <a:prstGeom prst="rect">
            <a:avLst/>
          </a:prstGeom>
          <a:noFill/>
          <a:effectLst/>
        </p:spPr>
        <p:txBody>
          <a:bodyPr wrap="square" lIns="0" rIns="0" tIns="0" bIns="0" anchor="t">
            <a:spAutoFit/>
          </a:bodyPr>
          <a:lstStyle/>
          <a:p>
            <a:pPr algn="r" rtl="1">
              <a:lnSpc>
                <a:spcPts val="3024"/>
              </a:lnSpc>
              <a:spcBef>
                <a:spcPts val="0"/>
              </a:spcBef>
              <a:spcAft>
                <a:spcPts val="0"/>
              </a:spcAft>
            </a:pPr>
            <a:r>
              <a:rPr sz="2700" b="1" lang="ar-EG">
                <a:solidFill>
                  <a:srgbClr val="FCFAF6"/>
                </a:solidFill>
                <a:latin typeface="Manrope"/>
                <a:cs typeface="IBM Plex Sans Arabic Medium"/>
              </a:rPr>
              <a:t>نفحص</a:t>
            </a:r>
          </a:p>
          <a:p>
            <a:pPr algn="r" rtl="1">
              <a:lnSpc>
                <a:spcPts val="3024"/>
              </a:lnSpc>
              <a:spcBef>
                <a:spcPts val="0"/>
              </a:spcBef>
              <a:spcAft>
                <a:spcPts val="0"/>
              </a:spcAft>
            </a:pPr>
            <a:r>
              <a:rPr sz="2700" b="1" lang="ar-EG">
                <a:solidFill>
                  <a:srgbClr val="FCFAF6"/>
                </a:solidFill>
                <a:latin typeface="Manrope"/>
                <a:cs typeface="IBM Plex Sans Arabic Medium"/>
              </a:rPr>
              <a:t>الـpop-up الموجود</a:t>
            </a:r>
          </a:p>
        </p:txBody>
      </p:sp>
      <p:sp>
        <p:nvSpPr>
          <p:cNvPr id="14" name="TextBox 13"/>
          <p:cNvSpPr txBox="1"/>
          <p:nvPr/>
        </p:nvSpPr>
        <p:spPr>
          <a:xfrm>
            <a:off x="8667750" y="5257800"/>
            <a:ext cx="2819400" cy="466725"/>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0" lang="ar-EG">
                <a:solidFill>
                  <a:srgbClr val="D5CFC6"/>
                </a:solidFill>
                <a:latin typeface="Manrope"/>
                <a:cs typeface="IBM Plex Sans Arabic Medium"/>
              </a:rPr>
              <a:t>نحدد المشكلة الفعلية</a:t>
            </a:r>
          </a:p>
        </p:txBody>
      </p:sp>
      <p:cxnSp>
        <p:nvCxnSpPr>
          <p:cNvPr id="15" name="Connector 14"/>
          <p:cNvCxnSpPr/>
          <p:nvPr/>
        </p:nvCxnSpPr>
        <p:spPr>
          <a:xfrm flipH="1">
            <a:off x="7934325" y="4438650"/>
            <a:ext cx="37147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6" name="Rounded Rectangle 15"/>
          <p:cNvSpPr/>
          <p:nvPr/>
        </p:nvSpPr>
        <p:spPr>
          <a:xfrm>
            <a:off x="4438650" y="3048000"/>
            <a:ext cx="3314700" cy="2752725"/>
          </a:xfrm>
          <a:prstGeom prst="roundRect">
            <a:avLst>
              <a:gd name="adj" fmla="val 5536"/>
            </a:avLst>
          </a:prstGeom>
          <a:solidFill>
            <a:srgbClr val="302B26"/>
          </a:solidFill>
          <a:ln w="9525">
            <a:solidFill>
              <a:srgbClr val="675E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6762750" y="3248025"/>
            <a:ext cx="742950" cy="742950"/>
          </a:xfrm>
          <a:prstGeom prst="ellipse">
            <a:avLst/>
          </a:prstGeom>
          <a:solidFill>
            <a:srgbClr val="FCFAF6"/>
          </a:solidFill>
          <a:ln w="9525">
            <a:solidFill>
              <a:srgbClr val="FCFAF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icon-link.png"/>
          <p:cNvPicPr>
            <a:picLocks noChangeAspect="1"/>
          </p:cNvPicPr>
          <p:nvPr/>
        </p:nvPicPr>
        <p:blipFill>
          <a:blip r:embed="rId4"/>
          <a:stretch>
            <a:fillRect/>
          </a:stretch>
        </p:blipFill>
        <p:spPr>
          <a:xfrm>
            <a:off x="6905625" y="3390900"/>
            <a:ext cx="457200" cy="457200"/>
          </a:xfrm>
          <a:prstGeom prst="rect">
            <a:avLst/>
          </a:prstGeom>
          <a:effectLst/>
        </p:spPr>
      </p:pic>
      <p:sp>
        <p:nvSpPr>
          <p:cNvPr id="19" name="TextBox 18"/>
          <p:cNvSpPr txBox="1"/>
          <p:nvPr/>
        </p:nvSpPr>
        <p:spPr>
          <a:xfrm>
            <a:off x="4686300" y="4191000"/>
            <a:ext cx="2819400" cy="895350"/>
          </a:xfrm>
          <a:prstGeom prst="rect">
            <a:avLst/>
          </a:prstGeom>
          <a:noFill/>
          <a:effectLst/>
        </p:spPr>
        <p:txBody>
          <a:bodyPr wrap="square" lIns="0" rIns="0" tIns="0" bIns="0" anchor="t">
            <a:spAutoFit/>
          </a:bodyPr>
          <a:lstStyle/>
          <a:p>
            <a:pPr algn="r" rtl="1">
              <a:lnSpc>
                <a:spcPts val="3024"/>
              </a:lnSpc>
              <a:spcBef>
                <a:spcPts val="0"/>
              </a:spcBef>
              <a:spcAft>
                <a:spcPts val="0"/>
              </a:spcAft>
            </a:pPr>
            <a:r>
              <a:rPr sz="2700" b="1" lang="ar-EG">
                <a:solidFill>
                  <a:srgbClr val="FCFAF6"/>
                </a:solidFill>
                <a:latin typeface="Manrope"/>
                <a:cs typeface="IBM Plex Sans Arabic Medium"/>
              </a:rPr>
              <a:t>نكمّل</a:t>
            </a:r>
          </a:p>
          <a:p>
            <a:pPr algn="r" rtl="1">
              <a:lnSpc>
                <a:spcPts val="3024"/>
              </a:lnSpc>
              <a:spcBef>
                <a:spcPts val="0"/>
              </a:spcBef>
              <a:spcAft>
                <a:spcPts val="0"/>
              </a:spcAft>
            </a:pPr>
            <a:r>
              <a:rPr sz="2700" b="1" lang="ar-EG">
                <a:solidFill>
                  <a:srgbClr val="FCFAF6"/>
                </a:solidFill>
                <a:latin typeface="Manrope"/>
                <a:cs typeface="IBM Plex Sans Arabic Medium"/>
              </a:rPr>
              <a:t>الربط</a:t>
            </a:r>
          </a:p>
        </p:txBody>
      </p:sp>
      <p:sp>
        <p:nvSpPr>
          <p:cNvPr id="20" name="TextBox 19"/>
          <p:cNvSpPr txBox="1"/>
          <p:nvPr/>
        </p:nvSpPr>
        <p:spPr>
          <a:xfrm>
            <a:off x="4686300" y="5257800"/>
            <a:ext cx="2819400" cy="466725"/>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0" lang="ar-EG">
                <a:solidFill>
                  <a:srgbClr val="D5CFC6"/>
                </a:solidFill>
                <a:latin typeface="Manrope"/>
                <a:cs typeface="IBM Plex Sans Arabic Medium"/>
              </a:rPr>
              <a:t>بالطرق المدعومة</a:t>
            </a:r>
          </a:p>
        </p:txBody>
      </p:sp>
      <p:cxnSp>
        <p:nvCxnSpPr>
          <p:cNvPr id="21" name="Connector 20"/>
          <p:cNvCxnSpPr/>
          <p:nvPr/>
        </p:nvCxnSpPr>
        <p:spPr>
          <a:xfrm flipH="1">
            <a:off x="3952875" y="4438650"/>
            <a:ext cx="37147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2" name="Rounded Rectangle 21"/>
          <p:cNvSpPr/>
          <p:nvPr/>
        </p:nvSpPr>
        <p:spPr>
          <a:xfrm>
            <a:off x="457200" y="3048000"/>
            <a:ext cx="3314700" cy="2752725"/>
          </a:xfrm>
          <a:prstGeom prst="roundRect">
            <a:avLst>
              <a:gd name="adj" fmla="val 5536"/>
            </a:avLst>
          </a:prstGeom>
          <a:solidFill>
            <a:srgbClr val="302B26"/>
          </a:solidFill>
          <a:ln w="9525">
            <a:solidFill>
              <a:srgbClr val="675E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p:cNvSpPr/>
          <p:nvPr/>
        </p:nvSpPr>
        <p:spPr>
          <a:xfrm>
            <a:off x="2781300" y="3248025"/>
            <a:ext cx="742950" cy="742950"/>
          </a:xfrm>
          <a:prstGeom prst="ellipse">
            <a:avLst/>
          </a:prstGeom>
          <a:solidFill>
            <a:srgbClr val="FCFAF6"/>
          </a:solidFill>
          <a:ln w="9525">
            <a:solidFill>
              <a:srgbClr val="FCFAF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check.png"/>
          <p:cNvPicPr>
            <a:picLocks noChangeAspect="1"/>
          </p:cNvPicPr>
          <p:nvPr/>
        </p:nvPicPr>
        <p:blipFill>
          <a:blip r:embed="rId5"/>
          <a:stretch>
            <a:fillRect/>
          </a:stretch>
        </p:blipFill>
        <p:spPr>
          <a:xfrm>
            <a:off x="2924175" y="3390900"/>
            <a:ext cx="457200" cy="457200"/>
          </a:xfrm>
          <a:prstGeom prst="rect">
            <a:avLst/>
          </a:prstGeom>
          <a:effectLst/>
        </p:spPr>
      </p:pic>
      <p:sp>
        <p:nvSpPr>
          <p:cNvPr id="25" name="TextBox 24"/>
          <p:cNvSpPr txBox="1"/>
          <p:nvPr/>
        </p:nvSpPr>
        <p:spPr>
          <a:xfrm>
            <a:off x="704850" y="4191000"/>
            <a:ext cx="2819400" cy="895350"/>
          </a:xfrm>
          <a:prstGeom prst="rect">
            <a:avLst/>
          </a:prstGeom>
          <a:noFill/>
          <a:effectLst/>
        </p:spPr>
        <p:txBody>
          <a:bodyPr wrap="square" lIns="0" rIns="0" tIns="0" bIns="0" anchor="t">
            <a:spAutoFit/>
          </a:bodyPr>
          <a:lstStyle/>
          <a:p>
            <a:pPr algn="r" rtl="1">
              <a:lnSpc>
                <a:spcPts val="3024"/>
              </a:lnSpc>
              <a:spcBef>
                <a:spcPts val="0"/>
              </a:spcBef>
              <a:spcAft>
                <a:spcPts val="0"/>
              </a:spcAft>
            </a:pPr>
            <a:r>
              <a:rPr sz="2700" b="1" lang="ar-EG">
                <a:solidFill>
                  <a:srgbClr val="FCFAF6"/>
                </a:solidFill>
                <a:latin typeface="Manrope"/>
                <a:cs typeface="IBM Plex Sans Arabic Medium"/>
              </a:rPr>
              <a:t>نختبر</a:t>
            </a:r>
          </a:p>
          <a:p>
            <a:pPr algn="r" rtl="1">
              <a:lnSpc>
                <a:spcPts val="3024"/>
              </a:lnSpc>
              <a:spcBef>
                <a:spcPts val="0"/>
              </a:spcBef>
              <a:spcAft>
                <a:spcPts val="0"/>
              </a:spcAft>
            </a:pPr>
            <a:r>
              <a:rPr sz="2700" b="1" lang="ar-EG">
                <a:solidFill>
                  <a:srgbClr val="FCFAF6"/>
                </a:solidFill>
                <a:latin typeface="Manrope"/>
                <a:cs typeface="IBM Plex Sans Arabic Medium"/>
              </a:rPr>
              <a:t>مكالمات متفق عليها</a:t>
            </a:r>
          </a:p>
        </p:txBody>
      </p:sp>
      <p:sp>
        <p:nvSpPr>
          <p:cNvPr id="26" name="TextBox 25"/>
          <p:cNvSpPr txBox="1"/>
          <p:nvPr/>
        </p:nvSpPr>
        <p:spPr>
          <a:xfrm>
            <a:off x="704850" y="5257800"/>
            <a:ext cx="2819400" cy="466725"/>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0" lang="ar-EG">
                <a:solidFill>
                  <a:srgbClr val="D5CFC6"/>
                </a:solidFill>
                <a:latin typeface="Manrope"/>
                <a:cs typeface="IBM Plex Sans Arabic Medium"/>
              </a:rPr>
              <a:t>نتأكد من النتائج والبدائل</a:t>
            </a:r>
          </a:p>
        </p:txBody>
      </p:sp>
      <p:sp>
        <p:nvSpPr>
          <p:cNvPr id="27" name="TextBox 26"/>
          <p:cNvSpPr txBox="1"/>
          <p:nvPr/>
        </p:nvSpPr>
        <p:spPr>
          <a:xfrm>
            <a:off x="457200" y="5915025"/>
            <a:ext cx="11277600" cy="371475"/>
          </a:xfrm>
          <a:prstGeom prst="rect">
            <a:avLst/>
          </a:prstGeom>
          <a:noFill/>
          <a:effectLst/>
        </p:spPr>
        <p:txBody>
          <a:bodyPr wrap="square" lIns="0" rIns="0" tIns="0" bIns="0" anchor="t">
            <a:spAutoFit/>
          </a:bodyPr>
          <a:lstStyle/>
          <a:p>
            <a:pPr algn="r" rtl="1">
              <a:lnSpc>
                <a:spcPts val="2520"/>
              </a:lnSpc>
              <a:spcBef>
                <a:spcPts val="0"/>
              </a:spcBef>
              <a:spcAft>
                <a:spcPts val="0"/>
              </a:spcAft>
            </a:pPr>
            <a:r>
              <a:rPr sz="2250" b="1" lang="ar-EG">
                <a:solidFill>
                  <a:srgbClr val="FCFAF6"/>
                </a:solidFill>
                <a:latin typeface="Manrope"/>
                <a:cs typeface="IBM Plex Sans Arabic Medium"/>
              </a:rPr>
              <a:t>الموظف يبدأ بمعلومات العميل وتذاكره.</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0"/>
                                  </p:tgtEl>
                                  <p:attrNameLst>
                                    <p:attrName>style.visibility</p:attrName>
                                  </p:attrNameLst>
                                </p:cBhvr>
                                <p:to>
                                  <p:strVal val="visible"/>
                                </p:to>
                              </p:set>
                              <p:animEffect transition="in" filter="fade">
                                <p:cBhvr>
                                  <p:cTn id="6" dur="550"/>
                                  <p:tgtEl>
                                    <p:spTgt spid="10"/>
                                  </p:tgtEl>
                                </p:cBhvr>
                              </p:animEffect>
                            </p:childTnLst>
                          </p:cTn>
                        </p:par>
                        <p:par>
                          <p:cTn id="7" presetID="10" presetClass="entr" presetSubtype="0" fill="hold" nodeType="withEffect">
                            <p:stCondLst>
                              <p:cond delay="0"/>
                            </p:stCondLst>
                            <p:childTnLst>
                              <p:set>
                                <p:cBhvr>
                                  <p:cTn id="8" dur="1" fill="hold"/>
                                  <p:tgtEl>
                                    <p:spTgt spid="11"/>
                                  </p:tgtEl>
                                  <p:attrNameLst>
                                    <p:attrName>style.visibility</p:attrName>
                                  </p:attrNameLst>
                                </p:cBhvr>
                                <p:to>
                                  <p:strVal val="visible"/>
                                </p:to>
                              </p:set>
                              <p:animEffect transition="in" filter="fade">
                                <p:cBhvr>
                                  <p:cTn id="9" dur="550"/>
                                  <p:tgtEl>
                                    <p:spTgt spid="11"/>
                                  </p:tgtEl>
                                </p:cBhvr>
                              </p:animEffect>
                            </p:childTnLst>
                          </p:cTn>
                        </p:par>
                        <p:par>
                          <p:cTn id="10" presetID="10" presetClass="entr" presetSubtype="0" fill="hold" nodeType="withEffect">
                            <p:stCondLst>
                              <p:cond delay="0"/>
                            </p:stCondLst>
                            <p:childTnLst>
                              <p:set>
                                <p:cBhvr>
                                  <p:cTn id="11" dur="1" fill="hold"/>
                                  <p:tgtEl>
                                    <p:spTgt spid="12"/>
                                  </p:tgtEl>
                                  <p:attrNameLst>
                                    <p:attrName>style.visibility</p:attrName>
                                  </p:attrNameLst>
                                </p:cBhvr>
                                <p:to>
                                  <p:strVal val="visible"/>
                                </p:to>
                              </p:set>
                              <p:animEffect transition="in" filter="fade">
                                <p:cBhvr>
                                  <p:cTn id="12" dur="550"/>
                                  <p:tgtEl>
                                    <p:spTgt spid="12"/>
                                  </p:tgtEl>
                                </p:cBhvr>
                              </p:animEffect>
                            </p:childTnLst>
                          </p:cTn>
                        </p:par>
                        <p:par>
                          <p:cTn id="13" presetID="10" presetClass="entr" presetSubtype="0" fill="hold" nodeType="withEffect">
                            <p:stCondLst>
                              <p:cond delay="0"/>
                            </p:stCondLst>
                            <p:childTnLst>
                              <p:set>
                                <p:cBhvr>
                                  <p:cTn id="14" dur="1" fill="hold"/>
                                  <p:tgtEl>
                                    <p:spTgt spid="13"/>
                                  </p:tgtEl>
                                  <p:attrNameLst>
                                    <p:attrName>style.visibility</p:attrName>
                                  </p:attrNameLst>
                                </p:cBhvr>
                                <p:to>
                                  <p:strVal val="visible"/>
                                </p:to>
                              </p:set>
                              <p:animEffect transition="in" filter="fade">
                                <p:cBhvr>
                                  <p:cTn id="15" dur="550"/>
                                  <p:tgtEl>
                                    <p:spTgt spid="13"/>
                                  </p:tgtEl>
                                </p:cBhvr>
                              </p:animEffect>
                            </p:childTnLst>
                          </p:cTn>
                        </p:par>
                        <p:par>
                          <p:cTn id="16" presetID="10" presetClass="entr" presetSubtype="0" fill="hold" nodeType="withEffect">
                            <p:stCondLst>
                              <p:cond delay="0"/>
                            </p:stCondLst>
                            <p:childTnLst>
                              <p:set>
                                <p:cBhvr>
                                  <p:cTn id="17" dur="1" fill="hold"/>
                                  <p:tgtEl>
                                    <p:spTgt spid="14"/>
                                  </p:tgtEl>
                                  <p:attrNameLst>
                                    <p:attrName>style.visibility</p:attrName>
                                  </p:attrNameLst>
                                </p:cBhvr>
                                <p:to>
                                  <p:strVal val="visible"/>
                                </p:to>
                              </p:set>
                              <p:animEffect transition="in" filter="fade">
                                <p:cBhvr>
                                  <p:cTn id="18" dur="550"/>
                                  <p:tgtEl>
                                    <p:spTgt spid="14"/>
                                  </p:tgtEl>
                                </p:cBhvr>
                              </p:animEffect>
                            </p:childTnLst>
                          </p:cTn>
                        </p:par>
                        <p:par>
                          <p:cTn id="19" presetID="10" presetClass="entr" presetSubtype="0" fill="hold" nodeType="withEffect">
                            <p:stCondLst>
                              <p:cond delay="1250"/>
                            </p:stCondLst>
                            <p:childTnLst>
                              <p:set>
                                <p:cBhvr>
                                  <p:cTn id="20" dur="1" fill="hold"/>
                                  <p:tgtEl>
                                    <p:spTgt spid="15"/>
                                  </p:tgtEl>
                                  <p:attrNameLst>
                                    <p:attrName>style.visibility</p:attrName>
                                  </p:attrNameLst>
                                </p:cBhvr>
                                <p:to>
                                  <p:strVal val="visible"/>
                                </p:to>
                              </p:set>
                              <p:animEffect transition="in" filter="fade">
                                <p:cBhvr>
                                  <p:cTn id="21" dur="550"/>
                                  <p:tgtEl>
                                    <p:spTgt spid="15"/>
                                  </p:tgtEl>
                                </p:cBhvr>
                              </p:animEffect>
                            </p:childTnLst>
                          </p:cTn>
                        </p:par>
                        <p:par>
                          <p:cTn id="22" presetID="10" presetClass="entr" presetSubtype="0" fill="hold" nodeType="withEffect">
                            <p:stCondLst>
                              <p:cond delay="1250"/>
                            </p:stCondLst>
                            <p:childTnLst>
                              <p:set>
                                <p:cBhvr>
                                  <p:cTn id="23" dur="1" fill="hold"/>
                                  <p:tgtEl>
                                    <p:spTgt spid="16"/>
                                  </p:tgtEl>
                                  <p:attrNameLst>
                                    <p:attrName>style.visibility</p:attrName>
                                  </p:attrNameLst>
                                </p:cBhvr>
                                <p:to>
                                  <p:strVal val="visible"/>
                                </p:to>
                              </p:set>
                              <p:animEffect transition="in" filter="fade">
                                <p:cBhvr>
                                  <p:cTn id="24" dur="550"/>
                                  <p:tgtEl>
                                    <p:spTgt spid="16"/>
                                  </p:tgtEl>
                                </p:cBhvr>
                              </p:animEffect>
                            </p:childTnLst>
                          </p:cTn>
                        </p:par>
                        <p:par>
                          <p:cTn id="25" presetID="10" presetClass="entr" presetSubtype="0" fill="hold" nodeType="withEffect">
                            <p:stCondLst>
                              <p:cond delay="1250"/>
                            </p:stCondLst>
                            <p:childTnLst>
                              <p:set>
                                <p:cBhvr>
                                  <p:cTn id="26" dur="1" fill="hold"/>
                                  <p:tgtEl>
                                    <p:spTgt spid="17"/>
                                  </p:tgtEl>
                                  <p:attrNameLst>
                                    <p:attrName>style.visibility</p:attrName>
                                  </p:attrNameLst>
                                </p:cBhvr>
                                <p:to>
                                  <p:strVal val="visible"/>
                                </p:to>
                              </p:set>
                              <p:animEffect transition="in" filter="fade">
                                <p:cBhvr>
                                  <p:cTn id="27" dur="550"/>
                                  <p:tgtEl>
                                    <p:spTgt spid="17"/>
                                  </p:tgtEl>
                                </p:cBhvr>
                              </p:animEffect>
                            </p:childTnLst>
                          </p:cTn>
                        </p:par>
                        <p:par>
                          <p:cTn id="28" presetID="10" presetClass="entr" presetSubtype="0" fill="hold" nodeType="withEffect">
                            <p:stCondLst>
                              <p:cond delay="1250"/>
                            </p:stCondLst>
                            <p:childTnLst>
                              <p:set>
                                <p:cBhvr>
                                  <p:cTn id="29" dur="1" fill="hold"/>
                                  <p:tgtEl>
                                    <p:spTgt spid="18"/>
                                  </p:tgtEl>
                                  <p:attrNameLst>
                                    <p:attrName>style.visibility</p:attrName>
                                  </p:attrNameLst>
                                </p:cBhvr>
                                <p:to>
                                  <p:strVal val="visible"/>
                                </p:to>
                              </p:set>
                              <p:animEffect transition="in" filter="fade">
                                <p:cBhvr>
                                  <p:cTn id="30" dur="550"/>
                                  <p:tgtEl>
                                    <p:spTgt spid="18"/>
                                  </p:tgtEl>
                                </p:cBhvr>
                              </p:animEffect>
                            </p:childTnLst>
                          </p:cTn>
                        </p:par>
                        <p:par>
                          <p:cTn id="31" presetID="10" presetClass="entr" presetSubtype="0" fill="hold" nodeType="withEffect">
                            <p:stCondLst>
                              <p:cond delay="1250"/>
                            </p:stCondLst>
                            <p:childTnLst>
                              <p:set>
                                <p:cBhvr>
                                  <p:cTn id="32" dur="1" fill="hold"/>
                                  <p:tgtEl>
                                    <p:spTgt spid="19"/>
                                  </p:tgtEl>
                                  <p:attrNameLst>
                                    <p:attrName>style.visibility</p:attrName>
                                  </p:attrNameLst>
                                </p:cBhvr>
                                <p:to>
                                  <p:strVal val="visible"/>
                                </p:to>
                              </p:set>
                              <p:animEffect transition="in" filter="fade">
                                <p:cBhvr>
                                  <p:cTn id="33" dur="550"/>
                                  <p:tgtEl>
                                    <p:spTgt spid="19"/>
                                  </p:tgtEl>
                                </p:cBhvr>
                              </p:animEffect>
                            </p:childTnLst>
                          </p:cTn>
                        </p:par>
                        <p:par>
                          <p:cTn id="34" presetID="10" presetClass="entr" presetSubtype="0" fill="hold" nodeType="withEffect">
                            <p:stCondLst>
                              <p:cond delay="1250"/>
                            </p:stCondLst>
                            <p:childTnLst>
                              <p:set>
                                <p:cBhvr>
                                  <p:cTn id="35" dur="1" fill="hold"/>
                                  <p:tgtEl>
                                    <p:spTgt spid="20"/>
                                  </p:tgtEl>
                                  <p:attrNameLst>
                                    <p:attrName>style.visibility</p:attrName>
                                  </p:attrNameLst>
                                </p:cBhvr>
                                <p:to>
                                  <p:strVal val="visible"/>
                                </p:to>
                              </p:set>
                              <p:animEffect transition="in" filter="fade">
                                <p:cBhvr>
                                  <p:cTn id="36" dur="550"/>
                                  <p:tgtEl>
                                    <p:spTgt spid="20"/>
                                  </p:tgtEl>
                                </p:cBhvr>
                              </p:animEffect>
                            </p:childTnLst>
                          </p:cTn>
                        </p:par>
                        <p:par>
                          <p:cTn id="37" presetID="10" presetClass="entr" presetSubtype="0" fill="hold" nodeType="withEffect">
                            <p:stCondLst>
                              <p:cond delay="2500"/>
                            </p:stCondLst>
                            <p:childTnLst>
                              <p:set>
                                <p:cBhvr>
                                  <p:cTn id="38" dur="1" fill="hold"/>
                                  <p:tgtEl>
                                    <p:spTgt spid="21"/>
                                  </p:tgtEl>
                                  <p:attrNameLst>
                                    <p:attrName>style.visibility</p:attrName>
                                  </p:attrNameLst>
                                </p:cBhvr>
                                <p:to>
                                  <p:strVal val="visible"/>
                                </p:to>
                              </p:set>
                              <p:animEffect transition="in" filter="fade">
                                <p:cBhvr>
                                  <p:cTn id="39" dur="550"/>
                                  <p:tgtEl>
                                    <p:spTgt spid="21"/>
                                  </p:tgtEl>
                                </p:cBhvr>
                              </p:animEffect>
                            </p:childTnLst>
                          </p:cTn>
                        </p:par>
                        <p:par>
                          <p:cTn id="40" presetID="10" presetClass="entr" presetSubtype="0" fill="hold" nodeType="withEffect">
                            <p:stCondLst>
                              <p:cond delay="2500"/>
                            </p:stCondLst>
                            <p:childTnLst>
                              <p:set>
                                <p:cBhvr>
                                  <p:cTn id="41" dur="1" fill="hold"/>
                                  <p:tgtEl>
                                    <p:spTgt spid="22"/>
                                  </p:tgtEl>
                                  <p:attrNameLst>
                                    <p:attrName>style.visibility</p:attrName>
                                  </p:attrNameLst>
                                </p:cBhvr>
                                <p:to>
                                  <p:strVal val="visible"/>
                                </p:to>
                              </p:set>
                              <p:animEffect transition="in" filter="fade">
                                <p:cBhvr>
                                  <p:cTn id="42" dur="550"/>
                                  <p:tgtEl>
                                    <p:spTgt spid="22"/>
                                  </p:tgtEl>
                                </p:cBhvr>
                              </p:animEffect>
                            </p:childTnLst>
                          </p:cTn>
                        </p:par>
                        <p:par>
                          <p:cTn id="43" presetID="10" presetClass="entr" presetSubtype="0" fill="hold" nodeType="withEffect">
                            <p:stCondLst>
                              <p:cond delay="2500"/>
                            </p:stCondLst>
                            <p:childTnLst>
                              <p:set>
                                <p:cBhvr>
                                  <p:cTn id="44" dur="1" fill="hold"/>
                                  <p:tgtEl>
                                    <p:spTgt spid="23"/>
                                  </p:tgtEl>
                                  <p:attrNameLst>
                                    <p:attrName>style.visibility</p:attrName>
                                  </p:attrNameLst>
                                </p:cBhvr>
                                <p:to>
                                  <p:strVal val="visible"/>
                                </p:to>
                              </p:set>
                              <p:animEffect transition="in" filter="fade">
                                <p:cBhvr>
                                  <p:cTn id="45" dur="550"/>
                                  <p:tgtEl>
                                    <p:spTgt spid="23"/>
                                  </p:tgtEl>
                                </p:cBhvr>
                              </p:animEffect>
                            </p:childTnLst>
                          </p:cTn>
                        </p:par>
                        <p:par>
                          <p:cTn id="46" presetID="10" presetClass="entr" presetSubtype="0" fill="hold" nodeType="withEffect">
                            <p:stCondLst>
                              <p:cond delay="2500"/>
                            </p:stCondLst>
                            <p:childTnLst>
                              <p:set>
                                <p:cBhvr>
                                  <p:cTn id="47" dur="1" fill="hold"/>
                                  <p:tgtEl>
                                    <p:spTgt spid="24"/>
                                  </p:tgtEl>
                                  <p:attrNameLst>
                                    <p:attrName>style.visibility</p:attrName>
                                  </p:attrNameLst>
                                </p:cBhvr>
                                <p:to>
                                  <p:strVal val="visible"/>
                                </p:to>
                              </p:set>
                              <p:animEffect transition="in" filter="fade">
                                <p:cBhvr>
                                  <p:cTn id="48" dur="550"/>
                                  <p:tgtEl>
                                    <p:spTgt spid="24"/>
                                  </p:tgtEl>
                                </p:cBhvr>
                              </p:animEffect>
                            </p:childTnLst>
                          </p:cTn>
                        </p:par>
                        <p:par>
                          <p:cTn id="49" presetID="10" presetClass="entr" presetSubtype="0" fill="hold" nodeType="withEffect">
                            <p:stCondLst>
                              <p:cond delay="2500"/>
                            </p:stCondLst>
                            <p:childTnLst>
                              <p:set>
                                <p:cBhvr>
                                  <p:cTn id="50" dur="1" fill="hold"/>
                                  <p:tgtEl>
                                    <p:spTgt spid="25"/>
                                  </p:tgtEl>
                                  <p:attrNameLst>
                                    <p:attrName>style.visibility</p:attrName>
                                  </p:attrNameLst>
                                </p:cBhvr>
                                <p:to>
                                  <p:strVal val="visible"/>
                                </p:to>
                              </p:set>
                              <p:animEffect transition="in" filter="fade">
                                <p:cBhvr>
                                  <p:cTn id="51" dur="550"/>
                                  <p:tgtEl>
                                    <p:spTgt spid="25"/>
                                  </p:tgtEl>
                                </p:cBhvr>
                              </p:animEffect>
                            </p:childTnLst>
                          </p:cTn>
                        </p:par>
                        <p:par>
                          <p:cTn id="52" presetID="10" presetClass="entr" presetSubtype="0" fill="hold" nodeType="withEffect">
                            <p:stCondLst>
                              <p:cond delay="2500"/>
                            </p:stCondLst>
                            <p:childTnLst>
                              <p:set>
                                <p:cBhvr>
                                  <p:cTn id="53" dur="1" fill="hold"/>
                                  <p:tgtEl>
                                    <p:spTgt spid="26"/>
                                  </p:tgtEl>
                                  <p:attrNameLst>
                                    <p:attrName>style.visibility</p:attrName>
                                  </p:attrNameLst>
                                </p:cBhvr>
                                <p:to>
                                  <p:strVal val="visible"/>
                                </p:to>
                              </p:set>
                              <p:animEffect transition="in" filter="fade">
                                <p:cBhvr>
                                  <p:cTn id="54" dur="550"/>
                                  <p:tgtEl>
                                    <p:spTgt spid="2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GRINDCTRL · مكالمات أذكى لعملاء كونكريت</dc:title>
  <dc:subject>Reported caller-context gap: Genesys call assignment and Zoho Desk ticket lookup. Proposed workflow; fictional records.</dc:subject>
  <dc:creator>GRINDCTRL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