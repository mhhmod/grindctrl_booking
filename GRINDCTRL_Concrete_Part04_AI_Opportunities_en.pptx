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Part04_FINAL_VOICEOVER.mp3" ContentType="audio/mpe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a new GRINDCTRL collaboration proposal, not deployed products or a live integration. Imagery is generative art direction supplied by the user, selectively displayed through native cropped scene viewports. It is not verified Concrete store/product imagery. Generated captions, signage/date, currencies, benefits, promises and metrics are excluded. UI text is editable and rebuilt.</a:t>
            </a:r>
          </a:p>
          <a:p/>
          <a:p>
            <a:r>
              <a:t>One supplied final MP3, locked continuously from 00:00, unchanged across all nine scenes. Scene divisions affect video only. No speech synthesis, separate narration clips, speed changes, normalization, music or inserted silences.</a:t>
            </a:r>
          </a:p>
          <a:p/>
          <a:p>
            <a:r>
              <a:t>Native Genesys/Zoho AI capabilities, source systems/versions, WooCommerce inventory and product variation mappings, Retail Pro 9/Prism interfaces, Icons Club source, permissions, consent and integration access must be audited. No operational evidence or authorized native screenshots were supplied. Contracts do not prove live operation.</a:t>
            </a:r>
          </a:p>
          <a:p/>
          <a:p>
            <a:r>
              <a:t>C001 · 0.000–5.978s · في الفيديوهات اللي فاتت، شفنا إزاي GRINDCTRL ممكن تساعد Concrete تطور تجربة خدمة العملاء،</a:t>
            </a:r>
          </a:p>
          <a:p/>
          <a:p>
            <a:r>
              <a:t>C002 · 6.330–7.257s · من أول المكالمة،</a:t>
            </a:r>
          </a:p>
          <a:p/>
          <a:p>
            <a:r>
              <a:t>C003 · 7.426–8.596s · لحد متابعة العميل.</a:t>
            </a:r>
          </a:p>
          <a:p/>
          <a:p>
            <a:r>
              <a:t>C004 · 9.270–10.685s · لكن دي مجرد بداية.</a:t>
            </a:r>
          </a:p>
          <a:p/>
          <a:p>
            <a:r>
              <a:t>C005 · 11.332–16.025s · النهارده عايزين نتخيل مع بعض فرص أكبر للذكاء الاصطناعي جوه Concrete:</a:t>
            </a:r>
          </a:p>
          <a:p/>
          <a:p>
            <a:r>
              <a:t>C006 · 16.601–17.245s · في الأونلاين،</a:t>
            </a:r>
          </a:p>
          <a:p/>
          <a:p>
            <a:r>
              <a:t>C007 · 17.482–18.075s · والفروع،</a:t>
            </a:r>
          </a:p>
          <a:p/>
          <a:p>
            <a:r>
              <a:t>C008 · 18.272–20.498s · والمبيعات، والماركتنج، والإدارة.</a:t>
            </a:r>
          </a:p>
          <a:p/>
          <a:p>
            <a:r>
              <a:t>C009 · 21.263–23.135s · مش بنتكلم عن أنظمة شغالة بالفعل.</a:t>
            </a:r>
          </a:p>
          <a:p/>
          <a:p>
            <a:r>
              <a:t>C010 · 23.516–25.200s · بنتكلم عن حلول مقترحة،</a:t>
            </a:r>
          </a:p>
          <a:p/>
          <a:p>
            <a:r>
              <a:t>C011 · 25.694–28.844s · كل واحدة منها نقدر نختبرها ونشوف قيمتها الحقيقية.</a:t>
            </a:r>
          </a:p>
          <a:p/>
          <a:p>
            <a:r>
              <a:t>SOURCES (PDF pages):</a:t>
            </a:r>
          </a:p>
          <a:p/>
          <a:p>
            <a:r>
              <a:t>Concrete contract (29-11-2023).pdf — 4, 5 — Contracted screen-pop scope and Prism integration migration; not proof of live operation or current AI entitlements.</a:t>
            </a:r>
          </a:p>
          <a:p/>
          <a:p>
            <a:r>
              <a:t>Part 04 supplied storyboards and narration —  — Art direction and business concepts. Generated UI, facts and metrics corrected.</a:t>
            </a:r>
          </a:p>
          <a:p/>
          <a:p>
            <a:r>
              <a:t>No existing Concrete/Centro relationship. All sample records are fictional. No live connector. Reported workflow has not been independently tested.</a:t>
            </a:r>
          </a:p>
          <a:p/>
          <a:p>
            <a:r>
              <a:t>Editable static scene reference. The supplied replacement continuous MP3 is embedded unchanged on slide 1. Native PowerPoint playback has not been verified; slides advance manually and do not reproduce the full HTML animation choreography. HTML and MP4 are the synchronized audiovisual masters. Thirteen reference pages: nine principal scenes plus four complementary workflow states. Install the bundled Manrope and IBM Plex Sans Arabic fonts for layout fidelity.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a new GRINDCTRL collaboration proposal, not deployed products or a live integration. Imagery is generative art direction supplied by the user, selectively displayed through native cropped scene viewports. It is not verified Concrete store/product imagery. Generated captions, signage/date, currencies, benefits, promises and metrics are excluded. UI text is editable and rebuilt.</a:t>
            </a:r>
          </a:p>
          <a:p/>
          <a:p>
            <a:r>
              <a:t>One supplied final MP3, locked continuously from 00:00, unchanged across all nine scenes. Scene divisions affect video only. No speech synthesis, separate narration clips, speed changes, normalization, music or inserted silences.</a:t>
            </a:r>
          </a:p>
          <a:p/>
          <a:p>
            <a:r>
              <a:t>Native Genesys/Zoho AI capabilities, source systems/versions, WooCommerce inventory and product variation mappings, Retail Pro 9/Prism interfaces, Icons Club source, permissions, consent and integration access must be audited. No operational evidence or authorized native screenshots were supplied. Contracts do not prove live operation.</a:t>
            </a:r>
          </a:p>
          <a:p/>
          <a:p>
            <a:r>
              <a:t>C012 · 29.583–32.171s · تخيلوا عميل داخل على متجر Concrete الأونلاين،</a:t>
            </a:r>
          </a:p>
          <a:p/>
          <a:p>
            <a:r>
              <a:t>C013 · 32.547–33.634s · وعنده مناسبة مهمة،</a:t>
            </a:r>
          </a:p>
          <a:p/>
          <a:p>
            <a:r>
              <a:t>C014 · 33.948–35.814s · لكنه مش عارف يختار لوك كامل.</a:t>
            </a:r>
          </a:p>
          <a:p/>
          <a:p>
            <a:r>
              <a:t>C015 · 36.594–38.197s · بدل ما يلف على صفحات كتير،</a:t>
            </a:r>
          </a:p>
          <a:p/>
          <a:p>
            <a:r>
              <a:t>C016 · 38.507–40.737s · يقول للـAI Stylist هو رايح فين،</a:t>
            </a:r>
          </a:p>
          <a:p/>
          <a:p>
            <a:r>
              <a:t>C017 · 40.892–41.624s · وبيحب إيه،</a:t>
            </a:r>
          </a:p>
          <a:p/>
          <a:p>
            <a:r>
              <a:t>C018 · 41.941–43.081s · والميزانية المناسبة ليه.</a:t>
            </a:r>
          </a:p>
          <a:p/>
          <a:p>
            <a:r>
              <a:t>C019 · 43.813–45.133s · المساعد يقترح عليه،</a:t>
            </a:r>
          </a:p>
          <a:p/>
          <a:p>
            <a:r>
              <a:t>C020 · 45.357–45.715s · بليزر،</a:t>
            </a:r>
          </a:p>
          <a:p/>
          <a:p>
            <a:r>
              <a:t>C021 · 45.980–46.442s · وشيرت،</a:t>
            </a:r>
          </a:p>
          <a:p/>
          <a:p>
            <a:r>
              <a:t>C022 · 46.608–47.240s · وبنطلون،</a:t>
            </a:r>
          </a:p>
          <a:p/>
          <a:p>
            <a:r>
              <a:t>C023 · 47.398–48.921s · وجزمة بشكل متناسق،</a:t>
            </a:r>
          </a:p>
          <a:p/>
          <a:p>
            <a:r>
              <a:t>C024 · 49.245–50.497s · من المنتجات اللي في الكتالوج.</a:t>
            </a:r>
          </a:p>
          <a:p/>
          <a:p>
            <a:r>
              <a:t>C025 · 51.255–53.255s · والعميل يقدر يغير الاختيارات،</a:t>
            </a:r>
          </a:p>
          <a:p/>
          <a:p>
            <a:r>
              <a:t>C026 · 53.411–55.723s · أو يحجز تجربة في الفرع لو الخدمة متاحة.</a:t>
            </a:r>
          </a:p>
          <a:p/>
          <a:p>
            <a:r>
              <a:t>C027 · 56.466–60.899s · الهدف إن اختيار اللبس يبقى أسهل وأقرب لمساعدة ستايلست حقيقي.</a:t>
            </a:r>
          </a:p>
          <a:p/>
          <a:p>
            <a:r>
              <a:t>SOURCES (PDF pages):</a:t>
            </a:r>
          </a:p>
          <a:p/>
          <a:p>
            <a:r>
              <a:t>Concrete contract (29-11-2023).pdf — 4, 5 — Contracted screen-pop scope and Prism integration migration; not proof of live operation or current AI entitlements.</a:t>
            </a:r>
          </a:p>
          <a:p/>
          <a:p>
            <a:r>
              <a:t>Part 04 supplied storyboards and narration —  — Art direction and business concepts. Generated UI, facts and metrics corrected.</a:t>
            </a:r>
          </a:p>
          <a:p/>
          <a:p>
            <a:r>
              <a:t>No existing Concrete/Centro relationship. All sample records are fictional. No live connector. Reported workflow has not been independently tested.</a:t>
            </a:r>
          </a:p>
          <a:p/>
          <a:p>
            <a:r>
              <a:t>Editable static scene reference. The supplied replacement continuous MP3 is embedded unchanged on slide 1. Native PowerPoint playback has not been verified; slides advance manually and do not reproduce the full HTML animation choreography. HTML and MP4 are the synchronized audiovisual masters. Thirteen reference pages: nine principal scenes plus four complementary workflow states. Install the bundled Manrope and IBM Plex Sans Arabic fonts for layout fidelity.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a new GRINDCTRL collaboration proposal, not deployed products or a live integration. Imagery is generative art direction supplied by the user, selectively displayed through native cropped scene viewports. It is not verified Concrete store/product imagery. Generated captions, signage/date, currencies, benefits, promises and metrics are excluded. UI text is editable and rebuilt.</a:t>
            </a:r>
          </a:p>
          <a:p/>
          <a:p>
            <a:r>
              <a:t>One supplied final MP3, locked continuously from 00:00, unchanged across all nine scenes. Scene divisions affect video only. No speech synthesis, separate narration clips, speed changes, normalization, music or inserted silences.</a:t>
            </a:r>
          </a:p>
          <a:p/>
          <a:p>
            <a:r>
              <a:t>Native Genesys/Zoho AI capabilities, source systems/versions, WooCommerce inventory and product variation mappings, Retail Pro 9/Prism interfaces, Icons Club source, permissions, consent and integration access must be audited. No operational evidence or authorized native screenshots were supplied. Contracts do not prove live operation.</a:t>
            </a:r>
          </a:p>
          <a:p/>
          <a:p>
            <a:r>
              <a:t>C028 · 61.463–64.222s · ونفس التجربة ممكن تكمل جوه الأونلاين ستور.</a:t>
            </a:r>
          </a:p>
          <a:p/>
          <a:p>
            <a:r>
              <a:t>C029 · 64.860–67.976s · العميل يسأل بشكل طبيعي عن شيرت لمناسبة معينة،</a:t>
            </a:r>
          </a:p>
          <a:p/>
          <a:p>
            <a:r>
              <a:t>C030 · 68.292–69.259s · أو المقاس المناسب،</a:t>
            </a:r>
          </a:p>
          <a:p/>
          <a:p>
            <a:r>
              <a:t>C031 · 69.708–71.635s · أو إذا كان المنتج متاح في فرع قريب.</a:t>
            </a:r>
          </a:p>
          <a:p/>
          <a:p>
            <a:r>
              <a:t>C032 · 72.394–74.079s · المساعد يرشح اختيارات،</a:t>
            </a:r>
          </a:p>
          <a:p/>
          <a:p>
            <a:r>
              <a:t>C033 · 74.308–75.688s · ويشرح جدول المقاسات،</a:t>
            </a:r>
          </a:p>
          <a:p/>
          <a:p>
            <a:r>
              <a:t>C034 · 76.014–79.090s · ويعرض الـAvailability لما تكون متوصلة ببيانات ستوك،</a:t>
            </a:r>
          </a:p>
          <a:p/>
          <a:p>
            <a:r>
              <a:t>C035 · 79.243–80.111s · محدثة فعلًا.</a:t>
            </a:r>
          </a:p>
          <a:p/>
          <a:p>
            <a:r>
              <a:t>C036 · 80.798–81.858s · ولو المعلومات ناقصة،</a:t>
            </a:r>
          </a:p>
          <a:p/>
          <a:p>
            <a:r>
              <a:t>C037 · 82.014–84.095s · يقول إنها غير متاحة بدل ما يخمن.</a:t>
            </a:r>
          </a:p>
          <a:p/>
          <a:p>
            <a:r>
              <a:t>C038 · 84.835–86.747s · كده بنسهّل الـProduct Discovery،</a:t>
            </a:r>
          </a:p>
          <a:p/>
          <a:p>
            <a:r>
              <a:t>C039 · 87.077–89.425s · ونساعد العميل ياخد قرار وهو فاهم،</a:t>
            </a:r>
          </a:p>
          <a:p/>
          <a:p>
            <a:r>
              <a:t>C040 · 89.880–92.323s · من غير وعود غلط عن المقاسات أو المخزون.</a:t>
            </a:r>
          </a:p>
          <a:p/>
          <a:p>
            <a:r>
              <a:t>SOURCES (PDF pages):</a:t>
            </a:r>
          </a:p>
          <a:p/>
          <a:p>
            <a:r>
              <a:t>Concrete contract (29-11-2023).pdf — 4, 5 — Contracted screen-pop scope and Prism integration migration; not proof of live operation or current AI entitlements.</a:t>
            </a:r>
          </a:p>
          <a:p/>
          <a:p>
            <a:r>
              <a:t>Part 04 supplied storyboards and narration —  — Art direction and business concepts. Generated UI, facts and metrics corrected.</a:t>
            </a:r>
          </a:p>
          <a:p/>
          <a:p>
            <a:r>
              <a:t>No existing Concrete/Centro relationship. All sample records are fictional. No live connector. Reported workflow has not been independently tested.</a:t>
            </a:r>
          </a:p>
          <a:p/>
          <a:p>
            <a:r>
              <a:t>Editable static scene reference. The supplied replacement continuous MP3 is embedded unchanged on slide 1. Native PowerPoint playback has not been verified; slides advance manually and do not reproduce the full HTML animation choreography. HTML and MP4 are the synchronized audiovisual masters. Thirteen reference pages: nine principal scenes plus four complementary workflow states. Install the bundled Manrope and IBM Plex Sans Arabic fonts for layout fidelity.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a new GRINDCTRL collaboration proposal, not deployed products or a live integration. Imagery is generative art direction supplied by the user, selectively displayed through native cropped scene viewports. It is not verified Concrete store/product imagery. Generated captions, signage/date, currencies, benefits, promises and metrics are excluded. UI text is editable and rebuilt.</a:t>
            </a:r>
          </a:p>
          <a:p/>
          <a:p>
            <a:r>
              <a:t>One supplied final MP3, locked continuously from 00:00, unchanged across all nine scenes. Scene divisions affect video only. No speech synthesis, separate narration clips, speed changes, normalization, music or inserted silences.</a:t>
            </a:r>
          </a:p>
          <a:p/>
          <a:p>
            <a:r>
              <a:t>Native Genesys/Zoho AI capabilities, source systems/versions, WooCommerce inventory and product variation mappings, Retail Pro 9/Prism interfaces, Icons Club source, permissions, consent and integration access must be audited. No operational evidence or authorized native screenshots were supplied. Contracts do not prove live operation.</a:t>
            </a:r>
          </a:p>
          <a:p/>
          <a:p>
            <a:r>
              <a:t>C041 · 93.035–94.395s · نرجع بقى للـContact Center.</a:t>
            </a:r>
          </a:p>
          <a:p/>
          <a:p>
            <a:r>
              <a:t>C042 · 94.989–97.046s · الإيجنت بيستقبل Call على Genesys،</a:t>
            </a:r>
          </a:p>
          <a:p/>
          <a:p>
            <a:r>
              <a:t>C043 · 97.245–99.080s · وبيكون محتاج يفهم العميل بسرعة.</a:t>
            </a:r>
          </a:p>
          <a:p/>
          <a:p>
            <a:r>
              <a:t>C044 · 99.802–104.096s · هنا ممكن الـAI Copilot يساعده بمعلومات من المصادر المصرح بيها،</a:t>
            </a:r>
          </a:p>
          <a:p/>
          <a:p>
            <a:r>
              <a:t>C045 · 104.545–106.379s · ويقترح إجابة من سياسة الشركة،</a:t>
            </a:r>
          </a:p>
          <a:p/>
          <a:p>
            <a:r>
              <a:t>C046 · 106.806–109.237s · أو يجهز مسودة Call Summary بعد المكالمة.</a:t>
            </a:r>
          </a:p>
          <a:p/>
          <a:p>
            <a:r>
              <a:t>C047 · 109.943–113.714s · المهم إن الموظف يراجع الاقتراح قبل استخدامه أو حفظه.</a:t>
            </a:r>
          </a:p>
          <a:p/>
          <a:p>
            <a:r>
              <a:t>C048 · 114.362–118.594s · والـAI ما يوعدش العميل باستبدال أو استرجاع أو ميعاد تسليم،</a:t>
            </a:r>
          </a:p>
          <a:p/>
          <a:p>
            <a:r>
              <a:t>C049 · 118.907–121.266s · من غير بيانات مؤكدة وموافقة مناسبة.</a:t>
            </a:r>
          </a:p>
          <a:p/>
          <a:p>
            <a:r>
              <a:t>C050 · 121.922–123.506s · إحنا بنقوّي شغل الإيجنت،</a:t>
            </a:r>
          </a:p>
          <a:p/>
          <a:p>
            <a:r>
              <a:t>C051 · 123.702–124.964s · مش بنشيل القرار من إيده.</a:t>
            </a:r>
          </a:p>
          <a:p/>
          <a:p>
            <a:r>
              <a:t>SOURCES (PDF pages):</a:t>
            </a:r>
          </a:p>
          <a:p/>
          <a:p>
            <a:r>
              <a:t>Concrete contract (29-11-2023).pdf — 4, 5 — Contracted screen-pop scope and Prism integration migration; not proof of live operation or current AI entitlements.</a:t>
            </a:r>
          </a:p>
          <a:p/>
          <a:p>
            <a:r>
              <a:t>Part 04 supplied storyboards and narration —  — Art direction and business concepts. Generated UI, facts and metrics corrected.</a:t>
            </a:r>
          </a:p>
          <a:p/>
          <a:p>
            <a:r>
              <a:t>No existing Concrete/Centro relationship. All sample records are fictional. No live connector. Reported workflow has not been independently tested.</a:t>
            </a:r>
          </a:p>
          <a:p/>
          <a:p>
            <a:r>
              <a:t>Editable static scene reference. The supplied replacement continuous MP3 is embedded unchanged on slide 1. Native PowerPoint playback has not been verified; slides advance manually and do not reproduce the full HTML animation choreography. HTML and MP4 are the synchronized audiovisual masters. Thirteen reference pages: nine principal scenes plus four complementary workflow states. Install the bundled Manrope and IBM Plex Sans Arabic fonts for layout fidelity.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a new GRINDCTRL collaboration proposal, not deployed products or a live integration. Imagery is generative art direction supplied by the user, selectively displayed through native cropped scene viewports. It is not verified Concrete store/product imagery. Generated captions, signage/date, currencies, benefits, promises and metrics are excluded. UI text is editable and rebuilt.</a:t>
            </a:r>
          </a:p>
          <a:p/>
          <a:p>
            <a:r>
              <a:t>One supplied final MP3, locked continuously from 00:00, unchanged across all nine scenes. Scene divisions affect video only. No speech synthesis, separate narration clips, speed changes, normalization, music or inserted silences.</a:t>
            </a:r>
          </a:p>
          <a:p/>
          <a:p>
            <a:r>
              <a:t>Native Genesys/Zoho AI capabilities, source systems/versions, WooCommerce inventory and product variation mappings, Retail Pro 9/Prism interfaces, Icons Club source, permissions, consent and integration access must be audited. No operational evidence or authorized native screenshots were supplied. Contracts do not prove live operation.</a:t>
            </a:r>
          </a:p>
          <a:p/>
          <a:p>
            <a:r>
              <a:t>C052 · 125.674–126.354s · وفي الفروع،</a:t>
            </a:r>
          </a:p>
          <a:p/>
          <a:p>
            <a:r>
              <a:t>C053 · 126.505–128.286s · التجربة ممكن تبقى شخصية أكتر.</a:t>
            </a:r>
          </a:p>
          <a:p/>
          <a:p>
            <a:r>
              <a:t>C054 · 128.918–131.020s · لما العميل يوافق على استخدام بياناته،</a:t>
            </a:r>
          </a:p>
          <a:p/>
          <a:p>
            <a:r>
              <a:t>C055 · 131.232–134.868s · موظف المبيعات يقدر يشوف تفضيلاته ومشترياته المتاحة،</a:t>
            </a:r>
          </a:p>
          <a:p/>
          <a:p>
            <a:r>
              <a:t>C056 · 135.295–137.060s · وكمان عضويته في Icons Club:</a:t>
            </a:r>
          </a:p>
          <a:p/>
          <a:p>
            <a:r>
              <a:t>C057 · 137.443–138.092s · Lifestyle،</a:t>
            </a:r>
          </a:p>
          <a:p/>
          <a:p>
            <a:r>
              <a:t>C058 · 138.269–139.006s · أو Prestige،</a:t>
            </a:r>
          </a:p>
          <a:p/>
          <a:p>
            <a:r>
              <a:t>C059 · 139.160–139.683s · أو Elite.</a:t>
            </a:r>
          </a:p>
          <a:p/>
          <a:p>
            <a:r>
              <a:t>C060 · 140.248–141.870s · وبناءً على المعلومات الصحيحة،</a:t>
            </a:r>
          </a:p>
          <a:p/>
          <a:p>
            <a:r>
              <a:t>C061 · 142.227–144.615s · المساعد يقترح قطع تكمل اختياراته،</a:t>
            </a:r>
          </a:p>
          <a:p/>
          <a:p>
            <a:r>
              <a:t>C062 · 145.037–146.683s · أو يساعد في حجز موعد مناسب.</a:t>
            </a:r>
          </a:p>
          <a:p/>
          <a:p>
            <a:r>
              <a:t>C063 · 147.470–150.801s · مش معنى إن العميل Elite إننا نفترض مزايا مش مؤكدة.</a:t>
            </a:r>
          </a:p>
          <a:p/>
          <a:p>
            <a:r>
              <a:t>C064 · 151.421–154.171s · كل اقتراح يفضل مرتبط بسياسات Concrete،</a:t>
            </a:r>
          </a:p>
          <a:p/>
          <a:p>
            <a:r>
              <a:t>C065 · 154.354–155.469s · وتوفر المنتجات،</a:t>
            </a:r>
          </a:p>
          <a:p/>
          <a:p>
            <a:r>
              <a:t>C066 · 155.729–156.770s · وصلاحيات الموظف.</a:t>
            </a:r>
          </a:p>
          <a:p/>
          <a:p>
            <a:r>
              <a:t>SOURCES (PDF pages):</a:t>
            </a:r>
          </a:p>
          <a:p/>
          <a:p>
            <a:r>
              <a:t>Concrete contract (29-11-2023).pdf — 4, 5 — Contracted screen-pop scope and Prism integration migration; not proof of live operation or current AI entitlements.</a:t>
            </a:r>
          </a:p>
          <a:p/>
          <a:p>
            <a:r>
              <a:t>Part 04 supplied storyboards and narration —  — Art direction and business concepts. Generated UI, facts and metrics corrected.</a:t>
            </a:r>
          </a:p>
          <a:p/>
          <a:p>
            <a:r>
              <a:t>No existing Concrete/Centro relationship. All sample records are fictional. No live connector. Reported workflow has not been independently tested.</a:t>
            </a:r>
          </a:p>
          <a:p/>
          <a:p>
            <a:r>
              <a:t>Editable static scene reference. The supplied replacement continuous MP3 is embedded unchanged on slide 1. Native PowerPoint playback has not been verified; slides advance manually and do not reproduce the full HTML animation choreography. HTML and MP4 are the synchronized audiovisual masters. Thirteen reference pages: nine principal scenes plus four complementary workflow states. Install the bundled Manrope and IBM Plex Sans Arabic fonts for layout fidelity.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a new GRINDCTRL collaboration proposal, not deployed products or a live integration. Imagery is generative art direction supplied by the user, selectively displayed through native cropped scene viewports. It is not verified Concrete store/product imagery. Generated captions, signage/date, currencies, benefits, promises and metrics are excluded. UI text is editable and rebuilt.</a:t>
            </a:r>
          </a:p>
          <a:p/>
          <a:p>
            <a:r>
              <a:t>One supplied final MP3, locked continuously from 00:00, unchanged across all nine scenes. Scene divisions affect video only. No speech synthesis, separate narration clips, speed changes, normalization, music or inserted silences.</a:t>
            </a:r>
          </a:p>
          <a:p/>
          <a:p>
            <a:r>
              <a:t>Native Genesys/Zoho AI capabilities, source systems/versions, WooCommerce inventory and product variation mappings, Retail Pro 9/Prism interfaces, Icons Club source, permissions, consent and integration access must be audited. No operational evidence or authorized native screenshots were supplied. Contracts do not prove live operation.</a:t>
            </a:r>
          </a:p>
          <a:p/>
          <a:p>
            <a:r>
              <a:t>C067 · 157.510–159.413s · بس الفرص مش كلها قدام العميل.</a:t>
            </a:r>
          </a:p>
          <a:p/>
          <a:p>
            <a:r>
              <a:t>C068 · 160.050–162.942s · تخيلوا مدير فروع بيشوف مقاسات مطلوبة في فرع،</a:t>
            </a:r>
          </a:p>
          <a:p/>
          <a:p>
            <a:r>
              <a:t>C069 · 163.149–165.542s · بينما موجودة بكميات أكبر في فرع تاني.</a:t>
            </a:r>
          </a:p>
          <a:p/>
          <a:p>
            <a:r>
              <a:t>C070 · 166.269–168.012s · باستخدام بيانات المبيعات والستوك،</a:t>
            </a:r>
          </a:p>
          <a:p/>
          <a:p>
            <a:r>
              <a:t>C071 · 168.342–170.106s · نقدر نقترح نقل كمية،</a:t>
            </a:r>
          </a:p>
          <a:p/>
          <a:p>
            <a:r>
              <a:t>C072 · 170.340–171.386s · أو إعادة تزويد،</a:t>
            </a:r>
          </a:p>
          <a:p/>
          <a:p>
            <a:r>
              <a:t>C073 · 171.706–173.747s · أو توقع الطلب على منتجات معينة.</a:t>
            </a:r>
          </a:p>
          <a:p/>
          <a:p>
            <a:r>
              <a:t>C074 · 174.438–176.351s · الاقتراح يظهر ومعاه سببه،</a:t>
            </a:r>
          </a:p>
          <a:p/>
          <a:p>
            <a:r>
              <a:t>C075 · 176.660–179.018s · والمسؤول هو اللي يراجعه ويوافق عليه.</a:t>
            </a:r>
          </a:p>
          <a:p/>
          <a:p>
            <a:r>
              <a:t>C076 · 179.694–183.138s · وده ممكن يساعد فرق الـRetail Operations تاخد قرارات أوضح،</a:t>
            </a:r>
          </a:p>
          <a:p/>
          <a:p>
            <a:r>
              <a:t>C077 · 183.676–185.035s · بشرط جودة البيانات،</a:t>
            </a:r>
          </a:p>
          <a:p/>
          <a:p>
            <a:r>
              <a:t>C078 · 185.352–188.758s · وتجربة النماذج على نتائج حقيقية قبل الاعتماد عليها.</a:t>
            </a:r>
          </a:p>
          <a:p/>
          <a:p>
            <a:r>
              <a:t>SOURCES (PDF pages):</a:t>
            </a:r>
          </a:p>
          <a:p/>
          <a:p>
            <a:r>
              <a:t>Concrete contract (29-11-2023).pdf — 4, 5 — Contracted screen-pop scope and Prism integration migration; not proof of live operation or current AI entitlements.</a:t>
            </a:r>
          </a:p>
          <a:p/>
          <a:p>
            <a:r>
              <a:t>Part 04 supplied storyboards and narration —  — Art direction and business concepts. Generated UI, facts and metrics corrected.</a:t>
            </a:r>
          </a:p>
          <a:p/>
          <a:p>
            <a:r>
              <a:t>No existing Concrete/Centro relationship. All sample records are fictional. No live connector. Reported workflow has not been independently tested.</a:t>
            </a:r>
          </a:p>
          <a:p/>
          <a:p>
            <a:r>
              <a:t>Editable static scene reference. The supplied replacement continuous MP3 is embedded unchanged on slide 1. Native PowerPoint playback has not been verified; slides advance manually and do not reproduce the full HTML animation choreography. HTML and MP4 are the synchronized audiovisual masters. Thirteen reference pages: nine principal scenes plus four complementary workflow states. Install the bundled Manrope and IBM Plex Sans Arabic fonts for layout fidelity.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a new GRINDCTRL collaboration proposal, not deployed products or a live integration. Imagery is generative art direction supplied by the user, selectively displayed through native cropped scene viewports. It is not verified Concrete store/product imagery. Generated captions, signage/date, currencies, benefits, promises and metrics are excluded. UI text is editable and rebuilt.</a:t>
            </a:r>
          </a:p>
          <a:p/>
          <a:p>
            <a:r>
              <a:t>One supplied final MP3, locked continuously from 00:00, unchanged across all nine scenes. Scene divisions affect video only. No speech synthesis, separate narration clips, speed changes, normalization, music or inserted silences.</a:t>
            </a:r>
          </a:p>
          <a:p/>
          <a:p>
            <a:r>
              <a:t>Native Genesys/Zoho AI capabilities, source systems/versions, WooCommerce inventory and product variation mappings, Retail Pro 9/Prism interfaces, Icons Club source, permissions, consent and integration access must be audited. No operational evidence or authorized native screenshots were supplied. Contracts do not prove live operation.</a:t>
            </a:r>
          </a:p>
          <a:p/>
          <a:p>
            <a:r>
              <a:t>C079 · 189.096–190.156s · أما فريق الماركتنج،</a:t>
            </a:r>
          </a:p>
          <a:p/>
          <a:p>
            <a:r>
              <a:t>C080 · 190.390–192.738s · فممكن يبقى عنده AI Marketing Studio،</a:t>
            </a:r>
          </a:p>
          <a:p/>
          <a:p>
            <a:r>
              <a:t>C081 · 193.072–194.827s · يساعده يبدأ من فكرة كامبين،</a:t>
            </a:r>
          </a:p>
          <a:p/>
          <a:p>
            <a:r>
              <a:t>C082 · 195.251–200.627s · ويطلع منها اقتراحات للـCopy، والـVisual Concepts، ونسخ مناسبة للسوشيال ميديا والإيميل.</a:t>
            </a:r>
          </a:p>
          <a:p/>
          <a:p>
            <a:r>
              <a:t>C083 · 201.332–205.311s · وكل ده باستخدام الـBrand Guidelines والصور والمنتجات المعتمدة.</a:t>
            </a:r>
          </a:p>
          <a:p/>
          <a:p>
            <a:r>
              <a:t>C084 · 205.820–206.221s · مثلًا،</a:t>
            </a:r>
          </a:p>
          <a:p/>
          <a:p>
            <a:r>
              <a:t>C085 · 206.518–208.088s · الفريق يختار Collection جديدة،</a:t>
            </a:r>
          </a:p>
          <a:p/>
          <a:p>
            <a:r>
              <a:t>C086 · 208.515–211.636s · والمساعد يجهز له اتجاهات إبداعية مختلفة للمراجعة.</a:t>
            </a:r>
          </a:p>
          <a:p/>
          <a:p>
            <a:r>
              <a:t>C087 · 212.295–213.874s · لكن القرار النهائي والنشر،</a:t>
            </a:r>
          </a:p>
          <a:p/>
          <a:p>
            <a:r>
              <a:t>C088 · 214.150–215.492s · يفضلوا عند فريق Concrete،</a:t>
            </a:r>
          </a:p>
          <a:p/>
          <a:p>
            <a:r>
              <a:t>C089 · 215.887–218.610s · عشان الهوية البصرية والدقة وحقوق الصور،</a:t>
            </a:r>
          </a:p>
          <a:p/>
          <a:p>
            <a:r>
              <a:t>C090 · 218.809–219.683s · يفضلوا محفوظين.</a:t>
            </a:r>
          </a:p>
          <a:p/>
          <a:p>
            <a:r>
              <a:t>SOURCES (PDF pages):</a:t>
            </a:r>
          </a:p>
          <a:p/>
          <a:p>
            <a:r>
              <a:t>Concrete contract (29-11-2023).pdf — 4, 5 — Contracted screen-pop scope and Prism integration migration; not proof of live operation or current AI entitlements.</a:t>
            </a:r>
          </a:p>
          <a:p/>
          <a:p>
            <a:r>
              <a:t>Part 04 supplied storyboards and narration —  — Art direction and business concepts. Generated UI, facts and metrics corrected.</a:t>
            </a:r>
          </a:p>
          <a:p/>
          <a:p>
            <a:r>
              <a:t>No existing Concrete/Centro relationship. All sample records are fictional. No live connector. Reported workflow has not been independently tested.</a:t>
            </a:r>
          </a:p>
          <a:p/>
          <a:p>
            <a:r>
              <a:t>Editable static scene reference. The supplied replacement continuous MP3 is embedded unchanged on slide 1. Native PowerPoint playback has not been verified; slides advance manually and do not reproduce the full HTML animation choreography. HTML and MP4 are the synchronized audiovisual masters. Thirteen reference pages: nine principal scenes plus four complementary workflow states. Install the bundled Manrope and IBM Plex Sans Arabic fonts for layout fidelity.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a new GRINDCTRL collaboration proposal, not deployed products or a live integration. Imagery is generative art direction supplied by the user, selectively displayed through native cropped scene viewports. It is not verified Concrete store/product imagery. Generated captions, signage/date, currencies, benefits, promises and metrics are excluded. UI text is editable and rebuilt.</a:t>
            </a:r>
          </a:p>
          <a:p/>
          <a:p>
            <a:r>
              <a:t>One supplied final MP3, locked continuously from 00:00, unchanged across all nine scenes. Scene divisions affect video only. No speech synthesis, separate narration clips, speed changes, normalization, music or inserted silences.</a:t>
            </a:r>
          </a:p>
          <a:p/>
          <a:p>
            <a:r>
              <a:t>Native Genesys/Zoho AI capabilities, source systems/versions, WooCommerce inventory and product variation mappings, Retail Pro 9/Prism interfaces, Icons Club source, permissions, consent and integration access must be audited. No operational evidence or authorized native screenshots were supplied. Contracts do not prove live operation.</a:t>
            </a:r>
          </a:p>
          <a:p/>
          <a:p>
            <a:r>
              <a:t>C091 · 220.181–221.657s · ولما نبص من ناحية الإدارة،</a:t>
            </a:r>
          </a:p>
          <a:p/>
          <a:p>
            <a:r>
              <a:t>C092 · 221.951–223.675s · البيانات موجودة في أكتر من مكان:</a:t>
            </a:r>
          </a:p>
          <a:p/>
          <a:p>
            <a:r>
              <a:t>C093 · 224.217–224.837s · مبيعات،</a:t>
            </a:r>
          </a:p>
          <a:p/>
          <a:p>
            <a:r>
              <a:t>C094 · 225.066–225.548s · وستوك،</a:t>
            </a:r>
          </a:p>
          <a:p/>
          <a:p>
            <a:r>
              <a:t>C095 · 225.815–226.580s · وخدمة عملاء،</a:t>
            </a:r>
          </a:p>
          <a:p/>
          <a:p>
            <a:r>
              <a:t>C096 · 226.752–227.350s · وسلوك شراء.</a:t>
            </a:r>
          </a:p>
          <a:p/>
          <a:p>
            <a:r>
              <a:t>C097 · 227.854–230.705s · بعد ربط المصادر المسموح بيها ومراجعة جودتها،</a:t>
            </a:r>
          </a:p>
          <a:p/>
          <a:p>
            <a:r>
              <a:t>C098 · 231.163–233.201s · ممكن نعرض Executive Brief بسيط،</a:t>
            </a:r>
          </a:p>
          <a:p/>
          <a:p>
            <a:r>
              <a:t>C099 · 233.366–234.472s · يوضح الاتجاهات،</a:t>
            </a:r>
          </a:p>
          <a:p/>
          <a:p>
            <a:r>
              <a:t>C100 · 234.646–236.575s · ويشير للمشاكل اللي محتاجة متابعة،</a:t>
            </a:r>
          </a:p>
          <a:p/>
          <a:p>
            <a:r>
              <a:t>C101 · 237.081–239.773s · ويخلّي المدير يقدر يرجع لمصدر كل رقم.</a:t>
            </a:r>
          </a:p>
          <a:p/>
          <a:p>
            <a:r>
              <a:t>C102 · 240.283–242.632s · هنا مش الهدف Dashboard فيها أرقام كتير.</a:t>
            </a:r>
          </a:p>
          <a:p/>
          <a:p>
            <a:r>
              <a:t>C103 · 243.138–245.324s · الهدف إن المدير يعرف إيه اللي اتغير،</a:t>
            </a:r>
          </a:p>
          <a:p/>
          <a:p>
            <a:r>
              <a:t>C104 · 245.632–246.807s · وليه ممكن يكون مهم،</a:t>
            </a:r>
          </a:p>
          <a:p/>
          <a:p>
            <a:r>
              <a:t>C105 · 247.263–249.112s · وإيه السؤال اللي محتاج يسأله بعد كده.</a:t>
            </a:r>
          </a:p>
          <a:p/>
          <a:p>
            <a:r>
              <a:t>C106 · 249.530–250.826s · وأي نتائج على الشاشة،</a:t>
            </a:r>
          </a:p>
          <a:p/>
          <a:p>
            <a:r>
              <a:t>C107 · 251.001–251.951s · لازم تكون Demo،</a:t>
            </a:r>
          </a:p>
          <a:p/>
          <a:p>
            <a:r>
              <a:t>C108 · 252.165–253.463s · أو بيانات متحقق منها.</a:t>
            </a:r>
          </a:p>
          <a:p/>
          <a:p>
            <a:r>
              <a:t>SOURCES (PDF pages):</a:t>
            </a:r>
          </a:p>
          <a:p/>
          <a:p>
            <a:r>
              <a:t>Concrete contract (29-11-2023).pdf — 4, 5 — Contracted screen-pop scope and Prism integration migration; not proof of live operation or current AI entitlements.</a:t>
            </a:r>
          </a:p>
          <a:p/>
          <a:p>
            <a:r>
              <a:t>Part 04 supplied storyboards and narration —  — Art direction and business concepts. Generated UI, facts and metrics corrected.</a:t>
            </a:r>
          </a:p>
          <a:p/>
          <a:p>
            <a:r>
              <a:t>No existing Concrete/Centro relationship. All sample records are fictional. No live connector. Reported workflow has not been independently tested.</a:t>
            </a:r>
          </a:p>
          <a:p/>
          <a:p>
            <a:r>
              <a:t>Editable static scene reference. The supplied replacement continuous MP3 is embedded unchanged on slide 1. Native PowerPoint playback has not been verified; slides advance manually and do not reproduce the full HTML animation choreography. HTML and MP4 are the synchronized audiovisual masters. Thirteen reference pages: nine principal scenes plus four complementary workflow states. Install the bundled Manrope and IBM Plex Sans Arabic fonts for layout fidelity.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a new GRINDCTRL collaboration proposal, not deployed products or a live integration. Imagery is generative art direction supplied by the user, selectively displayed through native cropped scene viewports. It is not verified Concrete store/product imagery. Generated captions, signage/date, currencies, benefits, promises and metrics are excluded. UI text is editable and rebuilt.</a:t>
            </a:r>
          </a:p>
          <a:p/>
          <a:p>
            <a:r>
              <a:t>One supplied final MP3, locked continuously from 00:00, unchanged across all nine scenes. Scene divisions affect video only. No speech synthesis, separate narration clips, speed changes, normalization, music or inserted silences.</a:t>
            </a:r>
          </a:p>
          <a:p/>
          <a:p>
            <a:r>
              <a:t>Native Genesys/Zoho AI capabilities, source systems/versions, WooCommerce inventory and product variation mappings, Retail Pro 9/Prism interfaces, Icons Club source, permissions, consent and integration access must be audited. No operational evidence or authorized native screenshots were supplied. Contracts do not prove live operation.</a:t>
            </a:r>
          </a:p>
          <a:p/>
          <a:p>
            <a:r>
              <a:t>C109 · 253.969–255.951s · كل الأمثلة دي بتوصلنا لفكرة واحدة:</a:t>
            </a:r>
          </a:p>
          <a:p/>
          <a:p>
            <a:r>
              <a:t>C110 · 256.580–257.813s · تجربة أذكى للعميل،</a:t>
            </a:r>
          </a:p>
          <a:p/>
          <a:p>
            <a:r>
              <a:t>C111 · 258.084–259.719s · وأدوات أفضل للموظفين،</a:t>
            </a:r>
          </a:p>
          <a:p/>
          <a:p>
            <a:r>
              <a:t>C112 · 259.948–261.371s · ومعلومات أوضح للإدارة.</a:t>
            </a:r>
          </a:p>
          <a:p/>
          <a:p>
            <a:r>
              <a:t>C113 · 261.837–264.618s · لكن مش معنى كده إننا هننفذ كل حاجة مرة واحدة.</a:t>
            </a:r>
          </a:p>
          <a:p/>
          <a:p>
            <a:r>
              <a:t>C114 · 265.229–268.194s · هنبدأ بمراجعة أنظمة Concrete وإمكانياتها الموجودة،</a:t>
            </a:r>
          </a:p>
          <a:p/>
          <a:p>
            <a:r>
              <a:t>C115 · 268.547–270.646s · ونحدد أعلى فرص من حيث القيمة،</a:t>
            </a:r>
          </a:p>
          <a:p/>
          <a:p>
            <a:r>
              <a:t>C116 · 270.831–271.717s · وسهولة التجربة.</a:t>
            </a:r>
          </a:p>
          <a:p/>
          <a:p>
            <a:r>
              <a:t>C117 · 272.156–272.654s · وبعدها،</a:t>
            </a:r>
          </a:p>
          <a:p/>
          <a:p>
            <a:r>
              <a:t>C118 · 272.826–273.916s · نختار Pilot صغير،</a:t>
            </a:r>
          </a:p>
          <a:p/>
          <a:p>
            <a:r>
              <a:t>C119 · 274.326–275.050s · نقيس نتيجته،</a:t>
            </a:r>
          </a:p>
          <a:p/>
          <a:p>
            <a:r>
              <a:t>C120 · 275.294–276.694s · ونبني عليه الخطوة اللي بعدها.</a:t>
            </a:r>
          </a:p>
          <a:p/>
          <a:p>
            <a:r>
              <a:t>C121 · 277.183–280.523s · دي الرؤية اللي GRINDCTRL بتقترح تناقشها مع Concrete:</a:t>
            </a:r>
          </a:p>
          <a:p/>
          <a:p>
            <a:r>
              <a:t>C122 · 281.043–282.891s · حلول عملية للذكاء الاصطناعي،</a:t>
            </a:r>
          </a:p>
          <a:p/>
          <a:p>
            <a:r>
              <a:t>C123 · 283.145–284.003s · بتخدم البراند،</a:t>
            </a:r>
          </a:p>
          <a:p/>
          <a:p>
            <a:r>
              <a:t>C124 · 284.256–285.662s · وبتتحسن خطوة بخطوة.</a:t>
            </a:r>
          </a:p>
          <a:p/>
          <a:p>
            <a:r>
              <a:t>SOURCES (PDF pages):</a:t>
            </a:r>
          </a:p>
          <a:p/>
          <a:p>
            <a:r>
              <a:t>Concrete contract (29-11-2023).pdf — 4, 5 — Contracted screen-pop scope and Prism integration migration; not proof of live operation or current AI entitlements.</a:t>
            </a:r>
          </a:p>
          <a:p/>
          <a:p>
            <a:r>
              <a:t>Part 04 supplied storyboards and narration —  — Art direction and business concepts. Generated UI, facts and metrics corrected.</a:t>
            </a:r>
          </a:p>
          <a:p/>
          <a:p>
            <a:r>
              <a:t>No existing Concrete/Centro relationship. All sample records are fictional. No live connector. Reported workflow has not been independently tested.</a:t>
            </a:r>
          </a:p>
          <a:p/>
          <a:p>
            <a:r>
              <a:t>Editable static scene reference. The supplied replacement continuous MP3 is embedded unchanged on slide 1. Native PowerPoint playback has not been verified; slides advance manually and do not reproduce the full HTML animation choreography. HTML and MP4 are the synchronized audiovisual masters. Thirteen reference pages: nine principal scenes plus four complementary workflow states. Install the bundled Manrope and IBM Plex Sans Arabic fonts for layout fidelity.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a new GRINDCTRL collaboration proposal, not deployed products or a live integration. Imagery is generative art direction supplied by the user, selectively displayed through native cropped scene viewports. It is not verified Concrete store/product imagery. Generated captions, signage/date, currencies, benefits, promises and metrics are excluded. UI text is editable and rebuilt.</a:t>
            </a:r>
          </a:p>
          <a:p/>
          <a:p>
            <a:r>
              <a:t>One supplied final MP3, locked continuously from 00:00, unchanged across all nine scenes. Scene divisions affect video only. No speech synthesis, separate narration clips, speed changes, normalization, music or inserted silences.</a:t>
            </a:r>
          </a:p>
          <a:p/>
          <a:p>
            <a:r>
              <a:t>Native Genesys/Zoho AI capabilities, source systems/versions, WooCommerce inventory and product variation mappings, Retail Pro 9/Prism interfaces, Icons Club source, permissions, consent and integration access must be audited. No operational evidence or authorized native screenshots were supplied. Contracts do not prove live operation.</a:t>
            </a:r>
          </a:p>
          <a:p/>
          <a:p>
            <a:r>
              <a:t>C028 · 61.463–64.222s · ونفس التجربة ممكن تكمل جوه الأونلاين ستور.</a:t>
            </a:r>
          </a:p>
          <a:p/>
          <a:p>
            <a:r>
              <a:t>C029 · 64.860–67.976s · العميل يسأل بشكل طبيعي عن شيرت لمناسبة معينة،</a:t>
            </a:r>
          </a:p>
          <a:p/>
          <a:p>
            <a:r>
              <a:t>C030 · 68.292–69.259s · أو المقاس المناسب،</a:t>
            </a:r>
          </a:p>
          <a:p/>
          <a:p>
            <a:r>
              <a:t>C031 · 69.708–71.635s · أو إذا كان المنتج متاح في فرع قريب.</a:t>
            </a:r>
          </a:p>
          <a:p/>
          <a:p>
            <a:r>
              <a:t>C032 · 72.394–74.079s · المساعد يرشح اختيارات،</a:t>
            </a:r>
          </a:p>
          <a:p/>
          <a:p>
            <a:r>
              <a:t>C033 · 74.308–75.688s · ويشرح جدول المقاسات،</a:t>
            </a:r>
          </a:p>
          <a:p/>
          <a:p>
            <a:r>
              <a:t>C034 · 76.014–79.090s · ويعرض الـAvailability لما تكون متوصلة ببيانات ستوك،</a:t>
            </a:r>
          </a:p>
          <a:p/>
          <a:p>
            <a:r>
              <a:t>C035 · 79.243–80.111s · محدثة فعلًا.</a:t>
            </a:r>
          </a:p>
          <a:p/>
          <a:p>
            <a:r>
              <a:t>C036 · 80.798–81.858s · ولو المعلومات ناقصة،</a:t>
            </a:r>
          </a:p>
          <a:p/>
          <a:p>
            <a:r>
              <a:t>C037 · 82.014–84.095s · يقول إنها غير متاحة بدل ما يخمن.</a:t>
            </a:r>
          </a:p>
          <a:p/>
          <a:p>
            <a:r>
              <a:t>C038 · 84.835–86.747s · كده بنسهّل الـProduct Discovery،</a:t>
            </a:r>
          </a:p>
          <a:p/>
          <a:p>
            <a:r>
              <a:t>C039 · 87.077–89.425s · ونساعد العميل ياخد قرار وهو فاهم،</a:t>
            </a:r>
          </a:p>
          <a:p/>
          <a:p>
            <a:r>
              <a:t>C040 · 89.880–92.323s · من غير وعود غلط عن المقاسات أو المخزون.</a:t>
            </a:r>
          </a:p>
          <a:p/>
          <a:p>
            <a:r>
              <a:t>SOURCES (PDF pages):</a:t>
            </a:r>
          </a:p>
          <a:p/>
          <a:p>
            <a:r>
              <a:t>Concrete contract (29-11-2023).pdf — 4, 5 — Contracted screen-pop scope and Prism integration migration; not proof of live operation or current AI entitlements.</a:t>
            </a:r>
          </a:p>
          <a:p/>
          <a:p>
            <a:r>
              <a:t>Part 04 supplied storyboards and narration —  — Art direction and business concepts. Generated UI, facts and metrics corrected.</a:t>
            </a:r>
          </a:p>
          <a:p/>
          <a:p>
            <a:r>
              <a:t>No existing Concrete/Centro relationship. All sample records are fictional. No live connector. Reported workflow has not been independently tested.</a:t>
            </a:r>
          </a:p>
          <a:p/>
          <a:p>
            <a:r>
              <a:t>Editable static scene reference. The supplied replacement continuous MP3 is embedded unchanged on slide 1. Native PowerPoint playback has not been verified; slides advance manually and do not reproduce the full HTML animation choreography. HTML and MP4 are the synchronized audiovisual masters. Thirteen reference pages: nine principal scenes plus four complementary workflow states. Install the bundled Manrope and IBM Plex Sans Arabic fonts for layout fidelity.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a new GRINDCTRL collaboration proposal, not deployed products or a live integration. Imagery is generative art direction supplied by the user, selectively displayed through native cropped scene viewports. It is not verified Concrete store/product imagery. Generated captions, signage/date, currencies, benefits, promises and metrics are excluded. UI text is editable and rebuilt.</a:t>
            </a:r>
          </a:p>
          <a:p/>
          <a:p>
            <a:r>
              <a:t>One supplied final MP3, locked continuously from 00:00, unchanged across all nine scenes. Scene divisions affect video only. No speech synthesis, separate narration clips, speed changes, normalization, music or inserted silences.</a:t>
            </a:r>
          </a:p>
          <a:p/>
          <a:p>
            <a:r>
              <a:t>Native Genesys/Zoho AI capabilities, source systems/versions, WooCommerce inventory and product variation mappings, Retail Pro 9/Prism interfaces, Icons Club source, permissions, consent and integration access must be audited. No operational evidence or authorized native screenshots were supplied. Contracts do not prove live operation.</a:t>
            </a:r>
          </a:p>
          <a:p/>
          <a:p>
            <a:r>
              <a:t>C041 · 93.035–94.395s · نرجع بقى للـContact Center.</a:t>
            </a:r>
          </a:p>
          <a:p/>
          <a:p>
            <a:r>
              <a:t>C042 · 94.989–97.046s · الإيجنت بيستقبل Call على Genesys،</a:t>
            </a:r>
          </a:p>
          <a:p/>
          <a:p>
            <a:r>
              <a:t>C043 · 97.245–99.080s · وبيكون محتاج يفهم العميل بسرعة.</a:t>
            </a:r>
          </a:p>
          <a:p/>
          <a:p>
            <a:r>
              <a:t>C044 · 99.802–104.096s · هنا ممكن الـAI Copilot يساعده بمعلومات من المصادر المصرح بيها،</a:t>
            </a:r>
          </a:p>
          <a:p/>
          <a:p>
            <a:r>
              <a:t>C045 · 104.545–106.379s · ويقترح إجابة من سياسة الشركة،</a:t>
            </a:r>
          </a:p>
          <a:p/>
          <a:p>
            <a:r>
              <a:t>C046 · 106.806–109.237s · أو يجهز مسودة Call Summary بعد المكالمة.</a:t>
            </a:r>
          </a:p>
          <a:p/>
          <a:p>
            <a:r>
              <a:t>C047 · 109.943–113.714s · المهم إن الموظف يراجع الاقتراح قبل استخدامه أو حفظه.</a:t>
            </a:r>
          </a:p>
          <a:p/>
          <a:p>
            <a:r>
              <a:t>C048 · 114.362–118.594s · والـAI ما يوعدش العميل باستبدال أو استرجاع أو ميعاد تسليم،</a:t>
            </a:r>
          </a:p>
          <a:p/>
          <a:p>
            <a:r>
              <a:t>C049 · 118.907–121.266s · من غير بيانات مؤكدة وموافقة مناسبة.</a:t>
            </a:r>
          </a:p>
          <a:p/>
          <a:p>
            <a:r>
              <a:t>C050 · 121.922–123.506s · إحنا بنقوّي شغل الإيجنت،</a:t>
            </a:r>
          </a:p>
          <a:p/>
          <a:p>
            <a:r>
              <a:t>C051 · 123.702–124.964s · مش بنشيل القرار من إيده.</a:t>
            </a:r>
          </a:p>
          <a:p/>
          <a:p>
            <a:r>
              <a:t>SOURCES (PDF pages):</a:t>
            </a:r>
          </a:p>
          <a:p/>
          <a:p>
            <a:r>
              <a:t>Concrete contract (29-11-2023).pdf — 4, 5 — Contracted screen-pop scope and Prism integration migration; not proof of live operation or current AI entitlements.</a:t>
            </a:r>
          </a:p>
          <a:p/>
          <a:p>
            <a:r>
              <a:t>Part 04 supplied storyboards and narration —  — Art direction and business concepts. Generated UI, facts and metrics corrected.</a:t>
            </a:r>
          </a:p>
          <a:p/>
          <a:p>
            <a:r>
              <a:t>No existing Concrete/Centro relationship. All sample records are fictional. No live connector. Reported workflow has not been independently tested.</a:t>
            </a:r>
          </a:p>
          <a:p/>
          <a:p>
            <a:r>
              <a:t>Editable static scene reference. The supplied replacement continuous MP3 is embedded unchanged on slide 1. Native PowerPoint playback has not been verified; slides advance manually and do not reproduce the full HTML animation choreography. HTML and MP4 are the synchronized audiovisual masters. Thirteen reference pages: nine principal scenes plus four complementary workflow states. Install the bundled Manrope and IBM Plex Sans Arabic fonts for layout fidelity.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a new GRINDCTRL collaboration proposal, not deployed products or a live integration. Imagery is generative art direction supplied by the user, selectively displayed through native cropped scene viewports. It is not verified Concrete store/product imagery. Generated captions, signage/date, currencies, benefits, promises and metrics are excluded. UI text is editable and rebuilt.</a:t>
            </a:r>
          </a:p>
          <a:p/>
          <a:p>
            <a:r>
              <a:t>One supplied final MP3, locked continuously from 00:00, unchanged across all nine scenes. Scene divisions affect video only. No speech synthesis, separate narration clips, speed changes, normalization, music or inserted silences.</a:t>
            </a:r>
          </a:p>
          <a:p/>
          <a:p>
            <a:r>
              <a:t>Native Genesys/Zoho AI capabilities, source systems/versions, WooCommerce inventory and product variation mappings, Retail Pro 9/Prism interfaces, Icons Club source, permissions, consent and integration access must be audited. No operational evidence or authorized native screenshots were supplied. Contracts do not prove live operation.</a:t>
            </a:r>
          </a:p>
          <a:p/>
          <a:p>
            <a:r>
              <a:t>C052 · 125.674–126.354s · وفي الفروع،</a:t>
            </a:r>
          </a:p>
          <a:p/>
          <a:p>
            <a:r>
              <a:t>C053 · 126.505–128.286s · التجربة ممكن تبقى شخصية أكتر.</a:t>
            </a:r>
          </a:p>
          <a:p/>
          <a:p>
            <a:r>
              <a:t>C054 · 128.918–131.020s · لما العميل يوافق على استخدام بياناته،</a:t>
            </a:r>
          </a:p>
          <a:p/>
          <a:p>
            <a:r>
              <a:t>C055 · 131.232–134.868s · موظف المبيعات يقدر يشوف تفضيلاته ومشترياته المتاحة،</a:t>
            </a:r>
          </a:p>
          <a:p/>
          <a:p>
            <a:r>
              <a:t>C056 · 135.295–137.060s · وكمان عضويته في Icons Club:</a:t>
            </a:r>
          </a:p>
          <a:p/>
          <a:p>
            <a:r>
              <a:t>C057 · 137.443–138.092s · Lifestyle،</a:t>
            </a:r>
          </a:p>
          <a:p/>
          <a:p>
            <a:r>
              <a:t>C058 · 138.269–139.006s · أو Prestige،</a:t>
            </a:r>
          </a:p>
          <a:p/>
          <a:p>
            <a:r>
              <a:t>C059 · 139.160–139.683s · أو Elite.</a:t>
            </a:r>
          </a:p>
          <a:p/>
          <a:p>
            <a:r>
              <a:t>C060 · 140.248–141.870s · وبناءً على المعلومات الصحيحة،</a:t>
            </a:r>
          </a:p>
          <a:p/>
          <a:p>
            <a:r>
              <a:t>C061 · 142.227–144.615s · المساعد يقترح قطع تكمل اختياراته،</a:t>
            </a:r>
          </a:p>
          <a:p/>
          <a:p>
            <a:r>
              <a:t>C062 · 145.037–146.683s · أو يساعد في حجز موعد مناسب.</a:t>
            </a:r>
          </a:p>
          <a:p/>
          <a:p>
            <a:r>
              <a:t>C063 · 147.470–150.801s · مش معنى إن العميل Elite إننا نفترض مزايا مش مؤكدة.</a:t>
            </a:r>
          </a:p>
          <a:p/>
          <a:p>
            <a:r>
              <a:t>C064 · 151.421–154.171s · كل اقتراح يفضل مرتبط بسياسات Concrete،</a:t>
            </a:r>
          </a:p>
          <a:p/>
          <a:p>
            <a:r>
              <a:t>C065 · 154.354–155.469s · وتوفر المنتجات،</a:t>
            </a:r>
          </a:p>
          <a:p/>
          <a:p>
            <a:r>
              <a:t>C066 · 155.729–156.770s · وصلاحيات الموظف.</a:t>
            </a:r>
          </a:p>
          <a:p/>
          <a:p>
            <a:r>
              <a:t>SOURCES (PDF pages):</a:t>
            </a:r>
          </a:p>
          <a:p/>
          <a:p>
            <a:r>
              <a:t>Concrete contract (29-11-2023).pdf — 4, 5 — Contracted screen-pop scope and Prism integration migration; not proof of live operation or current AI entitlements.</a:t>
            </a:r>
          </a:p>
          <a:p/>
          <a:p>
            <a:r>
              <a:t>Part 04 supplied storyboards and narration —  — Art direction and business concepts. Generated UI, facts and metrics corrected.</a:t>
            </a:r>
          </a:p>
          <a:p/>
          <a:p>
            <a:r>
              <a:t>No existing Concrete/Centro relationship. All sample records are fictional. No live connector. Reported workflow has not been independently tested.</a:t>
            </a:r>
          </a:p>
          <a:p/>
          <a:p>
            <a:r>
              <a:t>Editable static scene reference. The supplied replacement continuous MP3 is embedded unchanged on slide 1. Native PowerPoint playback has not been verified; slides advance manually and do not reproduce the full HTML animation choreography. HTML and MP4 are the synchronized audiovisual masters. Thirteen reference pages: nine principal scenes plus four complementary workflow states. Install the bundled Manrope and IBM Plex Sans Arabic fonts for layout fidelity.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a new GRINDCTRL collaboration proposal, not deployed products or a live integration. Imagery is generative art direction supplied by the user, selectively displayed through native cropped scene viewports. It is not verified Concrete store/product imagery. Generated captions, signage/date, currencies, benefits, promises and metrics are excluded. UI text is editable and rebuilt.</a:t>
            </a:r>
          </a:p>
          <a:p/>
          <a:p>
            <a:r>
              <a:t>One supplied final MP3, locked continuously from 00:00, unchanged across all nine scenes. Scene divisions affect video only. No speech synthesis, separate narration clips, speed changes, normalization, music or inserted silences.</a:t>
            </a:r>
          </a:p>
          <a:p/>
          <a:p>
            <a:r>
              <a:t>Native Genesys/Zoho AI capabilities, source systems/versions, WooCommerce inventory and product variation mappings, Retail Pro 9/Prism interfaces, Icons Club source, permissions, consent and integration access must be audited. No operational evidence or authorized native screenshots were supplied. Contracts do not prove live operation.</a:t>
            </a:r>
          </a:p>
          <a:p/>
          <a:p>
            <a:r>
              <a:t>C067 · 157.510–159.413s · بس الفرص مش كلها قدام العميل.</a:t>
            </a:r>
          </a:p>
          <a:p/>
          <a:p>
            <a:r>
              <a:t>C068 · 160.050–162.942s · تخيلوا مدير فروع بيشوف مقاسات مطلوبة في فرع،</a:t>
            </a:r>
          </a:p>
          <a:p/>
          <a:p>
            <a:r>
              <a:t>C069 · 163.149–165.542s · بينما موجودة بكميات أكبر في فرع تاني.</a:t>
            </a:r>
          </a:p>
          <a:p/>
          <a:p>
            <a:r>
              <a:t>C070 · 166.269–168.012s · باستخدام بيانات المبيعات والستوك،</a:t>
            </a:r>
          </a:p>
          <a:p/>
          <a:p>
            <a:r>
              <a:t>C071 · 168.342–170.106s · نقدر نقترح نقل كمية،</a:t>
            </a:r>
          </a:p>
          <a:p/>
          <a:p>
            <a:r>
              <a:t>C072 · 170.340–171.386s · أو إعادة تزويد،</a:t>
            </a:r>
          </a:p>
          <a:p/>
          <a:p>
            <a:r>
              <a:t>C073 · 171.706–173.747s · أو توقع الطلب على منتجات معينة.</a:t>
            </a:r>
          </a:p>
          <a:p/>
          <a:p>
            <a:r>
              <a:t>C074 · 174.438–176.351s · الاقتراح يظهر ومعاه سببه،</a:t>
            </a:r>
          </a:p>
          <a:p/>
          <a:p>
            <a:r>
              <a:t>C075 · 176.660–179.018s · والمسؤول هو اللي يراجعه ويوافق عليه.</a:t>
            </a:r>
          </a:p>
          <a:p/>
          <a:p>
            <a:r>
              <a:t>C076 · 179.694–183.138s · وده ممكن يساعد فرق الـRetail Operations تاخد قرارات أوضح،</a:t>
            </a:r>
          </a:p>
          <a:p/>
          <a:p>
            <a:r>
              <a:t>C077 · 183.676–185.035s · بشرط جودة البيانات،</a:t>
            </a:r>
          </a:p>
          <a:p/>
          <a:p>
            <a:r>
              <a:t>C078 · 185.352–188.758s · وتجربة النماذج على نتائج حقيقية قبل الاعتماد عليها.</a:t>
            </a:r>
          </a:p>
          <a:p/>
          <a:p>
            <a:r>
              <a:t>SOURCES (PDF pages):</a:t>
            </a:r>
          </a:p>
          <a:p/>
          <a:p>
            <a:r>
              <a:t>Concrete contract (29-11-2023).pdf — 4, 5 — Contracted screen-pop scope and Prism integration migration; not proof of live operation or current AI entitlements.</a:t>
            </a:r>
          </a:p>
          <a:p/>
          <a:p>
            <a:r>
              <a:t>Part 04 supplied storyboards and narration —  — Art direction and business concepts. Generated UI, facts and metrics corrected.</a:t>
            </a:r>
          </a:p>
          <a:p/>
          <a:p>
            <a:r>
              <a:t>No existing Concrete/Centro relationship. All sample records are fictional. No live connector. Reported workflow has not been independently tested.</a:t>
            </a:r>
          </a:p>
          <a:p/>
          <a:p>
            <a:r>
              <a:t>Editable static scene reference. The supplied replacement continuous MP3 is embedded unchanged on slide 1. Native PowerPoint playback has not been verified; slides advance manually and do not reproduce the full HTML animation choreography. HTML and MP4 are the synchronized audiovisual masters. Thirteen reference pages: nine principal scenes plus four complementary workflow states. Install the bundled Manrope and IBM Plex Sans Arabic fonts for layout fidelity.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audio" Target="../media/Part04_FINAL_VOICEOVER.mp3"/><Relationship Id="rId10" Type="http://schemas.microsoft.com/office/2007/relationships/media" Target="../media/Part04_FINAL_VOICEOVER.mp3"/><Relationship Id="rId11" Type="http://schemas.openxmlformats.org/officeDocument/2006/relationships/image" Target="../media/image8.png"/><Relationship Id="rId1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5" Type="http://schemas.openxmlformats.org/officeDocument/2006/relationships/image" Target="../media/image2.png"/><Relationship Id="rId6" Type="http://schemas.openxmlformats.org/officeDocument/2006/relationships/image" Target="../media/image6.png"/><Relationship Id="rId7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3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17.png"/><Relationship Id="rId5" Type="http://schemas.openxmlformats.org/officeDocument/2006/relationships/image" Target="../media/image3.png"/><Relationship Id="rId6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11.png"/><Relationship Id="rId5" Type="http://schemas.openxmlformats.org/officeDocument/2006/relationships/image" Target="../media/image6.png"/><Relationship Id="rId6" Type="http://schemas.openxmlformats.org/officeDocument/2006/relationships/image" Target="../media/image16.png"/><Relationship Id="rId7" Type="http://schemas.openxmlformats.org/officeDocument/2006/relationships/image" Target="../media/image18.png"/><Relationship Id="rId8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9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0.png"/><Relationship Id="rId4" Type="http://schemas.openxmlformats.org/officeDocument/2006/relationships/image" Target="../media/image5.png"/><Relationship Id="rId5" Type="http://schemas.openxmlformats.org/officeDocument/2006/relationships/image" Target="../media/image21.png"/><Relationship Id="rId6" Type="http://schemas.openxmlformats.org/officeDocument/2006/relationships/image" Target="../media/image17.png"/><Relationship Id="rId7" Type="http://schemas.openxmlformats.org/officeDocument/2006/relationships/image" Target="../media/image11.png"/><Relationship Id="rId8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5" Type="http://schemas.openxmlformats.org/officeDocument/2006/relationships/image" Target="../media/image9.png"/><Relationship Id="rId6" Type="http://schemas.openxmlformats.org/officeDocument/2006/relationships/image" Target="../media/image7.png"/><Relationship Id="rId7" Type="http://schemas.openxmlformats.org/officeDocument/2006/relationships/image" Target="../media/image12.png"/><Relationship Id="rId8" Type="http://schemas.openxmlformats.org/officeDocument/2006/relationships/image" Target="../media/image16.png"/><Relationship Id="rId9" Type="http://schemas.openxmlformats.org/officeDocument/2006/relationships/image" Target="../media/image11.png"/><Relationship Id="rId10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3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4.png"/><Relationship Id="rId6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17.png"/><Relationship Id="rId5" Type="http://schemas.openxmlformats.org/officeDocument/2006/relationships/image" Target="../media/image3.png"/><Relationship Id="rId6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11.png"/><Relationship Id="rId5" Type="http://schemas.openxmlformats.org/officeDocument/2006/relationships/image" Target="../media/image6.png"/><Relationship Id="rId6" Type="http://schemas.openxmlformats.org/officeDocument/2006/relationships/image" Target="../media/image16.png"/><Relationship Id="rId7" Type="http://schemas.openxmlformats.org/officeDocument/2006/relationships/image" Target="../media/image18.png"/><Relationship Id="rId8" Type="http://schemas.openxmlformats.org/officeDocument/2006/relationships/image" Target="../media/image22.png"/><Relationship Id="rId9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ra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58762"/>
            <a:ext cx="409575" cy="273050"/>
          </a:xfrm>
          <a:prstGeom prst="rect">
            <a:avLst/>
          </a:prstGeom>
          <a:effectLst/>
        </p:spPr>
      </p:pic>
      <p:sp>
        <p:nvSpPr>
          <p:cNvPr id="3" name="TextBox 2"/>
          <p:cNvSpPr txBox="1"/>
          <p:nvPr/>
        </p:nvSpPr>
        <p:spPr>
          <a:xfrm>
            <a:off x="990600" y="276225"/>
            <a:ext cx="3571875" cy="2952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1" lang="en-US">
                <a:solidFill>
                  <a:srgbClr val="262626"/>
                </a:solidFill>
                <a:latin typeface="Manrope"/>
              </a:rPr>
              <a:t>GRINDCTRL × Concrete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15075" y="276225"/>
            <a:ext cx="5419725" cy="2857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344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en-US">
                <a:solidFill>
                  <a:srgbClr val="68645E"/>
                </a:solidFill>
                <a:latin typeface="Manrope"/>
              </a:rPr>
              <a:t>Part 04 · The broader opportunity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95350"/>
            <a:ext cx="11277600" cy="4953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3192"/>
              </a:lnSpc>
              <a:spcBef>
                <a:spcPts val="0"/>
              </a:spcBef>
              <a:spcAft>
                <a:spcPts val="0"/>
              </a:spcAft>
            </a:pPr>
            <a:r>
              <a:rPr sz="2850" b="1" lang="en-US">
                <a:solidFill>
                  <a:srgbClr val="262626"/>
                </a:solidFill>
                <a:latin typeface="Manrope"/>
              </a:rPr>
              <a:t>Customer service is the beginning.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6381750"/>
            <a:ext cx="11277600" cy="0"/>
          </a:xfrm>
          <a:prstGeom prst="line">
            <a:avLst/>
          </a:prstGeom>
          <a:ln w="9525">
            <a:solidFill>
              <a:srgbClr val="E6E3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6505575"/>
            <a:ext cx="1028700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176"/>
              </a:lnSpc>
              <a:spcBef>
                <a:spcPts val="0"/>
              </a:spcBef>
              <a:spcAft>
                <a:spcPts val="0"/>
              </a:spcAft>
            </a:pPr>
            <a:r>
              <a:rPr sz="1050" b="0" lang="en-US">
                <a:solidFill>
                  <a:srgbClr val="68645E"/>
                </a:solidFill>
                <a:latin typeface="Manrope"/>
              </a:rPr>
              <a:t>Proposed experience · Illustrative imagery / UI · Demo records · Sources and permissions to validate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15650" y="6505575"/>
            <a:ext cx="81915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176"/>
              </a:lnSpc>
              <a:spcBef>
                <a:spcPts val="0"/>
              </a:spcBef>
              <a:spcAft>
                <a:spcPts val="0"/>
              </a:spcAft>
            </a:pPr>
            <a:r>
              <a:rPr sz="1050" b="0" lang="en-US">
                <a:solidFill>
                  <a:srgbClr val="262626"/>
                </a:solidFill>
                <a:latin typeface="Manrope"/>
              </a:rPr>
              <a:t>01 / 09</a:t>
            </a:r>
          </a:p>
        </p:txBody>
      </p:sp>
      <p:pic>
        <p:nvPicPr>
          <p:cNvPr id="9" name="Picture 8" descr="S05_storyboard.png"/>
          <p:cNvPicPr>
            <a:picLocks noChangeAspect="1"/>
          </p:cNvPicPr>
          <p:nvPr/>
        </p:nvPicPr>
        <p:blipFill>
          <a:blip r:embed="rId3"/>
          <a:srcRect l="28708" r="30622" t="26249" b="12327"/>
          <a:stretch>
            <a:fillRect/>
          </a:stretch>
        </p:blipFill>
        <p:spPr>
          <a:xfrm>
            <a:off x="457200" y="1600200"/>
            <a:ext cx="4762500" cy="4048125"/>
          </a:xfrm>
          <a:prstGeom prst="rect">
            <a:avLst/>
          </a:prstGeom>
          <a:effectLst/>
        </p:spPr>
      </p:pic>
      <p:sp>
        <p:nvSpPr>
          <p:cNvPr id="10" name="Rectangle 9"/>
          <p:cNvSpPr/>
          <p:nvPr/>
        </p:nvSpPr>
        <p:spPr>
          <a:xfrm>
            <a:off x="457200" y="5667375"/>
            <a:ext cx="4762500" cy="485775"/>
          </a:xfrm>
          <a:prstGeom prst="rect">
            <a:avLst/>
          </a:prstGeom>
          <a:solidFill>
            <a:srgbClr val="FFFFFF"/>
          </a:solidFill>
          <a:ln w="9525">
            <a:solidFill>
              <a:srgbClr val="E6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7225" y="5800725"/>
            <a:ext cx="4371975" cy="2571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428"/>
              </a:lnSpc>
              <a:spcBef>
                <a:spcPts val="0"/>
              </a:spcBef>
              <a:spcAft>
                <a:spcPts val="0"/>
              </a:spcAft>
            </a:pPr>
            <a:r>
              <a:rPr sz="1275" b="0" lang="en-US">
                <a:solidFill>
                  <a:srgbClr val="68645E"/>
                </a:solidFill>
                <a:latin typeface="Manrope"/>
              </a:rPr>
              <a:t>Customer → associate · Illustrative concept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38775" y="1600200"/>
            <a:ext cx="6296025" cy="4552950"/>
          </a:xfrm>
          <a:prstGeom prst="roundRect">
            <a:avLst>
              <a:gd name="adj" fmla="val 2092"/>
            </a:avLst>
          </a:prstGeom>
          <a:solidFill>
            <a:srgbClr val="FFFFFF"/>
          </a:solidFill>
          <a:ln w="9525">
            <a:solidFill>
              <a:srgbClr val="E6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48325" y="1838325"/>
            <a:ext cx="5867400" cy="4191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2352"/>
              </a:lnSpc>
              <a:spcBef>
                <a:spcPts val="0"/>
              </a:spcBef>
              <a:spcAft>
                <a:spcPts val="0"/>
              </a:spcAft>
            </a:pPr>
            <a:r>
              <a:rPr sz="2100" b="1" lang="en-US">
                <a:solidFill>
                  <a:srgbClr val="262626"/>
                </a:solidFill>
                <a:latin typeface="Manrope"/>
              </a:rPr>
              <a:t>Across the Concrete experience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715000" y="2943225"/>
            <a:ext cx="1304925" cy="2076450"/>
          </a:xfrm>
          <a:prstGeom prst="roundRect">
            <a:avLst>
              <a:gd name="adj" fmla="val 3649"/>
            </a:avLst>
          </a:prstGeom>
          <a:solidFill>
            <a:srgbClr val="F4F2EE"/>
          </a:solidFill>
          <a:ln w="9525">
            <a:solidFill>
              <a:srgbClr val="F4F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S02_storyboard.png"/>
          <p:cNvPicPr>
            <a:picLocks noChangeAspect="1"/>
          </p:cNvPicPr>
          <p:nvPr/>
        </p:nvPicPr>
        <p:blipFill>
          <a:blip r:embed="rId4"/>
          <a:srcRect l="58074" r="34510" t="38257" b="43464"/>
          <a:stretch>
            <a:fillRect/>
          </a:stretch>
        </p:blipFill>
        <p:spPr>
          <a:xfrm>
            <a:off x="5842148" y="3000375"/>
            <a:ext cx="1050630" cy="1457325"/>
          </a:xfrm>
          <a:prstGeom prst="rect">
            <a:avLst/>
          </a:prstGeom>
          <a:effectLst/>
        </p:spPr>
      </p:pic>
      <p:sp>
        <p:nvSpPr>
          <p:cNvPr id="16" name="TextBox 15"/>
          <p:cNvSpPr txBox="1"/>
          <p:nvPr/>
        </p:nvSpPr>
        <p:spPr>
          <a:xfrm>
            <a:off x="5829300" y="4629150"/>
            <a:ext cx="1076325" cy="2857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764"/>
              </a:lnSpc>
              <a:spcBef>
                <a:spcPts val="0"/>
              </a:spcBef>
              <a:spcAft>
                <a:spcPts val="0"/>
              </a:spcAft>
            </a:pPr>
            <a:r>
              <a:rPr sz="1575" b="1" lang="en-US">
                <a:solidFill>
                  <a:srgbClr val="262626"/>
                </a:solidFill>
                <a:latin typeface="Manrope"/>
              </a:rPr>
              <a:t>Blazer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00900" y="2943225"/>
            <a:ext cx="1304925" cy="2076450"/>
          </a:xfrm>
          <a:prstGeom prst="roundRect">
            <a:avLst>
              <a:gd name="adj" fmla="val 3649"/>
            </a:avLst>
          </a:prstGeom>
          <a:solidFill>
            <a:srgbClr val="F4F2EE"/>
          </a:solidFill>
          <a:ln w="9525">
            <a:solidFill>
              <a:srgbClr val="F4F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S02_storyboard.png"/>
          <p:cNvPicPr>
            <a:picLocks noChangeAspect="1"/>
          </p:cNvPicPr>
          <p:nvPr/>
        </p:nvPicPr>
        <p:blipFill>
          <a:blip r:embed="rId4"/>
          <a:srcRect l="66746" r="25239" t="37726" b="43677"/>
          <a:stretch>
            <a:fillRect/>
          </a:stretch>
        </p:blipFill>
        <p:spPr>
          <a:xfrm>
            <a:off x="7305675" y="3013774"/>
            <a:ext cx="1095375" cy="1430527"/>
          </a:xfrm>
          <a:prstGeom prst="rect">
            <a:avLst/>
          </a:prstGeom>
          <a:effectLst/>
        </p:spPr>
      </p:pic>
      <p:sp>
        <p:nvSpPr>
          <p:cNvPr id="19" name="TextBox 18"/>
          <p:cNvSpPr txBox="1"/>
          <p:nvPr/>
        </p:nvSpPr>
        <p:spPr>
          <a:xfrm>
            <a:off x="7315200" y="4629150"/>
            <a:ext cx="1076325" cy="2857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764"/>
              </a:lnSpc>
              <a:spcBef>
                <a:spcPts val="0"/>
              </a:spcBef>
              <a:spcAft>
                <a:spcPts val="0"/>
              </a:spcAft>
            </a:pPr>
            <a:r>
              <a:rPr sz="1575" b="1" lang="en-US">
                <a:solidFill>
                  <a:srgbClr val="262626"/>
                </a:solidFill>
                <a:latin typeface="Manrope"/>
              </a:rPr>
              <a:t>Shirt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91575" y="2952750"/>
            <a:ext cx="2705100" cy="3619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2016"/>
              </a:lnSpc>
              <a:spcBef>
                <a:spcPts val="0"/>
              </a:spcBef>
              <a:spcAft>
                <a:spcPts val="0"/>
              </a:spcAft>
            </a:pPr>
            <a:r>
              <a:rPr sz="1800" b="1" lang="en-US">
                <a:solidFill>
                  <a:srgbClr val="262626"/>
                </a:solidFill>
                <a:latin typeface="Manrope"/>
              </a:rPr>
              <a:t>Outfit proposal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91575" y="3476625"/>
            <a:ext cx="2705100" cy="7334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848"/>
              </a:lnSpc>
              <a:spcBef>
                <a:spcPts val="0"/>
              </a:spcBef>
              <a:spcAft>
                <a:spcPts val="0"/>
              </a:spcAft>
            </a:pPr>
            <a:r>
              <a:rPr sz="1650" b="0" lang="en-US">
                <a:solidFill>
                  <a:srgbClr val="262626"/>
                </a:solidFill>
                <a:latin typeface="Manrope"/>
              </a:rPr>
              <a:t>Occasion and</a:t>
            </a:r>
          </a:p>
          <a:p>
            <a:pPr algn="l" rtl="0">
              <a:lnSpc>
                <a:spcPts val="1848"/>
              </a:lnSpc>
              <a:spcBef>
                <a:spcPts val="0"/>
              </a:spcBef>
              <a:spcAft>
                <a:spcPts val="0"/>
              </a:spcAft>
            </a:pPr>
            <a:r>
              <a:rPr sz="1650" b="0" lang="en-US">
                <a:solidFill>
                  <a:srgbClr val="262626"/>
                </a:solidFill>
                <a:latin typeface="Manrope"/>
              </a:rPr>
              <a:t>preferences in view.</a:t>
            </a:r>
          </a:p>
        </p:txBody>
      </p:sp>
      <p:pic>
        <p:nvPicPr>
          <p:cNvPr id="22" name="Picture 21" descr="icon-fi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01100" y="4438650"/>
            <a:ext cx="238125" cy="238125"/>
          </a:xfrm>
          <a:prstGeom prst="rect">
            <a:avLst/>
          </a:prstGeom>
          <a:effectLst/>
        </p:spPr>
      </p:pic>
      <p:sp>
        <p:nvSpPr>
          <p:cNvPr id="23" name="TextBox 22"/>
          <p:cNvSpPr txBox="1"/>
          <p:nvPr/>
        </p:nvSpPr>
        <p:spPr>
          <a:xfrm>
            <a:off x="9172575" y="4400550"/>
            <a:ext cx="2324100" cy="5238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lang="en-US">
                <a:solidFill>
                  <a:srgbClr val="262626"/>
                </a:solidFill>
                <a:latin typeface="Manrope"/>
              </a:rPr>
              <a:t>Human review</a:t>
            </a:r>
          </a:p>
          <a:p>
            <a:pPr algn="l" rtl="0"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lang="en-US">
                <a:solidFill>
                  <a:srgbClr val="262626"/>
                </a:solidFill>
                <a:latin typeface="Manrope"/>
              </a:rPr>
              <a:t>across teams</a:t>
            </a:r>
          </a:p>
        </p:txBody>
      </p:sp>
      <p:pic>
        <p:nvPicPr>
          <p:cNvPr id="24" name="Picture 23" descr="icon-cas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0" y="2400300"/>
            <a:ext cx="190500" cy="190500"/>
          </a:xfrm>
          <a:prstGeom prst="rect">
            <a:avLst/>
          </a:prstGeom>
          <a:effectLst/>
        </p:spPr>
      </p:pic>
      <p:sp>
        <p:nvSpPr>
          <p:cNvPr id="25" name="TextBox 24"/>
          <p:cNvSpPr txBox="1"/>
          <p:nvPr/>
        </p:nvSpPr>
        <p:spPr>
          <a:xfrm>
            <a:off x="6010275" y="2362200"/>
            <a:ext cx="1400175" cy="2762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1" lang="en-US">
                <a:solidFill>
                  <a:srgbClr val="262626"/>
                </a:solidFill>
                <a:latin typeface="Manrope"/>
              </a:rPr>
              <a:t>Online store</a:t>
            </a:r>
          </a:p>
        </p:txBody>
      </p:sp>
      <p:pic>
        <p:nvPicPr>
          <p:cNvPr id="26" name="Picture 25" descr="icon-acto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86675" y="2400300"/>
            <a:ext cx="190500" cy="190500"/>
          </a:xfrm>
          <a:prstGeom prst="rect">
            <a:avLst/>
          </a:prstGeom>
          <a:effectLst/>
        </p:spPr>
      </p:pic>
      <p:sp>
        <p:nvSpPr>
          <p:cNvPr id="27" name="TextBox 26"/>
          <p:cNvSpPr txBox="1"/>
          <p:nvPr/>
        </p:nvSpPr>
        <p:spPr>
          <a:xfrm>
            <a:off x="7981950" y="2362200"/>
            <a:ext cx="1400175" cy="2762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1" lang="en-US">
                <a:solidFill>
                  <a:srgbClr val="262626"/>
                </a:solidFill>
                <a:latin typeface="Manrope"/>
              </a:rPr>
              <a:t>Stores</a:t>
            </a:r>
          </a:p>
        </p:txBody>
      </p:sp>
      <p:pic>
        <p:nvPicPr>
          <p:cNvPr id="28" name="Picture 27" descr="icon-settings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58350" y="2400300"/>
            <a:ext cx="190500" cy="190500"/>
          </a:xfrm>
          <a:prstGeom prst="rect">
            <a:avLst/>
          </a:prstGeom>
          <a:effectLst/>
        </p:spPr>
      </p:pic>
      <p:sp>
        <p:nvSpPr>
          <p:cNvPr id="29" name="TextBox 28"/>
          <p:cNvSpPr txBox="1"/>
          <p:nvPr/>
        </p:nvSpPr>
        <p:spPr>
          <a:xfrm>
            <a:off x="9953625" y="2362200"/>
            <a:ext cx="1400175" cy="2762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1" lang="en-US">
                <a:solidFill>
                  <a:srgbClr val="262626"/>
                </a:solidFill>
                <a:latin typeface="Manrope"/>
              </a:rPr>
              <a:t>Teams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95950" y="5553075"/>
            <a:ext cx="5781675" cy="3619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764"/>
              </a:lnSpc>
              <a:spcBef>
                <a:spcPts val="0"/>
              </a:spcBef>
              <a:spcAft>
                <a:spcPts val="0"/>
              </a:spcAft>
            </a:pPr>
            <a:r>
              <a:rPr sz="1575" b="0" lang="en-US">
                <a:solidFill>
                  <a:srgbClr val="68645E"/>
                </a:solidFill>
                <a:latin typeface="Manrope"/>
              </a:rPr>
              <a:t>Marketing · Operations · Management</a:t>
            </a:r>
          </a:p>
        </p:txBody>
      </p:sp>
      <p:pic>
        <p:nvPicPr>
          <p:cNvPr id="31" name="Unchanged replacement Arabic narration" descr="icon-mic.png">
            <a:hlinkClick action="ppaction://media" r:id=""/>
          </p:cNvPr>
          <p:cNvPicPr>
            <a:picLocks noChangeAspect="1"/>
          </p:cNvPicPr>
          <p:nvPr>
            <a:audioFile r:link="rId9"/>
            <p:extLst>
              <p:ext uri="{DAA4B4D4-6D71-4841-9C94-3DE7FCFB45AD}">
                <p14:media xmlns:p14="http://schemas.microsoft.com/office/powerpoint/2010/main" r:embed="rId10"/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10572750" y="6486525"/>
            <a:ext cx="209550" cy="209550"/>
          </a:xfrm>
          <a:prstGeom prst="rect">
            <a:avLst/>
          </a:prstGeom>
        </p:spPr>
      </p:pic>
    </p:spTree>
  </p:cSld>
  <p:clrMapOvr>
    <a:masterClrMapping/>
  </p:clrMapOvr>
  <p:transition spd="med" advClick="1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/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100000" numSld="9" showWhenStopped="1">
                <p:cTn id="4" dur="285920" fill="hold" nodeType="withEffect">
                  <p:stCondLst>
                    <p:cond delay="0"/>
                  </p:stCondLst>
                </p:cTn>
                <p:tgtEl>
                  <p:spTgt spid="31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ra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58762"/>
            <a:ext cx="409575" cy="273050"/>
          </a:xfrm>
          <a:prstGeom prst="rect">
            <a:avLst/>
          </a:prstGeom>
          <a:effectLst/>
        </p:spPr>
      </p:pic>
      <p:sp>
        <p:nvSpPr>
          <p:cNvPr id="3" name="TextBox 2"/>
          <p:cNvSpPr txBox="1"/>
          <p:nvPr/>
        </p:nvSpPr>
        <p:spPr>
          <a:xfrm>
            <a:off x="990600" y="276225"/>
            <a:ext cx="3571875" cy="2952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1" lang="en-US">
                <a:solidFill>
                  <a:srgbClr val="262626"/>
                </a:solidFill>
                <a:latin typeface="Manrope"/>
              </a:rPr>
              <a:t>GRINDCTRL × Concrete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15075" y="276225"/>
            <a:ext cx="5419725" cy="2857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344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en-US">
                <a:solidFill>
                  <a:srgbClr val="68645E"/>
                </a:solidFill>
                <a:latin typeface="Manrope"/>
              </a:rPr>
              <a:t>Part 04 · AI personal stylist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95350"/>
            <a:ext cx="11277600" cy="4953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3192"/>
              </a:lnSpc>
              <a:spcBef>
                <a:spcPts val="0"/>
              </a:spcBef>
              <a:spcAft>
                <a:spcPts val="0"/>
              </a:spcAft>
            </a:pPr>
            <a:r>
              <a:rPr sz="2850" b="1" lang="en-US">
                <a:solidFill>
                  <a:srgbClr val="262626"/>
                </a:solidFill>
                <a:latin typeface="Manrope"/>
              </a:rPr>
              <a:t>A complete look starts with a simple request.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6381750"/>
            <a:ext cx="11277600" cy="0"/>
          </a:xfrm>
          <a:prstGeom prst="line">
            <a:avLst/>
          </a:prstGeom>
          <a:ln w="9525">
            <a:solidFill>
              <a:srgbClr val="E6E3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6505575"/>
            <a:ext cx="1028700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176"/>
              </a:lnSpc>
              <a:spcBef>
                <a:spcPts val="0"/>
              </a:spcBef>
              <a:spcAft>
                <a:spcPts val="0"/>
              </a:spcAft>
            </a:pPr>
            <a:r>
              <a:rPr sz="1050" b="0" lang="en-US">
                <a:solidFill>
                  <a:srgbClr val="68645E"/>
                </a:solidFill>
                <a:latin typeface="Manrope"/>
              </a:rPr>
              <a:t>Proposed experience · Illustrative imagery / UI · Demo records · Sources and permissions to validate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15650" y="6505575"/>
            <a:ext cx="81915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176"/>
              </a:lnSpc>
              <a:spcBef>
                <a:spcPts val="0"/>
              </a:spcBef>
              <a:spcAft>
                <a:spcPts val="0"/>
              </a:spcAft>
            </a:pPr>
            <a:r>
              <a:rPr sz="1050" b="0" lang="en-US">
                <a:solidFill>
                  <a:srgbClr val="262626"/>
                </a:solidFill>
                <a:latin typeface="Manrope"/>
              </a:rPr>
              <a:t>02 / 09</a:t>
            </a:r>
          </a:p>
        </p:txBody>
      </p:sp>
      <p:pic>
        <p:nvPicPr>
          <p:cNvPr id="9" name="Picture 8" descr="S02_storyboard.png"/>
          <p:cNvPicPr>
            <a:picLocks noChangeAspect="1"/>
          </p:cNvPicPr>
          <p:nvPr/>
        </p:nvPicPr>
        <p:blipFill>
          <a:blip r:embed="rId3"/>
          <a:srcRect l="28589" r="45694" t="32625" b="13177"/>
          <a:stretch>
            <a:fillRect/>
          </a:stretch>
        </p:blipFill>
        <p:spPr>
          <a:xfrm>
            <a:off x="457200" y="1600200"/>
            <a:ext cx="3838575" cy="4552950"/>
          </a:xfrm>
          <a:prstGeom prst="rect">
            <a:avLst/>
          </a:prstGeom>
          <a:effectLst/>
        </p:spPr>
      </p:pic>
      <p:sp>
        <p:nvSpPr>
          <p:cNvPr id="10" name="Rounded Rectangle 9"/>
          <p:cNvSpPr/>
          <p:nvPr/>
        </p:nvSpPr>
        <p:spPr>
          <a:xfrm>
            <a:off x="4524375" y="1638300"/>
            <a:ext cx="7210425" cy="4552950"/>
          </a:xfrm>
          <a:prstGeom prst="roundRect">
            <a:avLst>
              <a:gd name="adj" fmla="val 2092"/>
            </a:avLst>
          </a:prstGeom>
          <a:solidFill>
            <a:srgbClr val="EDEAE4"/>
          </a:solidFill>
          <a:ln w="9525">
            <a:solidFill>
              <a:srgbClr val="EDE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24375" y="1600200"/>
            <a:ext cx="7210425" cy="4552950"/>
          </a:xfrm>
          <a:prstGeom prst="roundRect">
            <a:avLst>
              <a:gd name="adj" fmla="val 2092"/>
            </a:avLst>
          </a:prstGeom>
          <a:solidFill>
            <a:srgbClr val="FFFFFF"/>
          </a:solidFill>
          <a:ln w="9525">
            <a:solidFill>
              <a:srgbClr val="E6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33925" y="1771650"/>
            <a:ext cx="6791325" cy="2952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lang="en-US">
                <a:solidFill>
                  <a:srgbClr val="262626"/>
                </a:solidFill>
                <a:latin typeface="Manrope"/>
              </a:rPr>
              <a:t>AI personal stylist · Demo catalog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524375" y="2200275"/>
            <a:ext cx="7210425" cy="0"/>
          </a:xfrm>
          <a:prstGeom prst="line">
            <a:avLst/>
          </a:prstGeom>
          <a:ln w="9525">
            <a:solidFill>
              <a:srgbClr val="E6E3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 descr="icon-speec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4400" y="2419350"/>
            <a:ext cx="266700" cy="266700"/>
          </a:xfrm>
          <a:prstGeom prst="rect">
            <a:avLst/>
          </a:prstGeom>
          <a:effectLst/>
        </p:spPr>
      </p:pic>
      <p:sp>
        <p:nvSpPr>
          <p:cNvPr id="15" name="TextBox 14"/>
          <p:cNvSpPr txBox="1"/>
          <p:nvPr/>
        </p:nvSpPr>
        <p:spPr>
          <a:xfrm>
            <a:off x="4743450" y="3095625"/>
            <a:ext cx="6686550" cy="2857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596"/>
              </a:lnSpc>
              <a:spcBef>
                <a:spcPts val="0"/>
              </a:spcBef>
              <a:spcAft>
                <a:spcPts val="0"/>
              </a:spcAft>
            </a:pPr>
            <a:r>
              <a:rPr sz="1425" b="0" lang="en-US">
                <a:solidFill>
                  <a:srgbClr val="68645E"/>
                </a:solidFill>
                <a:latin typeface="Manrope"/>
              </a:rPr>
              <a:t>Outfit proposal · Eligible demo items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43450" y="3505200"/>
            <a:ext cx="1571625" cy="1885950"/>
          </a:xfrm>
          <a:prstGeom prst="roundRect">
            <a:avLst>
              <a:gd name="adj" fmla="val 3030"/>
            </a:avLst>
          </a:prstGeom>
          <a:solidFill>
            <a:srgbClr val="F4F2EE"/>
          </a:solidFill>
          <a:ln w="9525">
            <a:solidFill>
              <a:srgbClr val="F4F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S02_storyboard.png"/>
          <p:cNvPicPr>
            <a:picLocks noChangeAspect="1"/>
          </p:cNvPicPr>
          <p:nvPr/>
        </p:nvPicPr>
        <p:blipFill>
          <a:blip r:embed="rId3"/>
          <a:srcRect l="58074" r="34510" t="38257" b="43464"/>
          <a:stretch>
            <a:fillRect/>
          </a:stretch>
        </p:blipFill>
        <p:spPr>
          <a:xfrm>
            <a:off x="5072616" y="3562350"/>
            <a:ext cx="913292" cy="1266825"/>
          </a:xfrm>
          <a:prstGeom prst="rect">
            <a:avLst/>
          </a:prstGeom>
          <a:effectLst/>
        </p:spPr>
      </p:pic>
      <p:sp>
        <p:nvSpPr>
          <p:cNvPr id="18" name="TextBox 17"/>
          <p:cNvSpPr txBox="1"/>
          <p:nvPr/>
        </p:nvSpPr>
        <p:spPr>
          <a:xfrm>
            <a:off x="4857750" y="5000625"/>
            <a:ext cx="1343025" cy="2857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764"/>
              </a:lnSpc>
              <a:spcBef>
                <a:spcPts val="0"/>
              </a:spcBef>
              <a:spcAft>
                <a:spcPts val="0"/>
              </a:spcAft>
            </a:pPr>
            <a:r>
              <a:rPr sz="1575" b="1" lang="en-US">
                <a:solidFill>
                  <a:srgbClr val="262626"/>
                </a:solidFill>
                <a:latin typeface="Manrope"/>
              </a:rPr>
              <a:t>Blazer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91500" y="3505200"/>
            <a:ext cx="1571625" cy="1885950"/>
          </a:xfrm>
          <a:prstGeom prst="roundRect">
            <a:avLst>
              <a:gd name="adj" fmla="val 3030"/>
            </a:avLst>
          </a:prstGeom>
          <a:solidFill>
            <a:srgbClr val="F4F2EE"/>
          </a:solidFill>
          <a:ln w="9525">
            <a:solidFill>
              <a:srgbClr val="F4F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02_storyboard.png"/>
          <p:cNvPicPr>
            <a:picLocks noChangeAspect="1"/>
          </p:cNvPicPr>
          <p:nvPr/>
        </p:nvPicPr>
        <p:blipFill>
          <a:blip r:embed="rId3"/>
          <a:srcRect l="77273" r="14773" t="37620" b="43677"/>
          <a:stretch>
            <a:fillRect/>
          </a:stretch>
        </p:blipFill>
        <p:spPr>
          <a:xfrm>
            <a:off x="8498654" y="3562350"/>
            <a:ext cx="957317" cy="1266825"/>
          </a:xfrm>
          <a:prstGeom prst="rect">
            <a:avLst/>
          </a:prstGeom>
          <a:effectLst/>
        </p:spPr>
      </p:pic>
      <p:sp>
        <p:nvSpPr>
          <p:cNvPr id="21" name="TextBox 20"/>
          <p:cNvSpPr txBox="1"/>
          <p:nvPr/>
        </p:nvSpPr>
        <p:spPr>
          <a:xfrm>
            <a:off x="8305800" y="5000625"/>
            <a:ext cx="1343025" cy="2857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764"/>
              </a:lnSpc>
              <a:spcBef>
                <a:spcPts val="0"/>
              </a:spcBef>
              <a:spcAft>
                <a:spcPts val="0"/>
              </a:spcAft>
            </a:pPr>
            <a:r>
              <a:rPr sz="1575" b="1" lang="en-US">
                <a:solidFill>
                  <a:srgbClr val="262626"/>
                </a:solidFill>
                <a:latin typeface="Manrope"/>
              </a:rPr>
              <a:t>Trousers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915525" y="3505200"/>
            <a:ext cx="1571625" cy="1885950"/>
          </a:xfrm>
          <a:prstGeom prst="roundRect">
            <a:avLst>
              <a:gd name="adj" fmla="val 3030"/>
            </a:avLst>
          </a:prstGeom>
          <a:solidFill>
            <a:srgbClr val="F4F2EE"/>
          </a:solidFill>
          <a:ln w="9525">
            <a:solidFill>
              <a:srgbClr val="F4F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S02_storyboard.png"/>
          <p:cNvPicPr>
            <a:picLocks noChangeAspect="1"/>
          </p:cNvPicPr>
          <p:nvPr/>
        </p:nvPicPr>
        <p:blipFill>
          <a:blip r:embed="rId3"/>
          <a:srcRect l="87380" r="4246" t="43571" b="43358"/>
          <a:stretch>
            <a:fillRect/>
          </a:stretch>
        </p:blipFill>
        <p:spPr>
          <a:xfrm>
            <a:off x="10020300" y="3597422"/>
            <a:ext cx="1362075" cy="1196680"/>
          </a:xfrm>
          <a:prstGeom prst="rect">
            <a:avLst/>
          </a:prstGeom>
          <a:effectLst/>
        </p:spPr>
      </p:pic>
      <p:sp>
        <p:nvSpPr>
          <p:cNvPr id="24" name="TextBox 23"/>
          <p:cNvSpPr txBox="1"/>
          <p:nvPr/>
        </p:nvSpPr>
        <p:spPr>
          <a:xfrm>
            <a:off x="10029825" y="5000625"/>
            <a:ext cx="1343025" cy="2857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764"/>
              </a:lnSpc>
              <a:spcBef>
                <a:spcPts val="0"/>
              </a:spcBef>
              <a:spcAft>
                <a:spcPts val="0"/>
              </a:spcAft>
            </a:pPr>
            <a:r>
              <a:rPr sz="1575" b="1" lang="en-US">
                <a:solidFill>
                  <a:srgbClr val="262626"/>
                </a:solidFill>
                <a:latin typeface="Manrope"/>
              </a:rPr>
              <a:t>Shoes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67475" y="3505200"/>
            <a:ext cx="1571625" cy="1885950"/>
          </a:xfrm>
          <a:prstGeom prst="roundRect">
            <a:avLst>
              <a:gd name="adj" fmla="val 3030"/>
            </a:avLst>
          </a:prstGeom>
          <a:solidFill>
            <a:srgbClr val="F4F2EE"/>
          </a:solidFill>
          <a:ln w="9525">
            <a:solidFill>
              <a:srgbClr val="F4F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S05_storyboard.png"/>
          <p:cNvPicPr>
            <a:picLocks noChangeAspect="1"/>
          </p:cNvPicPr>
          <p:nvPr/>
        </p:nvPicPr>
        <p:blipFill>
          <a:blip r:embed="rId5"/>
          <a:srcRect l="14713" r="80921" t="57811" b="34113"/>
          <a:stretch>
            <a:fillRect/>
          </a:stretch>
        </p:blipFill>
        <p:spPr>
          <a:xfrm>
            <a:off x="6644878" y="3562350"/>
            <a:ext cx="1216819" cy="1266825"/>
          </a:xfrm>
          <a:prstGeom prst="rect">
            <a:avLst/>
          </a:prstGeom>
          <a:effectLst/>
        </p:spPr>
      </p:pic>
      <p:sp>
        <p:nvSpPr>
          <p:cNvPr id="27" name="TextBox 26"/>
          <p:cNvSpPr txBox="1"/>
          <p:nvPr/>
        </p:nvSpPr>
        <p:spPr>
          <a:xfrm>
            <a:off x="6581775" y="5000625"/>
            <a:ext cx="1343025" cy="2857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764"/>
              </a:lnSpc>
              <a:spcBef>
                <a:spcPts val="0"/>
              </a:spcBef>
              <a:spcAft>
                <a:spcPts val="0"/>
              </a:spcAft>
            </a:pPr>
            <a:r>
              <a:rPr sz="1575" b="1" lang="en-US">
                <a:solidFill>
                  <a:srgbClr val="262626"/>
                </a:solidFill>
                <a:latin typeface="Manrope"/>
              </a:rPr>
              <a:t>Knit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714875" y="2362200"/>
            <a:ext cx="6781800" cy="619125"/>
          </a:xfrm>
          <a:prstGeom prst="roundRect">
            <a:avLst>
              <a:gd name="adj" fmla="val 10769"/>
            </a:avLst>
          </a:prstGeom>
          <a:solidFill>
            <a:srgbClr val="F4F2EE"/>
          </a:solidFill>
          <a:ln w="9525">
            <a:solidFill>
              <a:srgbClr val="F4F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icon-speec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8225" y="2514600"/>
            <a:ext cx="247650" cy="247650"/>
          </a:xfrm>
          <a:prstGeom prst="rect">
            <a:avLst/>
          </a:prstGeom>
          <a:effectLst/>
        </p:spPr>
      </p:pic>
      <p:sp>
        <p:nvSpPr>
          <p:cNvPr id="30" name="TextBox 29"/>
          <p:cNvSpPr txBox="1"/>
          <p:nvPr/>
        </p:nvSpPr>
        <p:spPr>
          <a:xfrm>
            <a:off x="5248275" y="2486025"/>
            <a:ext cx="6019800" cy="4286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2016"/>
              </a:lnSpc>
              <a:spcBef>
                <a:spcPts val="0"/>
              </a:spcBef>
              <a:spcAft>
                <a:spcPts val="0"/>
              </a:spcAft>
            </a:pPr>
            <a:r>
              <a:rPr sz="1800" b="1" lang="en-US">
                <a:solidFill>
                  <a:srgbClr val="262626"/>
                </a:solidFill>
                <a:latin typeface="Manrope"/>
              </a:rPr>
              <a:t>Refine the look: “Make it less formal.”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743450" y="5591175"/>
            <a:ext cx="4552950" cy="400050"/>
          </a:xfrm>
          <a:prstGeom prst="roundRect">
            <a:avLst>
              <a:gd name="adj" fmla="val 11904"/>
            </a:avLst>
          </a:prstGeom>
          <a:solidFill>
            <a:srgbClr val="FFF2DD"/>
          </a:solidFill>
          <a:ln w="9525">
            <a:solidFill>
              <a:srgbClr val="FFF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icon-acto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67275" y="5695950"/>
            <a:ext cx="180975" cy="180975"/>
          </a:xfrm>
          <a:prstGeom prst="rect">
            <a:avLst/>
          </a:prstGeom>
          <a:effectLst/>
        </p:spPr>
      </p:pic>
      <p:sp>
        <p:nvSpPr>
          <p:cNvPr id="33" name="TextBox 32"/>
          <p:cNvSpPr txBox="1"/>
          <p:nvPr/>
        </p:nvSpPr>
        <p:spPr>
          <a:xfrm>
            <a:off x="5153025" y="5686425"/>
            <a:ext cx="4029075" cy="2667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 rtl="0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1" lang="en-US">
                <a:solidFill>
                  <a:srgbClr val="262626"/>
                </a:solidFill>
                <a:latin typeface="Manrope"/>
              </a:rPr>
              <a:t>Request store visit · If service supported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467850" y="5667375"/>
            <a:ext cx="2009775" cy="2952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344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en-US">
                <a:solidFill>
                  <a:srgbClr val="68645E"/>
                </a:solidFill>
                <a:latin typeface="Manrope"/>
              </a:rPr>
              <a:t>No booking made</a:t>
            </a:r>
          </a:p>
        </p:txBody>
      </p:sp>
    </p:spTree>
  </p:cSld>
  <p:clrMapOvr>
    <a:masterClrMapping/>
  </p:clrMapOvr>
  <p:transition spd="med" advClick="1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/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ra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58762"/>
            <a:ext cx="409575" cy="273050"/>
          </a:xfrm>
          <a:prstGeom prst="rect">
            <a:avLst/>
          </a:prstGeom>
          <a:effectLst/>
        </p:spPr>
      </p:pic>
      <p:sp>
        <p:nvSpPr>
          <p:cNvPr id="3" name="TextBox 2"/>
          <p:cNvSpPr txBox="1"/>
          <p:nvPr/>
        </p:nvSpPr>
        <p:spPr>
          <a:xfrm>
            <a:off x="990600" y="276225"/>
            <a:ext cx="3571875" cy="2952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1" lang="en-US">
                <a:solidFill>
                  <a:srgbClr val="262626"/>
                </a:solidFill>
                <a:latin typeface="Manrope"/>
              </a:rPr>
              <a:t>GRINDCTRL × Concrete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15075" y="276225"/>
            <a:ext cx="5419725" cy="2857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344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en-US">
                <a:solidFill>
                  <a:srgbClr val="68645E"/>
                </a:solidFill>
                <a:latin typeface="Manrope"/>
              </a:rPr>
              <a:t>Part 04 · AI e-commerce assistant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95350"/>
            <a:ext cx="11277600" cy="4953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3192"/>
              </a:lnSpc>
              <a:spcBef>
                <a:spcPts val="0"/>
              </a:spcBef>
              <a:spcAft>
                <a:spcPts val="0"/>
              </a:spcAft>
            </a:pPr>
            <a:r>
              <a:rPr sz="2850" b="1" lang="en-US">
                <a:solidFill>
                  <a:srgbClr val="262626"/>
                </a:solidFill>
                <a:latin typeface="Manrope"/>
              </a:rPr>
              <a:t>Discover the product. Check the source.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6381750"/>
            <a:ext cx="11277600" cy="0"/>
          </a:xfrm>
          <a:prstGeom prst="line">
            <a:avLst/>
          </a:prstGeom>
          <a:ln w="9525">
            <a:solidFill>
              <a:srgbClr val="E6E3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6505575"/>
            <a:ext cx="1028700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176"/>
              </a:lnSpc>
              <a:spcBef>
                <a:spcPts val="0"/>
              </a:spcBef>
              <a:spcAft>
                <a:spcPts val="0"/>
              </a:spcAft>
            </a:pPr>
            <a:r>
              <a:rPr sz="1050" b="0" lang="en-US">
                <a:solidFill>
                  <a:srgbClr val="68645E"/>
                </a:solidFill>
                <a:latin typeface="Manrope"/>
              </a:rPr>
              <a:t>Proposed experience · Illustrative imagery / UI · Demo records · Sources and permissions to validate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15650" y="6505575"/>
            <a:ext cx="81915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176"/>
              </a:lnSpc>
              <a:spcBef>
                <a:spcPts val="0"/>
              </a:spcBef>
              <a:spcAft>
                <a:spcPts val="0"/>
              </a:spcAft>
            </a:pPr>
            <a:r>
              <a:rPr sz="1050" b="0" lang="en-US">
                <a:solidFill>
                  <a:srgbClr val="262626"/>
                </a:solidFill>
                <a:latin typeface="Manrope"/>
              </a:rPr>
              <a:t>03 / 09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38300"/>
            <a:ext cx="11277600" cy="4552950"/>
          </a:xfrm>
          <a:prstGeom prst="roundRect">
            <a:avLst>
              <a:gd name="adj" fmla="val 2092"/>
            </a:avLst>
          </a:prstGeom>
          <a:solidFill>
            <a:srgbClr val="EDEAE4"/>
          </a:solidFill>
          <a:ln w="9525">
            <a:solidFill>
              <a:srgbClr val="EDE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" y="1600200"/>
            <a:ext cx="11277600" cy="4552950"/>
          </a:xfrm>
          <a:prstGeom prst="roundRect">
            <a:avLst>
              <a:gd name="adj" fmla="val 2092"/>
            </a:avLst>
          </a:prstGeom>
          <a:solidFill>
            <a:srgbClr val="FFFFFF"/>
          </a:solidFill>
          <a:ln w="9525">
            <a:solidFill>
              <a:srgbClr val="E6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6750" y="1771650"/>
            <a:ext cx="10858500" cy="2952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lang="en-US">
                <a:solidFill>
                  <a:srgbClr val="262626"/>
                </a:solidFill>
                <a:latin typeface="Manrope"/>
              </a:rPr>
              <a:t>Concrete · Proposed online-store assistant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57200" y="2200275"/>
            <a:ext cx="11277600" cy="0"/>
          </a:xfrm>
          <a:prstGeom prst="line">
            <a:avLst/>
          </a:prstGeom>
          <a:ln w="9525">
            <a:solidFill>
              <a:srgbClr val="E6E3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23900" y="2390775"/>
            <a:ext cx="10744200" cy="581025"/>
          </a:xfrm>
          <a:prstGeom prst="roundRect">
            <a:avLst>
              <a:gd name="adj" fmla="val 11475"/>
            </a:avLst>
          </a:prstGeom>
          <a:solidFill>
            <a:srgbClr val="F4F2EE"/>
          </a:solidFill>
          <a:ln w="9525">
            <a:solidFill>
              <a:srgbClr val="F4F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con-sear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5350" y="2581275"/>
            <a:ext cx="228600" cy="228600"/>
          </a:xfrm>
          <a:prstGeom prst="rect">
            <a:avLst/>
          </a:prstGeom>
          <a:effectLst/>
        </p:spPr>
      </p:pic>
      <p:sp>
        <p:nvSpPr>
          <p:cNvPr id="15" name="TextBox 14"/>
          <p:cNvSpPr txBox="1"/>
          <p:nvPr/>
        </p:nvSpPr>
        <p:spPr>
          <a:xfrm>
            <a:off x="1323975" y="2543175"/>
            <a:ext cx="9896475" cy="3619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875" b="0" lang="en-US">
                <a:solidFill>
                  <a:srgbClr val="262626"/>
                </a:solidFill>
                <a:latin typeface="Manrope"/>
              </a:rPr>
              <a:t>A shirt for a smart-casual evening.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3900" y="3352800"/>
            <a:ext cx="2066925" cy="2581275"/>
          </a:xfrm>
          <a:prstGeom prst="roundRect">
            <a:avLst>
              <a:gd name="adj" fmla="val 2304"/>
            </a:avLst>
          </a:prstGeom>
          <a:solidFill>
            <a:srgbClr val="F4F2EE"/>
          </a:solidFill>
          <a:ln w="9525">
            <a:solidFill>
              <a:srgbClr val="F4F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S02_storyboard.png"/>
          <p:cNvPicPr>
            <a:picLocks noChangeAspect="1"/>
          </p:cNvPicPr>
          <p:nvPr/>
        </p:nvPicPr>
        <p:blipFill>
          <a:blip r:embed="rId4"/>
          <a:srcRect l="66746" r="25239" t="37726" b="43677"/>
          <a:stretch>
            <a:fillRect/>
          </a:stretch>
        </p:blipFill>
        <p:spPr>
          <a:xfrm>
            <a:off x="1006139" y="3409950"/>
            <a:ext cx="1502446" cy="1962150"/>
          </a:xfrm>
          <a:prstGeom prst="rect">
            <a:avLst/>
          </a:prstGeom>
          <a:effectLst/>
        </p:spPr>
      </p:pic>
      <p:sp>
        <p:nvSpPr>
          <p:cNvPr id="18" name="TextBox 17"/>
          <p:cNvSpPr txBox="1"/>
          <p:nvPr/>
        </p:nvSpPr>
        <p:spPr>
          <a:xfrm>
            <a:off x="838200" y="5543550"/>
            <a:ext cx="1838325" cy="2857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764"/>
              </a:lnSpc>
              <a:spcBef>
                <a:spcPts val="0"/>
              </a:spcBef>
              <a:spcAft>
                <a:spcPts val="0"/>
              </a:spcAft>
            </a:pPr>
            <a:r>
              <a:rPr sz="1575" b="1" lang="en-US">
                <a:solidFill>
                  <a:srgbClr val="262626"/>
                </a:solidFill>
                <a:latin typeface="Manrope"/>
              </a:rPr>
              <a:t>Shirt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05150" y="3324225"/>
            <a:ext cx="5276850" cy="3238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2184"/>
              </a:lnSpc>
              <a:spcBef>
                <a:spcPts val="0"/>
              </a:spcBef>
              <a:spcAft>
                <a:spcPts val="0"/>
              </a:spcAft>
            </a:pPr>
            <a:r>
              <a:rPr sz="1950" b="1" lang="en-US">
                <a:solidFill>
                  <a:srgbClr val="262626"/>
                </a:solidFill>
                <a:latin typeface="Manrope"/>
              </a:rPr>
              <a:t>Size-chart guidance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05150" y="3790950"/>
            <a:ext cx="5267325" cy="2762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764"/>
              </a:lnSpc>
              <a:spcBef>
                <a:spcPts val="0"/>
              </a:spcBef>
              <a:spcAft>
                <a:spcPts val="0"/>
              </a:spcAft>
            </a:pPr>
            <a:r>
              <a:rPr sz="1575" b="0" lang="en-US">
                <a:solidFill>
                  <a:srgbClr val="262626"/>
                </a:solidFill>
                <a:latin typeface="Manrope"/>
              </a:rPr>
              <a:t>Compare the product’s measurements.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105150" y="4181475"/>
            <a:ext cx="5267325" cy="0"/>
          </a:xfrm>
          <a:prstGeom prst="line">
            <a:avLst/>
          </a:prstGeom>
          <a:ln w="9525">
            <a:solidFill>
              <a:srgbClr val="E6E3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Picture 21" descr="icon-lin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05150" y="4438650"/>
            <a:ext cx="209550" cy="209550"/>
          </a:xfrm>
          <a:prstGeom prst="rect">
            <a:avLst/>
          </a:prstGeom>
          <a:effectLst/>
        </p:spPr>
      </p:pic>
      <p:sp>
        <p:nvSpPr>
          <p:cNvPr id="23" name="TextBox 22"/>
          <p:cNvSpPr txBox="1"/>
          <p:nvPr/>
        </p:nvSpPr>
        <p:spPr>
          <a:xfrm>
            <a:off x="3486150" y="4410075"/>
            <a:ext cx="3286125" cy="2952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764"/>
              </a:lnSpc>
              <a:spcBef>
                <a:spcPts val="0"/>
              </a:spcBef>
              <a:spcAft>
                <a:spcPts val="0"/>
              </a:spcAft>
            </a:pPr>
            <a:r>
              <a:rPr sz="1575" b="0" lang="en-US">
                <a:solidFill>
                  <a:srgbClr val="262626"/>
                </a:solidFill>
                <a:latin typeface="Manrope"/>
              </a:rPr>
              <a:t>Chest measurement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15150" y="4410075"/>
            <a:ext cx="1457325" cy="2952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428"/>
              </a:lnSpc>
              <a:spcBef>
                <a:spcPts val="0"/>
              </a:spcBef>
              <a:spcAft>
                <a:spcPts val="0"/>
              </a:spcAft>
            </a:pPr>
            <a:r>
              <a:rPr sz="1275" b="0" lang="en-US">
                <a:solidFill>
                  <a:srgbClr val="68645E"/>
                </a:solidFill>
                <a:latin typeface="Manrope"/>
              </a:rPr>
              <a:t>Source required</a:t>
            </a:r>
          </a:p>
        </p:txBody>
      </p:sp>
      <p:pic>
        <p:nvPicPr>
          <p:cNvPr id="25" name="Picture 24" descr="icon-qualit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05150" y="4867275"/>
            <a:ext cx="209550" cy="209550"/>
          </a:xfrm>
          <a:prstGeom prst="rect">
            <a:avLst/>
          </a:prstGeom>
          <a:effectLst/>
        </p:spPr>
      </p:pic>
      <p:sp>
        <p:nvSpPr>
          <p:cNvPr id="26" name="TextBox 25"/>
          <p:cNvSpPr txBox="1"/>
          <p:nvPr/>
        </p:nvSpPr>
        <p:spPr>
          <a:xfrm>
            <a:off x="3486150" y="4838700"/>
            <a:ext cx="3286125" cy="2952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764"/>
              </a:lnSpc>
              <a:spcBef>
                <a:spcPts val="0"/>
              </a:spcBef>
              <a:spcAft>
                <a:spcPts val="0"/>
              </a:spcAft>
            </a:pPr>
            <a:r>
              <a:rPr sz="1575" b="0" lang="en-US">
                <a:solidFill>
                  <a:srgbClr val="262626"/>
                </a:solidFill>
                <a:latin typeface="Manrope"/>
              </a:rPr>
              <a:t>Garment length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15150" y="4838700"/>
            <a:ext cx="1457325" cy="2952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428"/>
              </a:lnSpc>
              <a:spcBef>
                <a:spcPts val="0"/>
              </a:spcBef>
              <a:spcAft>
                <a:spcPts val="0"/>
              </a:spcAft>
            </a:pPr>
            <a:r>
              <a:rPr sz="1275" b="0" lang="en-US">
                <a:solidFill>
                  <a:srgbClr val="68645E"/>
                </a:solidFill>
                <a:latin typeface="Manrope"/>
              </a:rPr>
              <a:t>Source required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753475" y="3228975"/>
            <a:ext cx="0" cy="2743200"/>
          </a:xfrm>
          <a:prstGeom prst="line">
            <a:avLst/>
          </a:prstGeom>
          <a:ln w="9525">
            <a:solidFill>
              <a:srgbClr val="E6E3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9010650" y="3324225"/>
            <a:ext cx="2457450" cy="3238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875" b="1" lang="en-US">
                <a:solidFill>
                  <a:srgbClr val="262626"/>
                </a:solidFill>
                <a:latin typeface="Manrope"/>
              </a:rPr>
              <a:t>Availability</a:t>
            </a:r>
          </a:p>
        </p:txBody>
      </p:sp>
      <p:pic>
        <p:nvPicPr>
          <p:cNvPr id="30" name="Picture 29" descr="icon-lin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20175" y="3876675"/>
            <a:ext cx="257175" cy="257175"/>
          </a:xfrm>
          <a:prstGeom prst="rect">
            <a:avLst/>
          </a:prstGeom>
          <a:effectLst/>
        </p:spPr>
      </p:pic>
      <p:sp>
        <p:nvSpPr>
          <p:cNvPr id="31" name="TextBox 30"/>
          <p:cNvSpPr txBox="1"/>
          <p:nvPr/>
        </p:nvSpPr>
        <p:spPr>
          <a:xfrm>
            <a:off x="9010650" y="4314825"/>
            <a:ext cx="2457450" cy="6858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932"/>
              </a:lnSpc>
              <a:spcBef>
                <a:spcPts val="0"/>
              </a:spcBef>
              <a:spcAft>
                <a:spcPts val="0"/>
              </a:spcAft>
            </a:pPr>
            <a:r>
              <a:rPr sz="1725" b="1" lang="en-US">
                <a:solidFill>
                  <a:srgbClr val="68645E"/>
                </a:solidFill>
                <a:latin typeface="Manrope"/>
              </a:rPr>
              <a:t>Not available</a:t>
            </a:r>
          </a:p>
          <a:p>
            <a:pPr algn="l" rtl="0">
              <a:lnSpc>
                <a:spcPts val="1932"/>
              </a:lnSpc>
              <a:spcBef>
                <a:spcPts val="0"/>
              </a:spcBef>
              <a:spcAft>
                <a:spcPts val="0"/>
              </a:spcAft>
            </a:pPr>
            <a:r>
              <a:rPr sz="1725" b="1" lang="en-US">
                <a:solidFill>
                  <a:srgbClr val="68645E"/>
                </a:solidFill>
                <a:latin typeface="Manrope"/>
              </a:rPr>
              <a:t>in this demo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10650" y="5210175"/>
            <a:ext cx="2457450" cy="5619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0" lang="en-US">
                <a:solidFill>
                  <a:srgbClr val="68645E"/>
                </a:solidFill>
                <a:latin typeface="Manrope"/>
              </a:rPr>
              <a:t>No stock connection</a:t>
            </a:r>
          </a:p>
          <a:p>
            <a:pPr algn="l" rtl="0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0" lang="en-US">
                <a:solidFill>
                  <a:srgbClr val="68645E"/>
                </a:solidFill>
                <a:latin typeface="Manrope"/>
              </a:rPr>
              <a:t>or delivery promise.</a:t>
            </a:r>
          </a:p>
        </p:txBody>
      </p:sp>
    </p:spTree>
  </p:cSld>
  <p:clrMapOvr>
    <a:masterClrMapping/>
  </p:clrMapOvr>
  <p:transition spd="med" advClick="1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/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ra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58762"/>
            <a:ext cx="409575" cy="273050"/>
          </a:xfrm>
          <a:prstGeom prst="rect">
            <a:avLst/>
          </a:prstGeom>
          <a:effectLst/>
        </p:spPr>
      </p:pic>
      <p:sp>
        <p:nvSpPr>
          <p:cNvPr id="3" name="TextBox 2"/>
          <p:cNvSpPr txBox="1"/>
          <p:nvPr/>
        </p:nvSpPr>
        <p:spPr>
          <a:xfrm>
            <a:off x="990600" y="276225"/>
            <a:ext cx="3571875" cy="2952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1" lang="en-US">
                <a:solidFill>
                  <a:srgbClr val="262626"/>
                </a:solidFill>
                <a:latin typeface="Manrope"/>
              </a:rPr>
              <a:t>GRINDCTRL × Concrete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15075" y="276225"/>
            <a:ext cx="5419725" cy="2857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344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en-US">
                <a:solidFill>
                  <a:srgbClr val="68645E"/>
                </a:solidFill>
                <a:latin typeface="Manrope"/>
              </a:rPr>
              <a:t>Part 04 · Contact center copilot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95350"/>
            <a:ext cx="11277600" cy="4953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3192"/>
              </a:lnSpc>
              <a:spcBef>
                <a:spcPts val="0"/>
              </a:spcBef>
              <a:spcAft>
                <a:spcPts val="0"/>
              </a:spcAft>
            </a:pPr>
            <a:r>
              <a:rPr sz="2850" b="1" lang="en-US">
                <a:solidFill>
                  <a:srgbClr val="262626"/>
                </a:solidFill>
                <a:latin typeface="Manrope"/>
              </a:rPr>
              <a:t>AI drafts. The human agent decides.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6381750"/>
            <a:ext cx="11277600" cy="0"/>
          </a:xfrm>
          <a:prstGeom prst="line">
            <a:avLst/>
          </a:prstGeom>
          <a:ln w="9525">
            <a:solidFill>
              <a:srgbClr val="E6E3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6505575"/>
            <a:ext cx="1028700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176"/>
              </a:lnSpc>
              <a:spcBef>
                <a:spcPts val="0"/>
              </a:spcBef>
              <a:spcAft>
                <a:spcPts val="0"/>
              </a:spcAft>
            </a:pPr>
            <a:r>
              <a:rPr sz="1050" b="0" lang="en-US">
                <a:solidFill>
                  <a:srgbClr val="68645E"/>
                </a:solidFill>
                <a:latin typeface="Manrope"/>
              </a:rPr>
              <a:t>Proposed experience · Illustrative imagery / UI · Demo records · Sources and permissions to validate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15650" y="6505575"/>
            <a:ext cx="81915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176"/>
              </a:lnSpc>
              <a:spcBef>
                <a:spcPts val="0"/>
              </a:spcBef>
              <a:spcAft>
                <a:spcPts val="0"/>
              </a:spcAft>
            </a:pPr>
            <a:r>
              <a:rPr sz="1050" b="0" lang="en-US">
                <a:solidFill>
                  <a:srgbClr val="262626"/>
                </a:solidFill>
                <a:latin typeface="Manrope"/>
              </a:rPr>
              <a:t>04 / 09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38300"/>
            <a:ext cx="11277600" cy="4552950"/>
          </a:xfrm>
          <a:prstGeom prst="roundRect">
            <a:avLst>
              <a:gd name="adj" fmla="val 2092"/>
            </a:avLst>
          </a:prstGeom>
          <a:solidFill>
            <a:srgbClr val="EDEAE4"/>
          </a:solidFill>
          <a:ln w="9525">
            <a:solidFill>
              <a:srgbClr val="EDE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" y="1600200"/>
            <a:ext cx="11277600" cy="4552950"/>
          </a:xfrm>
          <a:prstGeom prst="roundRect">
            <a:avLst>
              <a:gd name="adj" fmla="val 2092"/>
            </a:avLst>
          </a:prstGeom>
          <a:solidFill>
            <a:srgbClr val="FFFFFF"/>
          </a:solidFill>
          <a:ln w="9525">
            <a:solidFill>
              <a:srgbClr val="E6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6750" y="1771650"/>
            <a:ext cx="10858500" cy="2952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lang="en-US">
                <a:solidFill>
                  <a:srgbClr val="262626"/>
                </a:solidFill>
                <a:latin typeface="Manrope"/>
              </a:rPr>
              <a:t>Genesys · Proposed copilot experience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57200" y="2200275"/>
            <a:ext cx="11277600" cy="0"/>
          </a:xfrm>
          <a:prstGeom prst="line">
            <a:avLst/>
          </a:prstGeom>
          <a:ln w="9525">
            <a:solidFill>
              <a:srgbClr val="E6E3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 descr="genesy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0" y="1768248"/>
            <a:ext cx="1257300" cy="244929"/>
          </a:xfrm>
          <a:prstGeom prst="rect">
            <a:avLst/>
          </a:prstGeom>
          <a:effectLst/>
        </p:spPr>
      </p:pic>
      <p:pic>
        <p:nvPicPr>
          <p:cNvPr id="14" name="Picture 13" descr="S04_storyboard.png"/>
          <p:cNvPicPr>
            <a:picLocks noChangeAspect="1"/>
          </p:cNvPicPr>
          <p:nvPr/>
        </p:nvPicPr>
        <p:blipFill>
          <a:blip r:embed="rId4"/>
          <a:srcRect l="26555" r="52931" t="24973" b="40701"/>
          <a:stretch>
            <a:fillRect/>
          </a:stretch>
        </p:blipFill>
        <p:spPr>
          <a:xfrm>
            <a:off x="695325" y="2390775"/>
            <a:ext cx="2333625" cy="2200275"/>
          </a:xfrm>
          <a:prstGeom prst="rect">
            <a:avLst/>
          </a:prstGeom>
          <a:effectLst/>
        </p:spPr>
      </p:pic>
      <p:sp>
        <p:nvSpPr>
          <p:cNvPr id="15" name="TextBox 14"/>
          <p:cNvSpPr txBox="1"/>
          <p:nvPr/>
        </p:nvSpPr>
        <p:spPr>
          <a:xfrm>
            <a:off x="695325" y="4838700"/>
            <a:ext cx="2333625" cy="2952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848"/>
              </a:lnSpc>
              <a:spcBef>
                <a:spcPts val="0"/>
              </a:spcBef>
              <a:spcAft>
                <a:spcPts val="0"/>
              </a:spcAft>
            </a:pPr>
            <a:r>
              <a:rPr sz="1650" b="1" lang="en-US">
                <a:solidFill>
                  <a:srgbClr val="262626"/>
                </a:solidFill>
                <a:latin typeface="Manrope"/>
              </a:rPr>
              <a:t>Incoming call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5325" y="5257800"/>
            <a:ext cx="2333625" cy="3524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764"/>
              </a:lnSpc>
              <a:spcBef>
                <a:spcPts val="0"/>
              </a:spcBef>
              <a:spcAft>
                <a:spcPts val="0"/>
              </a:spcAft>
            </a:pPr>
            <a:r>
              <a:rPr sz="1575" b="1" lang="en-US">
                <a:solidFill>
                  <a:srgbClr val="262626"/>
                </a:solidFill>
                <a:latin typeface="Manrope"/>
              </a:rPr>
              <a:t>+20 10 •••• 4821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5325" y="5762625"/>
            <a:ext cx="2333625" cy="2381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344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en-US">
                <a:solidFill>
                  <a:srgbClr val="68645E"/>
                </a:solidFill>
                <a:latin typeface="Manrope"/>
              </a:rPr>
              <a:t>Human Agent D · DEMO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238500" y="2371725"/>
            <a:ext cx="0" cy="3562350"/>
          </a:xfrm>
          <a:prstGeom prst="line">
            <a:avLst/>
          </a:prstGeom>
          <a:ln w="9525">
            <a:solidFill>
              <a:srgbClr val="E6E3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3467100" y="2390775"/>
            <a:ext cx="2581275" cy="3429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932"/>
              </a:lnSpc>
              <a:spcBef>
                <a:spcPts val="0"/>
              </a:spcBef>
              <a:spcAft>
                <a:spcPts val="0"/>
              </a:spcAft>
            </a:pPr>
            <a:r>
              <a:rPr sz="1725" b="1" lang="en-US">
                <a:solidFill>
                  <a:srgbClr val="262626"/>
                </a:solidFill>
                <a:latin typeface="Manrope"/>
              </a:rPr>
              <a:t>Customer context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67100" y="2895600"/>
            <a:ext cx="2581275" cy="3714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932"/>
              </a:lnSpc>
              <a:spcBef>
                <a:spcPts val="0"/>
              </a:spcBef>
              <a:spcAft>
                <a:spcPts val="0"/>
              </a:spcAft>
            </a:pPr>
            <a:r>
              <a:rPr sz="1725" b="1" lang="en-US">
                <a:solidFill>
                  <a:srgbClr val="262626"/>
                </a:solidFill>
                <a:latin typeface="Manrope"/>
              </a:rPr>
              <a:t>Ahmed M. (DEMO)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67100" y="3352800"/>
            <a:ext cx="2581275" cy="2952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lang="en-US">
                <a:solidFill>
                  <a:srgbClr val="965318"/>
                </a:solidFill>
                <a:latin typeface="Manrope"/>
              </a:rPr>
              <a:t>Icons Club · ELITE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67100" y="3857625"/>
            <a:ext cx="2581275" cy="3143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764"/>
              </a:lnSpc>
              <a:spcBef>
                <a:spcPts val="0"/>
              </a:spcBef>
              <a:spcAft>
                <a:spcPts val="0"/>
              </a:spcAft>
            </a:pPr>
            <a:r>
              <a:rPr sz="1575" b="1" lang="en-US">
                <a:solidFill>
                  <a:srgbClr val="262626"/>
                </a:solidFill>
                <a:latin typeface="Manrope"/>
              </a:rPr>
              <a:t>Prior human note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67100" y="4295775"/>
            <a:ext cx="2581275" cy="8858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848"/>
              </a:lnSpc>
              <a:spcBef>
                <a:spcPts val="0"/>
              </a:spcBef>
              <a:spcAft>
                <a:spcPts val="0"/>
              </a:spcAft>
            </a:pPr>
            <a:r>
              <a:rPr sz="1650" b="0" lang="en-US">
                <a:solidFill>
                  <a:srgbClr val="262626"/>
                </a:solidFill>
                <a:latin typeface="Manrope"/>
              </a:rPr>
              <a:t>Branch review</a:t>
            </a:r>
          </a:p>
          <a:p>
            <a:pPr algn="l" rtl="0">
              <a:lnSpc>
                <a:spcPts val="1848"/>
              </a:lnSpc>
              <a:spcBef>
                <a:spcPts val="0"/>
              </a:spcBef>
              <a:spcAft>
                <a:spcPts val="0"/>
              </a:spcAft>
            </a:pPr>
            <a:r>
              <a:rPr sz="1650" b="0" lang="en-US">
                <a:solidFill>
                  <a:srgbClr val="262626"/>
                </a:solidFill>
                <a:latin typeface="Manrope"/>
              </a:rPr>
              <a:t>requested. Completion</a:t>
            </a:r>
          </a:p>
          <a:p>
            <a:pPr algn="l" rtl="0">
              <a:lnSpc>
                <a:spcPts val="1848"/>
              </a:lnSpc>
              <a:spcBef>
                <a:spcPts val="0"/>
              </a:spcBef>
              <a:spcAft>
                <a:spcPts val="0"/>
              </a:spcAft>
            </a:pPr>
            <a:r>
              <a:rPr sz="1650" b="0" lang="en-US">
                <a:solidFill>
                  <a:srgbClr val="262626"/>
                </a:solidFill>
                <a:latin typeface="Manrope"/>
              </a:rPr>
              <a:t>not confirmed.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67100" y="5457825"/>
            <a:ext cx="2581275" cy="4857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344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en-US">
                <a:solidFill>
                  <a:srgbClr val="68645E"/>
                </a:solidFill>
                <a:latin typeface="Manrope"/>
              </a:rPr>
              <a:t>Source: DEMO-1008</a:t>
            </a:r>
          </a:p>
          <a:p>
            <a:pPr algn="l" rtl="0">
              <a:lnSpc>
                <a:spcPts val="1344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en-US">
                <a:solidFill>
                  <a:srgbClr val="68645E"/>
                </a:solidFill>
                <a:latin typeface="Manrope"/>
              </a:rPr>
              <a:t>Agent A · Original note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191250" y="2371725"/>
            <a:ext cx="0" cy="3562350"/>
          </a:xfrm>
          <a:prstGeom prst="line">
            <a:avLst/>
          </a:prstGeom>
          <a:ln w="9525">
            <a:solidFill>
              <a:srgbClr val="E6E3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429375" y="2390775"/>
            <a:ext cx="5048250" cy="3429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875" b="1" lang="en-US">
                <a:solidFill>
                  <a:srgbClr val="262626"/>
                </a:solidFill>
                <a:latin typeface="Manrope"/>
              </a:rPr>
              <a:t>AI call summary · DRAFT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29375" y="2952750"/>
            <a:ext cx="5048250" cy="1981200"/>
          </a:xfrm>
          <a:prstGeom prst="roundRect">
            <a:avLst>
              <a:gd name="adj" fmla="val 3365"/>
            </a:avLst>
          </a:prstGeom>
          <a:solidFill>
            <a:srgbClr val="FFF2DD"/>
          </a:solidFill>
          <a:ln w="9525">
            <a:solidFill>
              <a:srgbClr val="FFF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38925" y="3162300"/>
            <a:ext cx="4629150" cy="14573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2016"/>
              </a:lnSpc>
              <a:spcBef>
                <a:spcPts val="0"/>
              </a:spcBef>
              <a:spcAft>
                <a:spcPts val="0"/>
              </a:spcAft>
            </a:pPr>
            <a:r>
              <a:rPr sz="1800" b="1" lang="en-US">
                <a:solidFill>
                  <a:srgbClr val="262626"/>
                </a:solidFill>
                <a:latin typeface="Manrope"/>
              </a:rPr>
              <a:t>Customer requested an exchange update.</a:t>
            </a:r>
          </a:p>
          <a:p>
            <a:pPr algn="l" rtl="0">
              <a:lnSpc>
                <a:spcPts val="2016"/>
              </a:lnSpc>
              <a:spcBef>
                <a:spcPts val="0"/>
              </a:spcBef>
              <a:spcAft>
                <a:spcPts val="0"/>
              </a:spcAft>
            </a:pPr>
            <a:r>
              <a:rPr sz="1800" b="1" lang="en-US">
                <a:solidFill>
                  <a:srgbClr val="262626"/>
                </a:solidFill>
                <a:latin typeface="Manrope"/>
              </a:rPr>
              <a:t>Branch review is recorded as requested.</a:t>
            </a:r>
          </a:p>
          <a:p>
            <a:pPr algn="l" rtl="0">
              <a:lnSpc>
                <a:spcPts val="2016"/>
              </a:lnSpc>
              <a:spcBef>
                <a:spcPts val="0"/>
              </a:spcBef>
              <a:spcAft>
                <a:spcPts val="0"/>
              </a:spcAft>
            </a:pPr>
            <a:r>
              <a:rPr sz="1800" b="1" lang="en-US">
                <a:solidFill>
                  <a:srgbClr val="262626"/>
                </a:solidFill>
                <a:latin typeface="Manrope"/>
              </a:rPr>
              <a:t>Completion remains unconfirmed.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29375" y="5191125"/>
            <a:ext cx="2171700" cy="400050"/>
          </a:xfrm>
          <a:prstGeom prst="roundRect">
            <a:avLst>
              <a:gd name="adj" fmla="val 11904"/>
            </a:avLst>
          </a:prstGeom>
          <a:solidFill>
            <a:srgbClr val="FFF2DD"/>
          </a:solidFill>
          <a:ln w="9525">
            <a:solidFill>
              <a:srgbClr val="FFF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icon-pe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53200" y="5295900"/>
            <a:ext cx="180975" cy="180975"/>
          </a:xfrm>
          <a:prstGeom prst="rect">
            <a:avLst/>
          </a:prstGeom>
          <a:effectLst/>
        </p:spPr>
      </p:pic>
      <p:sp>
        <p:nvSpPr>
          <p:cNvPr id="31" name="TextBox 30"/>
          <p:cNvSpPr txBox="1"/>
          <p:nvPr/>
        </p:nvSpPr>
        <p:spPr>
          <a:xfrm>
            <a:off x="6838950" y="5286375"/>
            <a:ext cx="1647825" cy="2667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 rtl="0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1" lang="en-US">
                <a:solidFill>
                  <a:srgbClr val="262626"/>
                </a:solidFill>
                <a:latin typeface="Manrope"/>
              </a:rPr>
              <a:t>Human edit / review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820150" y="5191125"/>
            <a:ext cx="2657475" cy="400050"/>
          </a:xfrm>
          <a:prstGeom prst="roundRect">
            <a:avLst>
              <a:gd name="adj" fmla="val 11904"/>
            </a:avLst>
          </a:prstGeom>
          <a:solidFill>
            <a:srgbClr val="FFF2DD"/>
          </a:solidFill>
          <a:ln w="9525">
            <a:solidFill>
              <a:srgbClr val="FFF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con-che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43975" y="5295900"/>
            <a:ext cx="180975" cy="180975"/>
          </a:xfrm>
          <a:prstGeom prst="rect">
            <a:avLst/>
          </a:prstGeom>
          <a:effectLst/>
        </p:spPr>
      </p:pic>
      <p:sp>
        <p:nvSpPr>
          <p:cNvPr id="34" name="TextBox 33"/>
          <p:cNvSpPr txBox="1"/>
          <p:nvPr/>
        </p:nvSpPr>
        <p:spPr>
          <a:xfrm>
            <a:off x="9229725" y="5286375"/>
            <a:ext cx="2133600" cy="2667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 rtl="0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1" lang="en-US">
                <a:solidFill>
                  <a:srgbClr val="262626"/>
                </a:solidFill>
                <a:latin typeface="Manrope"/>
              </a:rPr>
              <a:t>Approve before saving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29375" y="5743575"/>
            <a:ext cx="5048250" cy="2667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344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en-US">
                <a:solidFill>
                  <a:srgbClr val="68645E"/>
                </a:solidFill>
                <a:latin typeface="Manrope"/>
              </a:rPr>
              <a:t>Demo draft · No automatic commitment or decision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10325" y="5162550"/>
            <a:ext cx="5086350" cy="476250"/>
          </a:xfrm>
          <a:prstGeom prst="roundRect">
            <a:avLst>
              <a:gd name="adj" fmla="val 10000"/>
            </a:avLst>
          </a:prstGeom>
          <a:noFill/>
          <a:ln w="19050">
            <a:solidFill>
              <a:srgbClr val="FFBA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/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ra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58762"/>
            <a:ext cx="409575" cy="273050"/>
          </a:xfrm>
          <a:prstGeom prst="rect">
            <a:avLst/>
          </a:prstGeom>
          <a:effectLst/>
        </p:spPr>
      </p:pic>
      <p:sp>
        <p:nvSpPr>
          <p:cNvPr id="3" name="TextBox 2"/>
          <p:cNvSpPr txBox="1"/>
          <p:nvPr/>
        </p:nvSpPr>
        <p:spPr>
          <a:xfrm>
            <a:off x="990600" y="276225"/>
            <a:ext cx="3571875" cy="2952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1" lang="en-US">
                <a:solidFill>
                  <a:srgbClr val="262626"/>
                </a:solidFill>
                <a:latin typeface="Manrope"/>
              </a:rPr>
              <a:t>GRINDCTRL × Concrete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15075" y="276225"/>
            <a:ext cx="5419725" cy="2857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344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en-US">
                <a:solidFill>
                  <a:srgbClr val="68645E"/>
                </a:solidFill>
                <a:latin typeface="Manrope"/>
              </a:rPr>
              <a:t>Part 04 · Loyalty and clienteling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95350"/>
            <a:ext cx="11277600" cy="4953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3192"/>
              </a:lnSpc>
              <a:spcBef>
                <a:spcPts val="0"/>
              </a:spcBef>
              <a:spcAft>
                <a:spcPts val="0"/>
              </a:spcAft>
            </a:pPr>
            <a:r>
              <a:rPr sz="2850" b="1" lang="en-US">
                <a:solidFill>
                  <a:srgbClr val="262626"/>
                </a:solidFill>
                <a:latin typeface="Manrope"/>
              </a:rPr>
              <a:t>Personalization starts with permission.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6381750"/>
            <a:ext cx="11277600" cy="0"/>
          </a:xfrm>
          <a:prstGeom prst="line">
            <a:avLst/>
          </a:prstGeom>
          <a:ln w="9525">
            <a:solidFill>
              <a:srgbClr val="E6E3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6505575"/>
            <a:ext cx="1028700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176"/>
              </a:lnSpc>
              <a:spcBef>
                <a:spcPts val="0"/>
              </a:spcBef>
              <a:spcAft>
                <a:spcPts val="0"/>
              </a:spcAft>
            </a:pPr>
            <a:r>
              <a:rPr sz="1050" b="0" lang="en-US">
                <a:solidFill>
                  <a:srgbClr val="68645E"/>
                </a:solidFill>
                <a:latin typeface="Manrope"/>
              </a:rPr>
              <a:t>Proposed experience · Illustrative imagery / UI · Demo records · Sources and permissions to validate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15650" y="6505575"/>
            <a:ext cx="81915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176"/>
              </a:lnSpc>
              <a:spcBef>
                <a:spcPts val="0"/>
              </a:spcBef>
              <a:spcAft>
                <a:spcPts val="0"/>
              </a:spcAft>
            </a:pPr>
            <a:r>
              <a:rPr sz="1050" b="0" lang="en-US">
                <a:solidFill>
                  <a:srgbClr val="262626"/>
                </a:solidFill>
                <a:latin typeface="Manrope"/>
              </a:rPr>
              <a:t>05 / 09</a:t>
            </a:r>
          </a:p>
        </p:txBody>
      </p:sp>
      <p:pic>
        <p:nvPicPr>
          <p:cNvPr id="9" name="Picture 8" descr="S05_storyboard.png"/>
          <p:cNvPicPr>
            <a:picLocks noChangeAspect="1"/>
          </p:cNvPicPr>
          <p:nvPr/>
        </p:nvPicPr>
        <p:blipFill>
          <a:blip r:embed="rId3"/>
          <a:srcRect l="29007" r="30203" t="26036" b="12327"/>
          <a:stretch>
            <a:fillRect/>
          </a:stretch>
        </p:blipFill>
        <p:spPr>
          <a:xfrm>
            <a:off x="457200" y="1600200"/>
            <a:ext cx="4152900" cy="3533775"/>
          </a:xfrm>
          <a:prstGeom prst="rect">
            <a:avLst/>
          </a:prstGeom>
          <a:effectLst/>
        </p:spPr>
      </p:pic>
      <p:sp>
        <p:nvSpPr>
          <p:cNvPr id="10" name="Rectangle 9"/>
          <p:cNvSpPr/>
          <p:nvPr/>
        </p:nvSpPr>
        <p:spPr>
          <a:xfrm>
            <a:off x="457200" y="5153025"/>
            <a:ext cx="4152900" cy="1000125"/>
          </a:xfrm>
          <a:prstGeom prst="rect">
            <a:avLst/>
          </a:prstGeom>
          <a:solidFill>
            <a:srgbClr val="FFFFFF"/>
          </a:solidFill>
          <a:ln w="9525">
            <a:solidFill>
              <a:srgbClr val="E6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6750" y="5248275"/>
            <a:ext cx="3733800" cy="5715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2016"/>
              </a:lnSpc>
              <a:spcBef>
                <a:spcPts val="0"/>
              </a:spcBef>
              <a:spcAft>
                <a:spcPts val="0"/>
              </a:spcAft>
            </a:pPr>
            <a:r>
              <a:rPr sz="1800" b="1" lang="en-US">
                <a:solidFill>
                  <a:srgbClr val="262626"/>
                </a:solidFill>
                <a:latin typeface="Manrope"/>
              </a:rPr>
              <a:t>The associate keeps</a:t>
            </a:r>
          </a:p>
          <a:p>
            <a:pPr algn="l" rtl="0">
              <a:lnSpc>
                <a:spcPts val="2016"/>
              </a:lnSpc>
              <a:spcBef>
                <a:spcPts val="0"/>
              </a:spcBef>
              <a:spcAft>
                <a:spcPts val="0"/>
              </a:spcAft>
            </a:pPr>
            <a:r>
              <a:rPr sz="1800" b="1" lang="en-US">
                <a:solidFill>
                  <a:srgbClr val="262626"/>
                </a:solidFill>
                <a:latin typeface="Manrope"/>
              </a:rPr>
              <a:t>the customer conversation.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6750" y="5876925"/>
            <a:ext cx="373380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lang="en-US">
                <a:solidFill>
                  <a:srgbClr val="68645E"/>
                </a:solidFill>
                <a:latin typeface="Manrope"/>
              </a:rPr>
              <a:t>Illustrative store / people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29175" y="1638300"/>
            <a:ext cx="6905625" cy="4552950"/>
          </a:xfrm>
          <a:prstGeom prst="roundRect">
            <a:avLst>
              <a:gd name="adj" fmla="val 2092"/>
            </a:avLst>
          </a:prstGeom>
          <a:solidFill>
            <a:srgbClr val="EDEAE4"/>
          </a:solidFill>
          <a:ln w="9525">
            <a:solidFill>
              <a:srgbClr val="EDE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829175" y="1600200"/>
            <a:ext cx="6905625" cy="4552950"/>
          </a:xfrm>
          <a:prstGeom prst="roundRect">
            <a:avLst>
              <a:gd name="adj" fmla="val 2092"/>
            </a:avLst>
          </a:prstGeom>
          <a:solidFill>
            <a:srgbClr val="FFFFFF"/>
          </a:solidFill>
          <a:ln w="9525">
            <a:solidFill>
              <a:srgbClr val="E6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38725" y="1771650"/>
            <a:ext cx="6486525" cy="2952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lang="en-US">
                <a:solidFill>
                  <a:srgbClr val="262626"/>
                </a:solidFill>
                <a:latin typeface="Manrope"/>
              </a:rPr>
              <a:t>Icons Club · Proposed associate view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829175" y="2200275"/>
            <a:ext cx="6905625" cy="0"/>
          </a:xfrm>
          <a:prstGeom prst="line">
            <a:avLst/>
          </a:prstGeom>
          <a:ln w="9525">
            <a:solidFill>
              <a:srgbClr val="E6E3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Picture 16" descr="icon-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7775" y="2428875"/>
            <a:ext cx="247650" cy="247650"/>
          </a:xfrm>
          <a:prstGeom prst="rect">
            <a:avLst/>
          </a:prstGeom>
          <a:effectLst/>
        </p:spPr>
      </p:pic>
      <p:sp>
        <p:nvSpPr>
          <p:cNvPr id="18" name="TextBox 17"/>
          <p:cNvSpPr txBox="1"/>
          <p:nvPr/>
        </p:nvSpPr>
        <p:spPr>
          <a:xfrm>
            <a:off x="5486400" y="2409825"/>
            <a:ext cx="6010275" cy="3143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848"/>
              </a:lnSpc>
              <a:spcBef>
                <a:spcPts val="0"/>
              </a:spcBef>
              <a:spcAft>
                <a:spcPts val="0"/>
              </a:spcAft>
            </a:pPr>
            <a:r>
              <a:rPr sz="1650" b="1" lang="en-US">
                <a:solidFill>
                  <a:srgbClr val="49654E"/>
                </a:solidFill>
                <a:latin typeface="Manrope"/>
              </a:rPr>
              <a:t>Consent recorded (DEMO)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67300" y="2905125"/>
            <a:ext cx="6191250" cy="3524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875" b="1" lang="en-US">
                <a:solidFill>
                  <a:srgbClr val="262626"/>
                </a:solidFill>
                <a:latin typeface="Manrope"/>
              </a:rPr>
              <a:t>Ahmed M. · Neutral tailoring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67300" y="3352800"/>
            <a:ext cx="6191250" cy="2952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0" lang="en-US">
                <a:solidFill>
                  <a:srgbClr val="68645E"/>
                </a:solidFill>
                <a:latin typeface="Manrope"/>
              </a:rPr>
              <a:t>Preference / purchase sources require permission.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67300" y="3905250"/>
            <a:ext cx="2038350" cy="3333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 rtl="0">
              <a:lnSpc>
                <a:spcPts val="1764"/>
              </a:lnSpc>
              <a:spcBef>
                <a:spcPts val="0"/>
              </a:spcBef>
              <a:spcAft>
                <a:spcPts val="0"/>
              </a:spcAft>
            </a:pPr>
            <a:r>
              <a:rPr sz="1575" b="0" lang="en-US">
                <a:solidFill>
                  <a:srgbClr val="68645E"/>
                </a:solidFill>
                <a:latin typeface="Manrope"/>
              </a:rPr>
              <a:t>LIFESTYLE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9475" y="3905250"/>
            <a:ext cx="2038350" cy="3333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 rtl="0">
              <a:lnSpc>
                <a:spcPts val="1764"/>
              </a:lnSpc>
              <a:spcBef>
                <a:spcPts val="0"/>
              </a:spcBef>
              <a:spcAft>
                <a:spcPts val="0"/>
              </a:spcAft>
            </a:pPr>
            <a:r>
              <a:rPr sz="1575" b="0" lang="en-US">
                <a:solidFill>
                  <a:srgbClr val="68645E"/>
                </a:solidFill>
                <a:latin typeface="Manrope"/>
              </a:rPr>
              <a:t>PRESTIGE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91650" y="3905250"/>
            <a:ext cx="2038350" cy="3333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 rtl="0">
              <a:lnSpc>
                <a:spcPts val="1764"/>
              </a:lnSpc>
              <a:spcBef>
                <a:spcPts val="0"/>
              </a:spcBef>
              <a:spcAft>
                <a:spcPts val="0"/>
              </a:spcAft>
            </a:pPr>
            <a:r>
              <a:rPr sz="1575" b="1" lang="en-US">
                <a:solidFill>
                  <a:srgbClr val="965318"/>
                </a:solidFill>
                <a:latin typeface="Manrope"/>
              </a:rPr>
              <a:t>ELITE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67300" y="3733800"/>
            <a:ext cx="6191250" cy="2000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176"/>
              </a:lnSpc>
              <a:spcBef>
                <a:spcPts val="0"/>
              </a:spcBef>
              <a:spcAft>
                <a:spcPts val="0"/>
              </a:spcAft>
            </a:pPr>
            <a:r>
              <a:rPr sz="1050" b="0" lang="en-US">
                <a:solidFill>
                  <a:srgbClr val="68645E"/>
                </a:solidFill>
                <a:latin typeface="Manrope"/>
              </a:rPr>
              <a:t>Trusted membership source required · Illustrative tier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67300" y="4562475"/>
            <a:ext cx="1209675" cy="1381125"/>
          </a:xfrm>
          <a:prstGeom prst="roundRect">
            <a:avLst>
              <a:gd name="adj" fmla="val 3937"/>
            </a:avLst>
          </a:prstGeom>
          <a:solidFill>
            <a:srgbClr val="F4F2EE"/>
          </a:solidFill>
          <a:ln w="9525">
            <a:solidFill>
              <a:srgbClr val="F4F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S02_storyboard.png"/>
          <p:cNvPicPr>
            <a:picLocks noChangeAspect="1"/>
          </p:cNvPicPr>
          <p:nvPr/>
        </p:nvPicPr>
        <p:blipFill>
          <a:blip r:embed="rId5"/>
          <a:srcRect l="58074" r="34510" t="38257" b="43464"/>
          <a:stretch>
            <a:fillRect/>
          </a:stretch>
        </p:blipFill>
        <p:spPr>
          <a:xfrm>
            <a:off x="5397463" y="4619625"/>
            <a:ext cx="549349" cy="762000"/>
          </a:xfrm>
          <a:prstGeom prst="rect">
            <a:avLst/>
          </a:prstGeom>
          <a:effectLst/>
        </p:spPr>
      </p:pic>
      <p:sp>
        <p:nvSpPr>
          <p:cNvPr id="27" name="TextBox 26"/>
          <p:cNvSpPr txBox="1"/>
          <p:nvPr/>
        </p:nvSpPr>
        <p:spPr>
          <a:xfrm>
            <a:off x="5181600" y="5553075"/>
            <a:ext cx="981075" cy="2857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764"/>
              </a:lnSpc>
              <a:spcBef>
                <a:spcPts val="0"/>
              </a:spcBef>
              <a:spcAft>
                <a:spcPts val="0"/>
              </a:spcAft>
            </a:pPr>
            <a:r>
              <a:rPr sz="1575" b="1" lang="en-US">
                <a:solidFill>
                  <a:srgbClr val="262626"/>
                </a:solidFill>
                <a:latin typeface="Manrope"/>
              </a:rPr>
              <a:t>Blazer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77000" y="4562475"/>
            <a:ext cx="1209675" cy="1381125"/>
          </a:xfrm>
          <a:prstGeom prst="roundRect">
            <a:avLst>
              <a:gd name="adj" fmla="val 3937"/>
            </a:avLst>
          </a:prstGeom>
          <a:solidFill>
            <a:srgbClr val="F4F2EE"/>
          </a:solidFill>
          <a:ln w="9525">
            <a:solidFill>
              <a:srgbClr val="F4F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S02_storyboard.png"/>
          <p:cNvPicPr>
            <a:picLocks noChangeAspect="1"/>
          </p:cNvPicPr>
          <p:nvPr/>
        </p:nvPicPr>
        <p:blipFill>
          <a:blip r:embed="rId5"/>
          <a:srcRect l="66746" r="25239" t="37726" b="43677"/>
          <a:stretch>
            <a:fillRect/>
          </a:stretch>
        </p:blipFill>
        <p:spPr>
          <a:xfrm>
            <a:off x="6790100" y="4619625"/>
            <a:ext cx="583474" cy="762000"/>
          </a:xfrm>
          <a:prstGeom prst="rect">
            <a:avLst/>
          </a:prstGeom>
          <a:effectLst/>
        </p:spPr>
      </p:pic>
      <p:sp>
        <p:nvSpPr>
          <p:cNvPr id="30" name="TextBox 29"/>
          <p:cNvSpPr txBox="1"/>
          <p:nvPr/>
        </p:nvSpPr>
        <p:spPr>
          <a:xfrm>
            <a:off x="6591300" y="5553075"/>
            <a:ext cx="981075" cy="2857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764"/>
              </a:lnSpc>
              <a:spcBef>
                <a:spcPts val="0"/>
              </a:spcBef>
              <a:spcAft>
                <a:spcPts val="0"/>
              </a:spcAft>
            </a:pPr>
            <a:r>
              <a:rPr sz="1575" b="1" lang="en-US">
                <a:solidFill>
                  <a:srgbClr val="262626"/>
                </a:solidFill>
                <a:latin typeface="Manrope"/>
              </a:rPr>
              <a:t>Shirt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15275" y="4543425"/>
            <a:ext cx="3524250" cy="8477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932"/>
              </a:lnSpc>
              <a:spcBef>
                <a:spcPts val="0"/>
              </a:spcBef>
              <a:spcAft>
                <a:spcPts val="0"/>
              </a:spcAft>
            </a:pPr>
            <a:r>
              <a:rPr sz="1725" b="1" lang="en-US">
                <a:solidFill>
                  <a:srgbClr val="965318"/>
                </a:solidFill>
                <a:latin typeface="Manrope"/>
              </a:rPr>
              <a:t>Benefits must be</a:t>
            </a:r>
          </a:p>
          <a:p>
            <a:pPr algn="l" rtl="0">
              <a:lnSpc>
                <a:spcPts val="1932"/>
              </a:lnSpc>
              <a:spcBef>
                <a:spcPts val="0"/>
              </a:spcBef>
              <a:spcAft>
                <a:spcPts val="0"/>
              </a:spcAft>
            </a:pPr>
            <a:r>
              <a:rPr sz="1725" b="1" lang="en-US">
                <a:solidFill>
                  <a:srgbClr val="965318"/>
                </a:solidFill>
                <a:latin typeface="Manrope"/>
              </a:rPr>
              <a:t>validated against</a:t>
            </a:r>
          </a:p>
          <a:p>
            <a:pPr algn="l" rtl="0">
              <a:lnSpc>
                <a:spcPts val="1932"/>
              </a:lnSpc>
              <a:spcBef>
                <a:spcPts val="0"/>
              </a:spcBef>
              <a:spcAft>
                <a:spcPts val="0"/>
              </a:spcAft>
            </a:pPr>
            <a:r>
              <a:rPr sz="1725" b="1" lang="en-US">
                <a:solidFill>
                  <a:srgbClr val="965318"/>
                </a:solidFill>
                <a:latin typeface="Manrope"/>
              </a:rPr>
              <a:t>program rules.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15275" y="5486400"/>
            <a:ext cx="3524250" cy="5238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428"/>
              </a:lnSpc>
              <a:spcBef>
                <a:spcPts val="0"/>
              </a:spcBef>
              <a:spcAft>
                <a:spcPts val="0"/>
              </a:spcAft>
            </a:pPr>
            <a:r>
              <a:rPr sz="1275" b="0" lang="en-US">
                <a:solidFill>
                  <a:srgbClr val="68645E"/>
                </a:solidFill>
                <a:latin typeface="Manrope"/>
              </a:rPr>
              <a:t>No entitlement inferred.</a:t>
            </a:r>
          </a:p>
          <a:p>
            <a:pPr algn="l" rtl="0">
              <a:lnSpc>
                <a:spcPts val="1428"/>
              </a:lnSpc>
              <a:spcBef>
                <a:spcPts val="0"/>
              </a:spcBef>
              <a:spcAft>
                <a:spcPts val="0"/>
              </a:spcAft>
            </a:pPr>
            <a:r>
              <a:rPr sz="1275" b="0" lang="en-US">
                <a:solidFill>
                  <a:srgbClr val="68645E"/>
                </a:solidFill>
                <a:latin typeface="Manrope"/>
              </a:rPr>
              <a:t>Catalog and role checks apply.</a:t>
            </a:r>
          </a:p>
        </p:txBody>
      </p:sp>
    </p:spTree>
  </p:cSld>
  <p:clrMapOvr>
    <a:masterClrMapping/>
  </p:clrMapOvr>
  <p:transition spd="med" advClick="1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/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ra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58762"/>
            <a:ext cx="409575" cy="273050"/>
          </a:xfrm>
          <a:prstGeom prst="rect">
            <a:avLst/>
          </a:prstGeom>
          <a:effectLst/>
        </p:spPr>
      </p:pic>
      <p:sp>
        <p:nvSpPr>
          <p:cNvPr id="3" name="TextBox 2"/>
          <p:cNvSpPr txBox="1"/>
          <p:nvPr/>
        </p:nvSpPr>
        <p:spPr>
          <a:xfrm>
            <a:off x="990600" y="276225"/>
            <a:ext cx="3571875" cy="2952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1" lang="en-US">
                <a:solidFill>
                  <a:srgbClr val="262626"/>
                </a:solidFill>
                <a:latin typeface="Manrope"/>
              </a:rPr>
              <a:t>GRINDCTRL × Concrete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15075" y="276225"/>
            <a:ext cx="5419725" cy="2857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344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en-US">
                <a:solidFill>
                  <a:srgbClr val="68645E"/>
                </a:solidFill>
                <a:latin typeface="Manrope"/>
              </a:rPr>
              <a:t>Part 04 · Retail operations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95350"/>
            <a:ext cx="11277600" cy="4953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3192"/>
              </a:lnSpc>
              <a:spcBef>
                <a:spcPts val="0"/>
              </a:spcBef>
              <a:spcAft>
                <a:spcPts val="0"/>
              </a:spcAft>
            </a:pPr>
            <a:r>
              <a:rPr sz="2850" b="1" lang="en-US">
                <a:solidFill>
                  <a:srgbClr val="262626"/>
                </a:solidFill>
                <a:latin typeface="Manrope"/>
              </a:rPr>
              <a:t>A stock signal becomes a reviewable proposal.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6381750"/>
            <a:ext cx="11277600" cy="0"/>
          </a:xfrm>
          <a:prstGeom prst="line">
            <a:avLst/>
          </a:prstGeom>
          <a:ln w="9525">
            <a:solidFill>
              <a:srgbClr val="E6E3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6505575"/>
            <a:ext cx="1028700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176"/>
              </a:lnSpc>
              <a:spcBef>
                <a:spcPts val="0"/>
              </a:spcBef>
              <a:spcAft>
                <a:spcPts val="0"/>
              </a:spcAft>
            </a:pPr>
            <a:r>
              <a:rPr sz="1050" b="0" lang="en-US">
                <a:solidFill>
                  <a:srgbClr val="68645E"/>
                </a:solidFill>
                <a:latin typeface="Manrope"/>
              </a:rPr>
              <a:t>Proposed experience · Illustrative imagery / UI · Demo records · Sources and permissions to validate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15650" y="6505575"/>
            <a:ext cx="81915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176"/>
              </a:lnSpc>
              <a:spcBef>
                <a:spcPts val="0"/>
              </a:spcBef>
              <a:spcAft>
                <a:spcPts val="0"/>
              </a:spcAft>
            </a:pPr>
            <a:r>
              <a:rPr sz="1050" b="0" lang="en-US">
                <a:solidFill>
                  <a:srgbClr val="262626"/>
                </a:solidFill>
                <a:latin typeface="Manrope"/>
              </a:rPr>
              <a:t>06 / 09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38300"/>
            <a:ext cx="11277600" cy="4552950"/>
          </a:xfrm>
          <a:prstGeom prst="roundRect">
            <a:avLst>
              <a:gd name="adj" fmla="val 2092"/>
            </a:avLst>
          </a:prstGeom>
          <a:solidFill>
            <a:srgbClr val="EDEAE4"/>
          </a:solidFill>
          <a:ln w="9525">
            <a:solidFill>
              <a:srgbClr val="EDE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" y="1600200"/>
            <a:ext cx="11277600" cy="4552950"/>
          </a:xfrm>
          <a:prstGeom prst="roundRect">
            <a:avLst>
              <a:gd name="adj" fmla="val 2092"/>
            </a:avLst>
          </a:prstGeom>
          <a:solidFill>
            <a:srgbClr val="FFFFFF"/>
          </a:solidFill>
          <a:ln w="9525">
            <a:solidFill>
              <a:srgbClr val="E6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6750" y="1771650"/>
            <a:ext cx="10858500" cy="2952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lang="en-US">
                <a:solidFill>
                  <a:srgbClr val="262626"/>
                </a:solidFill>
                <a:latin typeface="Manrope"/>
              </a:rPr>
              <a:t>Retail operations · Synthetic SKU / branch scenario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57200" y="2200275"/>
            <a:ext cx="11277600" cy="0"/>
          </a:xfrm>
          <a:prstGeom prst="line">
            <a:avLst/>
          </a:prstGeom>
          <a:ln w="9525">
            <a:solidFill>
              <a:srgbClr val="E6E3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33425" y="2543175"/>
            <a:ext cx="1619250" cy="2314575"/>
          </a:xfrm>
          <a:prstGeom prst="roundRect">
            <a:avLst>
              <a:gd name="adj" fmla="val 2941"/>
            </a:avLst>
          </a:prstGeom>
          <a:solidFill>
            <a:srgbClr val="F4F2EE"/>
          </a:solidFill>
          <a:ln w="9525">
            <a:solidFill>
              <a:srgbClr val="F4F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S02_storyboard.png"/>
          <p:cNvPicPr>
            <a:picLocks noChangeAspect="1"/>
          </p:cNvPicPr>
          <p:nvPr/>
        </p:nvPicPr>
        <p:blipFill>
          <a:blip r:embed="rId3"/>
          <a:srcRect l="58074" r="34510" t="38257" b="43464"/>
          <a:stretch>
            <a:fillRect/>
          </a:stretch>
        </p:blipFill>
        <p:spPr>
          <a:xfrm>
            <a:off x="931899" y="2600325"/>
            <a:ext cx="1222301" cy="1695450"/>
          </a:xfrm>
          <a:prstGeom prst="rect">
            <a:avLst/>
          </a:prstGeom>
          <a:effectLst/>
        </p:spPr>
      </p:pic>
      <p:sp>
        <p:nvSpPr>
          <p:cNvPr id="15" name="TextBox 14"/>
          <p:cNvSpPr txBox="1"/>
          <p:nvPr/>
        </p:nvSpPr>
        <p:spPr>
          <a:xfrm>
            <a:off x="847725" y="4467225"/>
            <a:ext cx="1390650" cy="2857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764"/>
              </a:lnSpc>
              <a:spcBef>
                <a:spcPts val="0"/>
              </a:spcBef>
              <a:spcAft>
                <a:spcPts val="0"/>
              </a:spcAft>
            </a:pPr>
            <a:r>
              <a:rPr sz="1575" b="1" lang="en-US">
                <a:solidFill>
                  <a:srgbClr val="262626"/>
                </a:solidFill>
                <a:latin typeface="Manrope"/>
              </a:rPr>
              <a:t>Blazer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3900" y="5210175"/>
            <a:ext cx="1638300" cy="2952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428"/>
              </a:lnSpc>
              <a:spcBef>
                <a:spcPts val="0"/>
              </a:spcBef>
              <a:spcAft>
                <a:spcPts val="0"/>
              </a:spcAft>
            </a:pPr>
            <a:r>
              <a:rPr sz="1275" b="1" lang="en-US">
                <a:solidFill>
                  <a:srgbClr val="262626"/>
                </a:solidFill>
                <a:latin typeface="Manrope"/>
              </a:rPr>
              <a:t>DEMO-BLAZER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900" y="5591175"/>
            <a:ext cx="1638300" cy="3429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875" b="1" lang="en-US">
                <a:solidFill>
                  <a:srgbClr val="262626"/>
                </a:solidFill>
                <a:latin typeface="Manrope"/>
              </a:rPr>
              <a:t>Size M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638425" y="2409825"/>
            <a:ext cx="0" cy="3533775"/>
          </a:xfrm>
          <a:prstGeom prst="line">
            <a:avLst/>
          </a:prstGeom>
          <a:ln w="9525">
            <a:solidFill>
              <a:srgbClr val="E6E3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2943225" y="2457450"/>
            <a:ext cx="3867150" cy="3333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875" b="1" lang="en-US">
                <a:solidFill>
                  <a:srgbClr val="262626"/>
                </a:solidFill>
                <a:latin typeface="Manrope"/>
              </a:rPr>
              <a:t>Branch A · Demo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943225" y="3095625"/>
            <a:ext cx="3876675" cy="790575"/>
          </a:xfrm>
          <a:prstGeom prst="roundRect">
            <a:avLst>
              <a:gd name="adj" fmla="val 8433"/>
            </a:avLst>
          </a:prstGeom>
          <a:solidFill>
            <a:srgbClr val="F4F2EE"/>
          </a:solidFill>
          <a:ln w="9525">
            <a:solidFill>
              <a:srgbClr val="E6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143250" y="3257550"/>
            <a:ext cx="3476625" cy="5810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932"/>
              </a:lnSpc>
              <a:spcBef>
                <a:spcPts val="0"/>
              </a:spcBef>
              <a:spcAft>
                <a:spcPts val="0"/>
              </a:spcAft>
            </a:pPr>
            <a:r>
              <a:rPr sz="1725" b="1" lang="en-US">
                <a:solidFill>
                  <a:srgbClr val="262626"/>
                </a:solidFill>
                <a:latin typeface="Manrope"/>
              </a:rPr>
              <a:t>Size requested</a:t>
            </a:r>
          </a:p>
          <a:p>
            <a:pPr algn="l" rtl="0">
              <a:lnSpc>
                <a:spcPts val="1932"/>
              </a:lnSpc>
              <a:spcBef>
                <a:spcPts val="0"/>
              </a:spcBef>
              <a:spcAft>
                <a:spcPts val="0"/>
              </a:spcAft>
            </a:pPr>
            <a:r>
              <a:rPr sz="1725" b="1" lang="en-US">
                <a:solidFill>
                  <a:srgbClr val="262626"/>
                </a:solidFill>
                <a:latin typeface="Manrope"/>
              </a:rPr>
              <a:t>Availability unresolved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05700" y="2457450"/>
            <a:ext cx="4000500" cy="3333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875" b="1" lang="en-US">
                <a:solidFill>
                  <a:srgbClr val="262626"/>
                </a:solidFill>
                <a:latin typeface="Manrope"/>
              </a:rPr>
              <a:t>Branch B · Demo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505700" y="3095625"/>
            <a:ext cx="4000500" cy="790575"/>
          </a:xfrm>
          <a:prstGeom prst="roundRect">
            <a:avLst>
              <a:gd name="adj" fmla="val 8433"/>
            </a:avLst>
          </a:prstGeom>
          <a:solidFill>
            <a:srgbClr val="F4F2EE"/>
          </a:solidFill>
          <a:ln w="9525">
            <a:solidFill>
              <a:srgbClr val="E6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05725" y="3257550"/>
            <a:ext cx="3590925" cy="5810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932"/>
              </a:lnSpc>
              <a:spcBef>
                <a:spcPts val="0"/>
              </a:spcBef>
              <a:spcAft>
                <a:spcPts val="0"/>
              </a:spcAft>
            </a:pPr>
            <a:r>
              <a:rPr sz="1725" b="1" lang="en-US">
                <a:solidFill>
                  <a:srgbClr val="262626"/>
                </a:solidFill>
                <a:latin typeface="Manrope"/>
              </a:rPr>
              <a:t>Candidate surplus</a:t>
            </a:r>
          </a:p>
          <a:p>
            <a:pPr algn="l" rtl="0">
              <a:lnSpc>
                <a:spcPts val="1932"/>
              </a:lnSpc>
              <a:spcBef>
                <a:spcPts val="0"/>
              </a:spcBef>
              <a:spcAft>
                <a:spcPts val="0"/>
              </a:spcAft>
            </a:pPr>
            <a:r>
              <a:rPr sz="1725" b="1" lang="en-US">
                <a:solidFill>
                  <a:srgbClr val="262626"/>
                </a:solidFill>
                <a:latin typeface="Manrope"/>
              </a:rPr>
              <a:t>Source record to confirm</a:t>
            </a:r>
          </a:p>
        </p:txBody>
      </p:sp>
      <p:cxnSp>
        <p:nvCxnSpPr>
          <p:cNvPr id="25" name="Connector 24"/>
          <p:cNvCxnSpPr/>
          <p:nvPr/>
        </p:nvCxnSpPr>
        <p:spPr>
          <a:xfrm flipH="1">
            <a:off x="6981825" y="3476625"/>
            <a:ext cx="361950" cy="0"/>
          </a:xfrm>
          <a:prstGeom prst="line">
            <a:avLst/>
          </a:prstGeom>
          <a:ln w="19050">
            <a:solidFill>
              <a:srgbClr val="965318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Picture 25" descr="icon-lin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62275" y="4267200"/>
            <a:ext cx="238125" cy="238125"/>
          </a:xfrm>
          <a:prstGeom prst="rect">
            <a:avLst/>
          </a:prstGeom>
          <a:effectLst/>
        </p:spPr>
      </p:pic>
      <p:sp>
        <p:nvSpPr>
          <p:cNvPr id="27" name="Rounded Rectangle 26"/>
          <p:cNvSpPr/>
          <p:nvPr/>
        </p:nvSpPr>
        <p:spPr>
          <a:xfrm>
            <a:off x="2924175" y="4095750"/>
            <a:ext cx="8582025" cy="866775"/>
          </a:xfrm>
          <a:prstGeom prst="roundRect">
            <a:avLst>
              <a:gd name="adj" fmla="val 7692"/>
            </a:avLst>
          </a:prstGeom>
          <a:solidFill>
            <a:srgbClr val="FFF2DD"/>
          </a:solidFill>
          <a:ln w="9525">
            <a:solidFill>
              <a:srgbClr val="FFF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133725" y="4248150"/>
            <a:ext cx="8143875" cy="5715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848"/>
              </a:lnSpc>
              <a:spcBef>
                <a:spcPts val="0"/>
              </a:spcBef>
              <a:spcAft>
                <a:spcPts val="0"/>
              </a:spcAft>
            </a:pPr>
            <a:r>
              <a:rPr sz="1650" b="1" lang="en-US">
                <a:solidFill>
                  <a:srgbClr val="262626"/>
                </a:solidFill>
                <a:latin typeface="Manrope"/>
              </a:rPr>
              <a:t>Proposed reallocation · Manager review required</a:t>
            </a:r>
          </a:p>
          <a:p>
            <a:pPr algn="l" rtl="0">
              <a:lnSpc>
                <a:spcPts val="1848"/>
              </a:lnSpc>
              <a:spcBef>
                <a:spcPts val="0"/>
              </a:spcBef>
              <a:spcAft>
                <a:spcPts val="0"/>
              </a:spcAft>
            </a:pPr>
            <a:r>
              <a:rPr sz="1650" b="1" lang="en-US">
                <a:solidFill>
                  <a:srgbClr val="262626"/>
                </a:solidFill>
                <a:latin typeface="Manrope"/>
              </a:rPr>
              <a:t>Reason: a size request and a possible source at another branch.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943225" y="5229225"/>
            <a:ext cx="2952750" cy="400050"/>
          </a:xfrm>
          <a:prstGeom prst="roundRect">
            <a:avLst>
              <a:gd name="adj" fmla="val 11904"/>
            </a:avLst>
          </a:prstGeom>
          <a:solidFill>
            <a:srgbClr val="FFF2DD"/>
          </a:solidFill>
          <a:ln w="9525">
            <a:solidFill>
              <a:srgbClr val="FFF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icon-acto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67050" y="5334000"/>
            <a:ext cx="180975" cy="180975"/>
          </a:xfrm>
          <a:prstGeom prst="rect">
            <a:avLst/>
          </a:prstGeom>
          <a:effectLst/>
        </p:spPr>
      </p:pic>
      <p:sp>
        <p:nvSpPr>
          <p:cNvPr id="31" name="TextBox 30"/>
          <p:cNvSpPr txBox="1"/>
          <p:nvPr/>
        </p:nvSpPr>
        <p:spPr>
          <a:xfrm>
            <a:off x="3352800" y="5324475"/>
            <a:ext cx="2428875" cy="2667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 rtl="0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1" lang="en-US">
                <a:solidFill>
                  <a:srgbClr val="262626"/>
                </a:solidFill>
                <a:latin typeface="Manrope"/>
              </a:rPr>
              <a:t>Review proposal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096000" y="5229225"/>
            <a:ext cx="1943100" cy="400050"/>
          </a:xfrm>
          <a:prstGeom prst="roundRect">
            <a:avLst>
              <a:gd name="adj" fmla="val 11904"/>
            </a:avLst>
          </a:prstGeom>
          <a:solidFill>
            <a:srgbClr val="FFF2DD"/>
          </a:solidFill>
          <a:ln w="9525">
            <a:solidFill>
              <a:srgbClr val="FFF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con-che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9825" y="5334000"/>
            <a:ext cx="180975" cy="180975"/>
          </a:xfrm>
          <a:prstGeom prst="rect">
            <a:avLst/>
          </a:prstGeom>
          <a:effectLst/>
        </p:spPr>
      </p:pic>
      <p:sp>
        <p:nvSpPr>
          <p:cNvPr id="34" name="TextBox 33"/>
          <p:cNvSpPr txBox="1"/>
          <p:nvPr/>
        </p:nvSpPr>
        <p:spPr>
          <a:xfrm>
            <a:off x="6505575" y="5324475"/>
            <a:ext cx="1419225" cy="2667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 rtl="0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1" lang="en-US">
                <a:solidFill>
                  <a:srgbClr val="262626"/>
                </a:solidFill>
                <a:latin typeface="Manrope"/>
              </a:rPr>
              <a:t>Approve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239125" y="5229225"/>
            <a:ext cx="1943100" cy="400050"/>
          </a:xfrm>
          <a:prstGeom prst="roundRect">
            <a:avLst>
              <a:gd name="adj" fmla="val 11904"/>
            </a:avLst>
          </a:prstGeom>
          <a:solidFill>
            <a:srgbClr val="FFF2DD"/>
          </a:solidFill>
          <a:ln w="9525">
            <a:solidFill>
              <a:srgbClr val="FFF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icon-en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62950" y="5334000"/>
            <a:ext cx="180975" cy="180975"/>
          </a:xfrm>
          <a:prstGeom prst="rect">
            <a:avLst/>
          </a:prstGeom>
          <a:effectLst/>
        </p:spPr>
      </p:pic>
      <p:sp>
        <p:nvSpPr>
          <p:cNvPr id="37" name="TextBox 36"/>
          <p:cNvSpPr txBox="1"/>
          <p:nvPr/>
        </p:nvSpPr>
        <p:spPr>
          <a:xfrm>
            <a:off x="8648700" y="5324475"/>
            <a:ext cx="1419225" cy="2667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 rtl="0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1" lang="en-US">
                <a:solidFill>
                  <a:srgbClr val="262626"/>
                </a:solidFill>
                <a:latin typeface="Manrope"/>
              </a:rPr>
              <a:t>Reject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914650" y="5200650"/>
            <a:ext cx="7305675" cy="466725"/>
          </a:xfrm>
          <a:prstGeom prst="roundRect">
            <a:avLst>
              <a:gd name="adj" fmla="val 10000"/>
            </a:avLst>
          </a:prstGeom>
          <a:noFill/>
          <a:ln w="19050">
            <a:solidFill>
              <a:srgbClr val="FFBA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/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ra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58762"/>
            <a:ext cx="409575" cy="273050"/>
          </a:xfrm>
          <a:prstGeom prst="rect">
            <a:avLst/>
          </a:prstGeom>
          <a:effectLst/>
        </p:spPr>
      </p:pic>
      <p:sp>
        <p:nvSpPr>
          <p:cNvPr id="3" name="TextBox 2"/>
          <p:cNvSpPr txBox="1"/>
          <p:nvPr/>
        </p:nvSpPr>
        <p:spPr>
          <a:xfrm>
            <a:off x="990600" y="276225"/>
            <a:ext cx="3571875" cy="2952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1" lang="en-US">
                <a:solidFill>
                  <a:srgbClr val="262626"/>
                </a:solidFill>
                <a:latin typeface="Manrope"/>
              </a:rPr>
              <a:t>GRINDCTRL × Concrete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15075" y="276225"/>
            <a:ext cx="5419725" cy="2857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344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en-US">
                <a:solidFill>
                  <a:srgbClr val="68645E"/>
                </a:solidFill>
                <a:latin typeface="Manrope"/>
              </a:rPr>
              <a:t>Part 04 · AI marketing studio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95350"/>
            <a:ext cx="11277600" cy="4953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3192"/>
              </a:lnSpc>
              <a:spcBef>
                <a:spcPts val="0"/>
              </a:spcBef>
              <a:spcAft>
                <a:spcPts val="0"/>
              </a:spcAft>
            </a:pPr>
            <a:r>
              <a:rPr sz="2850" b="1" lang="en-US">
                <a:solidFill>
                  <a:srgbClr val="262626"/>
                </a:solidFill>
                <a:latin typeface="Manrope"/>
              </a:rPr>
              <a:t>From a brief to three directions for review.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6381750"/>
            <a:ext cx="11277600" cy="0"/>
          </a:xfrm>
          <a:prstGeom prst="line">
            <a:avLst/>
          </a:prstGeom>
          <a:ln w="9525">
            <a:solidFill>
              <a:srgbClr val="E6E3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6505575"/>
            <a:ext cx="1028700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176"/>
              </a:lnSpc>
              <a:spcBef>
                <a:spcPts val="0"/>
              </a:spcBef>
              <a:spcAft>
                <a:spcPts val="0"/>
              </a:spcAft>
            </a:pPr>
            <a:r>
              <a:rPr sz="1050" b="0" lang="en-US">
                <a:solidFill>
                  <a:srgbClr val="68645E"/>
                </a:solidFill>
                <a:latin typeface="Manrope"/>
              </a:rPr>
              <a:t>Proposed experience · Illustrative imagery / UI · Demo records · Sources and permissions to validate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15650" y="6505575"/>
            <a:ext cx="81915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176"/>
              </a:lnSpc>
              <a:spcBef>
                <a:spcPts val="0"/>
              </a:spcBef>
              <a:spcAft>
                <a:spcPts val="0"/>
              </a:spcAft>
            </a:pPr>
            <a:r>
              <a:rPr sz="1050" b="0" lang="en-US">
                <a:solidFill>
                  <a:srgbClr val="262626"/>
                </a:solidFill>
                <a:latin typeface="Manrope"/>
              </a:rPr>
              <a:t>07 / 09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38300"/>
            <a:ext cx="11277600" cy="4552950"/>
          </a:xfrm>
          <a:prstGeom prst="roundRect">
            <a:avLst>
              <a:gd name="adj" fmla="val 2092"/>
            </a:avLst>
          </a:prstGeom>
          <a:solidFill>
            <a:srgbClr val="EDEAE4"/>
          </a:solidFill>
          <a:ln w="9525">
            <a:solidFill>
              <a:srgbClr val="EDE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" y="1600200"/>
            <a:ext cx="11277600" cy="4552950"/>
          </a:xfrm>
          <a:prstGeom prst="roundRect">
            <a:avLst>
              <a:gd name="adj" fmla="val 2092"/>
            </a:avLst>
          </a:prstGeom>
          <a:solidFill>
            <a:srgbClr val="FFFFFF"/>
          </a:solidFill>
          <a:ln w="9525">
            <a:solidFill>
              <a:srgbClr val="E6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6750" y="1771650"/>
            <a:ext cx="10858500" cy="2952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lang="en-US">
                <a:solidFill>
                  <a:srgbClr val="262626"/>
                </a:solidFill>
                <a:latin typeface="Manrope"/>
              </a:rPr>
              <a:t>AI marketing studio · Draft concepts only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57200" y="2200275"/>
            <a:ext cx="11277600" cy="0"/>
          </a:xfrm>
          <a:prstGeom prst="line">
            <a:avLst/>
          </a:prstGeom>
          <a:ln w="9525">
            <a:solidFill>
              <a:srgbClr val="E6E3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 descr="S07_storyboard.png"/>
          <p:cNvPicPr>
            <a:picLocks noChangeAspect="1"/>
          </p:cNvPicPr>
          <p:nvPr/>
        </p:nvPicPr>
        <p:blipFill>
          <a:blip r:embed="rId3"/>
          <a:srcRect l="40072" r="40610" t="43039" b="13071"/>
          <a:stretch>
            <a:fillRect/>
          </a:stretch>
        </p:blipFill>
        <p:spPr>
          <a:xfrm>
            <a:off x="695325" y="2390775"/>
            <a:ext cx="2771775" cy="3543300"/>
          </a:xfrm>
          <a:prstGeom prst="rect">
            <a:avLst/>
          </a:prstGeom>
          <a:effectLst/>
        </p:spPr>
      </p:pic>
      <p:sp>
        <p:nvSpPr>
          <p:cNvPr id="14" name="TextBox 13"/>
          <p:cNvSpPr txBox="1"/>
          <p:nvPr/>
        </p:nvSpPr>
        <p:spPr>
          <a:xfrm>
            <a:off x="3686175" y="2390775"/>
            <a:ext cx="7762875" cy="3524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875" b="1" lang="en-US">
                <a:solidFill>
                  <a:srgbClr val="262626"/>
                </a:solidFill>
                <a:latin typeface="Manrope"/>
              </a:rPr>
              <a:t>Brief: seasonal tailoring in neutral tones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86175" y="2838450"/>
            <a:ext cx="7762875" cy="2667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0" lang="en-US">
                <a:solidFill>
                  <a:srgbClr val="68645E"/>
                </a:solidFill>
                <a:latin typeface="Manrope"/>
              </a:rPr>
              <a:t>DEMO collection · Production assets and rights must be approved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86175" y="3295650"/>
            <a:ext cx="2457450" cy="2143125"/>
          </a:xfrm>
          <a:prstGeom prst="roundRect">
            <a:avLst>
              <a:gd name="adj" fmla="val 3111"/>
            </a:avLst>
          </a:prstGeom>
          <a:solidFill>
            <a:srgbClr val="F4F2EE"/>
          </a:solidFill>
          <a:ln w="9525">
            <a:solidFill>
              <a:srgbClr val="F4F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924425" y="3533775"/>
            <a:ext cx="1066800" cy="1343025"/>
          </a:xfrm>
          <a:prstGeom prst="roundRect">
            <a:avLst>
              <a:gd name="adj" fmla="val 4464"/>
            </a:avLst>
          </a:prstGeom>
          <a:solidFill>
            <a:srgbClr val="F4F2EE"/>
          </a:solidFill>
          <a:ln w="9525">
            <a:solidFill>
              <a:srgbClr val="F4F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S02_storyboard.png"/>
          <p:cNvPicPr>
            <a:picLocks noChangeAspect="1"/>
          </p:cNvPicPr>
          <p:nvPr/>
        </p:nvPicPr>
        <p:blipFill>
          <a:blip r:embed="rId4"/>
          <a:srcRect l="58074" r="34510" t="38257" b="43464"/>
          <a:stretch>
            <a:fillRect/>
          </a:stretch>
        </p:blipFill>
        <p:spPr>
          <a:xfrm>
            <a:off x="5029200" y="3610743"/>
            <a:ext cx="857250" cy="1189089"/>
          </a:xfrm>
          <a:prstGeom prst="rect">
            <a:avLst/>
          </a:prstGeom>
          <a:effectLst/>
        </p:spPr>
      </p:pic>
      <p:sp>
        <p:nvSpPr>
          <p:cNvPr id="19" name="TextBox 18"/>
          <p:cNvSpPr txBox="1"/>
          <p:nvPr/>
        </p:nvSpPr>
        <p:spPr>
          <a:xfrm>
            <a:off x="3819525" y="3486150"/>
            <a:ext cx="1000125" cy="6572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848"/>
              </a:lnSpc>
              <a:spcBef>
                <a:spcPts val="0"/>
              </a:spcBef>
              <a:spcAft>
                <a:spcPts val="0"/>
              </a:spcAft>
            </a:pPr>
            <a:r>
              <a:rPr sz="1650" b="1" lang="en-US">
                <a:solidFill>
                  <a:srgbClr val="262626"/>
                </a:solidFill>
                <a:latin typeface="Manrope"/>
              </a:rPr>
              <a:t>Your next</a:t>
            </a:r>
          </a:p>
          <a:p>
            <a:pPr algn="l" rtl="0">
              <a:lnSpc>
                <a:spcPts val="1848"/>
              </a:lnSpc>
              <a:spcBef>
                <a:spcPts val="0"/>
              </a:spcBef>
              <a:spcAft>
                <a:spcPts val="0"/>
              </a:spcAft>
            </a:pPr>
            <a:r>
              <a:rPr sz="1650" b="1" lang="en-US">
                <a:solidFill>
                  <a:srgbClr val="262626"/>
                </a:solidFill>
                <a:latin typeface="Manrope"/>
              </a:rPr>
              <a:t>occasion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829050" y="4381500"/>
            <a:ext cx="838200" cy="0"/>
          </a:xfrm>
          <a:prstGeom prst="line">
            <a:avLst/>
          </a:prstGeom>
          <a:ln w="9525">
            <a:solidFill>
              <a:srgbClr val="96531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3819525" y="4638675"/>
            <a:ext cx="2190750" cy="1809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092"/>
              </a:lnSpc>
              <a:spcBef>
                <a:spcPts val="0"/>
              </a:spcBef>
              <a:spcAft>
                <a:spcPts val="0"/>
              </a:spcAft>
            </a:pPr>
            <a:r>
              <a:rPr sz="975" b="0" lang="en-US">
                <a:solidFill>
                  <a:srgbClr val="68645E"/>
                </a:solidFill>
                <a:latin typeface="Manrope"/>
              </a:rPr>
              <a:t>DRAFT · Demo creative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19525" y="4933950"/>
            <a:ext cx="2190750" cy="2952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lang="en-US">
                <a:solidFill>
                  <a:srgbClr val="262626"/>
                </a:solidFill>
                <a:latin typeface="Manrope"/>
              </a:rPr>
              <a:t>Modern occasion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19525" y="5305425"/>
            <a:ext cx="2190750" cy="609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0" lang="en-US">
                <a:solidFill>
                  <a:srgbClr val="262626"/>
                </a:solidFill>
                <a:latin typeface="Manrope"/>
              </a:rPr>
              <a:t>Tailoring for your next occasion.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62700" y="3295650"/>
            <a:ext cx="2457450" cy="2143125"/>
          </a:xfrm>
          <a:prstGeom prst="roundRect">
            <a:avLst>
              <a:gd name="adj" fmla="val 3111"/>
            </a:avLst>
          </a:prstGeom>
          <a:solidFill>
            <a:srgbClr val="F4F2EE"/>
          </a:solidFill>
          <a:ln w="9525">
            <a:solidFill>
              <a:srgbClr val="F4F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648450" y="3686175"/>
            <a:ext cx="1019175" cy="1219200"/>
          </a:xfrm>
          <a:prstGeom prst="roundRect">
            <a:avLst>
              <a:gd name="adj" fmla="val 4672"/>
            </a:avLst>
          </a:prstGeom>
          <a:solidFill>
            <a:srgbClr val="F4F2EE"/>
          </a:solidFill>
          <a:ln w="9525">
            <a:solidFill>
              <a:srgbClr val="F4F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S02_storyboard.png"/>
          <p:cNvPicPr>
            <a:picLocks noChangeAspect="1"/>
          </p:cNvPicPr>
          <p:nvPr/>
        </p:nvPicPr>
        <p:blipFill>
          <a:blip r:embed="rId4"/>
          <a:srcRect l="66746" r="25239" t="37726" b="43677"/>
          <a:stretch>
            <a:fillRect/>
          </a:stretch>
        </p:blipFill>
        <p:spPr>
          <a:xfrm>
            <a:off x="6753225" y="3767102"/>
            <a:ext cx="809625" cy="1057346"/>
          </a:xfrm>
          <a:prstGeom prst="rect">
            <a:avLst/>
          </a:prstGeom>
          <a:effectLst/>
        </p:spPr>
      </p:pic>
      <p:sp>
        <p:nvSpPr>
          <p:cNvPr id="27" name="TextBox 26"/>
          <p:cNvSpPr txBox="1"/>
          <p:nvPr/>
        </p:nvSpPr>
        <p:spPr>
          <a:xfrm>
            <a:off x="7705725" y="3486150"/>
            <a:ext cx="971550" cy="6286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848"/>
              </a:lnSpc>
              <a:spcBef>
                <a:spcPts val="0"/>
              </a:spcBef>
              <a:spcAft>
                <a:spcPts val="0"/>
              </a:spcAft>
            </a:pPr>
            <a:r>
              <a:rPr sz="1650" b="1" lang="en-US">
                <a:solidFill>
                  <a:srgbClr val="262626"/>
                </a:solidFill>
                <a:latin typeface="Manrope"/>
              </a:rPr>
              <a:t>Style in</a:t>
            </a:r>
          </a:p>
          <a:p>
            <a:pPr algn="l" rtl="0">
              <a:lnSpc>
                <a:spcPts val="1848"/>
              </a:lnSpc>
              <a:spcBef>
                <a:spcPts val="0"/>
              </a:spcBef>
              <a:spcAft>
                <a:spcPts val="0"/>
              </a:spcAft>
            </a:pPr>
            <a:r>
              <a:rPr sz="1650" b="1" lang="en-US">
                <a:solidFill>
                  <a:srgbClr val="262626"/>
                </a:solidFill>
                <a:latin typeface="Manrope"/>
              </a:rPr>
              <a:t>motion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753350" y="4410075"/>
            <a:ext cx="809625" cy="0"/>
          </a:xfrm>
          <a:prstGeom prst="line">
            <a:avLst/>
          </a:prstGeom>
          <a:ln w="9525">
            <a:solidFill>
              <a:srgbClr val="96531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6496050" y="4638675"/>
            <a:ext cx="2190750" cy="1809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092"/>
              </a:lnSpc>
              <a:spcBef>
                <a:spcPts val="0"/>
              </a:spcBef>
              <a:spcAft>
                <a:spcPts val="0"/>
              </a:spcAft>
            </a:pPr>
            <a:r>
              <a:rPr sz="975" b="0" lang="en-US">
                <a:solidFill>
                  <a:srgbClr val="68645E"/>
                </a:solidFill>
                <a:latin typeface="Manrope"/>
              </a:rPr>
              <a:t>DRAFT · Demo creative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6050" y="4933950"/>
            <a:ext cx="2190750" cy="2952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lang="en-US">
                <a:solidFill>
                  <a:srgbClr val="262626"/>
                </a:solidFill>
                <a:latin typeface="Manrope"/>
              </a:rPr>
              <a:t>City layers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6050" y="5305425"/>
            <a:ext cx="2190750" cy="609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0" lang="en-US">
                <a:solidFill>
                  <a:srgbClr val="262626"/>
                </a:solidFill>
                <a:latin typeface="Manrope"/>
              </a:rPr>
              <a:t>A considered look for the everyday.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039225" y="3295650"/>
            <a:ext cx="2457450" cy="2143125"/>
          </a:xfrm>
          <a:prstGeom prst="roundRect">
            <a:avLst>
              <a:gd name="adj" fmla="val 3111"/>
            </a:avLst>
          </a:prstGeom>
          <a:solidFill>
            <a:srgbClr val="F4F2EE"/>
          </a:solidFill>
          <a:ln w="9525">
            <a:solidFill>
              <a:srgbClr val="F4F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210675" y="3581400"/>
            <a:ext cx="828675" cy="1095375"/>
          </a:xfrm>
          <a:prstGeom prst="roundRect">
            <a:avLst>
              <a:gd name="adj" fmla="val 5747"/>
            </a:avLst>
          </a:prstGeom>
          <a:solidFill>
            <a:srgbClr val="F4F2EE"/>
          </a:solidFill>
          <a:ln w="9525">
            <a:solidFill>
              <a:srgbClr val="F4F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S02_storyboard.png"/>
          <p:cNvPicPr>
            <a:picLocks noChangeAspect="1"/>
          </p:cNvPicPr>
          <p:nvPr/>
        </p:nvPicPr>
        <p:blipFill>
          <a:blip r:embed="rId4"/>
          <a:srcRect l="58074" r="34510" t="38257" b="43464"/>
          <a:stretch>
            <a:fillRect/>
          </a:stretch>
        </p:blipFill>
        <p:spPr>
          <a:xfrm>
            <a:off x="9315450" y="3699694"/>
            <a:ext cx="619125" cy="858786"/>
          </a:xfrm>
          <a:prstGeom prst="rect">
            <a:avLst/>
          </a:prstGeom>
          <a:effectLst/>
        </p:spPr>
      </p:pic>
      <p:sp>
        <p:nvSpPr>
          <p:cNvPr id="35" name="Rounded Rectangle 34"/>
          <p:cNvSpPr/>
          <p:nvPr/>
        </p:nvSpPr>
        <p:spPr>
          <a:xfrm>
            <a:off x="10410825" y="3600450"/>
            <a:ext cx="857250" cy="1085850"/>
          </a:xfrm>
          <a:prstGeom prst="roundRect">
            <a:avLst>
              <a:gd name="adj" fmla="val 5555"/>
            </a:avLst>
          </a:prstGeom>
          <a:solidFill>
            <a:srgbClr val="F4F2EE"/>
          </a:solidFill>
          <a:ln w="9525">
            <a:solidFill>
              <a:srgbClr val="F4F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S02_storyboard.png"/>
          <p:cNvPicPr>
            <a:picLocks noChangeAspect="1"/>
          </p:cNvPicPr>
          <p:nvPr/>
        </p:nvPicPr>
        <p:blipFill>
          <a:blip r:embed="rId4"/>
          <a:srcRect l="77273" r="14773" t="37620" b="43677"/>
          <a:stretch>
            <a:fillRect/>
          </a:stretch>
        </p:blipFill>
        <p:spPr>
          <a:xfrm>
            <a:off x="10515600" y="3714822"/>
            <a:ext cx="647700" cy="857107"/>
          </a:xfrm>
          <a:prstGeom prst="rect">
            <a:avLst/>
          </a:prstGeom>
          <a:effectLst/>
        </p:spPr>
      </p:pic>
      <p:sp>
        <p:nvSpPr>
          <p:cNvPr id="37" name="TextBox 36"/>
          <p:cNvSpPr txBox="1"/>
          <p:nvPr/>
        </p:nvSpPr>
        <p:spPr>
          <a:xfrm>
            <a:off x="9172575" y="3352800"/>
            <a:ext cx="2190750" cy="2857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1" lang="en-US">
                <a:solidFill>
                  <a:srgbClr val="262626"/>
                </a:solidFill>
                <a:latin typeface="Manrope"/>
              </a:rPr>
              <a:t>Thoughtful combinations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72575" y="4638675"/>
            <a:ext cx="2190750" cy="1809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092"/>
              </a:lnSpc>
              <a:spcBef>
                <a:spcPts val="0"/>
              </a:spcBef>
              <a:spcAft>
                <a:spcPts val="0"/>
              </a:spcAft>
            </a:pPr>
            <a:r>
              <a:rPr sz="975" b="0" lang="en-US">
                <a:solidFill>
                  <a:srgbClr val="68645E"/>
                </a:solidFill>
                <a:latin typeface="Manrope"/>
              </a:rPr>
              <a:t>DRAFT · Demo creative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72575" y="4933950"/>
            <a:ext cx="2190750" cy="2952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lang="en-US">
                <a:solidFill>
                  <a:srgbClr val="262626"/>
                </a:solidFill>
                <a:latin typeface="Manrope"/>
              </a:rPr>
              <a:t>Everyday refinement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72575" y="5305425"/>
            <a:ext cx="2190750" cy="609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0" lang="en-US">
                <a:solidFill>
                  <a:srgbClr val="262626"/>
                </a:solidFill>
                <a:latin typeface="Manrope"/>
              </a:rPr>
              <a:t>Simple pieces. Thoughtful combinations.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0" y="5924550"/>
            <a:ext cx="7877175" cy="17145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86175" y="5829300"/>
            <a:ext cx="7781925" cy="2762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596"/>
              </a:lnSpc>
              <a:spcBef>
                <a:spcPts val="0"/>
              </a:spcBef>
              <a:spcAft>
                <a:spcPts val="0"/>
              </a:spcAft>
            </a:pPr>
            <a:r>
              <a:rPr sz="1425" b="1" lang="en-US">
                <a:solidFill>
                  <a:srgbClr val="965318"/>
                </a:solidFill>
                <a:latin typeface="Manrope"/>
              </a:rPr>
              <a:t>Human brand review → approval before publication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638550" y="5772150"/>
            <a:ext cx="7905750" cy="342900"/>
          </a:xfrm>
          <a:prstGeom prst="roundRect">
            <a:avLst>
              <a:gd name="adj" fmla="val 10000"/>
            </a:avLst>
          </a:prstGeom>
          <a:noFill/>
          <a:ln w="19050">
            <a:solidFill>
              <a:srgbClr val="FFBA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/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ra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58762"/>
            <a:ext cx="409575" cy="273050"/>
          </a:xfrm>
          <a:prstGeom prst="rect">
            <a:avLst/>
          </a:prstGeom>
          <a:effectLst/>
        </p:spPr>
      </p:pic>
      <p:sp>
        <p:nvSpPr>
          <p:cNvPr id="3" name="TextBox 2"/>
          <p:cNvSpPr txBox="1"/>
          <p:nvPr/>
        </p:nvSpPr>
        <p:spPr>
          <a:xfrm>
            <a:off x="990600" y="276225"/>
            <a:ext cx="3571875" cy="2952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1" lang="en-US">
                <a:solidFill>
                  <a:srgbClr val="262626"/>
                </a:solidFill>
                <a:latin typeface="Manrope"/>
              </a:rPr>
              <a:t>GRINDCTRL × Concrete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15075" y="276225"/>
            <a:ext cx="5419725" cy="2857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344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en-US">
                <a:solidFill>
                  <a:srgbClr val="68645E"/>
                </a:solidFill>
                <a:latin typeface="Manrope"/>
              </a:rPr>
              <a:t>Part 04 · Executive AI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95350"/>
            <a:ext cx="11277600" cy="4953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3192"/>
              </a:lnSpc>
              <a:spcBef>
                <a:spcPts val="0"/>
              </a:spcBef>
              <a:spcAft>
                <a:spcPts val="0"/>
              </a:spcAft>
            </a:pPr>
            <a:r>
              <a:rPr sz="2850" b="1" lang="en-US">
                <a:solidFill>
                  <a:srgbClr val="262626"/>
                </a:solidFill>
                <a:latin typeface="Manrope"/>
              </a:rPr>
              <a:t>A concise insight. A visible path to its sources.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6381750"/>
            <a:ext cx="11277600" cy="0"/>
          </a:xfrm>
          <a:prstGeom prst="line">
            <a:avLst/>
          </a:prstGeom>
          <a:ln w="9525">
            <a:solidFill>
              <a:srgbClr val="E6E3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6505575"/>
            <a:ext cx="1028700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176"/>
              </a:lnSpc>
              <a:spcBef>
                <a:spcPts val="0"/>
              </a:spcBef>
              <a:spcAft>
                <a:spcPts val="0"/>
              </a:spcAft>
            </a:pPr>
            <a:r>
              <a:rPr sz="1050" b="0" lang="en-US">
                <a:solidFill>
                  <a:srgbClr val="68645E"/>
                </a:solidFill>
                <a:latin typeface="Manrope"/>
              </a:rPr>
              <a:t>Proposed experience · Illustrative imagery / UI · Demo records · Sources and permissions to validate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15650" y="6505575"/>
            <a:ext cx="81915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176"/>
              </a:lnSpc>
              <a:spcBef>
                <a:spcPts val="0"/>
              </a:spcBef>
              <a:spcAft>
                <a:spcPts val="0"/>
              </a:spcAft>
            </a:pPr>
            <a:r>
              <a:rPr sz="1050" b="0" lang="en-US">
                <a:solidFill>
                  <a:srgbClr val="262626"/>
                </a:solidFill>
                <a:latin typeface="Manrope"/>
              </a:rPr>
              <a:t>08 / 09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38300"/>
            <a:ext cx="11277600" cy="4552950"/>
          </a:xfrm>
          <a:prstGeom prst="roundRect">
            <a:avLst>
              <a:gd name="adj" fmla="val 2092"/>
            </a:avLst>
          </a:prstGeom>
          <a:solidFill>
            <a:srgbClr val="EDEAE4"/>
          </a:solidFill>
          <a:ln w="9525">
            <a:solidFill>
              <a:srgbClr val="EDE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" y="1600200"/>
            <a:ext cx="11277600" cy="4552950"/>
          </a:xfrm>
          <a:prstGeom prst="roundRect">
            <a:avLst>
              <a:gd name="adj" fmla="val 2092"/>
            </a:avLst>
          </a:prstGeom>
          <a:solidFill>
            <a:srgbClr val="FFFFFF"/>
          </a:solidFill>
          <a:ln w="9525">
            <a:solidFill>
              <a:srgbClr val="E6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6750" y="1771650"/>
            <a:ext cx="10858500" cy="2952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lang="en-US">
                <a:solidFill>
                  <a:srgbClr val="262626"/>
                </a:solidFill>
                <a:latin typeface="Manrope"/>
              </a:rPr>
              <a:t>Executive brief · ILLUSTRATIVE DEMO — NOT CONCRETE RESULTS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57200" y="2200275"/>
            <a:ext cx="11277600" cy="0"/>
          </a:xfrm>
          <a:prstGeom prst="line">
            <a:avLst/>
          </a:prstGeom>
          <a:ln w="9525">
            <a:solidFill>
              <a:srgbClr val="E6E3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23900" y="2419350"/>
            <a:ext cx="3448050" cy="3333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2016"/>
              </a:lnSpc>
              <a:spcBef>
                <a:spcPts val="0"/>
              </a:spcBef>
              <a:spcAft>
                <a:spcPts val="0"/>
              </a:spcAft>
            </a:pPr>
            <a:r>
              <a:rPr sz="1800" b="1" lang="en-US">
                <a:solidFill>
                  <a:srgbClr val="262626"/>
                </a:solidFill>
                <a:latin typeface="Manrope"/>
              </a:rPr>
              <a:t>Permitted source signals</a:t>
            </a:r>
          </a:p>
        </p:txBody>
      </p:sp>
      <p:pic>
        <p:nvPicPr>
          <p:cNvPr id="14" name="Picture 13" descr="icon-invoi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425" y="3105150"/>
            <a:ext cx="238125" cy="238125"/>
          </a:xfrm>
          <a:prstGeom prst="rect">
            <a:avLst/>
          </a:prstGeom>
          <a:effectLst/>
        </p:spPr>
      </p:pic>
      <p:sp>
        <p:nvSpPr>
          <p:cNvPr id="15" name="TextBox 14"/>
          <p:cNvSpPr txBox="1"/>
          <p:nvPr/>
        </p:nvSpPr>
        <p:spPr>
          <a:xfrm>
            <a:off x="1190625" y="3067050"/>
            <a:ext cx="2924175" cy="3429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2016"/>
              </a:lnSpc>
              <a:spcBef>
                <a:spcPts val="0"/>
              </a:spcBef>
              <a:spcAft>
                <a:spcPts val="0"/>
              </a:spcAft>
            </a:pPr>
            <a:r>
              <a:rPr sz="1800" b="1" lang="en-US">
                <a:solidFill>
                  <a:srgbClr val="262626"/>
                </a:solidFill>
                <a:latin typeface="Manrope"/>
              </a:rPr>
              <a:t>Sales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23900" y="3514725"/>
            <a:ext cx="3352800" cy="0"/>
          </a:xfrm>
          <a:prstGeom prst="line">
            <a:avLst/>
          </a:prstGeom>
          <a:ln w="9525">
            <a:solidFill>
              <a:srgbClr val="E6E3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Picture 16" descr="icon-ca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3425" y="3705225"/>
            <a:ext cx="238125" cy="238125"/>
          </a:xfrm>
          <a:prstGeom prst="rect">
            <a:avLst/>
          </a:prstGeom>
          <a:effectLst/>
        </p:spPr>
      </p:pic>
      <p:sp>
        <p:nvSpPr>
          <p:cNvPr id="18" name="TextBox 17"/>
          <p:cNvSpPr txBox="1"/>
          <p:nvPr/>
        </p:nvSpPr>
        <p:spPr>
          <a:xfrm>
            <a:off x="1190625" y="3667125"/>
            <a:ext cx="2924175" cy="3429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2016"/>
              </a:lnSpc>
              <a:spcBef>
                <a:spcPts val="0"/>
              </a:spcBef>
              <a:spcAft>
                <a:spcPts val="0"/>
              </a:spcAft>
            </a:pPr>
            <a:r>
              <a:rPr sz="1800" b="1" lang="en-US">
                <a:solidFill>
                  <a:srgbClr val="262626"/>
                </a:solidFill>
                <a:latin typeface="Manrope"/>
              </a:rPr>
              <a:t>Inventory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23900" y="4114800"/>
            <a:ext cx="3352800" cy="0"/>
          </a:xfrm>
          <a:prstGeom prst="line">
            <a:avLst/>
          </a:prstGeom>
          <a:ln w="9525">
            <a:solidFill>
              <a:srgbClr val="E6E3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Picture 19" descr="icon-cal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3425" y="4305300"/>
            <a:ext cx="238125" cy="238125"/>
          </a:xfrm>
          <a:prstGeom prst="rect">
            <a:avLst/>
          </a:prstGeom>
          <a:effectLst/>
        </p:spPr>
      </p:pic>
      <p:sp>
        <p:nvSpPr>
          <p:cNvPr id="21" name="TextBox 20"/>
          <p:cNvSpPr txBox="1"/>
          <p:nvPr/>
        </p:nvSpPr>
        <p:spPr>
          <a:xfrm>
            <a:off x="1190625" y="4267200"/>
            <a:ext cx="2924175" cy="3429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2016"/>
              </a:lnSpc>
              <a:spcBef>
                <a:spcPts val="0"/>
              </a:spcBef>
              <a:spcAft>
                <a:spcPts val="0"/>
              </a:spcAft>
            </a:pPr>
            <a:r>
              <a:rPr sz="1800" b="1" lang="en-US">
                <a:solidFill>
                  <a:srgbClr val="262626"/>
                </a:solidFill>
                <a:latin typeface="Manrope"/>
              </a:rPr>
              <a:t>Customer service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23900" y="4714875"/>
            <a:ext cx="3352800" cy="0"/>
          </a:xfrm>
          <a:prstGeom prst="line">
            <a:avLst/>
          </a:prstGeom>
          <a:ln w="9525">
            <a:solidFill>
              <a:srgbClr val="E6E3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Picture 22" descr="icon-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3425" y="4905375"/>
            <a:ext cx="238125" cy="238125"/>
          </a:xfrm>
          <a:prstGeom prst="rect">
            <a:avLst/>
          </a:prstGeom>
          <a:effectLst/>
        </p:spPr>
      </p:pic>
      <p:sp>
        <p:nvSpPr>
          <p:cNvPr id="24" name="TextBox 23"/>
          <p:cNvSpPr txBox="1"/>
          <p:nvPr/>
        </p:nvSpPr>
        <p:spPr>
          <a:xfrm>
            <a:off x="1190625" y="4867275"/>
            <a:ext cx="2924175" cy="3429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2016"/>
              </a:lnSpc>
              <a:spcBef>
                <a:spcPts val="0"/>
              </a:spcBef>
              <a:spcAft>
                <a:spcPts val="0"/>
              </a:spcAft>
            </a:pPr>
            <a:r>
              <a:rPr sz="1800" b="1" lang="en-US">
                <a:solidFill>
                  <a:srgbClr val="262626"/>
                </a:solidFill>
                <a:latin typeface="Manrope"/>
              </a:rPr>
              <a:t>Customer permissions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23900" y="5314950"/>
            <a:ext cx="3352800" cy="0"/>
          </a:xfrm>
          <a:prstGeom prst="line">
            <a:avLst/>
          </a:prstGeom>
          <a:ln w="9525">
            <a:solidFill>
              <a:srgbClr val="E6E3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4391025" y="2390775"/>
            <a:ext cx="0" cy="3552825"/>
          </a:xfrm>
          <a:prstGeom prst="line">
            <a:avLst/>
          </a:prstGeom>
          <a:ln w="9525">
            <a:solidFill>
              <a:srgbClr val="E6E3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4676775" y="2419350"/>
            <a:ext cx="6800850" cy="3333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2184"/>
              </a:lnSpc>
              <a:spcBef>
                <a:spcPts val="0"/>
              </a:spcBef>
              <a:spcAft>
                <a:spcPts val="0"/>
              </a:spcAft>
            </a:pPr>
            <a:r>
              <a:rPr sz="1950" b="1" lang="en-US">
                <a:solidFill>
                  <a:srgbClr val="262626"/>
                </a:solidFill>
                <a:latin typeface="Manrope"/>
              </a:rPr>
              <a:t>Executive brief · Demo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667250" y="3009900"/>
            <a:ext cx="6810375" cy="1733550"/>
          </a:xfrm>
          <a:prstGeom prst="roundRect">
            <a:avLst>
              <a:gd name="adj" fmla="val 3846"/>
            </a:avLst>
          </a:prstGeom>
          <a:solidFill>
            <a:srgbClr val="FFF2DD"/>
          </a:solidFill>
          <a:ln w="9525">
            <a:solidFill>
              <a:srgbClr val="FFF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86325" y="3209925"/>
            <a:ext cx="6362700" cy="10668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2352"/>
              </a:lnSpc>
              <a:spcBef>
                <a:spcPts val="0"/>
              </a:spcBef>
              <a:spcAft>
                <a:spcPts val="0"/>
              </a:spcAft>
            </a:pPr>
            <a:r>
              <a:rPr sz="2100" b="1" lang="en-US">
                <a:solidFill>
                  <a:srgbClr val="262626"/>
                </a:solidFill>
                <a:latin typeface="Manrope"/>
              </a:rPr>
              <a:t>A size request needs follow-up.</a:t>
            </a:r>
          </a:p>
          <a:p>
            <a:pPr algn="l" rtl="0">
              <a:lnSpc>
                <a:spcPts val="2352"/>
              </a:lnSpc>
              <a:spcBef>
                <a:spcPts val="0"/>
              </a:spcBef>
              <a:spcAft>
                <a:spcPts val="0"/>
              </a:spcAft>
            </a:pPr>
            <a:r>
              <a:rPr sz="2100" b="1" lang="en-US">
                <a:solidFill>
                  <a:srgbClr val="262626"/>
                </a:solidFill>
                <a:latin typeface="Manrope"/>
              </a:rPr>
              <a:t>Check branch stock and the last</a:t>
            </a:r>
          </a:p>
          <a:p>
            <a:pPr algn="l" rtl="0">
              <a:lnSpc>
                <a:spcPts val="2352"/>
              </a:lnSpc>
              <a:spcBef>
                <a:spcPts val="0"/>
              </a:spcBef>
              <a:spcAft>
                <a:spcPts val="0"/>
              </a:spcAft>
            </a:pPr>
            <a:r>
              <a:rPr sz="2100" b="1" lang="en-US">
                <a:solidFill>
                  <a:srgbClr val="262626"/>
                </a:solidFill>
                <a:latin typeface="Manrope"/>
              </a:rPr>
              <a:t>recorded service interaction.</a:t>
            </a:r>
          </a:p>
        </p:txBody>
      </p:sp>
      <p:pic>
        <p:nvPicPr>
          <p:cNvPr id="30" name="Picture 29" descr="icon-lin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86300" y="5086350"/>
            <a:ext cx="257175" cy="257175"/>
          </a:xfrm>
          <a:prstGeom prst="rect">
            <a:avLst/>
          </a:prstGeom>
          <a:effectLst/>
        </p:spPr>
      </p:pic>
      <p:sp>
        <p:nvSpPr>
          <p:cNvPr id="31" name="TextBox 30"/>
          <p:cNvSpPr txBox="1"/>
          <p:nvPr/>
        </p:nvSpPr>
        <p:spPr>
          <a:xfrm>
            <a:off x="5105400" y="5019675"/>
            <a:ext cx="6315075" cy="5905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lang="en-US">
                <a:solidFill>
                  <a:srgbClr val="68645E"/>
                </a:solidFill>
                <a:latin typeface="Manrope"/>
              </a:rPr>
              <a:t>DEMO-STOCK-A-M · DEMO-CALL-1008</a:t>
            </a:r>
          </a:p>
          <a:p>
            <a:pPr algn="l" rtl="0"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lang="en-US">
                <a:solidFill>
                  <a:srgbClr val="68645E"/>
                </a:solidFill>
                <a:latin typeface="Manrope"/>
              </a:rPr>
              <a:t>Open source records before acting.</a:t>
            </a:r>
          </a:p>
        </p:txBody>
      </p:sp>
    </p:spTree>
  </p:cSld>
  <p:clrMapOvr>
    <a:masterClrMapping/>
  </p:clrMapOvr>
  <p:transition spd="med" advClick="1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/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ra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58762"/>
            <a:ext cx="409575" cy="273050"/>
          </a:xfrm>
          <a:prstGeom prst="rect">
            <a:avLst/>
          </a:prstGeom>
          <a:effectLst/>
        </p:spPr>
      </p:pic>
      <p:sp>
        <p:nvSpPr>
          <p:cNvPr id="3" name="TextBox 2"/>
          <p:cNvSpPr txBox="1"/>
          <p:nvPr/>
        </p:nvSpPr>
        <p:spPr>
          <a:xfrm>
            <a:off x="990600" y="276225"/>
            <a:ext cx="3571875" cy="2952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1" lang="en-US">
                <a:solidFill>
                  <a:srgbClr val="262626"/>
                </a:solidFill>
                <a:latin typeface="Manrope"/>
              </a:rPr>
              <a:t>GRINDCTRL × Concrete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15075" y="276225"/>
            <a:ext cx="5419725" cy="2857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344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en-US">
                <a:solidFill>
                  <a:srgbClr val="68645E"/>
                </a:solidFill>
                <a:latin typeface="Manrope"/>
              </a:rPr>
              <a:t>Part 04 ·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95350"/>
            <a:ext cx="11277600" cy="4953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3192"/>
              </a:lnSpc>
              <a:spcBef>
                <a:spcPts val="0"/>
              </a:spcBef>
              <a:spcAft>
                <a:spcPts val="0"/>
              </a:spcAft>
            </a:pPr>
            <a:r>
              <a:rPr sz="2850" b="1" lang="en-US">
                <a:solidFill>
                  <a:srgbClr val="262626"/>
                </a:solidFill>
                <a:latin typeface="Manrope"/>
              </a:rPr>
              <a:t>One connected vision. A practical first step.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6381750"/>
            <a:ext cx="11277600" cy="0"/>
          </a:xfrm>
          <a:prstGeom prst="line">
            <a:avLst/>
          </a:prstGeom>
          <a:ln w="9525">
            <a:solidFill>
              <a:srgbClr val="E6E3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6505575"/>
            <a:ext cx="1028700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176"/>
              </a:lnSpc>
              <a:spcBef>
                <a:spcPts val="0"/>
              </a:spcBef>
              <a:spcAft>
                <a:spcPts val="0"/>
              </a:spcAft>
            </a:pPr>
            <a:r>
              <a:rPr sz="1050" b="0" lang="en-US">
                <a:solidFill>
                  <a:srgbClr val="68645E"/>
                </a:solidFill>
                <a:latin typeface="Manrope"/>
              </a:rPr>
              <a:t>Proposed experience · Illustrative imagery / UI · Demo records · Sources and permissions to validate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15650" y="6505575"/>
            <a:ext cx="81915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176"/>
              </a:lnSpc>
              <a:spcBef>
                <a:spcPts val="0"/>
              </a:spcBef>
              <a:spcAft>
                <a:spcPts val="0"/>
              </a:spcAft>
            </a:pPr>
            <a:r>
              <a:rPr sz="1050" b="0" lang="en-US">
                <a:solidFill>
                  <a:srgbClr val="262626"/>
                </a:solidFill>
                <a:latin typeface="Manrope"/>
              </a:rPr>
              <a:t>09 / 09</a:t>
            </a:r>
          </a:p>
        </p:txBody>
      </p:sp>
      <p:pic>
        <p:nvPicPr>
          <p:cNvPr id="9" name="Picture 8" descr="S05_storyboard.png"/>
          <p:cNvPicPr>
            <a:picLocks noChangeAspect="1"/>
          </p:cNvPicPr>
          <p:nvPr/>
        </p:nvPicPr>
        <p:blipFill>
          <a:blip r:embed="rId3"/>
          <a:srcRect l="29067" r="30383" t="26249" b="12327"/>
          <a:stretch>
            <a:fillRect/>
          </a:stretch>
        </p:blipFill>
        <p:spPr>
          <a:xfrm>
            <a:off x="457200" y="1600200"/>
            <a:ext cx="4286250" cy="3648075"/>
          </a:xfrm>
          <a:prstGeom prst="rect">
            <a:avLst/>
          </a:prstGeom>
          <a:effectLst/>
        </p:spPr>
      </p:pic>
      <p:sp>
        <p:nvSpPr>
          <p:cNvPr id="10" name="Rectangle 9"/>
          <p:cNvSpPr/>
          <p:nvPr/>
        </p:nvSpPr>
        <p:spPr>
          <a:xfrm>
            <a:off x="457200" y="5257800"/>
            <a:ext cx="4286250" cy="895350"/>
          </a:xfrm>
          <a:prstGeom prst="rect">
            <a:avLst/>
          </a:prstGeom>
          <a:solidFill>
            <a:srgbClr val="FFFFFF"/>
          </a:solidFill>
          <a:ln w="9525">
            <a:solidFill>
              <a:srgbClr val="E6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5419725"/>
            <a:ext cx="3838575" cy="6381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875" b="1" lang="en-US">
                <a:solidFill>
                  <a:srgbClr val="262626"/>
                </a:solidFill>
                <a:latin typeface="Manrope"/>
              </a:rPr>
              <a:t>Customer experience</a:t>
            </a:r>
          </a:p>
          <a:p>
            <a:pPr algn="l" rtl="0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875" b="1" lang="en-US">
                <a:solidFill>
                  <a:srgbClr val="262626"/>
                </a:solidFill>
                <a:latin typeface="Manrope"/>
              </a:rPr>
              <a:t>with people in control.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962525" y="1600200"/>
            <a:ext cx="6772275" cy="4552950"/>
          </a:xfrm>
          <a:prstGeom prst="roundRect">
            <a:avLst>
              <a:gd name="adj" fmla="val 2092"/>
            </a:avLst>
          </a:prstGeom>
          <a:solidFill>
            <a:srgbClr val="FFFFFF"/>
          </a:solidFill>
          <a:ln w="9525">
            <a:solidFill>
              <a:srgbClr val="E6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10175" y="1847850"/>
            <a:ext cx="6267450" cy="3905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2268"/>
              </a:lnSpc>
              <a:spcBef>
                <a:spcPts val="0"/>
              </a:spcBef>
              <a:spcAft>
                <a:spcPts val="0"/>
              </a:spcAft>
            </a:pPr>
            <a:r>
              <a:rPr sz="2025" b="1" lang="en-US">
                <a:solidFill>
                  <a:srgbClr val="262626"/>
                </a:solidFill>
                <a:latin typeface="Manrope"/>
              </a:rPr>
              <a:t>Discover → pilot → measure → expand</a:t>
            </a:r>
          </a:p>
        </p:txBody>
      </p:sp>
      <p:pic>
        <p:nvPicPr>
          <p:cNvPr id="14" name="Picture 13" descr="icon-acto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29225" y="2514600"/>
            <a:ext cx="257175" cy="257175"/>
          </a:xfrm>
          <a:prstGeom prst="rect">
            <a:avLst/>
          </a:prstGeom>
          <a:effectLst/>
        </p:spPr>
      </p:pic>
      <p:sp>
        <p:nvSpPr>
          <p:cNvPr id="15" name="TextBox 14"/>
          <p:cNvSpPr txBox="1"/>
          <p:nvPr/>
        </p:nvSpPr>
        <p:spPr>
          <a:xfrm>
            <a:off x="5629275" y="2466975"/>
            <a:ext cx="1524000" cy="3333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764"/>
              </a:lnSpc>
              <a:spcBef>
                <a:spcPts val="0"/>
              </a:spcBef>
              <a:spcAft>
                <a:spcPts val="0"/>
              </a:spcAft>
            </a:pPr>
            <a:r>
              <a:rPr sz="1575" b="1" lang="en-US">
                <a:solidFill>
                  <a:srgbClr val="262626"/>
                </a:solidFill>
                <a:latin typeface="Manrope"/>
              </a:rPr>
              <a:t>Customer</a:t>
            </a:r>
          </a:p>
        </p:txBody>
      </p:sp>
      <p:pic>
        <p:nvPicPr>
          <p:cNvPr id="16" name="Picture 15" descr="icon-speech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34250" y="2514600"/>
            <a:ext cx="257175" cy="257175"/>
          </a:xfrm>
          <a:prstGeom prst="rect">
            <a:avLst/>
          </a:prstGeom>
          <a:effectLst/>
        </p:spPr>
      </p:pic>
      <p:sp>
        <p:nvSpPr>
          <p:cNvPr id="17" name="TextBox 16"/>
          <p:cNvSpPr txBox="1"/>
          <p:nvPr/>
        </p:nvSpPr>
        <p:spPr>
          <a:xfrm>
            <a:off x="7734300" y="2466975"/>
            <a:ext cx="1524000" cy="3333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764"/>
              </a:lnSpc>
              <a:spcBef>
                <a:spcPts val="0"/>
              </a:spcBef>
              <a:spcAft>
                <a:spcPts val="0"/>
              </a:spcAft>
            </a:pPr>
            <a:r>
              <a:rPr sz="1575" b="1" lang="en-US">
                <a:solidFill>
                  <a:srgbClr val="262626"/>
                </a:solidFill>
                <a:latin typeface="Manrope"/>
              </a:rPr>
              <a:t>Teams</a:t>
            </a:r>
          </a:p>
        </p:txBody>
      </p:sp>
      <p:pic>
        <p:nvPicPr>
          <p:cNvPr id="18" name="Picture 17" descr="icon-setting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39275" y="2514600"/>
            <a:ext cx="257175" cy="257175"/>
          </a:xfrm>
          <a:prstGeom prst="rect">
            <a:avLst/>
          </a:prstGeom>
          <a:effectLst/>
        </p:spPr>
      </p:pic>
      <p:sp>
        <p:nvSpPr>
          <p:cNvPr id="19" name="TextBox 18"/>
          <p:cNvSpPr txBox="1"/>
          <p:nvPr/>
        </p:nvSpPr>
        <p:spPr>
          <a:xfrm>
            <a:off x="9839325" y="2466975"/>
            <a:ext cx="1524000" cy="3333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764"/>
              </a:lnSpc>
              <a:spcBef>
                <a:spcPts val="0"/>
              </a:spcBef>
              <a:spcAft>
                <a:spcPts val="0"/>
              </a:spcAft>
            </a:pPr>
            <a:r>
              <a:rPr sz="1575" b="1" lang="en-US">
                <a:solidFill>
                  <a:srgbClr val="262626"/>
                </a:solidFill>
                <a:latin typeface="Manrope"/>
              </a:rPr>
              <a:t>Management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219700" y="2981325"/>
            <a:ext cx="6276975" cy="0"/>
          </a:xfrm>
          <a:prstGeom prst="line">
            <a:avLst/>
          </a:prstGeom>
          <a:ln w="9525">
            <a:solidFill>
              <a:srgbClr val="E6E3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5238750" y="3419475"/>
            <a:ext cx="247650" cy="247650"/>
          </a:xfrm>
          <a:prstGeom prst="ellipse">
            <a:avLst/>
          </a:prstGeom>
          <a:solidFill>
            <a:srgbClr val="FFF2DD"/>
          </a:solidFill>
          <a:ln w="9525">
            <a:solidFill>
              <a:srgbClr val="FFF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icon-qualit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86375" y="3467100"/>
            <a:ext cx="152400" cy="152400"/>
          </a:xfrm>
          <a:prstGeom prst="rect">
            <a:avLst/>
          </a:prstGeom>
          <a:effectLst/>
        </p:spPr>
      </p:pic>
      <p:sp>
        <p:nvSpPr>
          <p:cNvPr id="23" name="TextBox 22"/>
          <p:cNvSpPr txBox="1"/>
          <p:nvPr/>
        </p:nvSpPr>
        <p:spPr>
          <a:xfrm>
            <a:off x="5676900" y="3371850"/>
            <a:ext cx="5800725" cy="3524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2184"/>
              </a:lnSpc>
              <a:spcBef>
                <a:spcPts val="0"/>
              </a:spcBef>
              <a:spcAft>
                <a:spcPts val="0"/>
              </a:spcAft>
            </a:pPr>
            <a:r>
              <a:rPr sz="1950" b="1" lang="en-US">
                <a:solidFill>
                  <a:srgbClr val="262626"/>
                </a:solidFill>
                <a:latin typeface="Manrope"/>
              </a:rPr>
              <a:t>Authorized, scoped pilot</a:t>
            </a:r>
          </a:p>
        </p:txBody>
      </p:sp>
      <p:sp>
        <p:nvSpPr>
          <p:cNvPr id="24" name="Oval 23"/>
          <p:cNvSpPr/>
          <p:nvPr/>
        </p:nvSpPr>
        <p:spPr>
          <a:xfrm>
            <a:off x="5238750" y="4086225"/>
            <a:ext cx="247650" cy="247650"/>
          </a:xfrm>
          <a:prstGeom prst="ellipse">
            <a:avLst/>
          </a:prstGeom>
          <a:solidFill>
            <a:srgbClr val="FFF2DD"/>
          </a:solidFill>
          <a:ln w="9525">
            <a:solidFill>
              <a:srgbClr val="FFF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con-che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86375" y="4133850"/>
            <a:ext cx="152400" cy="152400"/>
          </a:xfrm>
          <a:prstGeom prst="rect">
            <a:avLst/>
          </a:prstGeom>
          <a:effectLst/>
        </p:spPr>
      </p:pic>
      <p:sp>
        <p:nvSpPr>
          <p:cNvPr id="26" name="TextBox 25"/>
          <p:cNvSpPr txBox="1"/>
          <p:nvPr/>
        </p:nvSpPr>
        <p:spPr>
          <a:xfrm>
            <a:off x="5676900" y="4038600"/>
            <a:ext cx="5800725" cy="3524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2184"/>
              </a:lnSpc>
              <a:spcBef>
                <a:spcPts val="0"/>
              </a:spcBef>
              <a:spcAft>
                <a:spcPts val="0"/>
              </a:spcAft>
            </a:pPr>
            <a:r>
              <a:rPr sz="1950" b="1" lang="en-US">
                <a:solidFill>
                  <a:srgbClr val="262626"/>
                </a:solidFill>
                <a:latin typeface="Manrope"/>
              </a:rPr>
              <a:t>Measure the actual result</a:t>
            </a:r>
          </a:p>
        </p:txBody>
      </p:sp>
      <p:sp>
        <p:nvSpPr>
          <p:cNvPr id="27" name="Oval 26"/>
          <p:cNvSpPr/>
          <p:nvPr/>
        </p:nvSpPr>
        <p:spPr>
          <a:xfrm>
            <a:off x="5238750" y="4752975"/>
            <a:ext cx="247650" cy="247650"/>
          </a:xfrm>
          <a:prstGeom prst="ellipse">
            <a:avLst/>
          </a:prstGeom>
          <a:solidFill>
            <a:srgbClr val="FFF2DD"/>
          </a:solidFill>
          <a:ln w="9525">
            <a:solidFill>
              <a:srgbClr val="FFF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icon-link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86375" y="4800600"/>
            <a:ext cx="152400" cy="152400"/>
          </a:xfrm>
          <a:prstGeom prst="rect">
            <a:avLst/>
          </a:prstGeom>
          <a:effectLst/>
        </p:spPr>
      </p:pic>
      <p:sp>
        <p:nvSpPr>
          <p:cNvPr id="29" name="TextBox 28"/>
          <p:cNvSpPr txBox="1"/>
          <p:nvPr/>
        </p:nvSpPr>
        <p:spPr>
          <a:xfrm>
            <a:off x="5676900" y="4705350"/>
            <a:ext cx="5800725" cy="3524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2184"/>
              </a:lnSpc>
              <a:spcBef>
                <a:spcPts val="0"/>
              </a:spcBef>
              <a:spcAft>
                <a:spcPts val="0"/>
              </a:spcAft>
            </a:pPr>
            <a:r>
              <a:rPr sz="1950" b="1" lang="en-US">
                <a:solidFill>
                  <a:srgbClr val="262626"/>
                </a:solidFill>
                <a:latin typeface="Manrope"/>
              </a:rPr>
              <a:t>Expand from evidence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29225" y="5543550"/>
            <a:ext cx="6219825" cy="4000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848"/>
              </a:lnSpc>
              <a:spcBef>
                <a:spcPts val="0"/>
              </a:spcBef>
              <a:spcAft>
                <a:spcPts val="0"/>
              </a:spcAft>
            </a:pPr>
            <a:r>
              <a:rPr sz="1650" b="1" lang="en-US">
                <a:solidFill>
                  <a:srgbClr val="965318"/>
                </a:solidFill>
                <a:latin typeface="Manrope"/>
              </a:rPr>
              <a:t>GRINDCTRL × Concrete · Proposed collaboration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162550" y="3248025"/>
            <a:ext cx="6353175" cy="1914525"/>
          </a:xfrm>
          <a:prstGeom prst="roundRect">
            <a:avLst>
              <a:gd name="adj" fmla="val 10000"/>
            </a:avLst>
          </a:prstGeom>
          <a:noFill/>
          <a:ln w="19050">
            <a:solidFill>
              <a:srgbClr val="FFBA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/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ra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58762"/>
            <a:ext cx="409575" cy="273050"/>
          </a:xfrm>
          <a:prstGeom prst="rect">
            <a:avLst/>
          </a:prstGeom>
          <a:effectLst/>
        </p:spPr>
      </p:pic>
      <p:sp>
        <p:nvSpPr>
          <p:cNvPr id="3" name="TextBox 2"/>
          <p:cNvSpPr txBox="1"/>
          <p:nvPr/>
        </p:nvSpPr>
        <p:spPr>
          <a:xfrm>
            <a:off x="990600" y="276225"/>
            <a:ext cx="3571875" cy="2952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1" lang="en-US">
                <a:solidFill>
                  <a:srgbClr val="262626"/>
                </a:solidFill>
                <a:latin typeface="Manrope"/>
              </a:rPr>
              <a:t>GRINDCTRL × Concrete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15075" y="276225"/>
            <a:ext cx="5419725" cy="2857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344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en-US">
                <a:solidFill>
                  <a:srgbClr val="68645E"/>
                </a:solidFill>
                <a:latin typeface="Manrope"/>
              </a:rPr>
              <a:t>Part 04 · AI e-commerce assistant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95350"/>
            <a:ext cx="11277600" cy="4953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3192"/>
              </a:lnSpc>
              <a:spcBef>
                <a:spcPts val="0"/>
              </a:spcBef>
              <a:spcAft>
                <a:spcPts val="0"/>
              </a:spcAft>
            </a:pPr>
            <a:r>
              <a:rPr sz="2850" b="1" lang="en-US">
                <a:solidFill>
                  <a:srgbClr val="262626"/>
                </a:solidFill>
                <a:latin typeface="Manrope"/>
              </a:rPr>
              <a:t>Size guidance requires a valid product source.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6381750"/>
            <a:ext cx="11277600" cy="0"/>
          </a:xfrm>
          <a:prstGeom prst="line">
            <a:avLst/>
          </a:prstGeom>
          <a:ln w="9525">
            <a:solidFill>
              <a:srgbClr val="E6E3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6505575"/>
            <a:ext cx="1028700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176"/>
              </a:lnSpc>
              <a:spcBef>
                <a:spcPts val="0"/>
              </a:spcBef>
              <a:spcAft>
                <a:spcPts val="0"/>
              </a:spcAft>
            </a:pPr>
            <a:r>
              <a:rPr sz="1050" b="0" lang="en-US">
                <a:solidFill>
                  <a:srgbClr val="68645E"/>
                </a:solidFill>
                <a:latin typeface="Manrope"/>
              </a:rPr>
              <a:t>Proposed experience · Illustrative imagery / UI · Demo records · Sources and permissions to validate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15650" y="6505575"/>
            <a:ext cx="81915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176"/>
              </a:lnSpc>
              <a:spcBef>
                <a:spcPts val="0"/>
              </a:spcBef>
              <a:spcAft>
                <a:spcPts val="0"/>
              </a:spcAft>
            </a:pPr>
            <a:r>
              <a:rPr sz="1050" b="0" lang="en-US">
                <a:solidFill>
                  <a:srgbClr val="262626"/>
                </a:solidFill>
                <a:latin typeface="Manrope"/>
              </a:rPr>
              <a:t>Appendix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38300"/>
            <a:ext cx="11277600" cy="4552950"/>
          </a:xfrm>
          <a:prstGeom prst="roundRect">
            <a:avLst>
              <a:gd name="adj" fmla="val 2092"/>
            </a:avLst>
          </a:prstGeom>
          <a:solidFill>
            <a:srgbClr val="EDEAE4"/>
          </a:solidFill>
          <a:ln w="9525">
            <a:solidFill>
              <a:srgbClr val="EDE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" y="1600200"/>
            <a:ext cx="11277600" cy="4552950"/>
          </a:xfrm>
          <a:prstGeom prst="roundRect">
            <a:avLst>
              <a:gd name="adj" fmla="val 2092"/>
            </a:avLst>
          </a:prstGeom>
          <a:solidFill>
            <a:srgbClr val="FFFFFF"/>
          </a:solidFill>
          <a:ln w="9525">
            <a:solidFill>
              <a:srgbClr val="E6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6750" y="1771650"/>
            <a:ext cx="10858500" cy="2952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lang="en-US">
                <a:solidFill>
                  <a:srgbClr val="262626"/>
                </a:solidFill>
                <a:latin typeface="Manrope"/>
              </a:rPr>
              <a:t>Concrete · Proposed online-store assistant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57200" y="2200275"/>
            <a:ext cx="11277600" cy="0"/>
          </a:xfrm>
          <a:prstGeom prst="line">
            <a:avLst/>
          </a:prstGeom>
          <a:ln w="9525">
            <a:solidFill>
              <a:srgbClr val="E6E3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23900" y="2390775"/>
            <a:ext cx="10744200" cy="581025"/>
          </a:xfrm>
          <a:prstGeom prst="roundRect">
            <a:avLst>
              <a:gd name="adj" fmla="val 11475"/>
            </a:avLst>
          </a:prstGeom>
          <a:solidFill>
            <a:srgbClr val="F4F2EE"/>
          </a:solidFill>
          <a:ln w="9525">
            <a:solidFill>
              <a:srgbClr val="F4F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con-sear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5350" y="2581275"/>
            <a:ext cx="228600" cy="228600"/>
          </a:xfrm>
          <a:prstGeom prst="rect">
            <a:avLst/>
          </a:prstGeom>
          <a:effectLst/>
        </p:spPr>
      </p:pic>
      <p:sp>
        <p:nvSpPr>
          <p:cNvPr id="15" name="TextBox 14"/>
          <p:cNvSpPr txBox="1"/>
          <p:nvPr/>
        </p:nvSpPr>
        <p:spPr>
          <a:xfrm>
            <a:off x="1323975" y="2543175"/>
            <a:ext cx="9896475" cy="3619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875" b="0" lang="en-US">
                <a:solidFill>
                  <a:srgbClr val="262626"/>
                </a:solidFill>
                <a:latin typeface="Manrope"/>
              </a:rPr>
              <a:t>A shirt for a smart-casual evening.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3900" y="3352800"/>
            <a:ext cx="2066925" cy="2581275"/>
          </a:xfrm>
          <a:prstGeom prst="roundRect">
            <a:avLst>
              <a:gd name="adj" fmla="val 2304"/>
            </a:avLst>
          </a:prstGeom>
          <a:solidFill>
            <a:srgbClr val="F4F2EE"/>
          </a:solidFill>
          <a:ln w="9525">
            <a:solidFill>
              <a:srgbClr val="F4F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S02_storyboard.png"/>
          <p:cNvPicPr>
            <a:picLocks noChangeAspect="1"/>
          </p:cNvPicPr>
          <p:nvPr/>
        </p:nvPicPr>
        <p:blipFill>
          <a:blip r:embed="rId4"/>
          <a:srcRect l="66746" r="25239" t="37726" b="43677"/>
          <a:stretch>
            <a:fillRect/>
          </a:stretch>
        </p:blipFill>
        <p:spPr>
          <a:xfrm>
            <a:off x="1006139" y="3409950"/>
            <a:ext cx="1502446" cy="1962150"/>
          </a:xfrm>
          <a:prstGeom prst="rect">
            <a:avLst/>
          </a:prstGeom>
          <a:effectLst/>
        </p:spPr>
      </p:pic>
      <p:sp>
        <p:nvSpPr>
          <p:cNvPr id="18" name="TextBox 17"/>
          <p:cNvSpPr txBox="1"/>
          <p:nvPr/>
        </p:nvSpPr>
        <p:spPr>
          <a:xfrm>
            <a:off x="838200" y="5543550"/>
            <a:ext cx="1838325" cy="2857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764"/>
              </a:lnSpc>
              <a:spcBef>
                <a:spcPts val="0"/>
              </a:spcBef>
              <a:spcAft>
                <a:spcPts val="0"/>
              </a:spcAft>
            </a:pPr>
            <a:r>
              <a:rPr sz="1575" b="1" lang="en-US">
                <a:solidFill>
                  <a:srgbClr val="262626"/>
                </a:solidFill>
                <a:latin typeface="Manrope"/>
              </a:rPr>
              <a:t>Shirt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05150" y="3324225"/>
            <a:ext cx="5276850" cy="3238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2184"/>
              </a:lnSpc>
              <a:spcBef>
                <a:spcPts val="0"/>
              </a:spcBef>
              <a:spcAft>
                <a:spcPts val="0"/>
              </a:spcAft>
            </a:pPr>
            <a:r>
              <a:rPr sz="1950" b="1" lang="en-US">
                <a:solidFill>
                  <a:srgbClr val="262626"/>
                </a:solidFill>
                <a:latin typeface="Manrope"/>
              </a:rPr>
              <a:t>Size-chart guidance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05150" y="3790950"/>
            <a:ext cx="5267325" cy="2762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764"/>
              </a:lnSpc>
              <a:spcBef>
                <a:spcPts val="0"/>
              </a:spcBef>
              <a:spcAft>
                <a:spcPts val="0"/>
              </a:spcAft>
            </a:pPr>
            <a:r>
              <a:rPr sz="1575" b="0" lang="en-US">
                <a:solidFill>
                  <a:srgbClr val="262626"/>
                </a:solidFill>
                <a:latin typeface="Manrope"/>
              </a:rPr>
              <a:t>Compare the product’s measurements.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105150" y="4181475"/>
            <a:ext cx="5267325" cy="0"/>
          </a:xfrm>
          <a:prstGeom prst="line">
            <a:avLst/>
          </a:prstGeom>
          <a:ln w="9525">
            <a:solidFill>
              <a:srgbClr val="E6E3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Picture 21" descr="icon-lin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05150" y="4438650"/>
            <a:ext cx="209550" cy="209550"/>
          </a:xfrm>
          <a:prstGeom prst="rect">
            <a:avLst/>
          </a:prstGeom>
          <a:effectLst/>
        </p:spPr>
      </p:pic>
      <p:sp>
        <p:nvSpPr>
          <p:cNvPr id="23" name="TextBox 22"/>
          <p:cNvSpPr txBox="1"/>
          <p:nvPr/>
        </p:nvSpPr>
        <p:spPr>
          <a:xfrm>
            <a:off x="3486150" y="4410075"/>
            <a:ext cx="3286125" cy="2952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764"/>
              </a:lnSpc>
              <a:spcBef>
                <a:spcPts val="0"/>
              </a:spcBef>
              <a:spcAft>
                <a:spcPts val="0"/>
              </a:spcAft>
            </a:pPr>
            <a:r>
              <a:rPr sz="1575" b="0" lang="en-US">
                <a:solidFill>
                  <a:srgbClr val="262626"/>
                </a:solidFill>
                <a:latin typeface="Manrope"/>
              </a:rPr>
              <a:t>Chest measurement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15150" y="4410075"/>
            <a:ext cx="1457325" cy="2952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428"/>
              </a:lnSpc>
              <a:spcBef>
                <a:spcPts val="0"/>
              </a:spcBef>
              <a:spcAft>
                <a:spcPts val="0"/>
              </a:spcAft>
            </a:pPr>
            <a:r>
              <a:rPr sz="1275" b="0" lang="en-US">
                <a:solidFill>
                  <a:srgbClr val="68645E"/>
                </a:solidFill>
                <a:latin typeface="Manrope"/>
              </a:rPr>
              <a:t>Source required</a:t>
            </a:r>
          </a:p>
        </p:txBody>
      </p:sp>
      <p:pic>
        <p:nvPicPr>
          <p:cNvPr id="25" name="Picture 24" descr="icon-qualit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05150" y="4867275"/>
            <a:ext cx="209550" cy="209550"/>
          </a:xfrm>
          <a:prstGeom prst="rect">
            <a:avLst/>
          </a:prstGeom>
          <a:effectLst/>
        </p:spPr>
      </p:pic>
      <p:sp>
        <p:nvSpPr>
          <p:cNvPr id="26" name="TextBox 25"/>
          <p:cNvSpPr txBox="1"/>
          <p:nvPr/>
        </p:nvSpPr>
        <p:spPr>
          <a:xfrm>
            <a:off x="3486150" y="4838700"/>
            <a:ext cx="3286125" cy="2952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764"/>
              </a:lnSpc>
              <a:spcBef>
                <a:spcPts val="0"/>
              </a:spcBef>
              <a:spcAft>
                <a:spcPts val="0"/>
              </a:spcAft>
            </a:pPr>
            <a:r>
              <a:rPr sz="1575" b="0" lang="en-US">
                <a:solidFill>
                  <a:srgbClr val="262626"/>
                </a:solidFill>
                <a:latin typeface="Manrope"/>
              </a:rPr>
              <a:t>Garment length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15150" y="4838700"/>
            <a:ext cx="1457325" cy="2952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428"/>
              </a:lnSpc>
              <a:spcBef>
                <a:spcPts val="0"/>
              </a:spcBef>
              <a:spcAft>
                <a:spcPts val="0"/>
              </a:spcAft>
            </a:pPr>
            <a:r>
              <a:rPr sz="1275" b="0" lang="en-US">
                <a:solidFill>
                  <a:srgbClr val="68645E"/>
                </a:solidFill>
                <a:latin typeface="Manrope"/>
              </a:rPr>
              <a:t>Source required</a:t>
            </a:r>
          </a:p>
        </p:txBody>
      </p:sp>
    </p:spTree>
  </p:cSld>
  <p:clrMapOvr>
    <a:masterClrMapping/>
  </p:clrMapOvr>
  <p:transition spd="med" advClick="1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/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ra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58762"/>
            <a:ext cx="409575" cy="273050"/>
          </a:xfrm>
          <a:prstGeom prst="rect">
            <a:avLst/>
          </a:prstGeom>
          <a:effectLst/>
        </p:spPr>
      </p:pic>
      <p:sp>
        <p:nvSpPr>
          <p:cNvPr id="3" name="TextBox 2"/>
          <p:cNvSpPr txBox="1"/>
          <p:nvPr/>
        </p:nvSpPr>
        <p:spPr>
          <a:xfrm>
            <a:off x="990600" y="276225"/>
            <a:ext cx="3571875" cy="2952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1" lang="en-US">
                <a:solidFill>
                  <a:srgbClr val="262626"/>
                </a:solidFill>
                <a:latin typeface="Manrope"/>
              </a:rPr>
              <a:t>GRINDCTRL × Concrete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15075" y="276225"/>
            <a:ext cx="5419725" cy="2857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344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en-US">
                <a:solidFill>
                  <a:srgbClr val="68645E"/>
                </a:solidFill>
                <a:latin typeface="Manrope"/>
              </a:rPr>
              <a:t>Part 04 · Contact center copilot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95350"/>
            <a:ext cx="11277600" cy="4953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3192"/>
              </a:lnSpc>
              <a:spcBef>
                <a:spcPts val="0"/>
              </a:spcBef>
              <a:spcAft>
                <a:spcPts val="0"/>
              </a:spcAft>
            </a:pPr>
            <a:r>
              <a:rPr sz="2850" b="1" lang="en-US">
                <a:solidFill>
                  <a:srgbClr val="262626"/>
                </a:solidFill>
                <a:latin typeface="Manrope"/>
              </a:rPr>
              <a:t>Ground AI guidance in an approved policy.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6381750"/>
            <a:ext cx="11277600" cy="0"/>
          </a:xfrm>
          <a:prstGeom prst="line">
            <a:avLst/>
          </a:prstGeom>
          <a:ln w="9525">
            <a:solidFill>
              <a:srgbClr val="E6E3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6505575"/>
            <a:ext cx="1028700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176"/>
              </a:lnSpc>
              <a:spcBef>
                <a:spcPts val="0"/>
              </a:spcBef>
              <a:spcAft>
                <a:spcPts val="0"/>
              </a:spcAft>
            </a:pPr>
            <a:r>
              <a:rPr sz="1050" b="0" lang="en-US">
                <a:solidFill>
                  <a:srgbClr val="68645E"/>
                </a:solidFill>
                <a:latin typeface="Manrope"/>
              </a:rPr>
              <a:t>Proposed experience · Illustrative imagery / UI · Demo records · Sources and permissions to validate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15650" y="6505575"/>
            <a:ext cx="81915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176"/>
              </a:lnSpc>
              <a:spcBef>
                <a:spcPts val="0"/>
              </a:spcBef>
              <a:spcAft>
                <a:spcPts val="0"/>
              </a:spcAft>
            </a:pPr>
            <a:r>
              <a:rPr sz="1050" b="0" lang="en-US">
                <a:solidFill>
                  <a:srgbClr val="262626"/>
                </a:solidFill>
                <a:latin typeface="Manrope"/>
              </a:rPr>
              <a:t>Appendix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38300"/>
            <a:ext cx="11277600" cy="4552950"/>
          </a:xfrm>
          <a:prstGeom prst="roundRect">
            <a:avLst>
              <a:gd name="adj" fmla="val 2092"/>
            </a:avLst>
          </a:prstGeom>
          <a:solidFill>
            <a:srgbClr val="EDEAE4"/>
          </a:solidFill>
          <a:ln w="9525">
            <a:solidFill>
              <a:srgbClr val="EDE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" y="1600200"/>
            <a:ext cx="11277600" cy="4552950"/>
          </a:xfrm>
          <a:prstGeom prst="roundRect">
            <a:avLst>
              <a:gd name="adj" fmla="val 2092"/>
            </a:avLst>
          </a:prstGeom>
          <a:solidFill>
            <a:srgbClr val="FFFFFF"/>
          </a:solidFill>
          <a:ln w="9525">
            <a:solidFill>
              <a:srgbClr val="E6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6750" y="1771650"/>
            <a:ext cx="10858500" cy="2952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lang="en-US">
                <a:solidFill>
                  <a:srgbClr val="262626"/>
                </a:solidFill>
                <a:latin typeface="Manrope"/>
              </a:rPr>
              <a:t>Genesys · Proposed copilot experience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57200" y="2200275"/>
            <a:ext cx="11277600" cy="0"/>
          </a:xfrm>
          <a:prstGeom prst="line">
            <a:avLst/>
          </a:prstGeom>
          <a:ln w="9525">
            <a:solidFill>
              <a:srgbClr val="E6E3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 descr="genesy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0" y="1768248"/>
            <a:ext cx="1257300" cy="244929"/>
          </a:xfrm>
          <a:prstGeom prst="rect">
            <a:avLst/>
          </a:prstGeom>
          <a:effectLst/>
        </p:spPr>
      </p:pic>
      <p:pic>
        <p:nvPicPr>
          <p:cNvPr id="14" name="Picture 13" descr="S04_storyboard.png"/>
          <p:cNvPicPr>
            <a:picLocks noChangeAspect="1"/>
          </p:cNvPicPr>
          <p:nvPr/>
        </p:nvPicPr>
        <p:blipFill>
          <a:blip r:embed="rId4"/>
          <a:srcRect l="26555" r="52931" t="24973" b="40701"/>
          <a:stretch>
            <a:fillRect/>
          </a:stretch>
        </p:blipFill>
        <p:spPr>
          <a:xfrm>
            <a:off x="695325" y="2390775"/>
            <a:ext cx="2333625" cy="2200275"/>
          </a:xfrm>
          <a:prstGeom prst="rect">
            <a:avLst/>
          </a:prstGeom>
          <a:effectLst/>
        </p:spPr>
      </p:pic>
      <p:sp>
        <p:nvSpPr>
          <p:cNvPr id="15" name="TextBox 14"/>
          <p:cNvSpPr txBox="1"/>
          <p:nvPr/>
        </p:nvSpPr>
        <p:spPr>
          <a:xfrm>
            <a:off x="695325" y="4838700"/>
            <a:ext cx="2333625" cy="2952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848"/>
              </a:lnSpc>
              <a:spcBef>
                <a:spcPts val="0"/>
              </a:spcBef>
              <a:spcAft>
                <a:spcPts val="0"/>
              </a:spcAft>
            </a:pPr>
            <a:r>
              <a:rPr sz="1650" b="1" lang="en-US">
                <a:solidFill>
                  <a:srgbClr val="262626"/>
                </a:solidFill>
                <a:latin typeface="Manrope"/>
              </a:rPr>
              <a:t>Incoming call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5325" y="5257800"/>
            <a:ext cx="2333625" cy="3524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764"/>
              </a:lnSpc>
              <a:spcBef>
                <a:spcPts val="0"/>
              </a:spcBef>
              <a:spcAft>
                <a:spcPts val="0"/>
              </a:spcAft>
            </a:pPr>
            <a:r>
              <a:rPr sz="1575" b="1" lang="en-US">
                <a:solidFill>
                  <a:srgbClr val="262626"/>
                </a:solidFill>
                <a:latin typeface="Manrope"/>
              </a:rPr>
              <a:t>+20 10 •••• 4821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5325" y="5762625"/>
            <a:ext cx="2333625" cy="2381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344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en-US">
                <a:solidFill>
                  <a:srgbClr val="68645E"/>
                </a:solidFill>
                <a:latin typeface="Manrope"/>
              </a:rPr>
              <a:t>Human Agent D · DEMO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238500" y="2371725"/>
            <a:ext cx="0" cy="3562350"/>
          </a:xfrm>
          <a:prstGeom prst="line">
            <a:avLst/>
          </a:prstGeom>
          <a:ln w="9525">
            <a:solidFill>
              <a:srgbClr val="E6E3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3467100" y="2390775"/>
            <a:ext cx="2581275" cy="3429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932"/>
              </a:lnSpc>
              <a:spcBef>
                <a:spcPts val="0"/>
              </a:spcBef>
              <a:spcAft>
                <a:spcPts val="0"/>
              </a:spcAft>
            </a:pPr>
            <a:r>
              <a:rPr sz="1725" b="1" lang="en-US">
                <a:solidFill>
                  <a:srgbClr val="262626"/>
                </a:solidFill>
                <a:latin typeface="Manrope"/>
              </a:rPr>
              <a:t>Customer context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67100" y="2895600"/>
            <a:ext cx="2581275" cy="3714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932"/>
              </a:lnSpc>
              <a:spcBef>
                <a:spcPts val="0"/>
              </a:spcBef>
              <a:spcAft>
                <a:spcPts val="0"/>
              </a:spcAft>
            </a:pPr>
            <a:r>
              <a:rPr sz="1725" b="1" lang="en-US">
                <a:solidFill>
                  <a:srgbClr val="262626"/>
                </a:solidFill>
                <a:latin typeface="Manrope"/>
              </a:rPr>
              <a:t>Ahmed M. (DEMO)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67100" y="3352800"/>
            <a:ext cx="2581275" cy="2952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lang="en-US">
                <a:solidFill>
                  <a:srgbClr val="965318"/>
                </a:solidFill>
                <a:latin typeface="Manrope"/>
              </a:rPr>
              <a:t>Icons Club · ELITE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67100" y="3857625"/>
            <a:ext cx="2581275" cy="3143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764"/>
              </a:lnSpc>
              <a:spcBef>
                <a:spcPts val="0"/>
              </a:spcBef>
              <a:spcAft>
                <a:spcPts val="0"/>
              </a:spcAft>
            </a:pPr>
            <a:r>
              <a:rPr sz="1575" b="1" lang="en-US">
                <a:solidFill>
                  <a:srgbClr val="262626"/>
                </a:solidFill>
                <a:latin typeface="Manrope"/>
              </a:rPr>
              <a:t>Prior human note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67100" y="4295775"/>
            <a:ext cx="2581275" cy="8858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848"/>
              </a:lnSpc>
              <a:spcBef>
                <a:spcPts val="0"/>
              </a:spcBef>
              <a:spcAft>
                <a:spcPts val="0"/>
              </a:spcAft>
            </a:pPr>
            <a:r>
              <a:rPr sz="1650" b="0" lang="en-US">
                <a:solidFill>
                  <a:srgbClr val="262626"/>
                </a:solidFill>
                <a:latin typeface="Manrope"/>
              </a:rPr>
              <a:t>Branch review</a:t>
            </a:r>
          </a:p>
          <a:p>
            <a:pPr algn="l" rtl="0">
              <a:lnSpc>
                <a:spcPts val="1848"/>
              </a:lnSpc>
              <a:spcBef>
                <a:spcPts val="0"/>
              </a:spcBef>
              <a:spcAft>
                <a:spcPts val="0"/>
              </a:spcAft>
            </a:pPr>
            <a:r>
              <a:rPr sz="1650" b="0" lang="en-US">
                <a:solidFill>
                  <a:srgbClr val="262626"/>
                </a:solidFill>
                <a:latin typeface="Manrope"/>
              </a:rPr>
              <a:t>requested. Completion</a:t>
            </a:r>
          </a:p>
          <a:p>
            <a:pPr algn="l" rtl="0">
              <a:lnSpc>
                <a:spcPts val="1848"/>
              </a:lnSpc>
              <a:spcBef>
                <a:spcPts val="0"/>
              </a:spcBef>
              <a:spcAft>
                <a:spcPts val="0"/>
              </a:spcAft>
            </a:pPr>
            <a:r>
              <a:rPr sz="1650" b="0" lang="en-US">
                <a:solidFill>
                  <a:srgbClr val="262626"/>
                </a:solidFill>
                <a:latin typeface="Manrope"/>
              </a:rPr>
              <a:t>not confirmed.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67100" y="5457825"/>
            <a:ext cx="2581275" cy="4857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344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en-US">
                <a:solidFill>
                  <a:srgbClr val="68645E"/>
                </a:solidFill>
                <a:latin typeface="Manrope"/>
              </a:rPr>
              <a:t>Source: DEMO-1008</a:t>
            </a:r>
          </a:p>
          <a:p>
            <a:pPr algn="l" rtl="0">
              <a:lnSpc>
                <a:spcPts val="1344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en-US">
                <a:solidFill>
                  <a:srgbClr val="68645E"/>
                </a:solidFill>
                <a:latin typeface="Manrope"/>
              </a:rPr>
              <a:t>Agent A · Original note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191250" y="2371725"/>
            <a:ext cx="0" cy="3562350"/>
          </a:xfrm>
          <a:prstGeom prst="line">
            <a:avLst/>
          </a:prstGeom>
          <a:ln w="9525">
            <a:solidFill>
              <a:srgbClr val="E6E3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429375" y="2390775"/>
            <a:ext cx="5048250" cy="3429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875" b="1" lang="en-US">
                <a:solidFill>
                  <a:srgbClr val="262626"/>
                </a:solidFill>
                <a:latin typeface="Manrope"/>
              </a:rPr>
              <a:t>AI guidance · Draft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29375" y="2933700"/>
            <a:ext cx="5048250" cy="2028825"/>
          </a:xfrm>
          <a:prstGeom prst="roundRect">
            <a:avLst>
              <a:gd name="adj" fmla="val 3286"/>
            </a:avLst>
          </a:prstGeom>
          <a:solidFill>
            <a:srgbClr val="FFF2DD"/>
          </a:solidFill>
          <a:ln w="9525">
            <a:solidFill>
              <a:srgbClr val="FFF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38925" y="3133725"/>
            <a:ext cx="4629150" cy="9525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932"/>
              </a:lnSpc>
              <a:spcBef>
                <a:spcPts val="0"/>
              </a:spcBef>
              <a:spcAft>
                <a:spcPts val="0"/>
              </a:spcAft>
            </a:pPr>
            <a:r>
              <a:rPr sz="1725" b="1" lang="en-US">
                <a:solidFill>
                  <a:srgbClr val="262626"/>
                </a:solidFill>
                <a:latin typeface="Manrope"/>
              </a:rPr>
              <a:t>Check the original case.</a:t>
            </a:r>
          </a:p>
          <a:p>
            <a:pPr algn="l" rtl="0">
              <a:lnSpc>
                <a:spcPts val="1932"/>
              </a:lnSpc>
              <a:spcBef>
                <a:spcPts val="0"/>
              </a:spcBef>
              <a:spcAft>
                <a:spcPts val="0"/>
              </a:spcAft>
            </a:pPr>
            <a:r>
              <a:rPr sz="1725" b="1" lang="en-US">
                <a:solidFill>
                  <a:srgbClr val="262626"/>
                </a:solidFill>
                <a:latin typeface="Manrope"/>
              </a:rPr>
              <a:t>Explain the recorded review status.</a:t>
            </a:r>
          </a:p>
          <a:p>
            <a:pPr algn="l" rtl="0">
              <a:lnSpc>
                <a:spcPts val="1932"/>
              </a:lnSpc>
              <a:spcBef>
                <a:spcPts val="0"/>
              </a:spcBef>
              <a:spcAft>
                <a:spcPts val="0"/>
              </a:spcAft>
            </a:pPr>
            <a:r>
              <a:rPr sz="1725" b="1" lang="en-US">
                <a:solidFill>
                  <a:srgbClr val="262626"/>
                </a:solidFill>
                <a:latin typeface="Manrope"/>
              </a:rPr>
              <a:t>Confirm the next authorized step.</a:t>
            </a:r>
          </a:p>
        </p:txBody>
      </p:sp>
      <p:pic>
        <p:nvPicPr>
          <p:cNvPr id="29" name="Picture 28" descr="icon-fi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38925" y="4514850"/>
            <a:ext cx="200025" cy="200025"/>
          </a:xfrm>
          <a:prstGeom prst="rect">
            <a:avLst/>
          </a:prstGeom>
          <a:effectLst/>
        </p:spPr>
      </p:pic>
      <p:sp>
        <p:nvSpPr>
          <p:cNvPr id="30" name="TextBox 29"/>
          <p:cNvSpPr txBox="1"/>
          <p:nvPr/>
        </p:nvSpPr>
        <p:spPr>
          <a:xfrm>
            <a:off x="7010400" y="4476750"/>
            <a:ext cx="4257675" cy="3810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0" lang="en-US">
                <a:solidFill>
                  <a:srgbClr val="965318"/>
                </a:solidFill>
                <a:latin typeface="Manrope"/>
              </a:rPr>
              <a:t>Source: DEMO policy excerpt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29375" y="5429250"/>
            <a:ext cx="5048250" cy="4476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0" lang="en-US">
                <a:solidFill>
                  <a:srgbClr val="68645E"/>
                </a:solidFill>
                <a:latin typeface="Manrope"/>
              </a:rPr>
              <a:t>Approved company policy source required.</a:t>
            </a:r>
          </a:p>
        </p:txBody>
      </p:sp>
    </p:spTree>
  </p:cSld>
  <p:clrMapOvr>
    <a:masterClrMapping/>
  </p:clrMapOvr>
  <p:transition spd="med" advClick="1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/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ra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58762"/>
            <a:ext cx="409575" cy="273050"/>
          </a:xfrm>
          <a:prstGeom prst="rect">
            <a:avLst/>
          </a:prstGeom>
          <a:effectLst/>
        </p:spPr>
      </p:pic>
      <p:sp>
        <p:nvSpPr>
          <p:cNvPr id="3" name="TextBox 2"/>
          <p:cNvSpPr txBox="1"/>
          <p:nvPr/>
        </p:nvSpPr>
        <p:spPr>
          <a:xfrm>
            <a:off x="990600" y="276225"/>
            <a:ext cx="3571875" cy="2952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1" lang="en-US">
                <a:solidFill>
                  <a:srgbClr val="262626"/>
                </a:solidFill>
                <a:latin typeface="Manrope"/>
              </a:rPr>
              <a:t>GRINDCTRL × Concrete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15075" y="276225"/>
            <a:ext cx="5419725" cy="2857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344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en-US">
                <a:solidFill>
                  <a:srgbClr val="68645E"/>
                </a:solidFill>
                <a:latin typeface="Manrope"/>
              </a:rPr>
              <a:t>Part 04 · Loyalty and clienteling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95350"/>
            <a:ext cx="11277600" cy="4953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3192"/>
              </a:lnSpc>
              <a:spcBef>
                <a:spcPts val="0"/>
              </a:spcBef>
              <a:spcAft>
                <a:spcPts val="0"/>
              </a:spcAft>
            </a:pPr>
            <a:r>
              <a:rPr sz="2850" b="1" lang="en-US">
                <a:solidFill>
                  <a:srgbClr val="262626"/>
                </a:solidFill>
                <a:latin typeface="Manrope"/>
              </a:rPr>
              <a:t>Consented preferences inform an outfit suggestion.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6381750"/>
            <a:ext cx="11277600" cy="0"/>
          </a:xfrm>
          <a:prstGeom prst="line">
            <a:avLst/>
          </a:prstGeom>
          <a:ln w="9525">
            <a:solidFill>
              <a:srgbClr val="E6E3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6505575"/>
            <a:ext cx="1028700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176"/>
              </a:lnSpc>
              <a:spcBef>
                <a:spcPts val="0"/>
              </a:spcBef>
              <a:spcAft>
                <a:spcPts val="0"/>
              </a:spcAft>
            </a:pPr>
            <a:r>
              <a:rPr sz="1050" b="0" lang="en-US">
                <a:solidFill>
                  <a:srgbClr val="68645E"/>
                </a:solidFill>
                <a:latin typeface="Manrope"/>
              </a:rPr>
              <a:t>Proposed experience · Illustrative imagery / UI · Demo records · Sources and permissions to validate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15650" y="6505575"/>
            <a:ext cx="81915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176"/>
              </a:lnSpc>
              <a:spcBef>
                <a:spcPts val="0"/>
              </a:spcBef>
              <a:spcAft>
                <a:spcPts val="0"/>
              </a:spcAft>
            </a:pPr>
            <a:r>
              <a:rPr sz="1050" b="0" lang="en-US">
                <a:solidFill>
                  <a:srgbClr val="262626"/>
                </a:solidFill>
                <a:latin typeface="Manrope"/>
              </a:rPr>
              <a:t>Appendix</a:t>
            </a:r>
          </a:p>
        </p:txBody>
      </p:sp>
      <p:pic>
        <p:nvPicPr>
          <p:cNvPr id="9" name="Picture 8" descr="S05_storyboard.png"/>
          <p:cNvPicPr>
            <a:picLocks noChangeAspect="1"/>
          </p:cNvPicPr>
          <p:nvPr/>
        </p:nvPicPr>
        <p:blipFill>
          <a:blip r:embed="rId3"/>
          <a:srcRect l="29007" r="30203" t="26036" b="12327"/>
          <a:stretch>
            <a:fillRect/>
          </a:stretch>
        </p:blipFill>
        <p:spPr>
          <a:xfrm>
            <a:off x="457200" y="1600200"/>
            <a:ext cx="4152900" cy="3533775"/>
          </a:xfrm>
          <a:prstGeom prst="rect">
            <a:avLst/>
          </a:prstGeom>
          <a:effectLst/>
        </p:spPr>
      </p:pic>
      <p:sp>
        <p:nvSpPr>
          <p:cNvPr id="10" name="Rectangle 9"/>
          <p:cNvSpPr/>
          <p:nvPr/>
        </p:nvSpPr>
        <p:spPr>
          <a:xfrm>
            <a:off x="457200" y="5153025"/>
            <a:ext cx="4152900" cy="1000125"/>
          </a:xfrm>
          <a:prstGeom prst="rect">
            <a:avLst/>
          </a:prstGeom>
          <a:solidFill>
            <a:srgbClr val="FFFFFF"/>
          </a:solidFill>
          <a:ln w="9525">
            <a:solidFill>
              <a:srgbClr val="E6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6750" y="5248275"/>
            <a:ext cx="3733800" cy="5715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2016"/>
              </a:lnSpc>
              <a:spcBef>
                <a:spcPts val="0"/>
              </a:spcBef>
              <a:spcAft>
                <a:spcPts val="0"/>
              </a:spcAft>
            </a:pPr>
            <a:r>
              <a:rPr sz="1800" b="1" lang="en-US">
                <a:solidFill>
                  <a:srgbClr val="262626"/>
                </a:solidFill>
                <a:latin typeface="Manrope"/>
              </a:rPr>
              <a:t>The associate keeps</a:t>
            </a:r>
          </a:p>
          <a:p>
            <a:pPr algn="l" rtl="0">
              <a:lnSpc>
                <a:spcPts val="2016"/>
              </a:lnSpc>
              <a:spcBef>
                <a:spcPts val="0"/>
              </a:spcBef>
              <a:spcAft>
                <a:spcPts val="0"/>
              </a:spcAft>
            </a:pPr>
            <a:r>
              <a:rPr sz="1800" b="1" lang="en-US">
                <a:solidFill>
                  <a:srgbClr val="262626"/>
                </a:solidFill>
                <a:latin typeface="Manrope"/>
              </a:rPr>
              <a:t>the customer conversation.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6750" y="5876925"/>
            <a:ext cx="373380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lang="en-US">
                <a:solidFill>
                  <a:srgbClr val="68645E"/>
                </a:solidFill>
                <a:latin typeface="Manrope"/>
              </a:rPr>
              <a:t>Illustrative store / people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29175" y="1638300"/>
            <a:ext cx="6905625" cy="4552950"/>
          </a:xfrm>
          <a:prstGeom prst="roundRect">
            <a:avLst>
              <a:gd name="adj" fmla="val 2092"/>
            </a:avLst>
          </a:prstGeom>
          <a:solidFill>
            <a:srgbClr val="EDEAE4"/>
          </a:solidFill>
          <a:ln w="9525">
            <a:solidFill>
              <a:srgbClr val="EDE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829175" y="1600200"/>
            <a:ext cx="6905625" cy="4552950"/>
          </a:xfrm>
          <a:prstGeom prst="roundRect">
            <a:avLst>
              <a:gd name="adj" fmla="val 2092"/>
            </a:avLst>
          </a:prstGeom>
          <a:solidFill>
            <a:srgbClr val="FFFFFF"/>
          </a:solidFill>
          <a:ln w="9525">
            <a:solidFill>
              <a:srgbClr val="E6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38725" y="1771650"/>
            <a:ext cx="6486525" cy="2952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lang="en-US">
                <a:solidFill>
                  <a:srgbClr val="262626"/>
                </a:solidFill>
                <a:latin typeface="Manrope"/>
              </a:rPr>
              <a:t>Icons Club · Proposed associate view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829175" y="2200275"/>
            <a:ext cx="6905625" cy="0"/>
          </a:xfrm>
          <a:prstGeom prst="line">
            <a:avLst/>
          </a:prstGeom>
          <a:ln w="9525">
            <a:solidFill>
              <a:srgbClr val="E6E3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Picture 16" descr="icon-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7775" y="2428875"/>
            <a:ext cx="247650" cy="247650"/>
          </a:xfrm>
          <a:prstGeom prst="rect">
            <a:avLst/>
          </a:prstGeom>
          <a:effectLst/>
        </p:spPr>
      </p:pic>
      <p:sp>
        <p:nvSpPr>
          <p:cNvPr id="18" name="TextBox 17"/>
          <p:cNvSpPr txBox="1"/>
          <p:nvPr/>
        </p:nvSpPr>
        <p:spPr>
          <a:xfrm>
            <a:off x="5486400" y="2409825"/>
            <a:ext cx="6010275" cy="3143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848"/>
              </a:lnSpc>
              <a:spcBef>
                <a:spcPts val="0"/>
              </a:spcBef>
              <a:spcAft>
                <a:spcPts val="0"/>
              </a:spcAft>
            </a:pPr>
            <a:r>
              <a:rPr sz="1650" b="1" lang="en-US">
                <a:solidFill>
                  <a:srgbClr val="49654E"/>
                </a:solidFill>
                <a:latin typeface="Manrope"/>
              </a:rPr>
              <a:t>Consent recorded (DEMO)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67300" y="2905125"/>
            <a:ext cx="6191250" cy="3524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875" b="1" lang="en-US">
                <a:solidFill>
                  <a:srgbClr val="262626"/>
                </a:solidFill>
                <a:latin typeface="Manrope"/>
              </a:rPr>
              <a:t>Ahmed M. · Neutral tailoring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67300" y="3352800"/>
            <a:ext cx="6191250" cy="2952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0" lang="en-US">
                <a:solidFill>
                  <a:srgbClr val="68645E"/>
                </a:solidFill>
                <a:latin typeface="Manrope"/>
              </a:rPr>
              <a:t>Preference / purchase sources require permission.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67300" y="3905250"/>
            <a:ext cx="2038350" cy="3333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 rtl="0">
              <a:lnSpc>
                <a:spcPts val="1764"/>
              </a:lnSpc>
              <a:spcBef>
                <a:spcPts val="0"/>
              </a:spcBef>
              <a:spcAft>
                <a:spcPts val="0"/>
              </a:spcAft>
            </a:pPr>
            <a:r>
              <a:rPr sz="1575" b="0" lang="en-US">
                <a:solidFill>
                  <a:srgbClr val="68645E"/>
                </a:solidFill>
                <a:latin typeface="Manrope"/>
              </a:rPr>
              <a:t>LIFESTYLE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9475" y="3905250"/>
            <a:ext cx="2038350" cy="3333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 rtl="0">
              <a:lnSpc>
                <a:spcPts val="1764"/>
              </a:lnSpc>
              <a:spcBef>
                <a:spcPts val="0"/>
              </a:spcBef>
              <a:spcAft>
                <a:spcPts val="0"/>
              </a:spcAft>
            </a:pPr>
            <a:r>
              <a:rPr sz="1575" b="0" lang="en-US">
                <a:solidFill>
                  <a:srgbClr val="68645E"/>
                </a:solidFill>
                <a:latin typeface="Manrope"/>
              </a:rPr>
              <a:t>PRESTIGE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91650" y="3905250"/>
            <a:ext cx="2038350" cy="3333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 rtl="0">
              <a:lnSpc>
                <a:spcPts val="1764"/>
              </a:lnSpc>
              <a:spcBef>
                <a:spcPts val="0"/>
              </a:spcBef>
              <a:spcAft>
                <a:spcPts val="0"/>
              </a:spcAft>
            </a:pPr>
            <a:r>
              <a:rPr sz="1575" b="1" lang="en-US">
                <a:solidFill>
                  <a:srgbClr val="965318"/>
                </a:solidFill>
                <a:latin typeface="Manrope"/>
              </a:rPr>
              <a:t>ELITE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67300" y="3733800"/>
            <a:ext cx="6191250" cy="2000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176"/>
              </a:lnSpc>
              <a:spcBef>
                <a:spcPts val="0"/>
              </a:spcBef>
              <a:spcAft>
                <a:spcPts val="0"/>
              </a:spcAft>
            </a:pPr>
            <a:r>
              <a:rPr sz="1050" b="0" lang="en-US">
                <a:solidFill>
                  <a:srgbClr val="68645E"/>
                </a:solidFill>
                <a:latin typeface="Manrope"/>
              </a:rPr>
              <a:t>Trusted membership source required · Illustrative tier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67300" y="4562475"/>
            <a:ext cx="1209675" cy="1381125"/>
          </a:xfrm>
          <a:prstGeom prst="roundRect">
            <a:avLst>
              <a:gd name="adj" fmla="val 3937"/>
            </a:avLst>
          </a:prstGeom>
          <a:solidFill>
            <a:srgbClr val="F4F2EE"/>
          </a:solidFill>
          <a:ln w="9525">
            <a:solidFill>
              <a:srgbClr val="F4F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S02_storyboard.png"/>
          <p:cNvPicPr>
            <a:picLocks noChangeAspect="1"/>
          </p:cNvPicPr>
          <p:nvPr/>
        </p:nvPicPr>
        <p:blipFill>
          <a:blip r:embed="rId5"/>
          <a:srcRect l="58074" r="34510" t="38257" b="43464"/>
          <a:stretch>
            <a:fillRect/>
          </a:stretch>
        </p:blipFill>
        <p:spPr>
          <a:xfrm>
            <a:off x="5397463" y="4619625"/>
            <a:ext cx="549349" cy="762000"/>
          </a:xfrm>
          <a:prstGeom prst="rect">
            <a:avLst/>
          </a:prstGeom>
          <a:effectLst/>
        </p:spPr>
      </p:pic>
      <p:sp>
        <p:nvSpPr>
          <p:cNvPr id="27" name="TextBox 26"/>
          <p:cNvSpPr txBox="1"/>
          <p:nvPr/>
        </p:nvSpPr>
        <p:spPr>
          <a:xfrm>
            <a:off x="5181600" y="5553075"/>
            <a:ext cx="981075" cy="2857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764"/>
              </a:lnSpc>
              <a:spcBef>
                <a:spcPts val="0"/>
              </a:spcBef>
              <a:spcAft>
                <a:spcPts val="0"/>
              </a:spcAft>
            </a:pPr>
            <a:r>
              <a:rPr sz="1575" b="1" lang="en-US">
                <a:solidFill>
                  <a:srgbClr val="262626"/>
                </a:solidFill>
                <a:latin typeface="Manrope"/>
              </a:rPr>
              <a:t>Blazer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77000" y="4562475"/>
            <a:ext cx="1209675" cy="1381125"/>
          </a:xfrm>
          <a:prstGeom prst="roundRect">
            <a:avLst>
              <a:gd name="adj" fmla="val 3937"/>
            </a:avLst>
          </a:prstGeom>
          <a:solidFill>
            <a:srgbClr val="F4F2EE"/>
          </a:solidFill>
          <a:ln w="9525">
            <a:solidFill>
              <a:srgbClr val="F4F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S02_storyboard.png"/>
          <p:cNvPicPr>
            <a:picLocks noChangeAspect="1"/>
          </p:cNvPicPr>
          <p:nvPr/>
        </p:nvPicPr>
        <p:blipFill>
          <a:blip r:embed="rId5"/>
          <a:srcRect l="66746" r="25239" t="37726" b="43677"/>
          <a:stretch>
            <a:fillRect/>
          </a:stretch>
        </p:blipFill>
        <p:spPr>
          <a:xfrm>
            <a:off x="6790100" y="4619625"/>
            <a:ext cx="583474" cy="762000"/>
          </a:xfrm>
          <a:prstGeom prst="rect">
            <a:avLst/>
          </a:prstGeom>
          <a:effectLst/>
        </p:spPr>
      </p:pic>
      <p:sp>
        <p:nvSpPr>
          <p:cNvPr id="30" name="TextBox 29"/>
          <p:cNvSpPr txBox="1"/>
          <p:nvPr/>
        </p:nvSpPr>
        <p:spPr>
          <a:xfrm>
            <a:off x="6591300" y="5553075"/>
            <a:ext cx="981075" cy="2857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764"/>
              </a:lnSpc>
              <a:spcBef>
                <a:spcPts val="0"/>
              </a:spcBef>
              <a:spcAft>
                <a:spcPts val="0"/>
              </a:spcAft>
            </a:pPr>
            <a:r>
              <a:rPr sz="1575" b="1" lang="en-US">
                <a:solidFill>
                  <a:srgbClr val="262626"/>
                </a:solidFill>
                <a:latin typeface="Manrope"/>
              </a:rPr>
              <a:t>Shirt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15275" y="4533900"/>
            <a:ext cx="3524250" cy="6191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932"/>
              </a:lnSpc>
              <a:spcBef>
                <a:spcPts val="0"/>
              </a:spcBef>
              <a:spcAft>
                <a:spcPts val="0"/>
              </a:spcAft>
            </a:pPr>
            <a:r>
              <a:rPr sz="1725" b="1" lang="en-US">
                <a:solidFill>
                  <a:srgbClr val="262626"/>
                </a:solidFill>
                <a:latin typeface="Manrope"/>
              </a:rPr>
              <a:t>Suggested pieces</a:t>
            </a:r>
          </a:p>
          <a:p>
            <a:pPr algn="l" rtl="0">
              <a:lnSpc>
                <a:spcPts val="1932"/>
              </a:lnSpc>
              <a:spcBef>
                <a:spcPts val="0"/>
              </a:spcBef>
              <a:spcAft>
                <a:spcPts val="0"/>
              </a:spcAft>
            </a:pPr>
            <a:r>
              <a:rPr sz="1725" b="1" lang="en-US">
                <a:solidFill>
                  <a:srgbClr val="262626"/>
                </a:solidFill>
                <a:latin typeface="Manrope"/>
              </a:rPr>
              <a:t>for this preference</a:t>
            </a:r>
          </a:p>
        </p:txBody>
      </p:sp>
    </p:spTree>
  </p:cSld>
  <p:clrMapOvr>
    <a:masterClrMapping/>
  </p:clrMapOvr>
  <p:transition spd="med" advClick="1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/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ra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58762"/>
            <a:ext cx="409575" cy="273050"/>
          </a:xfrm>
          <a:prstGeom prst="rect">
            <a:avLst/>
          </a:prstGeom>
          <a:effectLst/>
        </p:spPr>
      </p:pic>
      <p:sp>
        <p:nvSpPr>
          <p:cNvPr id="3" name="TextBox 2"/>
          <p:cNvSpPr txBox="1"/>
          <p:nvPr/>
        </p:nvSpPr>
        <p:spPr>
          <a:xfrm>
            <a:off x="990600" y="276225"/>
            <a:ext cx="3571875" cy="2952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1" lang="en-US">
                <a:solidFill>
                  <a:srgbClr val="262626"/>
                </a:solidFill>
                <a:latin typeface="Manrope"/>
              </a:rPr>
              <a:t>GRINDCTRL × Concrete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15075" y="276225"/>
            <a:ext cx="5419725" cy="2857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344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en-US">
                <a:solidFill>
                  <a:srgbClr val="68645E"/>
                </a:solidFill>
                <a:latin typeface="Manrope"/>
              </a:rPr>
              <a:t>Part 04 · Retail operations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95350"/>
            <a:ext cx="11277600" cy="4953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3192"/>
              </a:lnSpc>
              <a:spcBef>
                <a:spcPts val="0"/>
              </a:spcBef>
              <a:spcAft>
                <a:spcPts val="0"/>
              </a:spcAft>
            </a:pPr>
            <a:r>
              <a:rPr sz="2850" b="1" lang="en-US">
                <a:solidFill>
                  <a:srgbClr val="262626"/>
                </a:solidFill>
                <a:latin typeface="Manrope"/>
              </a:rPr>
              <a:t>A human manager reviews the stock proposal.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6381750"/>
            <a:ext cx="11277600" cy="0"/>
          </a:xfrm>
          <a:prstGeom prst="line">
            <a:avLst/>
          </a:prstGeom>
          <a:ln w="9525">
            <a:solidFill>
              <a:srgbClr val="E6E3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6505575"/>
            <a:ext cx="1028700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176"/>
              </a:lnSpc>
              <a:spcBef>
                <a:spcPts val="0"/>
              </a:spcBef>
              <a:spcAft>
                <a:spcPts val="0"/>
              </a:spcAft>
            </a:pPr>
            <a:r>
              <a:rPr sz="1050" b="0" lang="en-US">
                <a:solidFill>
                  <a:srgbClr val="68645E"/>
                </a:solidFill>
                <a:latin typeface="Manrope"/>
              </a:rPr>
              <a:t>Proposed experience · Illustrative imagery / UI · Demo records · Sources and permissions to validate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15650" y="6505575"/>
            <a:ext cx="81915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176"/>
              </a:lnSpc>
              <a:spcBef>
                <a:spcPts val="0"/>
              </a:spcBef>
              <a:spcAft>
                <a:spcPts val="0"/>
              </a:spcAft>
            </a:pPr>
            <a:r>
              <a:rPr sz="1050" b="0" lang="en-US">
                <a:solidFill>
                  <a:srgbClr val="262626"/>
                </a:solidFill>
                <a:latin typeface="Manrope"/>
              </a:rPr>
              <a:t>Appendix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38300"/>
            <a:ext cx="11277600" cy="4552950"/>
          </a:xfrm>
          <a:prstGeom prst="roundRect">
            <a:avLst>
              <a:gd name="adj" fmla="val 2092"/>
            </a:avLst>
          </a:prstGeom>
          <a:solidFill>
            <a:srgbClr val="EDEAE4"/>
          </a:solidFill>
          <a:ln w="9525">
            <a:solidFill>
              <a:srgbClr val="EDE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" y="1600200"/>
            <a:ext cx="11277600" cy="4552950"/>
          </a:xfrm>
          <a:prstGeom prst="roundRect">
            <a:avLst>
              <a:gd name="adj" fmla="val 2092"/>
            </a:avLst>
          </a:prstGeom>
          <a:solidFill>
            <a:srgbClr val="FFFFFF"/>
          </a:solidFill>
          <a:ln w="9525">
            <a:solidFill>
              <a:srgbClr val="E6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6750" y="1771650"/>
            <a:ext cx="10858500" cy="2952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lang="en-US">
                <a:solidFill>
                  <a:srgbClr val="262626"/>
                </a:solidFill>
                <a:latin typeface="Manrope"/>
              </a:rPr>
              <a:t>Retail operations · Synthetic SKU / branch scenario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57200" y="2200275"/>
            <a:ext cx="11277600" cy="0"/>
          </a:xfrm>
          <a:prstGeom prst="line">
            <a:avLst/>
          </a:prstGeom>
          <a:ln w="9525">
            <a:solidFill>
              <a:srgbClr val="E6E3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33425" y="2543175"/>
            <a:ext cx="1619250" cy="2314575"/>
          </a:xfrm>
          <a:prstGeom prst="roundRect">
            <a:avLst>
              <a:gd name="adj" fmla="val 2941"/>
            </a:avLst>
          </a:prstGeom>
          <a:solidFill>
            <a:srgbClr val="F4F2EE"/>
          </a:solidFill>
          <a:ln w="9525">
            <a:solidFill>
              <a:srgbClr val="F4F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S02_storyboard.png"/>
          <p:cNvPicPr>
            <a:picLocks noChangeAspect="1"/>
          </p:cNvPicPr>
          <p:nvPr/>
        </p:nvPicPr>
        <p:blipFill>
          <a:blip r:embed="rId3"/>
          <a:srcRect l="58074" r="34510" t="38257" b="43464"/>
          <a:stretch>
            <a:fillRect/>
          </a:stretch>
        </p:blipFill>
        <p:spPr>
          <a:xfrm>
            <a:off x="931899" y="2600325"/>
            <a:ext cx="1222301" cy="1695450"/>
          </a:xfrm>
          <a:prstGeom prst="rect">
            <a:avLst/>
          </a:prstGeom>
          <a:effectLst/>
        </p:spPr>
      </p:pic>
      <p:sp>
        <p:nvSpPr>
          <p:cNvPr id="15" name="TextBox 14"/>
          <p:cNvSpPr txBox="1"/>
          <p:nvPr/>
        </p:nvSpPr>
        <p:spPr>
          <a:xfrm>
            <a:off x="847725" y="4467225"/>
            <a:ext cx="1390650" cy="2857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764"/>
              </a:lnSpc>
              <a:spcBef>
                <a:spcPts val="0"/>
              </a:spcBef>
              <a:spcAft>
                <a:spcPts val="0"/>
              </a:spcAft>
            </a:pPr>
            <a:r>
              <a:rPr sz="1575" b="1" lang="en-US">
                <a:solidFill>
                  <a:srgbClr val="262626"/>
                </a:solidFill>
                <a:latin typeface="Manrope"/>
              </a:rPr>
              <a:t>Blazer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3900" y="5210175"/>
            <a:ext cx="1638300" cy="2952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428"/>
              </a:lnSpc>
              <a:spcBef>
                <a:spcPts val="0"/>
              </a:spcBef>
              <a:spcAft>
                <a:spcPts val="0"/>
              </a:spcAft>
            </a:pPr>
            <a:r>
              <a:rPr sz="1275" b="1" lang="en-US">
                <a:solidFill>
                  <a:srgbClr val="262626"/>
                </a:solidFill>
                <a:latin typeface="Manrope"/>
              </a:rPr>
              <a:t>DEMO-BLAZER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900" y="5591175"/>
            <a:ext cx="1638300" cy="3429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875" b="1" lang="en-US">
                <a:solidFill>
                  <a:srgbClr val="262626"/>
                </a:solidFill>
                <a:latin typeface="Manrope"/>
              </a:rPr>
              <a:t>Size M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638425" y="2409825"/>
            <a:ext cx="0" cy="3533775"/>
          </a:xfrm>
          <a:prstGeom prst="line">
            <a:avLst/>
          </a:prstGeom>
          <a:ln w="9525">
            <a:solidFill>
              <a:srgbClr val="E6E3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2943225" y="2457450"/>
            <a:ext cx="3867150" cy="3333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875" b="1" lang="en-US">
                <a:solidFill>
                  <a:srgbClr val="262626"/>
                </a:solidFill>
                <a:latin typeface="Manrope"/>
              </a:rPr>
              <a:t>Branch A · Demo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943225" y="3095625"/>
            <a:ext cx="3876675" cy="790575"/>
          </a:xfrm>
          <a:prstGeom prst="roundRect">
            <a:avLst>
              <a:gd name="adj" fmla="val 8433"/>
            </a:avLst>
          </a:prstGeom>
          <a:solidFill>
            <a:srgbClr val="F4F2EE"/>
          </a:solidFill>
          <a:ln w="9525">
            <a:solidFill>
              <a:srgbClr val="E6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143250" y="3257550"/>
            <a:ext cx="3476625" cy="5810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932"/>
              </a:lnSpc>
              <a:spcBef>
                <a:spcPts val="0"/>
              </a:spcBef>
              <a:spcAft>
                <a:spcPts val="0"/>
              </a:spcAft>
            </a:pPr>
            <a:r>
              <a:rPr sz="1725" b="1" lang="en-US">
                <a:solidFill>
                  <a:srgbClr val="262626"/>
                </a:solidFill>
                <a:latin typeface="Manrope"/>
              </a:rPr>
              <a:t>Size requested</a:t>
            </a:r>
          </a:p>
          <a:p>
            <a:pPr algn="l" rtl="0">
              <a:lnSpc>
                <a:spcPts val="1932"/>
              </a:lnSpc>
              <a:spcBef>
                <a:spcPts val="0"/>
              </a:spcBef>
              <a:spcAft>
                <a:spcPts val="0"/>
              </a:spcAft>
            </a:pPr>
            <a:r>
              <a:rPr sz="1725" b="1" lang="en-US">
                <a:solidFill>
                  <a:srgbClr val="262626"/>
                </a:solidFill>
                <a:latin typeface="Manrope"/>
              </a:rPr>
              <a:t>Availability unresolved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05700" y="2457450"/>
            <a:ext cx="4000500" cy="3333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875" b="1" lang="en-US">
                <a:solidFill>
                  <a:srgbClr val="262626"/>
                </a:solidFill>
                <a:latin typeface="Manrope"/>
              </a:rPr>
              <a:t>Branch B · Demo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505700" y="3095625"/>
            <a:ext cx="4000500" cy="790575"/>
          </a:xfrm>
          <a:prstGeom prst="roundRect">
            <a:avLst>
              <a:gd name="adj" fmla="val 8433"/>
            </a:avLst>
          </a:prstGeom>
          <a:solidFill>
            <a:srgbClr val="F4F2EE"/>
          </a:solidFill>
          <a:ln w="9525">
            <a:solidFill>
              <a:srgbClr val="E6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05725" y="3257550"/>
            <a:ext cx="3590925" cy="5810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932"/>
              </a:lnSpc>
              <a:spcBef>
                <a:spcPts val="0"/>
              </a:spcBef>
              <a:spcAft>
                <a:spcPts val="0"/>
              </a:spcAft>
            </a:pPr>
            <a:r>
              <a:rPr sz="1725" b="1" lang="en-US">
                <a:solidFill>
                  <a:srgbClr val="262626"/>
                </a:solidFill>
                <a:latin typeface="Manrope"/>
              </a:rPr>
              <a:t>Candidate surplus</a:t>
            </a:r>
          </a:p>
          <a:p>
            <a:pPr algn="l" rtl="0">
              <a:lnSpc>
                <a:spcPts val="1932"/>
              </a:lnSpc>
              <a:spcBef>
                <a:spcPts val="0"/>
              </a:spcBef>
              <a:spcAft>
                <a:spcPts val="0"/>
              </a:spcAft>
            </a:pPr>
            <a:r>
              <a:rPr sz="1725" b="1" lang="en-US">
                <a:solidFill>
                  <a:srgbClr val="262626"/>
                </a:solidFill>
                <a:latin typeface="Manrope"/>
              </a:rPr>
              <a:t>Source record to confirm</a:t>
            </a:r>
          </a:p>
        </p:txBody>
      </p:sp>
      <p:cxnSp>
        <p:nvCxnSpPr>
          <p:cNvPr id="25" name="Connector 24"/>
          <p:cNvCxnSpPr/>
          <p:nvPr/>
        </p:nvCxnSpPr>
        <p:spPr>
          <a:xfrm flipH="1">
            <a:off x="6981825" y="3476625"/>
            <a:ext cx="361950" cy="0"/>
          </a:xfrm>
          <a:prstGeom prst="line">
            <a:avLst/>
          </a:prstGeom>
          <a:ln w="19050">
            <a:solidFill>
              <a:srgbClr val="965318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Picture 25" descr="icon-lin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62275" y="4267200"/>
            <a:ext cx="238125" cy="238125"/>
          </a:xfrm>
          <a:prstGeom prst="rect">
            <a:avLst/>
          </a:prstGeom>
          <a:effectLst/>
        </p:spPr>
      </p:pic>
      <p:sp>
        <p:nvSpPr>
          <p:cNvPr id="27" name="Rounded Rectangle 26"/>
          <p:cNvSpPr/>
          <p:nvPr/>
        </p:nvSpPr>
        <p:spPr>
          <a:xfrm>
            <a:off x="2924175" y="4095750"/>
            <a:ext cx="8582025" cy="866775"/>
          </a:xfrm>
          <a:prstGeom prst="roundRect">
            <a:avLst>
              <a:gd name="adj" fmla="val 7692"/>
            </a:avLst>
          </a:prstGeom>
          <a:solidFill>
            <a:srgbClr val="FFF2DD"/>
          </a:solidFill>
          <a:ln w="9525">
            <a:solidFill>
              <a:srgbClr val="FFF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133725" y="4248150"/>
            <a:ext cx="8143875" cy="5715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848"/>
              </a:lnSpc>
              <a:spcBef>
                <a:spcPts val="0"/>
              </a:spcBef>
              <a:spcAft>
                <a:spcPts val="0"/>
              </a:spcAft>
            </a:pPr>
            <a:r>
              <a:rPr sz="1650" b="1" lang="en-US">
                <a:solidFill>
                  <a:srgbClr val="262626"/>
                </a:solidFill>
                <a:latin typeface="Manrope"/>
              </a:rPr>
              <a:t>Proposed reallocation · Manager review required</a:t>
            </a:r>
          </a:p>
          <a:p>
            <a:pPr algn="l" rtl="0">
              <a:lnSpc>
                <a:spcPts val="1848"/>
              </a:lnSpc>
              <a:spcBef>
                <a:spcPts val="0"/>
              </a:spcBef>
              <a:spcAft>
                <a:spcPts val="0"/>
              </a:spcAft>
            </a:pPr>
            <a:r>
              <a:rPr sz="1650" b="1" lang="en-US">
                <a:solidFill>
                  <a:srgbClr val="262626"/>
                </a:solidFill>
                <a:latin typeface="Manrope"/>
              </a:rPr>
              <a:t>Reason: a size request and a possible source at another branch.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943225" y="5229225"/>
            <a:ext cx="2952750" cy="400050"/>
          </a:xfrm>
          <a:prstGeom prst="roundRect">
            <a:avLst>
              <a:gd name="adj" fmla="val 11904"/>
            </a:avLst>
          </a:prstGeom>
          <a:solidFill>
            <a:srgbClr val="FFF2DD"/>
          </a:solidFill>
          <a:ln w="9525">
            <a:solidFill>
              <a:srgbClr val="FFF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icon-acto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67050" y="5334000"/>
            <a:ext cx="180975" cy="180975"/>
          </a:xfrm>
          <a:prstGeom prst="rect">
            <a:avLst/>
          </a:prstGeom>
          <a:effectLst/>
        </p:spPr>
      </p:pic>
      <p:sp>
        <p:nvSpPr>
          <p:cNvPr id="31" name="TextBox 30"/>
          <p:cNvSpPr txBox="1"/>
          <p:nvPr/>
        </p:nvSpPr>
        <p:spPr>
          <a:xfrm>
            <a:off x="3352800" y="5324475"/>
            <a:ext cx="2428875" cy="2667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 rtl="0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1" lang="en-US">
                <a:solidFill>
                  <a:srgbClr val="262626"/>
                </a:solidFill>
                <a:latin typeface="Manrope"/>
              </a:rPr>
              <a:t>Review proposal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096000" y="5229225"/>
            <a:ext cx="1943100" cy="400050"/>
          </a:xfrm>
          <a:prstGeom prst="roundRect">
            <a:avLst>
              <a:gd name="adj" fmla="val 11904"/>
            </a:avLst>
          </a:prstGeom>
          <a:solidFill>
            <a:srgbClr val="FFF2DD"/>
          </a:solidFill>
          <a:ln w="9525">
            <a:solidFill>
              <a:srgbClr val="FFF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con-che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9825" y="5334000"/>
            <a:ext cx="180975" cy="180975"/>
          </a:xfrm>
          <a:prstGeom prst="rect">
            <a:avLst/>
          </a:prstGeom>
          <a:effectLst/>
        </p:spPr>
      </p:pic>
      <p:sp>
        <p:nvSpPr>
          <p:cNvPr id="34" name="TextBox 33"/>
          <p:cNvSpPr txBox="1"/>
          <p:nvPr/>
        </p:nvSpPr>
        <p:spPr>
          <a:xfrm>
            <a:off x="6505575" y="5324475"/>
            <a:ext cx="1419225" cy="2667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 rtl="0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1" lang="en-US">
                <a:solidFill>
                  <a:srgbClr val="262626"/>
                </a:solidFill>
                <a:latin typeface="Manrope"/>
              </a:rPr>
              <a:t>Approve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239125" y="5229225"/>
            <a:ext cx="1943100" cy="400050"/>
          </a:xfrm>
          <a:prstGeom prst="roundRect">
            <a:avLst>
              <a:gd name="adj" fmla="val 11904"/>
            </a:avLst>
          </a:prstGeom>
          <a:solidFill>
            <a:srgbClr val="FFF2DD"/>
          </a:solidFill>
          <a:ln w="9525">
            <a:solidFill>
              <a:srgbClr val="FFF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icon-en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62950" y="5334000"/>
            <a:ext cx="180975" cy="180975"/>
          </a:xfrm>
          <a:prstGeom prst="rect">
            <a:avLst/>
          </a:prstGeom>
          <a:effectLst/>
        </p:spPr>
      </p:pic>
      <p:sp>
        <p:nvSpPr>
          <p:cNvPr id="37" name="TextBox 36"/>
          <p:cNvSpPr txBox="1"/>
          <p:nvPr/>
        </p:nvSpPr>
        <p:spPr>
          <a:xfrm>
            <a:off x="8648700" y="5324475"/>
            <a:ext cx="1419225" cy="2667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 rtl="0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1" lang="en-US">
                <a:solidFill>
                  <a:srgbClr val="262626"/>
                </a:solidFill>
                <a:latin typeface="Manrope"/>
              </a:rPr>
              <a:t>Reject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914650" y="5200650"/>
            <a:ext cx="7305675" cy="466725"/>
          </a:xfrm>
          <a:prstGeom prst="roundRect">
            <a:avLst>
              <a:gd name="adj" fmla="val 10000"/>
            </a:avLst>
          </a:prstGeom>
          <a:noFill/>
          <a:ln w="19050">
            <a:solidFill>
              <a:srgbClr val="FFBA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Picture 38" descr="icon-pointer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91425" y="5438775"/>
            <a:ext cx="257175" cy="257175"/>
          </a:xfrm>
          <a:prstGeom prst="rect">
            <a:avLst/>
          </a:prstGeom>
          <a:effectLst/>
        </p:spPr>
      </p:pic>
    </p:spTree>
  </p:cSld>
  <p:clrMapOvr>
    <a:masterClrMapping/>
  </p:clrMapOvr>
  <p:transition spd="med" advClick="1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/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GRINDCTRL × Concrete — Part 04: AI opportunities across the business</dc:title>
  <dc:subject>AI opportunities across the retail business. Proposed experiences; synthetic records.</dc:subject>
  <dc:creator>GRINDCTRL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