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Part04_FINAL_VOICEOVER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C001 · 0.000–5.978s · في الفيديوهات اللي فاتت، شفنا إزاي GRINDCTRL ممكن تساعد Concrete تطور تجربة خدمة العملاء،</a:t>
            </a:r>
          </a:p>
          <a:p/>
          <a:p>
            <a:r>
              <a:t>C002 · 6.330–7.257s · من أول المكالمة،</a:t>
            </a:r>
          </a:p>
          <a:p/>
          <a:p>
            <a:r>
              <a:t>C003 · 7.426–8.596s · لحد متابعة العميل.</a:t>
            </a:r>
          </a:p>
          <a:p/>
          <a:p>
            <a:r>
              <a:t>C004 · 9.270–10.685s · لكن دي مجرد بداية.</a:t>
            </a:r>
          </a:p>
          <a:p/>
          <a:p>
            <a:r>
              <a:t>C005 · 11.332–16.025s · النهارده عايزين نتخيل مع بعض فرص أكبر للذكاء الاصطناعي جوه Concrete:</a:t>
            </a:r>
          </a:p>
          <a:p/>
          <a:p>
            <a:r>
              <a:t>C006 · 16.601–17.245s · في الأونلاين،</a:t>
            </a:r>
          </a:p>
          <a:p/>
          <a:p>
            <a:r>
              <a:t>C007 · 17.482–18.075s · والفروع،</a:t>
            </a:r>
          </a:p>
          <a:p/>
          <a:p>
            <a:r>
              <a:t>C008 · 18.272–20.498s · والمبيعات، والماركتنج، والإدارة.</a:t>
            </a:r>
          </a:p>
          <a:p/>
          <a:p>
            <a:r>
              <a:t>C009 · 21.263–23.135s · مش بنتكلم عن أنظمة شغالة بالفعل.</a:t>
            </a:r>
          </a:p>
          <a:p/>
          <a:p>
            <a:r>
              <a:t>C010 · 23.516–25.200s · بنتكلم عن حلول مقترحة،</a:t>
            </a:r>
          </a:p>
          <a:p/>
          <a:p>
            <a:r>
              <a:t>C011 · 25.694–28.844s · كل واحدة منها نقدر نختبرها ونشوف قيمتها الحقيقية.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C012 · 29.583–32.171s · تخيلوا عميل داخل على متجر Concrete الأونلاين،</a:t>
            </a:r>
          </a:p>
          <a:p/>
          <a:p>
            <a:r>
              <a:t>C013 · 32.547–33.634s · وعنده مناسبة مهمة،</a:t>
            </a:r>
          </a:p>
          <a:p/>
          <a:p>
            <a:r>
              <a:t>C014 · 33.948–35.814s · لكنه مش عارف يختار لوك كامل.</a:t>
            </a:r>
          </a:p>
          <a:p/>
          <a:p>
            <a:r>
              <a:t>C015 · 36.594–38.197s · بدل ما يلف على صفحات كتير،</a:t>
            </a:r>
          </a:p>
          <a:p/>
          <a:p>
            <a:r>
              <a:t>C016 · 38.507–40.737s · يقول للـAI Stylist هو رايح فين،</a:t>
            </a:r>
          </a:p>
          <a:p/>
          <a:p>
            <a:r>
              <a:t>C017 · 40.892–41.624s · وبيحب إيه،</a:t>
            </a:r>
          </a:p>
          <a:p/>
          <a:p>
            <a:r>
              <a:t>C018 · 41.941–43.081s · والميزانية المناسبة ليه.</a:t>
            </a:r>
          </a:p>
          <a:p/>
          <a:p>
            <a:r>
              <a:t>C019 · 43.813–45.133s · المساعد يقترح عليه،</a:t>
            </a:r>
          </a:p>
          <a:p/>
          <a:p>
            <a:r>
              <a:t>C020 · 45.357–45.715s · بليزر،</a:t>
            </a:r>
          </a:p>
          <a:p/>
          <a:p>
            <a:r>
              <a:t>C021 · 45.980–46.442s · وشيرت،</a:t>
            </a:r>
          </a:p>
          <a:p/>
          <a:p>
            <a:r>
              <a:t>C022 · 46.608–47.240s · وبنطلون،</a:t>
            </a:r>
          </a:p>
          <a:p/>
          <a:p>
            <a:r>
              <a:t>C023 · 47.398–48.921s · وجزمة بشكل متناسق،</a:t>
            </a:r>
          </a:p>
          <a:p/>
          <a:p>
            <a:r>
              <a:t>C024 · 49.245–50.497s · من المنتجات اللي في الكتالوج.</a:t>
            </a:r>
          </a:p>
          <a:p/>
          <a:p>
            <a:r>
              <a:t>C025 · 51.255–53.255s · والعميل يقدر يغير الاختيارات،</a:t>
            </a:r>
          </a:p>
          <a:p/>
          <a:p>
            <a:r>
              <a:t>C026 · 53.411–55.723s · أو يحجز تجربة في الفرع لو الخدمة متاحة.</a:t>
            </a:r>
          </a:p>
          <a:p/>
          <a:p>
            <a:r>
              <a:t>C027 · 56.466–60.899s · الهدف إن اختيار اللبس يبقى أسهل وأقرب لمساعدة ستايلست حقيقي.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C028 · 61.463–64.222s · ونفس التجربة ممكن تكمل جوه الأونلاين ستور.</a:t>
            </a:r>
          </a:p>
          <a:p/>
          <a:p>
            <a:r>
              <a:t>C029 · 64.860–67.976s · العميل يسأل بشكل طبيعي عن شيرت لمناسبة معينة،</a:t>
            </a:r>
          </a:p>
          <a:p/>
          <a:p>
            <a:r>
              <a:t>C030 · 68.292–69.259s · أو المقاس المناسب،</a:t>
            </a:r>
          </a:p>
          <a:p/>
          <a:p>
            <a:r>
              <a:t>C031 · 69.708–71.635s · أو إذا كان المنتج متاح في فرع قريب.</a:t>
            </a:r>
          </a:p>
          <a:p/>
          <a:p>
            <a:r>
              <a:t>C032 · 72.394–74.079s · المساعد يرشح اختيارات،</a:t>
            </a:r>
          </a:p>
          <a:p/>
          <a:p>
            <a:r>
              <a:t>C033 · 74.308–75.688s · ويشرح جدول المقاسات،</a:t>
            </a:r>
          </a:p>
          <a:p/>
          <a:p>
            <a:r>
              <a:t>C034 · 76.014–79.090s · ويعرض الـAvailability لما تكون متوصلة ببيانات ستوك،</a:t>
            </a:r>
          </a:p>
          <a:p/>
          <a:p>
            <a:r>
              <a:t>C035 · 79.243–80.111s · محدثة فعلًا.</a:t>
            </a:r>
          </a:p>
          <a:p/>
          <a:p>
            <a:r>
              <a:t>C036 · 80.798–81.858s · ولو المعلومات ناقصة،</a:t>
            </a:r>
          </a:p>
          <a:p/>
          <a:p>
            <a:r>
              <a:t>C037 · 82.014–84.095s · يقول إنها غير متاحة بدل ما يخمن.</a:t>
            </a:r>
          </a:p>
          <a:p/>
          <a:p>
            <a:r>
              <a:t>C038 · 84.835–86.747s · كده بنسهّل الـProduct Discovery،</a:t>
            </a:r>
          </a:p>
          <a:p/>
          <a:p>
            <a:r>
              <a:t>C039 · 87.077–89.425s · ونساعد العميل ياخد قرار وهو فاهم،</a:t>
            </a:r>
          </a:p>
          <a:p/>
          <a:p>
            <a:r>
              <a:t>C040 · 89.880–92.323s · من غير وعود غلط عن المقاسات أو المخزون.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C041 · 93.035–94.395s · نرجع بقى للـContact Center.</a:t>
            </a:r>
          </a:p>
          <a:p/>
          <a:p>
            <a:r>
              <a:t>C042 · 94.989–97.046s · الإيجنت بيستقبل Call على Genesys،</a:t>
            </a:r>
          </a:p>
          <a:p/>
          <a:p>
            <a:r>
              <a:t>C043 · 97.245–99.080s · وبيكون محتاج يفهم العميل بسرعة.</a:t>
            </a:r>
          </a:p>
          <a:p/>
          <a:p>
            <a:r>
              <a:t>C044 · 99.802–104.096s · هنا ممكن الـAI Copilot يساعده بمعلومات من المصادر المصرح بيها،</a:t>
            </a:r>
          </a:p>
          <a:p/>
          <a:p>
            <a:r>
              <a:t>C045 · 104.545–106.379s · ويقترح إجابة من سياسة الشركة،</a:t>
            </a:r>
          </a:p>
          <a:p/>
          <a:p>
            <a:r>
              <a:t>C046 · 106.806–109.237s · أو يجهز مسودة Call Summary بعد المكالمة.</a:t>
            </a:r>
          </a:p>
          <a:p/>
          <a:p>
            <a:r>
              <a:t>C047 · 109.943–113.714s · المهم إن الموظف يراجع الاقتراح قبل استخدامه أو حفظه.</a:t>
            </a:r>
          </a:p>
          <a:p/>
          <a:p>
            <a:r>
              <a:t>C048 · 114.362–118.594s · والـAI ما يوعدش العميل باستبدال أو استرجاع أو ميعاد تسليم،</a:t>
            </a:r>
          </a:p>
          <a:p/>
          <a:p>
            <a:r>
              <a:t>C049 · 118.907–121.266s · من غير بيانات مؤكدة وموافقة مناسبة.</a:t>
            </a:r>
          </a:p>
          <a:p/>
          <a:p>
            <a:r>
              <a:t>C050 · 121.922–123.506s · إحنا بنقوّي شغل الإيجنت،</a:t>
            </a:r>
          </a:p>
          <a:p/>
          <a:p>
            <a:r>
              <a:t>C051 · 123.702–124.964s · مش بنشيل القرار من إيده.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C052 · 125.674–126.354s · وفي الفروع،</a:t>
            </a:r>
          </a:p>
          <a:p/>
          <a:p>
            <a:r>
              <a:t>C053 · 126.505–128.286s · التجربة ممكن تبقى شخصية أكتر.</a:t>
            </a:r>
          </a:p>
          <a:p/>
          <a:p>
            <a:r>
              <a:t>C054 · 128.918–131.020s · لما العميل يوافق على استخدام بياناته،</a:t>
            </a:r>
          </a:p>
          <a:p/>
          <a:p>
            <a:r>
              <a:t>C055 · 131.232–134.868s · موظف المبيعات يقدر يشوف تفضيلاته ومشترياته المتاحة،</a:t>
            </a:r>
          </a:p>
          <a:p/>
          <a:p>
            <a:r>
              <a:t>C056 · 135.295–137.060s · وكمان عضويته في Icons Club:</a:t>
            </a:r>
          </a:p>
          <a:p/>
          <a:p>
            <a:r>
              <a:t>C057 · 137.443–138.092s · Lifestyle،</a:t>
            </a:r>
          </a:p>
          <a:p/>
          <a:p>
            <a:r>
              <a:t>C058 · 138.269–139.006s · أو Prestige،</a:t>
            </a:r>
          </a:p>
          <a:p/>
          <a:p>
            <a:r>
              <a:t>C059 · 139.160–139.683s · أو Elite.</a:t>
            </a:r>
          </a:p>
          <a:p/>
          <a:p>
            <a:r>
              <a:t>C060 · 140.248–141.870s · وبناءً على المعلومات الصحيحة،</a:t>
            </a:r>
          </a:p>
          <a:p/>
          <a:p>
            <a:r>
              <a:t>C061 · 142.227–144.615s · المساعد يقترح قطع تكمل اختياراته،</a:t>
            </a:r>
          </a:p>
          <a:p/>
          <a:p>
            <a:r>
              <a:t>C062 · 145.037–146.683s · أو يساعد في حجز موعد مناسب.</a:t>
            </a:r>
          </a:p>
          <a:p/>
          <a:p>
            <a:r>
              <a:t>C063 · 147.470–150.801s · مش معنى إن العميل Elite إننا نفترض مزايا مش مؤكدة.</a:t>
            </a:r>
          </a:p>
          <a:p/>
          <a:p>
            <a:r>
              <a:t>C064 · 151.421–154.171s · كل اقتراح يفضل مرتبط بسياسات Concrete،</a:t>
            </a:r>
          </a:p>
          <a:p/>
          <a:p>
            <a:r>
              <a:t>C065 · 154.354–155.469s · وتوفر المنتجات،</a:t>
            </a:r>
          </a:p>
          <a:p/>
          <a:p>
            <a:r>
              <a:t>C066 · 155.729–156.770s · وصلاحيات الموظف.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C067 · 157.510–159.413s · بس الفرص مش كلها قدام العميل.</a:t>
            </a:r>
          </a:p>
          <a:p/>
          <a:p>
            <a:r>
              <a:t>C068 · 160.050–162.942s · تخيلوا مدير فروع بيشوف مقاسات مطلوبة في فرع،</a:t>
            </a:r>
          </a:p>
          <a:p/>
          <a:p>
            <a:r>
              <a:t>C069 · 163.149–165.542s · بينما موجودة بكميات أكبر في فرع تاني.</a:t>
            </a:r>
          </a:p>
          <a:p/>
          <a:p>
            <a:r>
              <a:t>C070 · 166.269–168.012s · باستخدام بيانات المبيعات والستوك،</a:t>
            </a:r>
          </a:p>
          <a:p/>
          <a:p>
            <a:r>
              <a:t>C071 · 168.342–170.106s · نقدر نقترح نقل كمية،</a:t>
            </a:r>
          </a:p>
          <a:p/>
          <a:p>
            <a:r>
              <a:t>C072 · 170.340–171.386s · أو إعادة تزويد،</a:t>
            </a:r>
          </a:p>
          <a:p/>
          <a:p>
            <a:r>
              <a:t>C073 · 171.706–173.747s · أو توقع الطلب على منتجات معينة.</a:t>
            </a:r>
          </a:p>
          <a:p/>
          <a:p>
            <a:r>
              <a:t>C074 · 174.438–176.351s · الاقتراح يظهر ومعاه سببه،</a:t>
            </a:r>
          </a:p>
          <a:p/>
          <a:p>
            <a:r>
              <a:t>C075 · 176.660–179.018s · والمسؤول هو اللي يراجعه ويوافق عليه.</a:t>
            </a:r>
          </a:p>
          <a:p/>
          <a:p>
            <a:r>
              <a:t>C076 · 179.694–183.138s · وده ممكن يساعد فرق الـRetail Operations تاخد قرارات أوضح،</a:t>
            </a:r>
          </a:p>
          <a:p/>
          <a:p>
            <a:r>
              <a:t>C077 · 183.676–185.035s · بشرط جودة البيانات،</a:t>
            </a:r>
          </a:p>
          <a:p/>
          <a:p>
            <a:r>
              <a:t>C078 · 185.352–188.758s · وتجربة النماذج على نتائج حقيقية قبل الاعتماد عليها.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C079 · 189.096–190.156s · أما فريق الماركتنج،</a:t>
            </a:r>
          </a:p>
          <a:p/>
          <a:p>
            <a:r>
              <a:t>C080 · 190.390–192.738s · فممكن يبقى عنده AI Marketing Studio،</a:t>
            </a:r>
          </a:p>
          <a:p/>
          <a:p>
            <a:r>
              <a:t>C081 · 193.072–194.827s · يساعده يبدأ من فكرة كامبين،</a:t>
            </a:r>
          </a:p>
          <a:p/>
          <a:p>
            <a:r>
              <a:t>C082 · 195.251–200.627s · ويطلع منها اقتراحات للـCopy، والـVisual Concepts، ونسخ مناسبة للسوشيال ميديا والإيميل.</a:t>
            </a:r>
          </a:p>
          <a:p/>
          <a:p>
            <a:r>
              <a:t>C083 · 201.332–205.311s · وكل ده باستخدام الـBrand Guidelines والصور والمنتجات المعتمدة.</a:t>
            </a:r>
          </a:p>
          <a:p/>
          <a:p>
            <a:r>
              <a:t>C084 · 205.820–206.221s · مثلًا،</a:t>
            </a:r>
          </a:p>
          <a:p/>
          <a:p>
            <a:r>
              <a:t>C085 · 206.518–208.088s · الفريق يختار Collection جديدة،</a:t>
            </a:r>
          </a:p>
          <a:p/>
          <a:p>
            <a:r>
              <a:t>C086 · 208.515–211.636s · والمساعد يجهز له اتجاهات إبداعية مختلفة للمراجعة.</a:t>
            </a:r>
          </a:p>
          <a:p/>
          <a:p>
            <a:r>
              <a:t>C087 · 212.295–213.874s · لكن القرار النهائي والنشر،</a:t>
            </a:r>
          </a:p>
          <a:p/>
          <a:p>
            <a:r>
              <a:t>C088 · 214.150–215.492s · يفضلوا عند فريق Concrete،</a:t>
            </a:r>
          </a:p>
          <a:p/>
          <a:p>
            <a:r>
              <a:t>C089 · 215.887–218.610s · عشان الهوية البصرية والدقة وحقوق الصور،</a:t>
            </a:r>
          </a:p>
          <a:p/>
          <a:p>
            <a:r>
              <a:t>C090 · 218.809–219.683s · يفضلوا محفوظين.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C091 · 220.181–221.657s · ولما نبص من ناحية الإدارة،</a:t>
            </a:r>
          </a:p>
          <a:p/>
          <a:p>
            <a:r>
              <a:t>C092 · 221.951–223.675s · البيانات موجودة في أكتر من مكان:</a:t>
            </a:r>
          </a:p>
          <a:p/>
          <a:p>
            <a:r>
              <a:t>C093 · 224.217–224.837s · مبيعات،</a:t>
            </a:r>
          </a:p>
          <a:p/>
          <a:p>
            <a:r>
              <a:t>C094 · 225.066–225.548s · وستوك،</a:t>
            </a:r>
          </a:p>
          <a:p/>
          <a:p>
            <a:r>
              <a:t>C095 · 225.815–226.580s · وخدمة عملاء،</a:t>
            </a:r>
          </a:p>
          <a:p/>
          <a:p>
            <a:r>
              <a:t>C096 · 226.752–227.350s · وسلوك شراء.</a:t>
            </a:r>
          </a:p>
          <a:p/>
          <a:p>
            <a:r>
              <a:t>C097 · 227.854–230.705s · بعد ربط المصادر المسموح بيها ومراجعة جودتها،</a:t>
            </a:r>
          </a:p>
          <a:p/>
          <a:p>
            <a:r>
              <a:t>C098 · 231.163–233.201s · ممكن نعرض Executive Brief بسيط،</a:t>
            </a:r>
          </a:p>
          <a:p/>
          <a:p>
            <a:r>
              <a:t>C099 · 233.366–234.472s · يوضح الاتجاهات،</a:t>
            </a:r>
          </a:p>
          <a:p/>
          <a:p>
            <a:r>
              <a:t>C100 · 234.646–236.575s · ويشير للمشاكل اللي محتاجة متابعة،</a:t>
            </a:r>
          </a:p>
          <a:p/>
          <a:p>
            <a:r>
              <a:t>C101 · 237.081–239.773s · ويخلّي المدير يقدر يرجع لمصدر كل رقم.</a:t>
            </a:r>
          </a:p>
          <a:p/>
          <a:p>
            <a:r>
              <a:t>C102 · 240.283–242.632s · هنا مش الهدف Dashboard فيها أرقام كتير.</a:t>
            </a:r>
          </a:p>
          <a:p/>
          <a:p>
            <a:r>
              <a:t>C103 · 243.138–245.324s · الهدف إن المدير يعرف إيه اللي اتغير،</a:t>
            </a:r>
          </a:p>
          <a:p/>
          <a:p>
            <a:r>
              <a:t>C104 · 245.632–246.807s · وليه ممكن يكون مهم،</a:t>
            </a:r>
          </a:p>
          <a:p/>
          <a:p>
            <a:r>
              <a:t>C105 · 247.263–249.112s · وإيه السؤال اللي محتاج يسأله بعد كده.</a:t>
            </a:r>
          </a:p>
          <a:p/>
          <a:p>
            <a:r>
              <a:t>C106 · 249.530–250.826s · وأي نتائج على الشاشة،</a:t>
            </a:r>
          </a:p>
          <a:p/>
          <a:p>
            <a:r>
              <a:t>C107 · 251.001–251.951s · لازم تكون Demo،</a:t>
            </a:r>
          </a:p>
          <a:p/>
          <a:p>
            <a:r>
              <a:t>C108 · 252.165–253.463s · أو بيانات متحقق منها.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C109 · 253.969–255.951s · كل الأمثلة دي بتوصلنا لفكرة واحدة:</a:t>
            </a:r>
          </a:p>
          <a:p/>
          <a:p>
            <a:r>
              <a:t>C110 · 256.580–257.813s · تجربة أذكى للعميل،</a:t>
            </a:r>
          </a:p>
          <a:p/>
          <a:p>
            <a:r>
              <a:t>C111 · 258.084–259.719s · وأدوات أفضل للموظفين،</a:t>
            </a:r>
          </a:p>
          <a:p/>
          <a:p>
            <a:r>
              <a:t>C112 · 259.948–261.371s · ومعلومات أوضح للإدارة.</a:t>
            </a:r>
          </a:p>
          <a:p/>
          <a:p>
            <a:r>
              <a:t>C113 · 261.837–264.618s · لكن مش معنى كده إننا هننفذ كل حاجة مرة واحدة.</a:t>
            </a:r>
          </a:p>
          <a:p/>
          <a:p>
            <a:r>
              <a:t>C114 · 265.229–268.194s · هنبدأ بمراجعة أنظمة Concrete وإمكانياتها الموجودة،</a:t>
            </a:r>
          </a:p>
          <a:p/>
          <a:p>
            <a:r>
              <a:t>C115 · 268.547–270.646s · ونحدد أعلى فرص من حيث القيمة،</a:t>
            </a:r>
          </a:p>
          <a:p/>
          <a:p>
            <a:r>
              <a:t>C116 · 270.831–271.717s · وسهولة التجربة.</a:t>
            </a:r>
          </a:p>
          <a:p/>
          <a:p>
            <a:r>
              <a:t>C117 · 272.156–272.654s · وبعدها،</a:t>
            </a:r>
          </a:p>
          <a:p/>
          <a:p>
            <a:r>
              <a:t>C118 · 272.826–273.916s · نختار Pilot صغير،</a:t>
            </a:r>
          </a:p>
          <a:p/>
          <a:p>
            <a:r>
              <a:t>C119 · 274.326–275.050s · نقيس نتيجته،</a:t>
            </a:r>
          </a:p>
          <a:p/>
          <a:p>
            <a:r>
              <a:t>C120 · 275.294–276.694s · ونبني عليه الخطوة اللي بعدها.</a:t>
            </a:r>
          </a:p>
          <a:p/>
          <a:p>
            <a:r>
              <a:t>C121 · 277.183–280.523s · دي الرؤية اللي GRINDCTRL بتقترح تناقشها مع Concrete:</a:t>
            </a:r>
          </a:p>
          <a:p/>
          <a:p>
            <a:r>
              <a:t>C122 · 281.043–282.891s · حلول عملية للذكاء الاصطناعي،</a:t>
            </a:r>
          </a:p>
          <a:p/>
          <a:p>
            <a:r>
              <a:t>C123 · 283.145–284.003s · بتخدم البراند،</a:t>
            </a:r>
          </a:p>
          <a:p/>
          <a:p>
            <a:r>
              <a:t>C124 · 284.256–285.662s · وبتتحسن خطوة بخطوة.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C028 · 61.463–64.222s · ونفس التجربة ممكن تكمل جوه الأونلاين ستور.</a:t>
            </a:r>
          </a:p>
          <a:p/>
          <a:p>
            <a:r>
              <a:t>C029 · 64.860–67.976s · العميل يسأل بشكل طبيعي عن شيرت لمناسبة معينة،</a:t>
            </a:r>
          </a:p>
          <a:p/>
          <a:p>
            <a:r>
              <a:t>C030 · 68.292–69.259s · أو المقاس المناسب،</a:t>
            </a:r>
          </a:p>
          <a:p/>
          <a:p>
            <a:r>
              <a:t>C031 · 69.708–71.635s · أو إذا كان المنتج متاح في فرع قريب.</a:t>
            </a:r>
          </a:p>
          <a:p/>
          <a:p>
            <a:r>
              <a:t>C032 · 72.394–74.079s · المساعد يرشح اختيارات،</a:t>
            </a:r>
          </a:p>
          <a:p/>
          <a:p>
            <a:r>
              <a:t>C033 · 74.308–75.688s · ويشرح جدول المقاسات،</a:t>
            </a:r>
          </a:p>
          <a:p/>
          <a:p>
            <a:r>
              <a:t>C034 · 76.014–79.090s · ويعرض الـAvailability لما تكون متوصلة ببيانات ستوك،</a:t>
            </a:r>
          </a:p>
          <a:p/>
          <a:p>
            <a:r>
              <a:t>C035 · 79.243–80.111s · محدثة فعلًا.</a:t>
            </a:r>
          </a:p>
          <a:p/>
          <a:p>
            <a:r>
              <a:t>C036 · 80.798–81.858s · ولو المعلومات ناقصة،</a:t>
            </a:r>
          </a:p>
          <a:p/>
          <a:p>
            <a:r>
              <a:t>C037 · 82.014–84.095s · يقول إنها غير متاحة بدل ما يخمن.</a:t>
            </a:r>
          </a:p>
          <a:p/>
          <a:p>
            <a:r>
              <a:t>C038 · 84.835–86.747s · كده بنسهّل الـProduct Discovery،</a:t>
            </a:r>
          </a:p>
          <a:p/>
          <a:p>
            <a:r>
              <a:t>C039 · 87.077–89.425s · ونساعد العميل ياخد قرار وهو فاهم،</a:t>
            </a:r>
          </a:p>
          <a:p/>
          <a:p>
            <a:r>
              <a:t>C040 · 89.880–92.323s · من غير وعود غلط عن المقاسات أو المخزون.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C041 · 93.035–94.395s · نرجع بقى للـContact Center.</a:t>
            </a:r>
          </a:p>
          <a:p/>
          <a:p>
            <a:r>
              <a:t>C042 · 94.989–97.046s · الإيجنت بيستقبل Call على Genesys،</a:t>
            </a:r>
          </a:p>
          <a:p/>
          <a:p>
            <a:r>
              <a:t>C043 · 97.245–99.080s · وبيكون محتاج يفهم العميل بسرعة.</a:t>
            </a:r>
          </a:p>
          <a:p/>
          <a:p>
            <a:r>
              <a:t>C044 · 99.802–104.096s · هنا ممكن الـAI Copilot يساعده بمعلومات من المصادر المصرح بيها،</a:t>
            </a:r>
          </a:p>
          <a:p/>
          <a:p>
            <a:r>
              <a:t>C045 · 104.545–106.379s · ويقترح إجابة من سياسة الشركة،</a:t>
            </a:r>
          </a:p>
          <a:p/>
          <a:p>
            <a:r>
              <a:t>C046 · 106.806–109.237s · أو يجهز مسودة Call Summary بعد المكالمة.</a:t>
            </a:r>
          </a:p>
          <a:p/>
          <a:p>
            <a:r>
              <a:t>C047 · 109.943–113.714s · المهم إن الموظف يراجع الاقتراح قبل استخدامه أو حفظه.</a:t>
            </a:r>
          </a:p>
          <a:p/>
          <a:p>
            <a:r>
              <a:t>C048 · 114.362–118.594s · والـAI ما يوعدش العميل باستبدال أو استرجاع أو ميعاد تسليم،</a:t>
            </a:r>
          </a:p>
          <a:p/>
          <a:p>
            <a:r>
              <a:t>C049 · 118.907–121.266s · من غير بيانات مؤكدة وموافقة مناسبة.</a:t>
            </a:r>
          </a:p>
          <a:p/>
          <a:p>
            <a:r>
              <a:t>C050 · 121.922–123.506s · إحنا بنقوّي شغل الإيجنت،</a:t>
            </a:r>
          </a:p>
          <a:p/>
          <a:p>
            <a:r>
              <a:t>C051 · 123.702–124.964s · مش بنشيل القرار من إيده.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C052 · 125.674–126.354s · وفي الفروع،</a:t>
            </a:r>
          </a:p>
          <a:p/>
          <a:p>
            <a:r>
              <a:t>C053 · 126.505–128.286s · التجربة ممكن تبقى شخصية أكتر.</a:t>
            </a:r>
          </a:p>
          <a:p/>
          <a:p>
            <a:r>
              <a:t>C054 · 128.918–131.020s · لما العميل يوافق على استخدام بياناته،</a:t>
            </a:r>
          </a:p>
          <a:p/>
          <a:p>
            <a:r>
              <a:t>C055 · 131.232–134.868s · موظف المبيعات يقدر يشوف تفضيلاته ومشترياته المتاحة،</a:t>
            </a:r>
          </a:p>
          <a:p/>
          <a:p>
            <a:r>
              <a:t>C056 · 135.295–137.060s · وكمان عضويته في Icons Club:</a:t>
            </a:r>
          </a:p>
          <a:p/>
          <a:p>
            <a:r>
              <a:t>C057 · 137.443–138.092s · Lifestyle،</a:t>
            </a:r>
          </a:p>
          <a:p/>
          <a:p>
            <a:r>
              <a:t>C058 · 138.269–139.006s · أو Prestige،</a:t>
            </a:r>
          </a:p>
          <a:p/>
          <a:p>
            <a:r>
              <a:t>C059 · 139.160–139.683s · أو Elite.</a:t>
            </a:r>
          </a:p>
          <a:p/>
          <a:p>
            <a:r>
              <a:t>C060 · 140.248–141.870s · وبناءً على المعلومات الصحيحة،</a:t>
            </a:r>
          </a:p>
          <a:p/>
          <a:p>
            <a:r>
              <a:t>C061 · 142.227–144.615s · المساعد يقترح قطع تكمل اختياراته،</a:t>
            </a:r>
          </a:p>
          <a:p/>
          <a:p>
            <a:r>
              <a:t>C062 · 145.037–146.683s · أو يساعد في حجز موعد مناسب.</a:t>
            </a:r>
          </a:p>
          <a:p/>
          <a:p>
            <a:r>
              <a:t>C063 · 147.470–150.801s · مش معنى إن العميل Elite إننا نفترض مزايا مش مؤكدة.</a:t>
            </a:r>
          </a:p>
          <a:p/>
          <a:p>
            <a:r>
              <a:t>C064 · 151.421–154.171s · كل اقتراح يفضل مرتبط بسياسات Concrete،</a:t>
            </a:r>
          </a:p>
          <a:p/>
          <a:p>
            <a:r>
              <a:t>C065 · 154.354–155.469s · وتوفر المنتجات،</a:t>
            </a:r>
          </a:p>
          <a:p/>
          <a:p>
            <a:r>
              <a:t>C066 · 155.729–156.770s · وصلاحيات الموظف.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new GRINDCTRL collaboration proposal, not deployed products or a live integration. Imagery is generative art direction supplied by the user, selectively displayed through native cropped scene viewports. It is not verified Concrete store/product imagery. Generated captions, signage/date, currencies, benefits, promises and metrics are excluded. UI text is editable and rebuilt.</a:t>
            </a:r>
          </a:p>
          <a:p/>
          <a:p>
            <a:r>
              <a:t>One supplied final MP3, locked continuously from 00:00, unchanged across all nine scenes. Scene divisions affect video only. No speech synthesis, separate narration clips, speed changes, normalization, music or inserted silences.</a:t>
            </a:r>
          </a:p>
          <a:p/>
          <a:p>
            <a:r>
              <a:t>Native Genesys/Zoho AI capabilities, source systems/versions, WooCommerce inventory and product variation mappings, Retail Pro 9/Prism interfaces, Icons Club source, permissions, consent and integration access must be audited. No operational evidence or authorized native screenshots were supplied. Contracts do not prove live operation.</a:t>
            </a:r>
          </a:p>
          <a:p/>
          <a:p>
            <a:r>
              <a:t>C067 · 157.510–159.413s · بس الفرص مش كلها قدام العميل.</a:t>
            </a:r>
          </a:p>
          <a:p/>
          <a:p>
            <a:r>
              <a:t>C068 · 160.050–162.942s · تخيلوا مدير فروع بيشوف مقاسات مطلوبة في فرع،</a:t>
            </a:r>
          </a:p>
          <a:p/>
          <a:p>
            <a:r>
              <a:t>C069 · 163.149–165.542s · بينما موجودة بكميات أكبر في فرع تاني.</a:t>
            </a:r>
          </a:p>
          <a:p/>
          <a:p>
            <a:r>
              <a:t>C070 · 166.269–168.012s · باستخدام بيانات المبيعات والستوك،</a:t>
            </a:r>
          </a:p>
          <a:p/>
          <a:p>
            <a:r>
              <a:t>C071 · 168.342–170.106s · نقدر نقترح نقل كمية،</a:t>
            </a:r>
          </a:p>
          <a:p/>
          <a:p>
            <a:r>
              <a:t>C072 · 170.340–171.386s · أو إعادة تزويد،</a:t>
            </a:r>
          </a:p>
          <a:p/>
          <a:p>
            <a:r>
              <a:t>C073 · 171.706–173.747s · أو توقع الطلب على منتجات معينة.</a:t>
            </a:r>
          </a:p>
          <a:p/>
          <a:p>
            <a:r>
              <a:t>C074 · 174.438–176.351s · الاقتراح يظهر ومعاه سببه،</a:t>
            </a:r>
          </a:p>
          <a:p/>
          <a:p>
            <a:r>
              <a:t>C075 · 176.660–179.018s · والمسؤول هو اللي يراجعه ويوافق عليه.</a:t>
            </a:r>
          </a:p>
          <a:p/>
          <a:p>
            <a:r>
              <a:t>C076 · 179.694–183.138s · وده ممكن يساعد فرق الـRetail Operations تاخد قرارات أوضح،</a:t>
            </a:r>
          </a:p>
          <a:p/>
          <a:p>
            <a:r>
              <a:t>C077 · 183.676–185.035s · بشرط جودة البيانات،</a:t>
            </a:r>
          </a:p>
          <a:p/>
          <a:p>
            <a:r>
              <a:t>C078 · 185.352–188.758s · وتجربة النماذج على نتائج حقيقية قبل الاعتماد عليها.</a:t>
            </a:r>
          </a:p>
          <a:p/>
          <a:p>
            <a:r>
              <a:t>SOURCES (PDF pages):</a:t>
            </a:r>
          </a:p>
          <a:p/>
          <a:p>
            <a:r>
              <a:t>Concrete contract (29-11-2023).pdf — 4, 5 — Contracted screen-pop scope and Prism integration migration; not proof of live operation or current AI entitlements.</a:t>
            </a:r>
          </a:p>
          <a:p/>
          <a:p>
            <a:r>
              <a:t>Part 04 supplied storyboards and narration —  — Art direction and business concepts. Generated UI, facts and metrics corrected.</a:t>
            </a:r>
          </a:p>
          <a:p/>
          <a:p>
            <a:r>
              <a:t>No existing Concrete/Centro relationship. All sample records are fictional. No live connector. Reported workflow has not been independently tested.</a:t>
            </a:r>
          </a:p>
          <a:p/>
          <a:p>
            <a:r>
              <a:t>Editable static scene reference. The supplied replacement continuous MP3 is embedded unchanged on slide 1. Native PowerPoint playback has not been verified; slides advance manually and do not reproduce the full HTML animation choreography. HTML and MP4 are the synchronized audiovisual masters. Thirteen reference pages: nine principal scenes plus four complementary workflow states. Install the bundled Manrope and IBM Plex Sans Arabic fonts for layout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audio" Target="../media/Part04_FINAL_VOICEOVER.mp3"/><Relationship Id="rId11" Type="http://schemas.microsoft.com/office/2007/relationships/media" Target="../media/Part04_FINAL_VOICEOVER.mp3"/><Relationship Id="rId12" Type="http://schemas.openxmlformats.org/officeDocument/2006/relationships/image" Target="../media/image9.png"/><Relationship Id="rId1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2.png"/><Relationship Id="rId5" Type="http://schemas.openxmlformats.org/officeDocument/2006/relationships/image" Target="../media/image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5.png"/><Relationship Id="rId5" Type="http://schemas.openxmlformats.org/officeDocument/2006/relationships/image" Target="../media/image21.png"/><Relationship Id="rId6" Type="http://schemas.openxmlformats.org/officeDocument/2006/relationships/image" Target="../media/image6.png"/><Relationship Id="rId7" Type="http://schemas.openxmlformats.org/officeDocument/2006/relationships/image" Target="../media/image15.png"/><Relationship Id="rId8" Type="http://schemas.openxmlformats.org/officeDocument/2006/relationships/image" Target="../media/image12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17.png"/><Relationship Id="rId9" Type="http://schemas.openxmlformats.org/officeDocument/2006/relationships/image" Target="../media/image12.png"/><Relationship Id="rId10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2.png"/><Relationship Id="rId5" Type="http://schemas.openxmlformats.org/officeDocument/2006/relationships/image" Target="../media/image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22.png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The broader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Customer service is the beginning.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01 / 09</a:t>
            </a:r>
          </a:p>
        </p:txBody>
      </p:sp>
      <p:pic>
        <p:nvPicPr>
          <p:cNvPr id="9" name="Picture 8" descr="S05_storyboard.png"/>
          <p:cNvPicPr>
            <a:picLocks noChangeAspect="1"/>
          </p:cNvPicPr>
          <p:nvPr/>
        </p:nvPicPr>
        <p:blipFill>
          <a:blip r:embed="rId3"/>
          <a:srcRect l="28708" r="30622" t="26249" b="12327"/>
          <a:stretch>
            <a:fillRect/>
          </a:stretch>
        </p:blipFill>
        <p:spPr>
          <a:xfrm>
            <a:off x="457200" y="1600200"/>
            <a:ext cx="4762500" cy="4048125"/>
          </a:xfrm>
          <a:prstGeom prst="rect">
            <a:avLst/>
          </a:prstGeom>
          <a:effectLst/>
        </p:spPr>
      </p:pic>
      <p:sp>
        <p:nvSpPr>
          <p:cNvPr id="10" name="Rectangle 9"/>
          <p:cNvSpPr/>
          <p:nvPr/>
        </p:nvSpPr>
        <p:spPr>
          <a:xfrm>
            <a:off x="457200" y="5667375"/>
            <a:ext cx="4762500" cy="485775"/>
          </a:xfrm>
          <a:prstGeom prst="rect">
            <a:avLst/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25" y="5800725"/>
            <a:ext cx="4371975" cy="257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68645E"/>
                </a:solidFill>
                <a:latin typeface="Manrope"/>
              </a:rPr>
              <a:t>Customer → associate · Illustrative concept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38775" y="1600200"/>
            <a:ext cx="6296025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48325" y="1838325"/>
            <a:ext cx="5867400" cy="419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35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en-US">
                <a:solidFill>
                  <a:srgbClr val="262626"/>
                </a:solidFill>
                <a:latin typeface="Manrope"/>
              </a:rPr>
              <a:t>Across the Concrete experience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2943225"/>
            <a:ext cx="1304925" cy="2076450"/>
          </a:xfrm>
          <a:prstGeom prst="roundRect">
            <a:avLst>
              <a:gd name="adj" fmla="val 3649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02_storyboard.png"/>
          <p:cNvPicPr>
            <a:picLocks noChangeAspect="1"/>
          </p:cNvPicPr>
          <p:nvPr/>
        </p:nvPicPr>
        <p:blipFill>
          <a:blip r:embed="rId4"/>
          <a:srcRect l="58074" r="34510" t="38257" b="43464"/>
          <a:stretch>
            <a:fillRect/>
          </a:stretch>
        </p:blipFill>
        <p:spPr>
          <a:xfrm>
            <a:off x="5842148" y="3000375"/>
            <a:ext cx="1050630" cy="1457325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5829300" y="4629150"/>
            <a:ext cx="10763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Blazer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0900" y="2943225"/>
            <a:ext cx="1304925" cy="2076450"/>
          </a:xfrm>
          <a:prstGeom prst="roundRect">
            <a:avLst>
              <a:gd name="adj" fmla="val 3649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02_storyboard.png"/>
          <p:cNvPicPr>
            <a:picLocks noChangeAspect="1"/>
          </p:cNvPicPr>
          <p:nvPr/>
        </p:nvPicPr>
        <p:blipFill>
          <a:blip r:embed="rId4"/>
          <a:srcRect l="66746" r="25239" t="37726" b="43677"/>
          <a:stretch>
            <a:fillRect/>
          </a:stretch>
        </p:blipFill>
        <p:spPr>
          <a:xfrm>
            <a:off x="7305675" y="3013774"/>
            <a:ext cx="1095375" cy="1430527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7315200" y="4629150"/>
            <a:ext cx="10763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Shirt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1575" y="2952750"/>
            <a:ext cx="2705100" cy="3619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en-US">
                <a:solidFill>
                  <a:srgbClr val="262626"/>
                </a:solidFill>
                <a:latin typeface="Manrope"/>
              </a:rPr>
              <a:t>Outfit proposal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1575" y="3476625"/>
            <a:ext cx="2705100" cy="733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en-US">
                <a:solidFill>
                  <a:srgbClr val="262626"/>
                </a:solidFill>
                <a:latin typeface="Manrope"/>
              </a:rPr>
              <a:t>Occasion and</a:t>
            </a:r>
          </a:p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en-US">
                <a:solidFill>
                  <a:srgbClr val="262626"/>
                </a:solidFill>
                <a:latin typeface="Manrope"/>
              </a:rPr>
              <a:t>preferences in view.</a:t>
            </a:r>
          </a:p>
        </p:txBody>
      </p:sp>
      <p:pic>
        <p:nvPicPr>
          <p:cNvPr id="22" name="Picture 21" descr="icon-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1100" y="4438650"/>
            <a:ext cx="238125" cy="238125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9172575" y="4400550"/>
            <a:ext cx="232410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Human review</a:t>
            </a:r>
          </a:p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across teams</a:t>
            </a:r>
          </a:p>
        </p:txBody>
      </p:sp>
      <p:pic>
        <p:nvPicPr>
          <p:cNvPr id="24" name="Picture 23" descr="icon-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2400300"/>
            <a:ext cx="190500" cy="190500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6010275" y="2362200"/>
            <a:ext cx="1400175" cy="276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Online store</a:t>
            </a:r>
          </a:p>
        </p:txBody>
      </p:sp>
      <p:pic>
        <p:nvPicPr>
          <p:cNvPr id="26" name="Picture 25" descr="icon-ac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6675" y="2400300"/>
            <a:ext cx="190500" cy="190500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7981950" y="2362200"/>
            <a:ext cx="1400175" cy="276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Stores</a:t>
            </a:r>
          </a:p>
        </p:txBody>
      </p:sp>
      <p:pic>
        <p:nvPicPr>
          <p:cNvPr id="28" name="Picture 27" descr="icon-setting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8350" y="2400300"/>
            <a:ext cx="190500" cy="190500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9953625" y="2362200"/>
            <a:ext cx="1400175" cy="276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Teams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48325" y="5457825"/>
            <a:ext cx="5867400" cy="514350"/>
          </a:xfrm>
          <a:prstGeom prst="roundRect">
            <a:avLst>
              <a:gd name="adj" fmla="val 12000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con-quali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19775" y="5600700"/>
            <a:ext cx="228600" cy="228600"/>
          </a:xfrm>
          <a:prstGeom prst="rect">
            <a:avLst/>
          </a:prstGeom>
          <a:effectLst/>
        </p:spPr>
      </p:pic>
      <p:sp>
        <p:nvSpPr>
          <p:cNvPr id="32" name="TextBox 31"/>
          <p:cNvSpPr txBox="1"/>
          <p:nvPr/>
        </p:nvSpPr>
        <p:spPr>
          <a:xfrm>
            <a:off x="6162675" y="5572125"/>
            <a:ext cx="52197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965318"/>
                </a:solidFill>
                <a:latin typeface="Manrope"/>
              </a:rPr>
              <a:t>Each one tested for its real value</a:t>
            </a:r>
          </a:p>
        </p:txBody>
      </p:sp>
      <p:pic>
        <p:nvPicPr>
          <p:cNvPr id="33" name="Unchanged replacement Arabic narration" descr="icon-mic.png">
            <a:hlinkClick action="ppaction://media" r:id=""/>
          </p:cNvPr>
          <p:cNvPicPr>
            <a:picLocks noChangeAspect="1"/>
          </p:cNvPicPr>
          <p:nvPr>
            <a:audioFile r:link="rId10"/>
            <p:extLst>
              <p:ext uri="{DAA4B4D4-6D71-4841-9C94-3DE7FCFB45AD}">
                <p14:media xmlns:p14="http://schemas.microsoft.com/office/powerpoint/2010/main" r:embed="rId1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0572750" y="6486525"/>
            <a:ext cx="209550" cy="209550"/>
          </a:xfrm>
          <a:prstGeom prst="rect">
            <a:avLst/>
          </a:prstGeom>
        </p:spPr>
      </p:pic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100000" numSld="9" showWhenStopped="1">
                <p:cTn id="4" dur="285920" fill="hold" nodeType="withEffect">
                  <p:stCondLst>
                    <p:cond delay="0"/>
                  </p:stCondLst>
                </p:cTn>
                <p:tgtEl>
                  <p:spTgt spid="33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AI personal stylist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A complete look starts with a simple request.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02 / 09</a:t>
            </a:r>
          </a:p>
        </p:txBody>
      </p:sp>
      <p:pic>
        <p:nvPicPr>
          <p:cNvPr id="9" name="Picture 8" descr="S02_storyboard.png"/>
          <p:cNvPicPr>
            <a:picLocks noChangeAspect="1"/>
          </p:cNvPicPr>
          <p:nvPr/>
        </p:nvPicPr>
        <p:blipFill>
          <a:blip r:embed="rId3"/>
          <a:srcRect l="28589" r="45694" t="32625" b="13177"/>
          <a:stretch>
            <a:fillRect/>
          </a:stretch>
        </p:blipFill>
        <p:spPr>
          <a:xfrm>
            <a:off x="457200" y="1600200"/>
            <a:ext cx="3838575" cy="4552950"/>
          </a:xfrm>
          <a:prstGeom prst="rect">
            <a:avLst/>
          </a:prstGeom>
          <a:effectLst/>
        </p:spPr>
      </p:pic>
      <p:sp>
        <p:nvSpPr>
          <p:cNvPr id="10" name="Rounded Rectangle 9"/>
          <p:cNvSpPr/>
          <p:nvPr/>
        </p:nvSpPr>
        <p:spPr>
          <a:xfrm>
            <a:off x="4524375" y="1638300"/>
            <a:ext cx="7210425" cy="4552950"/>
          </a:xfrm>
          <a:prstGeom prst="roundRect">
            <a:avLst>
              <a:gd name="adj" fmla="val 2092"/>
            </a:avLst>
          </a:prstGeom>
          <a:solidFill>
            <a:srgbClr val="EDEAE4"/>
          </a:solidFill>
          <a:ln w="9525">
            <a:solidFill>
              <a:srgbClr val="ED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4375" y="1600200"/>
            <a:ext cx="7210425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3925" y="1771650"/>
            <a:ext cx="67913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AI personal stylist · Demo catalog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4375" y="2200275"/>
            <a:ext cx="7210425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icon-spee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400" y="2419350"/>
            <a:ext cx="266700" cy="26670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4743450" y="3095625"/>
            <a:ext cx="6686550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96"/>
              </a:lnSpc>
              <a:spcBef>
                <a:spcPts val="0"/>
              </a:spcBef>
              <a:spcAft>
                <a:spcPts val="0"/>
              </a:spcAft>
            </a:pPr>
            <a:r>
              <a:rPr sz="1425" b="0" lang="en-US">
                <a:solidFill>
                  <a:srgbClr val="68645E"/>
                </a:solidFill>
                <a:latin typeface="Manrope"/>
              </a:rPr>
              <a:t>Outfit proposal · Eligible demo items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43450" y="3505200"/>
            <a:ext cx="1571625" cy="1885950"/>
          </a:xfrm>
          <a:prstGeom prst="roundRect">
            <a:avLst>
              <a:gd name="adj" fmla="val 3030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2_storyboard.png"/>
          <p:cNvPicPr>
            <a:picLocks noChangeAspect="1"/>
          </p:cNvPicPr>
          <p:nvPr/>
        </p:nvPicPr>
        <p:blipFill>
          <a:blip r:embed="rId3"/>
          <a:srcRect l="58074" r="34510" t="38257" b="43464"/>
          <a:stretch>
            <a:fillRect/>
          </a:stretch>
        </p:blipFill>
        <p:spPr>
          <a:xfrm>
            <a:off x="5072616" y="3562350"/>
            <a:ext cx="913292" cy="1266825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4857750" y="5000625"/>
            <a:ext cx="13430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Blazer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1500" y="3505200"/>
            <a:ext cx="1571625" cy="1885950"/>
          </a:xfrm>
          <a:prstGeom prst="roundRect">
            <a:avLst>
              <a:gd name="adj" fmla="val 3030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2_storyboard.png"/>
          <p:cNvPicPr>
            <a:picLocks noChangeAspect="1"/>
          </p:cNvPicPr>
          <p:nvPr/>
        </p:nvPicPr>
        <p:blipFill>
          <a:blip r:embed="rId3"/>
          <a:srcRect l="77273" r="14773" t="37620" b="43677"/>
          <a:stretch>
            <a:fillRect/>
          </a:stretch>
        </p:blipFill>
        <p:spPr>
          <a:xfrm>
            <a:off x="8498654" y="3562350"/>
            <a:ext cx="957317" cy="1266825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8305800" y="5000625"/>
            <a:ext cx="13430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Trousers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15525" y="3505200"/>
            <a:ext cx="1571625" cy="1885950"/>
          </a:xfrm>
          <a:prstGeom prst="roundRect">
            <a:avLst>
              <a:gd name="adj" fmla="val 3030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02_storyboard.png"/>
          <p:cNvPicPr>
            <a:picLocks noChangeAspect="1"/>
          </p:cNvPicPr>
          <p:nvPr/>
        </p:nvPicPr>
        <p:blipFill>
          <a:blip r:embed="rId3"/>
          <a:srcRect l="87380" r="4246" t="43571" b="43358"/>
          <a:stretch>
            <a:fillRect/>
          </a:stretch>
        </p:blipFill>
        <p:spPr>
          <a:xfrm>
            <a:off x="10020300" y="3597422"/>
            <a:ext cx="1362075" cy="11966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10029825" y="5000625"/>
            <a:ext cx="13430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Shoes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67475" y="3505200"/>
            <a:ext cx="1571625" cy="1885950"/>
          </a:xfrm>
          <a:prstGeom prst="roundRect">
            <a:avLst>
              <a:gd name="adj" fmla="val 3030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05_storyboard.png"/>
          <p:cNvPicPr>
            <a:picLocks noChangeAspect="1"/>
          </p:cNvPicPr>
          <p:nvPr/>
        </p:nvPicPr>
        <p:blipFill>
          <a:blip r:embed="rId5"/>
          <a:srcRect l="14713" r="80921" t="57811" b="34113"/>
          <a:stretch>
            <a:fillRect/>
          </a:stretch>
        </p:blipFill>
        <p:spPr>
          <a:xfrm>
            <a:off x="6644878" y="3562350"/>
            <a:ext cx="1216819" cy="1266825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6581775" y="5000625"/>
            <a:ext cx="13430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Knit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14875" y="2362200"/>
            <a:ext cx="6781800" cy="619125"/>
          </a:xfrm>
          <a:prstGeom prst="roundRect">
            <a:avLst>
              <a:gd name="adj" fmla="val 10769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n-spee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25" y="2514600"/>
            <a:ext cx="247650" cy="247650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5248275" y="2486025"/>
            <a:ext cx="6019800" cy="4286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en-US">
                <a:solidFill>
                  <a:srgbClr val="262626"/>
                </a:solidFill>
                <a:latin typeface="Manrope"/>
              </a:rPr>
              <a:t>Refine the look: “Make it less formal.”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43450" y="5591175"/>
            <a:ext cx="4552950" cy="400050"/>
          </a:xfrm>
          <a:prstGeom prst="roundRect">
            <a:avLst>
              <a:gd name="adj" fmla="val 11904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-ac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7275" y="5695950"/>
            <a:ext cx="180975" cy="180975"/>
          </a:xfrm>
          <a:prstGeom prst="rect">
            <a:avLst/>
          </a:prstGeom>
          <a:effectLst/>
        </p:spPr>
      </p:pic>
      <p:sp>
        <p:nvSpPr>
          <p:cNvPr id="33" name="TextBox 32"/>
          <p:cNvSpPr txBox="1"/>
          <p:nvPr/>
        </p:nvSpPr>
        <p:spPr>
          <a:xfrm>
            <a:off x="5153025" y="5686425"/>
            <a:ext cx="4029075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Request store visit · If service supported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7850" y="5667375"/>
            <a:ext cx="20097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No booking made</a:t>
            </a:r>
          </a:p>
        </p:txBody>
      </p:sp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AI e-commerce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Discover the product. Check the source.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03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383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EDEAE4"/>
          </a:solidFill>
          <a:ln w="9525">
            <a:solidFill>
              <a:srgbClr val="ED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1771650"/>
            <a:ext cx="1085850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Concrete · Proposed online-store assistant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2200275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3900" y="2390775"/>
            <a:ext cx="10744200" cy="581025"/>
          </a:xfrm>
          <a:prstGeom prst="roundRect">
            <a:avLst>
              <a:gd name="adj" fmla="val 11475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2581275"/>
            <a:ext cx="228600" cy="22860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1323975" y="2543175"/>
            <a:ext cx="9896475" cy="3619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 lang="en-US">
                <a:solidFill>
                  <a:srgbClr val="262626"/>
                </a:solidFill>
                <a:latin typeface="Manrope"/>
              </a:rPr>
              <a:t>A shirt for a smart-casual evening.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900" y="3352800"/>
            <a:ext cx="2066925" cy="2581275"/>
          </a:xfrm>
          <a:prstGeom prst="roundRect">
            <a:avLst>
              <a:gd name="adj" fmla="val 2304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2_storyboard.png"/>
          <p:cNvPicPr>
            <a:picLocks noChangeAspect="1"/>
          </p:cNvPicPr>
          <p:nvPr/>
        </p:nvPicPr>
        <p:blipFill>
          <a:blip r:embed="rId4"/>
          <a:srcRect l="66746" r="25239" t="37726" b="43677"/>
          <a:stretch>
            <a:fillRect/>
          </a:stretch>
        </p:blipFill>
        <p:spPr>
          <a:xfrm>
            <a:off x="1006139" y="3409950"/>
            <a:ext cx="1502446" cy="1962150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838200" y="5543550"/>
            <a:ext cx="18383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Shirt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5150" y="3324225"/>
            <a:ext cx="5276850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84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en-US">
                <a:solidFill>
                  <a:srgbClr val="262626"/>
                </a:solidFill>
                <a:latin typeface="Manrope"/>
              </a:rPr>
              <a:t>Size-chart guidance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5150" y="3790950"/>
            <a:ext cx="5267325" cy="276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lang="en-US">
                <a:solidFill>
                  <a:srgbClr val="262626"/>
                </a:solidFill>
                <a:latin typeface="Manrope"/>
              </a:rPr>
              <a:t>Compare the product’s measurements.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05150" y="4181475"/>
            <a:ext cx="5267325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icon-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5150" y="4438650"/>
            <a:ext cx="209550" cy="20955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3486150" y="4410075"/>
            <a:ext cx="32861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lang="en-US">
                <a:solidFill>
                  <a:srgbClr val="262626"/>
                </a:solidFill>
                <a:latin typeface="Manrope"/>
              </a:rPr>
              <a:t>Chest measurement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15150" y="4410075"/>
            <a:ext cx="14573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68645E"/>
                </a:solidFill>
                <a:latin typeface="Manrope"/>
              </a:rPr>
              <a:t>Source required</a:t>
            </a:r>
          </a:p>
        </p:txBody>
      </p:sp>
      <p:pic>
        <p:nvPicPr>
          <p:cNvPr id="25" name="Picture 24" descr="icon-qual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5150" y="4867275"/>
            <a:ext cx="209550" cy="209550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3486150" y="4838700"/>
            <a:ext cx="32861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lang="en-US">
                <a:solidFill>
                  <a:srgbClr val="262626"/>
                </a:solidFill>
                <a:latin typeface="Manrope"/>
              </a:rPr>
              <a:t>Garment length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5150" y="4838700"/>
            <a:ext cx="14573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68645E"/>
                </a:solidFill>
                <a:latin typeface="Manrope"/>
              </a:rPr>
              <a:t>Source required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53475" y="3228975"/>
            <a:ext cx="0" cy="274320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010650" y="3324225"/>
            <a:ext cx="2457450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Availability</a:t>
            </a:r>
          </a:p>
        </p:txBody>
      </p:sp>
      <p:pic>
        <p:nvPicPr>
          <p:cNvPr id="30" name="Picture 29" descr="icon-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0175" y="3876675"/>
            <a:ext cx="257175" cy="257175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9010650" y="4314825"/>
            <a:ext cx="245745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68645E"/>
                </a:solidFill>
                <a:latin typeface="Manrope"/>
              </a:rPr>
              <a:t>Stock data</a:t>
            </a:r>
          </a:p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68645E"/>
                </a:solidFill>
                <a:latin typeface="Manrope"/>
              </a:rPr>
              <a:t>unavailable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0650" y="5210175"/>
            <a:ext cx="2457450" cy="5619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en-US">
                <a:solidFill>
                  <a:srgbClr val="68645E"/>
                </a:solidFill>
                <a:latin typeface="Manrope"/>
              </a:rPr>
              <a:t>Shown as unknown:</a:t>
            </a:r>
          </a:p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en-US">
                <a:solidFill>
                  <a:srgbClr val="68645E"/>
                </a:solidFill>
                <a:latin typeface="Manrope"/>
              </a:rPr>
              <a:t>no guess, no promise.</a:t>
            </a:r>
          </a:p>
        </p:txBody>
      </p:sp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Contact center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AI drafts. The human agent decides.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04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383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EDEAE4"/>
          </a:solidFill>
          <a:ln w="9525">
            <a:solidFill>
              <a:srgbClr val="ED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1771650"/>
            <a:ext cx="1085850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Genesys · Proposed copilot experience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2200275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genes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1768248"/>
            <a:ext cx="1257300" cy="244929"/>
          </a:xfrm>
          <a:prstGeom prst="rect">
            <a:avLst/>
          </a:prstGeom>
          <a:effectLst/>
        </p:spPr>
      </p:pic>
      <p:pic>
        <p:nvPicPr>
          <p:cNvPr id="14" name="Picture 13" descr="S04_storyboard.png"/>
          <p:cNvPicPr>
            <a:picLocks noChangeAspect="1"/>
          </p:cNvPicPr>
          <p:nvPr/>
        </p:nvPicPr>
        <p:blipFill>
          <a:blip r:embed="rId4"/>
          <a:srcRect l="26555" r="52931" t="24973" b="40701"/>
          <a:stretch>
            <a:fillRect/>
          </a:stretch>
        </p:blipFill>
        <p:spPr>
          <a:xfrm>
            <a:off x="695325" y="2390775"/>
            <a:ext cx="2333625" cy="2200275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95325" y="4838700"/>
            <a:ext cx="23336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262626"/>
                </a:solidFill>
                <a:latin typeface="Manrope"/>
              </a:rPr>
              <a:t>Incoming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325" y="5257800"/>
            <a:ext cx="23336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+20 10 •••• 4821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325" y="5762625"/>
            <a:ext cx="2333625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Human Agent D · DEMO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38500" y="2371725"/>
            <a:ext cx="0" cy="356235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467100" y="2390775"/>
            <a:ext cx="2581275" cy="342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Customer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100" y="2895600"/>
            <a:ext cx="258127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Ahmed M. (DEMO)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3352800"/>
            <a:ext cx="25812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en-US">
                <a:solidFill>
                  <a:srgbClr val="965318"/>
                </a:solidFill>
                <a:latin typeface="Manrope"/>
              </a:rPr>
              <a:t>Icons Club · ELITE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7100" y="3857625"/>
            <a:ext cx="2581275" cy="3143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Prior human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7100" y="4295775"/>
            <a:ext cx="2581275" cy="8858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en-US">
                <a:solidFill>
                  <a:srgbClr val="262626"/>
                </a:solidFill>
                <a:latin typeface="Manrope"/>
              </a:rPr>
              <a:t>Branch review</a:t>
            </a:r>
          </a:p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en-US">
                <a:solidFill>
                  <a:srgbClr val="262626"/>
                </a:solidFill>
                <a:latin typeface="Manrope"/>
              </a:rPr>
              <a:t>requested. Completion</a:t>
            </a:r>
          </a:p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en-US">
                <a:solidFill>
                  <a:srgbClr val="262626"/>
                </a:solidFill>
                <a:latin typeface="Manrope"/>
              </a:rPr>
              <a:t>not confirmed.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7100" y="5457825"/>
            <a:ext cx="2581275" cy="4857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Source: DEMO-1008</a:t>
            </a:r>
          </a:p>
          <a:p>
            <a:pPr algn="l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Agent A · Original note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1250" y="2371725"/>
            <a:ext cx="0" cy="356235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29375" y="2390775"/>
            <a:ext cx="5048250" cy="342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AI call summary · DRAFT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29375" y="2952750"/>
            <a:ext cx="5048250" cy="1981200"/>
          </a:xfrm>
          <a:prstGeom prst="roundRect">
            <a:avLst>
              <a:gd name="adj" fmla="val 3365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8925" y="3143250"/>
            <a:ext cx="4629150" cy="990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Customer asked for an exchange update.</a:t>
            </a:r>
          </a:p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Branch review is recorded as requested.</a:t>
            </a:r>
          </a:p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Completion remains unconfirmed.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638925" y="4286250"/>
            <a:ext cx="4629150" cy="0"/>
          </a:xfrm>
          <a:prstGeom prst="line">
            <a:avLst/>
          </a:prstGeom>
          <a:ln w="9525">
            <a:solidFill>
              <a:srgbClr val="FFBA6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icon-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925" y="4438650"/>
            <a:ext cx="190500" cy="190500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6943725" y="4391025"/>
            <a:ext cx="432435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en-US">
                <a:solidFill>
                  <a:srgbClr val="965318"/>
                </a:solidFill>
                <a:latin typeface="Manrope"/>
              </a:rPr>
              <a:t>No exchange, refund or delivery-date promise</a:t>
            </a:r>
          </a:p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en-US">
                <a:solidFill>
                  <a:srgbClr val="965318"/>
                </a:solidFill>
                <a:latin typeface="Manrope"/>
              </a:rPr>
              <a:t>without confirmed data and approval.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29375" y="5191125"/>
            <a:ext cx="2171700" cy="400050"/>
          </a:xfrm>
          <a:prstGeom prst="roundRect">
            <a:avLst>
              <a:gd name="adj" fmla="val 11904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con-p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5295900"/>
            <a:ext cx="180975" cy="180975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6838950" y="5286375"/>
            <a:ext cx="1647825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Human edit /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20150" y="5191125"/>
            <a:ext cx="2657475" cy="400050"/>
          </a:xfrm>
          <a:prstGeom prst="roundRect">
            <a:avLst>
              <a:gd name="adj" fmla="val 11904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on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3975" y="5295900"/>
            <a:ext cx="180975" cy="180975"/>
          </a:xfrm>
          <a:prstGeom prst="rect">
            <a:avLst/>
          </a:prstGeom>
          <a:effectLst/>
        </p:spPr>
      </p:pic>
      <p:sp>
        <p:nvSpPr>
          <p:cNvPr id="37" name="TextBox 36"/>
          <p:cNvSpPr txBox="1"/>
          <p:nvPr/>
        </p:nvSpPr>
        <p:spPr>
          <a:xfrm>
            <a:off x="9229725" y="5286375"/>
            <a:ext cx="2133600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Approve before saving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9375" y="5743575"/>
            <a:ext cx="5048250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Demo draft · No automatic commitment or decision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10325" y="5162550"/>
            <a:ext cx="5086350" cy="47625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FFBA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Loyalty and clienteling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Personalization starts with permission.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05 / 09</a:t>
            </a:r>
          </a:p>
        </p:txBody>
      </p:sp>
      <p:pic>
        <p:nvPicPr>
          <p:cNvPr id="9" name="Picture 8" descr="S05_storyboard.png"/>
          <p:cNvPicPr>
            <a:picLocks noChangeAspect="1"/>
          </p:cNvPicPr>
          <p:nvPr/>
        </p:nvPicPr>
        <p:blipFill>
          <a:blip r:embed="rId3"/>
          <a:srcRect l="29007" r="30203" t="26036" b="12327"/>
          <a:stretch>
            <a:fillRect/>
          </a:stretch>
        </p:blipFill>
        <p:spPr>
          <a:xfrm>
            <a:off x="457200" y="1600200"/>
            <a:ext cx="4152900" cy="3533775"/>
          </a:xfrm>
          <a:prstGeom prst="rect">
            <a:avLst/>
          </a:prstGeom>
          <a:effectLst/>
        </p:spPr>
      </p:pic>
      <p:sp>
        <p:nvSpPr>
          <p:cNvPr id="10" name="Rectangle 9"/>
          <p:cNvSpPr/>
          <p:nvPr/>
        </p:nvSpPr>
        <p:spPr>
          <a:xfrm>
            <a:off x="457200" y="5153025"/>
            <a:ext cx="415290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5248275"/>
            <a:ext cx="373380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en-US">
                <a:solidFill>
                  <a:srgbClr val="262626"/>
                </a:solidFill>
                <a:latin typeface="Manrope"/>
              </a:rPr>
              <a:t>The associate keeps</a:t>
            </a:r>
          </a:p>
          <a:p>
            <a:pPr algn="l" rtl="0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en-US">
                <a:solidFill>
                  <a:srgbClr val="262626"/>
                </a:solidFill>
                <a:latin typeface="Manrope"/>
              </a:rPr>
              <a:t>the customer conversation.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5876925"/>
            <a:ext cx="3733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lang="en-US">
                <a:solidFill>
                  <a:srgbClr val="68645E"/>
                </a:solidFill>
                <a:latin typeface="Manrope"/>
              </a:rPr>
              <a:t>Illustrative store /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9175" y="1638300"/>
            <a:ext cx="6905625" cy="4552950"/>
          </a:xfrm>
          <a:prstGeom prst="roundRect">
            <a:avLst>
              <a:gd name="adj" fmla="val 2092"/>
            </a:avLst>
          </a:prstGeom>
          <a:solidFill>
            <a:srgbClr val="EDEAE4"/>
          </a:solidFill>
          <a:ln w="9525">
            <a:solidFill>
              <a:srgbClr val="ED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29175" y="1600200"/>
            <a:ext cx="6905625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8725" y="1771650"/>
            <a:ext cx="64865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Icons Club · Proposed associate view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29175" y="2200275"/>
            <a:ext cx="6905625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icon-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7775" y="2428875"/>
            <a:ext cx="247650" cy="247650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5486400" y="2409825"/>
            <a:ext cx="6010275" cy="3143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49654E"/>
                </a:solidFill>
                <a:latin typeface="Manrope"/>
              </a:rPr>
              <a:t>Consent recorded (DEMO)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7300" y="2905125"/>
            <a:ext cx="6191250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Ahmed M. · Neutral tailoring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7300" y="3352800"/>
            <a:ext cx="619125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en-US">
                <a:solidFill>
                  <a:srgbClr val="68645E"/>
                </a:solidFill>
                <a:latin typeface="Manrope"/>
              </a:rPr>
              <a:t>Preference / purchase sources require permission.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67300" y="3962400"/>
            <a:ext cx="2038350" cy="361950"/>
          </a:xfrm>
          <a:prstGeom prst="roundRect">
            <a:avLst>
              <a:gd name="adj" fmla="val 12000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7300" y="4029075"/>
            <a:ext cx="2038350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96"/>
              </a:lnSpc>
              <a:spcBef>
                <a:spcPts val="0"/>
              </a:spcBef>
              <a:spcAft>
                <a:spcPts val="0"/>
              </a:spcAft>
            </a:pPr>
            <a:r>
              <a:rPr sz="1425" b="1" lang="en-US">
                <a:solidFill>
                  <a:srgbClr val="68645E"/>
                </a:solidFill>
                <a:latin typeface="Manrope"/>
              </a:rPr>
              <a:t>LIFESTYLE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9475" y="3962400"/>
            <a:ext cx="2038350" cy="361950"/>
          </a:xfrm>
          <a:prstGeom prst="roundRect">
            <a:avLst>
              <a:gd name="adj" fmla="val 12000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9475" y="4029075"/>
            <a:ext cx="2038350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96"/>
              </a:lnSpc>
              <a:spcBef>
                <a:spcPts val="0"/>
              </a:spcBef>
              <a:spcAft>
                <a:spcPts val="0"/>
              </a:spcAft>
            </a:pPr>
            <a:r>
              <a:rPr sz="1425" b="1" lang="en-US">
                <a:solidFill>
                  <a:srgbClr val="68645E"/>
                </a:solidFill>
                <a:latin typeface="Manrope"/>
              </a:rPr>
              <a:t>PRESTIGE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91650" y="3962400"/>
            <a:ext cx="2038350" cy="361950"/>
          </a:xfrm>
          <a:prstGeom prst="roundRect">
            <a:avLst>
              <a:gd name="adj" fmla="val 12000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91650" y="4029075"/>
            <a:ext cx="2038350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96"/>
              </a:lnSpc>
              <a:spcBef>
                <a:spcPts val="0"/>
              </a:spcBef>
              <a:spcAft>
                <a:spcPts val="0"/>
              </a:spcAft>
            </a:pPr>
            <a:r>
              <a:rPr sz="1425" b="1" lang="en-US">
                <a:solidFill>
                  <a:srgbClr val="965318"/>
                </a:solidFill>
                <a:latin typeface="Manrope"/>
              </a:rPr>
              <a:t>ELITE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7300" y="3657600"/>
            <a:ext cx="6191250" cy="2476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Icons Club membership · Trusted source required · Illustrative tier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67300" y="4562475"/>
            <a:ext cx="1209675" cy="1381125"/>
          </a:xfrm>
          <a:prstGeom prst="roundRect">
            <a:avLst>
              <a:gd name="adj" fmla="val 3937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02_storyboard.png"/>
          <p:cNvPicPr>
            <a:picLocks noChangeAspect="1"/>
          </p:cNvPicPr>
          <p:nvPr/>
        </p:nvPicPr>
        <p:blipFill>
          <a:blip r:embed="rId5"/>
          <a:srcRect l="58074" r="34510" t="38257" b="43464"/>
          <a:stretch>
            <a:fillRect/>
          </a:stretch>
        </p:blipFill>
        <p:spPr>
          <a:xfrm>
            <a:off x="5397463" y="4619625"/>
            <a:ext cx="549349" cy="762000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5181600" y="5553075"/>
            <a:ext cx="98107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Blazer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562475"/>
            <a:ext cx="1209675" cy="1381125"/>
          </a:xfrm>
          <a:prstGeom prst="roundRect">
            <a:avLst>
              <a:gd name="adj" fmla="val 3937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02_storyboard.png"/>
          <p:cNvPicPr>
            <a:picLocks noChangeAspect="1"/>
          </p:cNvPicPr>
          <p:nvPr/>
        </p:nvPicPr>
        <p:blipFill>
          <a:blip r:embed="rId5"/>
          <a:srcRect l="66746" r="25239" t="37726" b="43677"/>
          <a:stretch>
            <a:fillRect/>
          </a:stretch>
        </p:blipFill>
        <p:spPr>
          <a:xfrm>
            <a:off x="6790100" y="4619625"/>
            <a:ext cx="583474" cy="762000"/>
          </a:xfrm>
          <a:prstGeom prst="rect">
            <a:avLst/>
          </a:prstGeom>
          <a:effectLst/>
        </p:spPr>
      </p:pic>
      <p:sp>
        <p:nvSpPr>
          <p:cNvPr id="33" name="TextBox 32"/>
          <p:cNvSpPr txBox="1"/>
          <p:nvPr/>
        </p:nvSpPr>
        <p:spPr>
          <a:xfrm>
            <a:off x="6591300" y="5553075"/>
            <a:ext cx="98107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Shirt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15275" y="4543425"/>
            <a:ext cx="3524250" cy="8477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965318"/>
                </a:solidFill>
                <a:latin typeface="Manrope"/>
              </a:rPr>
              <a:t>Benefits must be</a:t>
            </a:r>
          </a:p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965318"/>
                </a:solidFill>
                <a:latin typeface="Manrope"/>
              </a:rPr>
              <a:t>validated against</a:t>
            </a:r>
          </a:p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965318"/>
                </a:solidFill>
                <a:latin typeface="Manrope"/>
              </a:rPr>
              <a:t>program rules.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5275" y="5486400"/>
            <a:ext cx="352425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68645E"/>
                </a:solidFill>
                <a:latin typeface="Manrope"/>
              </a:rPr>
              <a:t>No entitlement inferred.</a:t>
            </a:r>
          </a:p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68645E"/>
                </a:solidFill>
                <a:latin typeface="Manrope"/>
              </a:rPr>
              <a:t>Catalog and role checks apply.</a:t>
            </a:r>
          </a:p>
        </p:txBody>
      </p:sp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Retail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A stock signal becomes a reviewable proposal.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06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383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EDEAE4"/>
          </a:solidFill>
          <a:ln w="9525">
            <a:solidFill>
              <a:srgbClr val="ED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1771650"/>
            <a:ext cx="1085850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Retail operations · Synthetic SKU / branch scenario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2200275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3425" y="2543175"/>
            <a:ext cx="1619250" cy="2314575"/>
          </a:xfrm>
          <a:prstGeom prst="roundRect">
            <a:avLst>
              <a:gd name="adj" fmla="val 2941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2_storyboard.png"/>
          <p:cNvPicPr>
            <a:picLocks noChangeAspect="1"/>
          </p:cNvPicPr>
          <p:nvPr/>
        </p:nvPicPr>
        <p:blipFill>
          <a:blip r:embed="rId3"/>
          <a:srcRect l="58074" r="34510" t="38257" b="43464"/>
          <a:stretch>
            <a:fillRect/>
          </a:stretch>
        </p:blipFill>
        <p:spPr>
          <a:xfrm>
            <a:off x="931899" y="2600325"/>
            <a:ext cx="1222301" cy="169545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847725" y="4467225"/>
            <a:ext cx="1390650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Blazer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5210175"/>
            <a:ext cx="163830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en-US">
                <a:solidFill>
                  <a:srgbClr val="262626"/>
                </a:solidFill>
                <a:latin typeface="Manrope"/>
              </a:rPr>
              <a:t>DEMO-BLAZER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900" y="5591175"/>
            <a:ext cx="1638300" cy="342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Size 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38425" y="2409825"/>
            <a:ext cx="0" cy="3533775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943225" y="2457450"/>
            <a:ext cx="3867150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Branch A · Demo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43225" y="3095625"/>
            <a:ext cx="3876675" cy="790575"/>
          </a:xfrm>
          <a:prstGeom prst="roundRect">
            <a:avLst>
              <a:gd name="adj" fmla="val 8433"/>
            </a:avLst>
          </a:prstGeom>
          <a:solidFill>
            <a:srgbClr val="F4F2EE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3250" y="3257550"/>
            <a:ext cx="3476625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Size requested</a:t>
            </a:r>
          </a:p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Availability unresolved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5700" y="2457450"/>
            <a:ext cx="4000500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Branch B · Demo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05700" y="3095625"/>
            <a:ext cx="4000500" cy="790575"/>
          </a:xfrm>
          <a:prstGeom prst="roundRect">
            <a:avLst>
              <a:gd name="adj" fmla="val 8433"/>
            </a:avLst>
          </a:prstGeom>
          <a:solidFill>
            <a:srgbClr val="F4F2EE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5725" y="3257550"/>
            <a:ext cx="3590925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Candidate surplus</a:t>
            </a:r>
          </a:p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Source record to confirm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981825" y="3476625"/>
            <a:ext cx="361950" cy="0"/>
          </a:xfrm>
          <a:prstGeom prst="line">
            <a:avLst/>
          </a:prstGeom>
          <a:ln w="19050">
            <a:solidFill>
              <a:srgbClr val="965318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icon-l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275" y="4267200"/>
            <a:ext cx="238125" cy="238125"/>
          </a:xfrm>
          <a:prstGeom prst="rect">
            <a:avLst/>
          </a:prstGeom>
          <a:effectLst/>
        </p:spPr>
      </p:pic>
      <p:sp>
        <p:nvSpPr>
          <p:cNvPr id="27" name="Rounded Rectangle 26"/>
          <p:cNvSpPr/>
          <p:nvPr/>
        </p:nvSpPr>
        <p:spPr>
          <a:xfrm>
            <a:off x="2924175" y="4095750"/>
            <a:ext cx="8582025" cy="866775"/>
          </a:xfrm>
          <a:prstGeom prst="roundRect">
            <a:avLst>
              <a:gd name="adj" fmla="val 7692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33725" y="4248150"/>
            <a:ext cx="8143875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262626"/>
                </a:solidFill>
                <a:latin typeface="Manrope"/>
              </a:rPr>
              <a:t>Proposed reallocation · Manager review required</a:t>
            </a:r>
          </a:p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262626"/>
                </a:solidFill>
                <a:latin typeface="Manrope"/>
              </a:rPr>
              <a:t>Reason: a size request and a possible source at another branch.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43225" y="5229225"/>
            <a:ext cx="2952750" cy="400050"/>
          </a:xfrm>
          <a:prstGeom prst="roundRect">
            <a:avLst>
              <a:gd name="adj" fmla="val 11904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con-ac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7050" y="5334000"/>
            <a:ext cx="180975" cy="180975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3352800" y="5324475"/>
            <a:ext cx="2428875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Review proposal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0" y="5229225"/>
            <a:ext cx="1943100" cy="400050"/>
          </a:xfrm>
          <a:prstGeom prst="roundRect">
            <a:avLst>
              <a:gd name="adj" fmla="val 11904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con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9825" y="5334000"/>
            <a:ext cx="180975" cy="180975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6505575" y="5324475"/>
            <a:ext cx="1419225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Approve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39125" y="5229225"/>
            <a:ext cx="1943100" cy="400050"/>
          </a:xfrm>
          <a:prstGeom prst="roundRect">
            <a:avLst>
              <a:gd name="adj" fmla="val 11904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on-rej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2950" y="5334000"/>
            <a:ext cx="180975" cy="180975"/>
          </a:xfrm>
          <a:prstGeom prst="rect">
            <a:avLst/>
          </a:prstGeom>
          <a:effectLst/>
        </p:spPr>
      </p:pic>
      <p:sp>
        <p:nvSpPr>
          <p:cNvPr id="37" name="TextBox 36"/>
          <p:cNvSpPr txBox="1"/>
          <p:nvPr/>
        </p:nvSpPr>
        <p:spPr>
          <a:xfrm>
            <a:off x="8648700" y="5324475"/>
            <a:ext cx="1419225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Reject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914650" y="5200650"/>
            <a:ext cx="7305675" cy="46672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FFBA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AI marketing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From a brief to three directions for review.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07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383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EDEAE4"/>
          </a:solidFill>
          <a:ln w="9525">
            <a:solidFill>
              <a:srgbClr val="ED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1771650"/>
            <a:ext cx="1085850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AI marketing studio · Draft concepts only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2200275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S07_storyboard.png"/>
          <p:cNvPicPr>
            <a:picLocks noChangeAspect="1"/>
          </p:cNvPicPr>
          <p:nvPr/>
        </p:nvPicPr>
        <p:blipFill>
          <a:blip r:embed="rId3"/>
          <a:srcRect l="40072" r="40610" t="43039" b="13071"/>
          <a:stretch>
            <a:fillRect/>
          </a:stretch>
        </p:blipFill>
        <p:spPr>
          <a:xfrm>
            <a:off x="695325" y="2390775"/>
            <a:ext cx="2771775" cy="3543300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3686175" y="2390775"/>
            <a:ext cx="776287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Brief: seasonal tailoring in neutral tones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6175" y="2838450"/>
            <a:ext cx="7762875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en-US">
                <a:solidFill>
                  <a:srgbClr val="68645E"/>
                </a:solidFill>
                <a:latin typeface="Manrope"/>
              </a:rPr>
              <a:t>DEMO collection · Production assets and rights must be approved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86175" y="3295650"/>
            <a:ext cx="2457450" cy="2381250"/>
          </a:xfrm>
          <a:prstGeom prst="roundRect">
            <a:avLst>
              <a:gd name="adj" fmla="val 2800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24425" y="3448050"/>
            <a:ext cx="1066800" cy="1028700"/>
          </a:xfrm>
          <a:prstGeom prst="roundRect">
            <a:avLst>
              <a:gd name="adj" fmla="val 4629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02_storyboard.png"/>
          <p:cNvPicPr>
            <a:picLocks noChangeAspect="1"/>
          </p:cNvPicPr>
          <p:nvPr/>
        </p:nvPicPr>
        <p:blipFill>
          <a:blip r:embed="rId4"/>
          <a:srcRect l="58074" r="34510" t="38257" b="43464"/>
          <a:stretch>
            <a:fillRect/>
          </a:stretch>
        </p:blipFill>
        <p:spPr>
          <a:xfrm>
            <a:off x="5128216" y="3505200"/>
            <a:ext cx="659219" cy="914400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3819525" y="3486150"/>
            <a:ext cx="1000125" cy="657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262626"/>
                </a:solidFill>
                <a:latin typeface="Manrope"/>
              </a:rPr>
              <a:t>Your next</a:t>
            </a:r>
          </a:p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262626"/>
                </a:solidFill>
                <a:latin typeface="Manrope"/>
              </a:rPr>
              <a:t>occasion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29050" y="4286250"/>
            <a:ext cx="838200" cy="0"/>
          </a:xfrm>
          <a:prstGeom prst="line">
            <a:avLst/>
          </a:prstGeom>
          <a:ln w="9525">
            <a:solidFill>
              <a:srgbClr val="9653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819525" y="4581525"/>
            <a:ext cx="2190750" cy="190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1" lang="en-US">
                <a:solidFill>
                  <a:srgbClr val="965318"/>
                </a:solidFill>
                <a:latin typeface="Manrope"/>
              </a:rPr>
              <a:t>DRAFT · Social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9525" y="4810125"/>
            <a:ext cx="2190750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Modern occasion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9525" y="5124450"/>
            <a:ext cx="2190750" cy="476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262626"/>
                </a:solidFill>
                <a:latin typeface="Manrope"/>
              </a:rPr>
              <a:t>Tailoring for your next occasion.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62700" y="3295650"/>
            <a:ext cx="2457450" cy="2381250"/>
          </a:xfrm>
          <a:prstGeom prst="roundRect">
            <a:avLst>
              <a:gd name="adj" fmla="val 2800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3200" y="3448050"/>
            <a:ext cx="1019175" cy="1028700"/>
          </a:xfrm>
          <a:prstGeom prst="roundRect">
            <a:avLst>
              <a:gd name="adj" fmla="val 4672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02_storyboard.png"/>
          <p:cNvPicPr>
            <a:picLocks noChangeAspect="1"/>
          </p:cNvPicPr>
          <p:nvPr/>
        </p:nvPicPr>
        <p:blipFill>
          <a:blip r:embed="rId4"/>
          <a:srcRect l="66746" r="25239" t="37726" b="43677"/>
          <a:stretch>
            <a:fillRect/>
          </a:stretch>
        </p:blipFill>
        <p:spPr>
          <a:xfrm>
            <a:off x="6712703" y="3505200"/>
            <a:ext cx="700169" cy="914400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7705725" y="3486150"/>
            <a:ext cx="971550" cy="6286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262626"/>
                </a:solidFill>
                <a:latin typeface="Manrope"/>
              </a:rPr>
              <a:t>Style in</a:t>
            </a:r>
          </a:p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262626"/>
                </a:solidFill>
                <a:latin typeface="Manrope"/>
              </a:rPr>
              <a:t>motion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753350" y="4286250"/>
            <a:ext cx="809625" cy="0"/>
          </a:xfrm>
          <a:prstGeom prst="line">
            <a:avLst/>
          </a:prstGeom>
          <a:ln w="9525">
            <a:solidFill>
              <a:srgbClr val="9653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496050" y="4581525"/>
            <a:ext cx="2190750" cy="190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1" lang="en-US">
                <a:solidFill>
                  <a:srgbClr val="965318"/>
                </a:solidFill>
                <a:latin typeface="Manrope"/>
              </a:rPr>
              <a:t>DRAFT · Email header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6050" y="4810125"/>
            <a:ext cx="2190750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City layers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050" y="5124450"/>
            <a:ext cx="2190750" cy="476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262626"/>
                </a:solidFill>
                <a:latin typeface="Manrope"/>
              </a:rPr>
              <a:t>A considered look for the everyday.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39225" y="3295650"/>
            <a:ext cx="2457450" cy="2381250"/>
          </a:xfrm>
          <a:prstGeom prst="roundRect">
            <a:avLst>
              <a:gd name="adj" fmla="val 2800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10675" y="3676650"/>
            <a:ext cx="828675" cy="819150"/>
          </a:xfrm>
          <a:prstGeom prst="roundRect">
            <a:avLst>
              <a:gd name="adj" fmla="val 5813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02_storyboard.png"/>
          <p:cNvPicPr>
            <a:picLocks noChangeAspect="1"/>
          </p:cNvPicPr>
          <p:nvPr/>
        </p:nvPicPr>
        <p:blipFill>
          <a:blip r:embed="rId4"/>
          <a:srcRect l="58074" r="34510" t="38257" b="43464"/>
          <a:stretch>
            <a:fillRect/>
          </a:stretch>
        </p:blipFill>
        <p:spPr>
          <a:xfrm>
            <a:off x="9370939" y="3733800"/>
            <a:ext cx="508148" cy="704850"/>
          </a:xfrm>
          <a:prstGeom prst="rect">
            <a:avLst/>
          </a:prstGeom>
          <a:effectLst/>
        </p:spPr>
      </p:pic>
      <p:sp>
        <p:nvSpPr>
          <p:cNvPr id="35" name="Rounded Rectangle 34"/>
          <p:cNvSpPr/>
          <p:nvPr/>
        </p:nvSpPr>
        <p:spPr>
          <a:xfrm>
            <a:off x="10410825" y="3676650"/>
            <a:ext cx="857250" cy="819150"/>
          </a:xfrm>
          <a:prstGeom prst="roundRect">
            <a:avLst>
              <a:gd name="adj" fmla="val 5813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02_storyboard.png"/>
          <p:cNvPicPr>
            <a:picLocks noChangeAspect="1"/>
          </p:cNvPicPr>
          <p:nvPr/>
        </p:nvPicPr>
        <p:blipFill>
          <a:blip r:embed="rId4"/>
          <a:srcRect l="77273" r="14773" t="37620" b="43677"/>
          <a:stretch>
            <a:fillRect/>
          </a:stretch>
        </p:blipFill>
        <p:spPr>
          <a:xfrm>
            <a:off x="10573129" y="3733800"/>
            <a:ext cx="532642" cy="704850"/>
          </a:xfrm>
          <a:prstGeom prst="rect">
            <a:avLst/>
          </a:prstGeom>
          <a:effectLst/>
        </p:spPr>
      </p:pic>
      <p:sp>
        <p:nvSpPr>
          <p:cNvPr id="37" name="TextBox 36"/>
          <p:cNvSpPr txBox="1"/>
          <p:nvPr/>
        </p:nvSpPr>
        <p:spPr>
          <a:xfrm>
            <a:off x="9172575" y="3371850"/>
            <a:ext cx="2190750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Thoughtful combinations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2575" y="4581525"/>
            <a:ext cx="2190750" cy="190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1" lang="en-US">
                <a:solidFill>
                  <a:srgbClr val="965318"/>
                </a:solidFill>
                <a:latin typeface="Manrope"/>
              </a:rPr>
              <a:t>DRAFT · Social story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2575" y="4810125"/>
            <a:ext cx="2190750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Everyday refinement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2575" y="5124450"/>
            <a:ext cx="2190750" cy="476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262626"/>
                </a:solidFill>
                <a:latin typeface="Manrope"/>
              </a:rPr>
              <a:t>Simple pieces. Thoughtful combinations.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86175" y="5791200"/>
            <a:ext cx="7781925" cy="276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96"/>
              </a:lnSpc>
              <a:spcBef>
                <a:spcPts val="0"/>
              </a:spcBef>
              <a:spcAft>
                <a:spcPts val="0"/>
              </a:spcAft>
            </a:pPr>
            <a:r>
              <a:rPr sz="1425" b="1" lang="en-US">
                <a:solidFill>
                  <a:srgbClr val="965318"/>
                </a:solidFill>
                <a:latin typeface="Manrope"/>
              </a:rPr>
              <a:t>Concrete team review → approval before publication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38550" y="5753100"/>
            <a:ext cx="7905750" cy="3429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FFBA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Executive AI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A concise insight. A visible path to its sources.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08 /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383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EDEAE4"/>
          </a:solidFill>
          <a:ln w="9525">
            <a:solidFill>
              <a:srgbClr val="ED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1771650"/>
            <a:ext cx="1085850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Executive brief · ILLUSTRATIVE DEMO — NOT CONCRETE RESULTS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2200275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23900" y="2419350"/>
            <a:ext cx="3448050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en-US">
                <a:solidFill>
                  <a:srgbClr val="262626"/>
                </a:solidFill>
                <a:latin typeface="Manrope"/>
              </a:rPr>
              <a:t>Permitted source signals</a:t>
            </a:r>
          </a:p>
        </p:txBody>
      </p:sp>
      <p:pic>
        <p:nvPicPr>
          <p:cNvPr id="14" name="Picture 13" descr="icon-inv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3019425"/>
            <a:ext cx="238125" cy="238125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1190625" y="2981325"/>
            <a:ext cx="2924175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Sales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3900" y="3390900"/>
            <a:ext cx="33528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icon-c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425" y="3571875"/>
            <a:ext cx="238125" cy="238125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1190625" y="3533775"/>
            <a:ext cx="2924175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Inventory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3900" y="3943350"/>
            <a:ext cx="33528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icon-ca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425" y="4124325"/>
            <a:ext cx="238125" cy="238125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1190625" y="4086225"/>
            <a:ext cx="2924175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Customer service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3900" y="4495800"/>
            <a:ext cx="33528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 descr="icon-ac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25" y="4676775"/>
            <a:ext cx="238125" cy="238125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1190625" y="4638675"/>
            <a:ext cx="2924175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Buying behavior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3900" y="5048250"/>
            <a:ext cx="33528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icon-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425" y="5334000"/>
            <a:ext cx="200025" cy="200025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1066800" y="5295900"/>
            <a:ext cx="3048000" cy="5143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68645E"/>
                </a:solidFill>
                <a:latin typeface="Manrope"/>
              </a:rPr>
              <a:t>Permitted sources only ·</a:t>
            </a:r>
          </a:p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68645E"/>
                </a:solidFill>
                <a:latin typeface="Manrope"/>
              </a:rPr>
              <a:t>Data quality checked first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91025" y="2390775"/>
            <a:ext cx="0" cy="3552825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676775" y="2419350"/>
            <a:ext cx="6800850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84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en-US">
                <a:solidFill>
                  <a:srgbClr val="262626"/>
                </a:solidFill>
                <a:latin typeface="Manrope"/>
              </a:rPr>
              <a:t>Executive brief · Demo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7250" y="3009900"/>
            <a:ext cx="6810375" cy="1733550"/>
          </a:xfrm>
          <a:prstGeom prst="roundRect">
            <a:avLst>
              <a:gd name="adj" fmla="val 3846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86325" y="3209925"/>
            <a:ext cx="6362700" cy="1066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35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en-US">
                <a:solidFill>
                  <a:srgbClr val="262626"/>
                </a:solidFill>
                <a:latin typeface="Manrope"/>
              </a:rPr>
              <a:t>A size request needs follow-up.</a:t>
            </a:r>
          </a:p>
          <a:p>
            <a:pPr algn="l" rtl="0">
              <a:lnSpc>
                <a:spcPts val="235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en-US">
                <a:solidFill>
                  <a:srgbClr val="262626"/>
                </a:solidFill>
                <a:latin typeface="Manrope"/>
              </a:rPr>
              <a:t>Check branch stock and the last</a:t>
            </a:r>
          </a:p>
          <a:p>
            <a:pPr algn="l" rtl="0">
              <a:lnSpc>
                <a:spcPts val="2352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en-US">
                <a:solidFill>
                  <a:srgbClr val="262626"/>
                </a:solidFill>
                <a:latin typeface="Manrope"/>
              </a:rPr>
              <a:t>recorded service interaction.</a:t>
            </a:r>
          </a:p>
        </p:txBody>
      </p:sp>
      <p:pic>
        <p:nvPicPr>
          <p:cNvPr id="32" name="Picture 31" descr="icon-l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6300" y="5086350"/>
            <a:ext cx="257175" cy="257175"/>
          </a:xfrm>
          <a:prstGeom prst="rect">
            <a:avLst/>
          </a:prstGeom>
          <a:effectLst/>
        </p:spPr>
      </p:pic>
      <p:sp>
        <p:nvSpPr>
          <p:cNvPr id="33" name="TextBox 32"/>
          <p:cNvSpPr txBox="1"/>
          <p:nvPr/>
        </p:nvSpPr>
        <p:spPr>
          <a:xfrm>
            <a:off x="5105400" y="5019675"/>
            <a:ext cx="6315075" cy="5905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en-US">
                <a:solidFill>
                  <a:srgbClr val="68645E"/>
                </a:solidFill>
                <a:latin typeface="Manrope"/>
              </a:rPr>
              <a:t>DEMO-STOCK-A-M · DEMO-CALL-1008</a:t>
            </a:r>
          </a:p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en-US">
                <a:solidFill>
                  <a:srgbClr val="68645E"/>
                </a:solidFill>
                <a:latin typeface="Manrope"/>
              </a:rPr>
              <a:t>Open source records before acting.</a:t>
            </a:r>
          </a:p>
        </p:txBody>
      </p:sp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One connected vision. A practical first step.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09 / 09</a:t>
            </a:r>
          </a:p>
        </p:txBody>
      </p:sp>
      <p:pic>
        <p:nvPicPr>
          <p:cNvPr id="9" name="Picture 8" descr="S05_storyboard.png"/>
          <p:cNvPicPr>
            <a:picLocks noChangeAspect="1"/>
          </p:cNvPicPr>
          <p:nvPr/>
        </p:nvPicPr>
        <p:blipFill>
          <a:blip r:embed="rId3"/>
          <a:srcRect l="29067" r="30383" t="26249" b="12327"/>
          <a:stretch>
            <a:fillRect/>
          </a:stretch>
        </p:blipFill>
        <p:spPr>
          <a:xfrm>
            <a:off x="457200" y="1600200"/>
            <a:ext cx="4286250" cy="3648075"/>
          </a:xfrm>
          <a:prstGeom prst="rect">
            <a:avLst/>
          </a:prstGeom>
          <a:effectLst/>
        </p:spPr>
      </p:pic>
      <p:sp>
        <p:nvSpPr>
          <p:cNvPr id="10" name="Rectangle 9"/>
          <p:cNvSpPr/>
          <p:nvPr/>
        </p:nvSpPr>
        <p:spPr>
          <a:xfrm>
            <a:off x="457200" y="5257800"/>
            <a:ext cx="4286250" cy="895350"/>
          </a:xfrm>
          <a:prstGeom prst="rect">
            <a:avLst/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419725"/>
            <a:ext cx="3838575" cy="638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Customer experience</a:t>
            </a:r>
          </a:p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with people in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2525" y="1600200"/>
            <a:ext cx="6772275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0175" y="1847850"/>
            <a:ext cx="6267450" cy="3905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025" b="1" lang="en-US">
                <a:solidFill>
                  <a:srgbClr val="262626"/>
                </a:solidFill>
                <a:latin typeface="Manrope"/>
              </a:rPr>
              <a:t>Discover → pilot → measure → expand</a:t>
            </a:r>
          </a:p>
        </p:txBody>
      </p:sp>
      <p:pic>
        <p:nvPicPr>
          <p:cNvPr id="14" name="Picture 13" descr="icon-a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9225" y="2514600"/>
            <a:ext cx="257175" cy="257175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5629275" y="2466975"/>
            <a:ext cx="1524000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Customer</a:t>
            </a:r>
          </a:p>
        </p:txBody>
      </p:sp>
      <p:pic>
        <p:nvPicPr>
          <p:cNvPr id="16" name="Picture 15" descr="icon-spee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4250" y="2514600"/>
            <a:ext cx="257175" cy="257175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7734300" y="2466975"/>
            <a:ext cx="1524000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Teams</a:t>
            </a:r>
          </a:p>
        </p:txBody>
      </p:sp>
      <p:pic>
        <p:nvPicPr>
          <p:cNvPr id="18" name="Picture 17" descr="icon-setting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275" y="2514600"/>
            <a:ext cx="257175" cy="257175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9839325" y="2466975"/>
            <a:ext cx="1524000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Management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19700" y="2981325"/>
            <a:ext cx="6276975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238750" y="3419475"/>
            <a:ext cx="247650" cy="247650"/>
          </a:xfrm>
          <a:prstGeom prst="ellipse">
            <a:avLst/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qual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86375" y="3467100"/>
            <a:ext cx="152400" cy="15240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5676900" y="3371850"/>
            <a:ext cx="58007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84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en-US">
                <a:solidFill>
                  <a:srgbClr val="262626"/>
                </a:solidFill>
                <a:latin typeface="Manrope"/>
              </a:rPr>
              <a:t>Authorized, scoped pilot</a:t>
            </a:r>
          </a:p>
        </p:txBody>
      </p:sp>
      <p:sp>
        <p:nvSpPr>
          <p:cNvPr id="24" name="Oval 23"/>
          <p:cNvSpPr/>
          <p:nvPr/>
        </p:nvSpPr>
        <p:spPr>
          <a:xfrm>
            <a:off x="5238750" y="4086225"/>
            <a:ext cx="247650" cy="247650"/>
          </a:xfrm>
          <a:prstGeom prst="ellipse">
            <a:avLst/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on-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6375" y="4133850"/>
            <a:ext cx="152400" cy="152400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5676900" y="4038600"/>
            <a:ext cx="58007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84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en-US">
                <a:solidFill>
                  <a:srgbClr val="262626"/>
                </a:solidFill>
                <a:latin typeface="Manrope"/>
              </a:rPr>
              <a:t>Measure the actual result</a:t>
            </a:r>
          </a:p>
        </p:txBody>
      </p:sp>
      <p:sp>
        <p:nvSpPr>
          <p:cNvPr id="27" name="Oval 26"/>
          <p:cNvSpPr/>
          <p:nvPr/>
        </p:nvSpPr>
        <p:spPr>
          <a:xfrm>
            <a:off x="5238750" y="4752975"/>
            <a:ext cx="247650" cy="247650"/>
          </a:xfrm>
          <a:prstGeom prst="ellipse">
            <a:avLst/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-lin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6375" y="4800600"/>
            <a:ext cx="152400" cy="152400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5676900" y="4705350"/>
            <a:ext cx="58007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84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en-US">
                <a:solidFill>
                  <a:srgbClr val="262626"/>
                </a:solidFill>
                <a:latin typeface="Manrope"/>
              </a:rPr>
              <a:t>Expand from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29225" y="5410200"/>
            <a:ext cx="6219825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965318"/>
                </a:solidFill>
                <a:latin typeface="Manrope"/>
              </a:rPr>
              <a:t>GRINDCTRL × Concrete · Proposed collaboration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9225" y="5753100"/>
            <a:ext cx="6219825" cy="2476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68645E"/>
                </a:solidFill>
                <a:latin typeface="Manrope"/>
              </a:rPr>
              <a:t>Practical AI · Serves the brand · Improves step by step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62550" y="3248025"/>
            <a:ext cx="6353175" cy="191452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FFBA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AI e-commerce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Size guidance requires a valid product source.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Appendix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383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EDEAE4"/>
          </a:solidFill>
          <a:ln w="9525">
            <a:solidFill>
              <a:srgbClr val="ED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1771650"/>
            <a:ext cx="1085850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Concrete · Proposed online-store assistant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2200275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3900" y="2390775"/>
            <a:ext cx="10744200" cy="581025"/>
          </a:xfrm>
          <a:prstGeom prst="roundRect">
            <a:avLst>
              <a:gd name="adj" fmla="val 11475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2581275"/>
            <a:ext cx="228600" cy="22860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1323975" y="2543175"/>
            <a:ext cx="9896475" cy="3619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 lang="en-US">
                <a:solidFill>
                  <a:srgbClr val="262626"/>
                </a:solidFill>
                <a:latin typeface="Manrope"/>
              </a:rPr>
              <a:t>A shirt for a smart-casual evening.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900" y="3352800"/>
            <a:ext cx="2066925" cy="2581275"/>
          </a:xfrm>
          <a:prstGeom prst="roundRect">
            <a:avLst>
              <a:gd name="adj" fmla="val 2304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2_storyboard.png"/>
          <p:cNvPicPr>
            <a:picLocks noChangeAspect="1"/>
          </p:cNvPicPr>
          <p:nvPr/>
        </p:nvPicPr>
        <p:blipFill>
          <a:blip r:embed="rId4"/>
          <a:srcRect l="66746" r="25239" t="37726" b="43677"/>
          <a:stretch>
            <a:fillRect/>
          </a:stretch>
        </p:blipFill>
        <p:spPr>
          <a:xfrm>
            <a:off x="1006139" y="3409950"/>
            <a:ext cx="1502446" cy="1962150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838200" y="5543550"/>
            <a:ext cx="18383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Shirt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5150" y="3324225"/>
            <a:ext cx="5276850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84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en-US">
                <a:solidFill>
                  <a:srgbClr val="262626"/>
                </a:solidFill>
                <a:latin typeface="Manrope"/>
              </a:rPr>
              <a:t>Size-chart guidance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5150" y="3790950"/>
            <a:ext cx="5267325" cy="276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lang="en-US">
                <a:solidFill>
                  <a:srgbClr val="262626"/>
                </a:solidFill>
                <a:latin typeface="Manrope"/>
              </a:rPr>
              <a:t>Compare the product’s measurements.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05150" y="4181475"/>
            <a:ext cx="5267325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icon-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5150" y="4438650"/>
            <a:ext cx="209550" cy="20955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3486150" y="4410075"/>
            <a:ext cx="32861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lang="en-US">
                <a:solidFill>
                  <a:srgbClr val="262626"/>
                </a:solidFill>
                <a:latin typeface="Manrope"/>
              </a:rPr>
              <a:t>Chest measurement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15150" y="4410075"/>
            <a:ext cx="14573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68645E"/>
                </a:solidFill>
                <a:latin typeface="Manrope"/>
              </a:rPr>
              <a:t>Source required</a:t>
            </a:r>
          </a:p>
        </p:txBody>
      </p:sp>
      <p:pic>
        <p:nvPicPr>
          <p:cNvPr id="25" name="Picture 24" descr="icon-qual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5150" y="4867275"/>
            <a:ext cx="209550" cy="209550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3486150" y="4838700"/>
            <a:ext cx="32861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0" lang="en-US">
                <a:solidFill>
                  <a:srgbClr val="262626"/>
                </a:solidFill>
                <a:latin typeface="Manrope"/>
              </a:rPr>
              <a:t>Garment length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5150" y="4838700"/>
            <a:ext cx="14573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0" lang="en-US">
                <a:solidFill>
                  <a:srgbClr val="68645E"/>
                </a:solidFill>
                <a:latin typeface="Manrope"/>
              </a:rPr>
              <a:t>Source required</a:t>
            </a:r>
          </a:p>
        </p:txBody>
      </p:sp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Contact center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Ground AI guidance in an approved policy.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Appendix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383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EDEAE4"/>
          </a:solidFill>
          <a:ln w="9525">
            <a:solidFill>
              <a:srgbClr val="ED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1771650"/>
            <a:ext cx="1085850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Genesys · Proposed copilot experience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2200275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genes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1768248"/>
            <a:ext cx="1257300" cy="244929"/>
          </a:xfrm>
          <a:prstGeom prst="rect">
            <a:avLst/>
          </a:prstGeom>
          <a:effectLst/>
        </p:spPr>
      </p:pic>
      <p:pic>
        <p:nvPicPr>
          <p:cNvPr id="14" name="Picture 13" descr="S04_storyboard.png"/>
          <p:cNvPicPr>
            <a:picLocks noChangeAspect="1"/>
          </p:cNvPicPr>
          <p:nvPr/>
        </p:nvPicPr>
        <p:blipFill>
          <a:blip r:embed="rId4"/>
          <a:srcRect l="26555" r="52931" t="24973" b="40701"/>
          <a:stretch>
            <a:fillRect/>
          </a:stretch>
        </p:blipFill>
        <p:spPr>
          <a:xfrm>
            <a:off x="695325" y="2390775"/>
            <a:ext cx="2333625" cy="2200275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95325" y="4838700"/>
            <a:ext cx="23336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262626"/>
                </a:solidFill>
                <a:latin typeface="Manrope"/>
              </a:rPr>
              <a:t>Incoming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325" y="5257800"/>
            <a:ext cx="23336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+20 10 •••• 4821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325" y="5762625"/>
            <a:ext cx="2333625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Human Agent D · DEMO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38500" y="2371725"/>
            <a:ext cx="0" cy="356235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467100" y="2390775"/>
            <a:ext cx="2581275" cy="342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Customer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100" y="2895600"/>
            <a:ext cx="258127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Ahmed M. (DEMO)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3352800"/>
            <a:ext cx="25812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en-US">
                <a:solidFill>
                  <a:srgbClr val="965318"/>
                </a:solidFill>
                <a:latin typeface="Manrope"/>
              </a:rPr>
              <a:t>Icons Club · ELITE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7100" y="3857625"/>
            <a:ext cx="2581275" cy="3143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Prior human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7100" y="4295775"/>
            <a:ext cx="2581275" cy="8858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en-US">
                <a:solidFill>
                  <a:srgbClr val="262626"/>
                </a:solidFill>
                <a:latin typeface="Manrope"/>
              </a:rPr>
              <a:t>Branch review</a:t>
            </a:r>
          </a:p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en-US">
                <a:solidFill>
                  <a:srgbClr val="262626"/>
                </a:solidFill>
                <a:latin typeface="Manrope"/>
              </a:rPr>
              <a:t>requested. Completion</a:t>
            </a:r>
          </a:p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en-US">
                <a:solidFill>
                  <a:srgbClr val="262626"/>
                </a:solidFill>
                <a:latin typeface="Manrope"/>
              </a:rPr>
              <a:t>not confirmed.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7100" y="5457825"/>
            <a:ext cx="2581275" cy="4857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Source: DEMO-1008</a:t>
            </a:r>
          </a:p>
          <a:p>
            <a:pPr algn="l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Agent A · Original note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1250" y="2371725"/>
            <a:ext cx="0" cy="356235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29375" y="2390775"/>
            <a:ext cx="5048250" cy="342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AI guidance · Draft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29375" y="2933700"/>
            <a:ext cx="5048250" cy="2028825"/>
          </a:xfrm>
          <a:prstGeom prst="roundRect">
            <a:avLst>
              <a:gd name="adj" fmla="val 3286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8925" y="3133725"/>
            <a:ext cx="4629150" cy="952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Check the original case.</a:t>
            </a:r>
          </a:p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Explain the recorded review status.</a:t>
            </a:r>
          </a:p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Confirm the next authorized step.</a:t>
            </a:r>
          </a:p>
        </p:txBody>
      </p:sp>
      <p:pic>
        <p:nvPicPr>
          <p:cNvPr id="29" name="Picture 28" descr="icon-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925" y="4514850"/>
            <a:ext cx="200025" cy="200025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7010400" y="4476750"/>
            <a:ext cx="4257675" cy="381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en-US">
                <a:solidFill>
                  <a:srgbClr val="965318"/>
                </a:solidFill>
                <a:latin typeface="Manrope"/>
              </a:rPr>
              <a:t>Source: DEMO policy excerpt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9375" y="5429250"/>
            <a:ext cx="5048250" cy="4476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en-US">
                <a:solidFill>
                  <a:srgbClr val="68645E"/>
                </a:solidFill>
                <a:latin typeface="Manrope"/>
              </a:rPr>
              <a:t>Approved company policy source required.</a:t>
            </a:r>
          </a:p>
        </p:txBody>
      </p:sp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Loyalty and clienteling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Consented preferences inform an outfit suggestion.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Appendix</a:t>
            </a:r>
          </a:p>
        </p:txBody>
      </p:sp>
      <p:pic>
        <p:nvPicPr>
          <p:cNvPr id="9" name="Picture 8" descr="S05_storyboard.png"/>
          <p:cNvPicPr>
            <a:picLocks noChangeAspect="1"/>
          </p:cNvPicPr>
          <p:nvPr/>
        </p:nvPicPr>
        <p:blipFill>
          <a:blip r:embed="rId3"/>
          <a:srcRect l="29007" r="30203" t="26036" b="12327"/>
          <a:stretch>
            <a:fillRect/>
          </a:stretch>
        </p:blipFill>
        <p:spPr>
          <a:xfrm>
            <a:off x="457200" y="1600200"/>
            <a:ext cx="4152900" cy="3533775"/>
          </a:xfrm>
          <a:prstGeom prst="rect">
            <a:avLst/>
          </a:prstGeom>
          <a:effectLst/>
        </p:spPr>
      </p:pic>
      <p:sp>
        <p:nvSpPr>
          <p:cNvPr id="10" name="Rectangle 9"/>
          <p:cNvSpPr/>
          <p:nvPr/>
        </p:nvSpPr>
        <p:spPr>
          <a:xfrm>
            <a:off x="457200" y="5153025"/>
            <a:ext cx="415290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5248275"/>
            <a:ext cx="373380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en-US">
                <a:solidFill>
                  <a:srgbClr val="262626"/>
                </a:solidFill>
                <a:latin typeface="Manrope"/>
              </a:rPr>
              <a:t>The associate keeps</a:t>
            </a:r>
          </a:p>
          <a:p>
            <a:pPr algn="l" rtl="0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en-US">
                <a:solidFill>
                  <a:srgbClr val="262626"/>
                </a:solidFill>
                <a:latin typeface="Manrope"/>
              </a:rPr>
              <a:t>the customer conversation.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5876925"/>
            <a:ext cx="37338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lang="en-US">
                <a:solidFill>
                  <a:srgbClr val="68645E"/>
                </a:solidFill>
                <a:latin typeface="Manrope"/>
              </a:rPr>
              <a:t>Illustrative store /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9175" y="1638300"/>
            <a:ext cx="6905625" cy="4552950"/>
          </a:xfrm>
          <a:prstGeom prst="roundRect">
            <a:avLst>
              <a:gd name="adj" fmla="val 2092"/>
            </a:avLst>
          </a:prstGeom>
          <a:solidFill>
            <a:srgbClr val="EDEAE4"/>
          </a:solidFill>
          <a:ln w="9525">
            <a:solidFill>
              <a:srgbClr val="ED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29175" y="1600200"/>
            <a:ext cx="6905625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8725" y="1771650"/>
            <a:ext cx="648652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Icons Club · Proposed associate view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29175" y="2200275"/>
            <a:ext cx="6905625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icon-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7775" y="2428875"/>
            <a:ext cx="247650" cy="247650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5486400" y="2409825"/>
            <a:ext cx="6010275" cy="3143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49654E"/>
                </a:solidFill>
                <a:latin typeface="Manrope"/>
              </a:rPr>
              <a:t>Consent recorded (DEMO)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7300" y="2905125"/>
            <a:ext cx="6191250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Ahmed M. · Neutral tailoring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7300" y="3352800"/>
            <a:ext cx="619125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en-US">
                <a:solidFill>
                  <a:srgbClr val="68645E"/>
                </a:solidFill>
                <a:latin typeface="Manrope"/>
              </a:rPr>
              <a:t>Preference / purchase sources require permission.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67300" y="3962400"/>
            <a:ext cx="2038350" cy="361950"/>
          </a:xfrm>
          <a:prstGeom prst="roundRect">
            <a:avLst>
              <a:gd name="adj" fmla="val 12000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7300" y="4029075"/>
            <a:ext cx="2038350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96"/>
              </a:lnSpc>
              <a:spcBef>
                <a:spcPts val="0"/>
              </a:spcBef>
              <a:spcAft>
                <a:spcPts val="0"/>
              </a:spcAft>
            </a:pPr>
            <a:r>
              <a:rPr sz="1425" b="1" lang="en-US">
                <a:solidFill>
                  <a:srgbClr val="68645E"/>
                </a:solidFill>
                <a:latin typeface="Manrope"/>
              </a:rPr>
              <a:t>LIFESTYLE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9475" y="3962400"/>
            <a:ext cx="2038350" cy="361950"/>
          </a:xfrm>
          <a:prstGeom prst="roundRect">
            <a:avLst>
              <a:gd name="adj" fmla="val 12000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9475" y="4029075"/>
            <a:ext cx="2038350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96"/>
              </a:lnSpc>
              <a:spcBef>
                <a:spcPts val="0"/>
              </a:spcBef>
              <a:spcAft>
                <a:spcPts val="0"/>
              </a:spcAft>
            </a:pPr>
            <a:r>
              <a:rPr sz="1425" b="1" lang="en-US">
                <a:solidFill>
                  <a:srgbClr val="68645E"/>
                </a:solidFill>
                <a:latin typeface="Manrope"/>
              </a:rPr>
              <a:t>PRESTIGE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91650" y="3962400"/>
            <a:ext cx="2038350" cy="361950"/>
          </a:xfrm>
          <a:prstGeom prst="roundRect">
            <a:avLst>
              <a:gd name="adj" fmla="val 12000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91650" y="4029075"/>
            <a:ext cx="2038350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96"/>
              </a:lnSpc>
              <a:spcBef>
                <a:spcPts val="0"/>
              </a:spcBef>
              <a:spcAft>
                <a:spcPts val="0"/>
              </a:spcAft>
            </a:pPr>
            <a:r>
              <a:rPr sz="1425" b="1" lang="en-US">
                <a:solidFill>
                  <a:srgbClr val="965318"/>
                </a:solidFill>
                <a:latin typeface="Manrope"/>
              </a:rPr>
              <a:t>ELITE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7300" y="3657600"/>
            <a:ext cx="6191250" cy="2476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Icons Club membership · Trusted source required · Illustrative tier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67300" y="4562475"/>
            <a:ext cx="1209675" cy="1381125"/>
          </a:xfrm>
          <a:prstGeom prst="roundRect">
            <a:avLst>
              <a:gd name="adj" fmla="val 3937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02_storyboard.png"/>
          <p:cNvPicPr>
            <a:picLocks noChangeAspect="1"/>
          </p:cNvPicPr>
          <p:nvPr/>
        </p:nvPicPr>
        <p:blipFill>
          <a:blip r:embed="rId5"/>
          <a:srcRect l="58074" r="34510" t="38257" b="43464"/>
          <a:stretch>
            <a:fillRect/>
          </a:stretch>
        </p:blipFill>
        <p:spPr>
          <a:xfrm>
            <a:off x="5397463" y="4619625"/>
            <a:ext cx="549349" cy="762000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5181600" y="5553075"/>
            <a:ext cx="98107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Blazer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562475"/>
            <a:ext cx="1209675" cy="1381125"/>
          </a:xfrm>
          <a:prstGeom prst="roundRect">
            <a:avLst>
              <a:gd name="adj" fmla="val 3937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02_storyboard.png"/>
          <p:cNvPicPr>
            <a:picLocks noChangeAspect="1"/>
          </p:cNvPicPr>
          <p:nvPr/>
        </p:nvPicPr>
        <p:blipFill>
          <a:blip r:embed="rId5"/>
          <a:srcRect l="66746" r="25239" t="37726" b="43677"/>
          <a:stretch>
            <a:fillRect/>
          </a:stretch>
        </p:blipFill>
        <p:spPr>
          <a:xfrm>
            <a:off x="6790100" y="4619625"/>
            <a:ext cx="583474" cy="762000"/>
          </a:xfrm>
          <a:prstGeom prst="rect">
            <a:avLst/>
          </a:prstGeom>
          <a:effectLst/>
        </p:spPr>
      </p:pic>
      <p:sp>
        <p:nvSpPr>
          <p:cNvPr id="33" name="TextBox 32"/>
          <p:cNvSpPr txBox="1"/>
          <p:nvPr/>
        </p:nvSpPr>
        <p:spPr>
          <a:xfrm>
            <a:off x="6591300" y="5553075"/>
            <a:ext cx="98107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Shirt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15275" y="4533900"/>
            <a:ext cx="3524250" cy="619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Suggested pieces</a:t>
            </a:r>
          </a:p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for this preference</a:t>
            </a:r>
          </a:p>
        </p:txBody>
      </p:sp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8762"/>
            <a:ext cx="409575" cy="27305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990600" y="276225"/>
            <a:ext cx="3571875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GRINDCTRL ×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15075" y="276225"/>
            <a:ext cx="5419725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344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68645E"/>
                </a:solidFill>
                <a:latin typeface="Manrope"/>
              </a:rPr>
              <a:t>Part 04 · Retail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95350"/>
            <a:ext cx="112776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sz="2850" b="1" lang="en-US">
                <a:solidFill>
                  <a:srgbClr val="262626"/>
                </a:solidFill>
                <a:latin typeface="Manrope"/>
              </a:rPr>
              <a:t>A human manager reviews the stock proposal.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381750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05575"/>
            <a:ext cx="102870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68645E"/>
                </a:solidFill>
                <a:latin typeface="Manrope"/>
              </a:rPr>
              <a:t>Proposed experience · Illustrative imagery / UI · Demo records · Sources and permissions to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5650" y="6505575"/>
            <a:ext cx="81915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 rtl="0">
              <a:lnSpc>
                <a:spcPts val="117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262626"/>
                </a:solidFill>
                <a:latin typeface="Manrope"/>
              </a:rPr>
              <a:t>Appendix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383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EDEAE4"/>
          </a:solidFill>
          <a:ln w="9525">
            <a:solidFill>
              <a:srgbClr val="ED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11277600" cy="455295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1771650"/>
            <a:ext cx="1085850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262626"/>
                </a:solidFill>
                <a:latin typeface="Manrope"/>
              </a:rPr>
              <a:t>Retail operations · Synthetic SKU / branch scenario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2200275"/>
            <a:ext cx="11277600" cy="0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3425" y="2543175"/>
            <a:ext cx="1619250" cy="2314575"/>
          </a:xfrm>
          <a:prstGeom prst="roundRect">
            <a:avLst>
              <a:gd name="adj" fmla="val 2941"/>
            </a:avLst>
          </a:prstGeom>
          <a:solidFill>
            <a:srgbClr val="F4F2EE"/>
          </a:solidFill>
          <a:ln w="9525">
            <a:solidFill>
              <a:srgbClr val="F4F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2_storyboard.png"/>
          <p:cNvPicPr>
            <a:picLocks noChangeAspect="1"/>
          </p:cNvPicPr>
          <p:nvPr/>
        </p:nvPicPr>
        <p:blipFill>
          <a:blip r:embed="rId3"/>
          <a:srcRect l="58074" r="34510" t="38257" b="43464"/>
          <a:stretch>
            <a:fillRect/>
          </a:stretch>
        </p:blipFill>
        <p:spPr>
          <a:xfrm>
            <a:off x="931899" y="2600325"/>
            <a:ext cx="1222301" cy="169545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847725" y="4467225"/>
            <a:ext cx="1390650" cy="2857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764"/>
              </a:lnSpc>
              <a:spcBef>
                <a:spcPts val="0"/>
              </a:spcBef>
              <a:spcAft>
                <a:spcPts val="0"/>
              </a:spcAft>
            </a:pPr>
            <a:r>
              <a:rPr sz="1575" b="1" lang="en-US">
                <a:solidFill>
                  <a:srgbClr val="262626"/>
                </a:solidFill>
                <a:latin typeface="Manrope"/>
              </a:rPr>
              <a:t>Blazer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" y="5210175"/>
            <a:ext cx="163830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428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en-US">
                <a:solidFill>
                  <a:srgbClr val="262626"/>
                </a:solidFill>
                <a:latin typeface="Manrope"/>
              </a:rPr>
              <a:t>DEMO-BLAZER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900" y="5591175"/>
            <a:ext cx="1638300" cy="342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Size 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38425" y="2409825"/>
            <a:ext cx="0" cy="3533775"/>
          </a:xfrm>
          <a:prstGeom prst="line">
            <a:avLst/>
          </a:prstGeom>
          <a:ln w="9525">
            <a:solidFill>
              <a:srgbClr val="E6E3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943225" y="2457450"/>
            <a:ext cx="3867150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Branch A · Demo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43225" y="3095625"/>
            <a:ext cx="3876675" cy="790575"/>
          </a:xfrm>
          <a:prstGeom prst="roundRect">
            <a:avLst>
              <a:gd name="adj" fmla="val 8433"/>
            </a:avLst>
          </a:prstGeom>
          <a:solidFill>
            <a:srgbClr val="F4F2EE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3250" y="3257550"/>
            <a:ext cx="3476625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Size requested</a:t>
            </a:r>
          </a:p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Availability unresolved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5700" y="2457450"/>
            <a:ext cx="4000500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lang="en-US">
                <a:solidFill>
                  <a:srgbClr val="262626"/>
                </a:solidFill>
                <a:latin typeface="Manrope"/>
              </a:rPr>
              <a:t>Branch B · Demo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05700" y="3095625"/>
            <a:ext cx="4000500" cy="790575"/>
          </a:xfrm>
          <a:prstGeom prst="roundRect">
            <a:avLst>
              <a:gd name="adj" fmla="val 8433"/>
            </a:avLst>
          </a:prstGeom>
          <a:solidFill>
            <a:srgbClr val="F4F2EE"/>
          </a:solidFill>
          <a:ln w="9525">
            <a:solidFill>
              <a:srgbClr val="E6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5725" y="3257550"/>
            <a:ext cx="3590925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Candidate surplus</a:t>
            </a:r>
          </a:p>
          <a:p>
            <a:pPr algn="l" rtl="0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725" b="1" lang="en-US">
                <a:solidFill>
                  <a:srgbClr val="262626"/>
                </a:solidFill>
                <a:latin typeface="Manrope"/>
              </a:rPr>
              <a:t>Source record to confirm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981825" y="3476625"/>
            <a:ext cx="361950" cy="0"/>
          </a:xfrm>
          <a:prstGeom prst="line">
            <a:avLst/>
          </a:prstGeom>
          <a:ln w="19050">
            <a:solidFill>
              <a:srgbClr val="965318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icon-l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275" y="4267200"/>
            <a:ext cx="238125" cy="238125"/>
          </a:xfrm>
          <a:prstGeom prst="rect">
            <a:avLst/>
          </a:prstGeom>
          <a:effectLst/>
        </p:spPr>
      </p:pic>
      <p:sp>
        <p:nvSpPr>
          <p:cNvPr id="27" name="Rounded Rectangle 26"/>
          <p:cNvSpPr/>
          <p:nvPr/>
        </p:nvSpPr>
        <p:spPr>
          <a:xfrm>
            <a:off x="2924175" y="4095750"/>
            <a:ext cx="8582025" cy="866775"/>
          </a:xfrm>
          <a:prstGeom prst="roundRect">
            <a:avLst>
              <a:gd name="adj" fmla="val 7692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33725" y="4248150"/>
            <a:ext cx="8143875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262626"/>
                </a:solidFill>
                <a:latin typeface="Manrope"/>
              </a:rPr>
              <a:t>Proposed reallocation · Manager review required</a:t>
            </a:r>
          </a:p>
          <a:p>
            <a:pPr algn="l" rtl="0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lang="en-US">
                <a:solidFill>
                  <a:srgbClr val="262626"/>
                </a:solidFill>
                <a:latin typeface="Manrope"/>
              </a:rPr>
              <a:t>Reason: a size request and a possible source at another branch.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43225" y="5229225"/>
            <a:ext cx="2952750" cy="400050"/>
          </a:xfrm>
          <a:prstGeom prst="roundRect">
            <a:avLst>
              <a:gd name="adj" fmla="val 11904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con-ac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7050" y="5334000"/>
            <a:ext cx="180975" cy="180975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3352800" y="5324475"/>
            <a:ext cx="2428875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Review proposal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6000" y="5229225"/>
            <a:ext cx="1943100" cy="400050"/>
          </a:xfrm>
          <a:prstGeom prst="roundRect">
            <a:avLst>
              <a:gd name="adj" fmla="val 11904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con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9825" y="5334000"/>
            <a:ext cx="180975" cy="180975"/>
          </a:xfrm>
          <a:prstGeom prst="rect">
            <a:avLst/>
          </a:prstGeom>
          <a:effectLst/>
        </p:spPr>
      </p:pic>
      <p:sp>
        <p:nvSpPr>
          <p:cNvPr id="34" name="TextBox 33"/>
          <p:cNvSpPr txBox="1"/>
          <p:nvPr/>
        </p:nvSpPr>
        <p:spPr>
          <a:xfrm>
            <a:off x="6505575" y="5324475"/>
            <a:ext cx="1419225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Approve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39125" y="5229225"/>
            <a:ext cx="1943100" cy="400050"/>
          </a:xfrm>
          <a:prstGeom prst="roundRect">
            <a:avLst>
              <a:gd name="adj" fmla="val 11904"/>
            </a:avLst>
          </a:prstGeom>
          <a:solidFill>
            <a:srgbClr val="FFF2DD"/>
          </a:solidFill>
          <a:ln w="9525">
            <a:solidFill>
              <a:srgbClr val="FFF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con-rej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2950" y="5334000"/>
            <a:ext cx="180975" cy="180975"/>
          </a:xfrm>
          <a:prstGeom prst="rect">
            <a:avLst/>
          </a:prstGeom>
          <a:effectLst/>
        </p:spPr>
      </p:pic>
      <p:sp>
        <p:nvSpPr>
          <p:cNvPr id="37" name="TextBox 36"/>
          <p:cNvSpPr txBox="1"/>
          <p:nvPr/>
        </p:nvSpPr>
        <p:spPr>
          <a:xfrm>
            <a:off x="8648700" y="5324475"/>
            <a:ext cx="1419225" cy="266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 rtl="0">
              <a:lnSpc>
                <a:spcPts val="151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en-US">
                <a:solidFill>
                  <a:srgbClr val="262626"/>
                </a:solidFill>
                <a:latin typeface="Manrope"/>
              </a:rPr>
              <a:t>Reject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914650" y="5200650"/>
            <a:ext cx="7305675" cy="46672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FFBA6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con-point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91425" y="5438775"/>
            <a:ext cx="257175" cy="257175"/>
          </a:xfrm>
          <a:prstGeom prst="rect">
            <a:avLst/>
          </a:prstGeom>
          <a:effectLst/>
        </p:spPr>
      </p:pic>
    </p:spTree>
  </p:cSld>
  <p:clrMapOvr>
    <a:masterClrMapping/>
  </p:clrMapOvr>
  <p:transition spd="med" advClick="1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/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GRINDCTRL × Concrete — Part 04: AI opportunities across the business</dc:title>
  <dc:subject>AI opportunities across the retail business. Proposed experiences; synthetic records.</dc:subject>
  <dc:creator>GRINDCTRL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