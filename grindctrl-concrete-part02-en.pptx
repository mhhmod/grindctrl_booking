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grindctrl-part02-voiceover-a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C01 · 0.000–0.993s · Part 01 recap</a:t>
            </a:r>
          </a:p>
          <a:p/>
          <a:p>
            <a:r>
              <a:t>C02 · 1.146–2.246s · The idea, simply</a:t>
            </a:r>
          </a:p>
          <a:p/>
          <a:p>
            <a:r>
              <a:t>C03 · 2.747–3.534s · The call arrives</a:t>
            </a:r>
          </a:p>
          <a:p/>
          <a:p>
            <a:r>
              <a:t>C04 · 3.788–6.001s · The agent sees customer context</a:t>
            </a:r>
          </a:p>
          <a:p/>
          <a:p>
            <a:r>
              <a:t>C05 · 6.566–7.083s · This time</a:t>
            </a:r>
          </a:p>
          <a:p/>
          <a:p>
            <a:r>
              <a:t>C06 · 7.486–9.188s · Inside the workflow</a:t>
            </a:r>
          </a:p>
          <a:p/>
          <a:p>
            <a:r>
              <a:t>C07 · 9.662–12.357s · Follow one call through Genesys</a:t>
            </a:r>
          </a:p>
          <a:p/>
          <a:p>
            <a:r>
              <a:t>C08 · 12.715–14.839s · Find the correct ticket</a:t>
            </a:r>
          </a:p>
          <a:p/>
          <a:p>
            <a:r>
              <a:t>C09 · 15.085–15.906s · Continue the follow-up</a:t>
            </a:r>
          </a:p>
          <a:p/>
          <a:p>
            <a:r>
              <a:t>C10 · 16.383–18.983s · GRINDCTRL proposes this experience</a:t>
            </a:r>
          </a:p>
          <a:p/>
          <a:p>
            <a:r>
              <a:t>C11 · 19.309–21.644s · This is not a deployed Concrete system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C12 · 22.309–24.643s · Call assigned to an agent</a:t>
            </a:r>
          </a:p>
          <a:p/>
          <a:p>
            <a:r>
              <a:t>C13 · 24.824–27.384s · Available call information</a:t>
            </a:r>
          </a:p>
          <a:p/>
          <a:p>
            <a:r>
              <a:t>C14 · 27.810–29.601s · Caller number, if available</a:t>
            </a:r>
          </a:p>
          <a:p/>
          <a:p>
            <a:r>
              <a:t>C15 · 29.821–33.203s · An authorized lookup key</a:t>
            </a:r>
          </a:p>
          <a:p/>
          <a:p>
            <a:r>
              <a:t>C16 · 33.664–34.838s · A matching detail</a:t>
            </a:r>
          </a:p>
          <a:p/>
          <a:p>
            <a:r>
              <a:t>C17 · 35.258–37.583s · Different number formats</a:t>
            </a:r>
          </a:p>
          <a:p/>
          <a:p>
            <a:r>
              <a:t>C18 · 37.963–39.747s · Handle formats correctly</a:t>
            </a:r>
          </a:p>
          <a:p/>
          <a:p>
            <a:r>
              <a:t>C19 · 40.202–40.652s · Also</a:t>
            </a:r>
          </a:p>
          <a:p/>
          <a:p>
            <a:r>
              <a:t>C20 · 40.893–42.661s · A number associated with a record</a:t>
            </a:r>
          </a:p>
          <a:p/>
          <a:p>
            <a:r>
              <a:t>C21 · 42.864–44.903s · Association is not identity verification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C22 · 45.488–47.522s · One clear customer record</a:t>
            </a:r>
          </a:p>
          <a:p/>
          <a:p>
            <a:r>
              <a:t>C23 · 47.744–49.618s · Within the agent’s permitted access</a:t>
            </a:r>
          </a:p>
          <a:p/>
          <a:p>
            <a:r>
              <a:t>C24 · 49.875–51.822s · Show useful call context</a:t>
            </a:r>
          </a:p>
          <a:p/>
          <a:p>
            <a:r>
              <a:t>C25 · 52.152–54.968s · Previous tickets and each ticket’s status</a:t>
            </a:r>
          </a:p>
          <a:p/>
          <a:p>
            <a:r>
              <a:t>C26 · 55.163–57.735s · Assigned agent and latest recorded update</a:t>
            </a:r>
          </a:p>
          <a:p/>
          <a:p>
            <a:r>
              <a:t>C27 · 58.215–61.241s · Agent selects the relevant ticket</a:t>
            </a:r>
          </a:p>
          <a:p/>
          <a:p>
            <a:r>
              <a:t>C28 · 61.468–64.096s · Avoid searching again across screens</a:t>
            </a:r>
          </a:p>
          <a:p/>
          <a:p>
            <a:r>
              <a:t>C29 · 64.447–64.958s · Most importantly</a:t>
            </a:r>
          </a:p>
          <a:p/>
          <a:p>
            <a:r>
              <a:t>C30 · 65.222–66.978s · Information stays in context</a:t>
            </a:r>
          </a:p>
          <a:p/>
          <a:p>
            <a:r>
              <a:t>C31 · 67.240–69.560s · No unrelated dashboard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C32 · 70.104–71.172s · A fictional example</a:t>
            </a:r>
          </a:p>
          <a:p/>
          <a:p>
            <a:r>
              <a:t>C33 · 71.632–74.039s · Earlier exchange request</a:t>
            </a:r>
          </a:p>
          <a:p/>
          <a:p>
            <a:r>
              <a:t>C34 · 74.523–77.446s · Open ticket; inspect status and owner</a:t>
            </a:r>
          </a:p>
          <a:p/>
          <a:p>
            <a:r>
              <a:t>C35 · 77.610–78.683s · Latest existing note</a:t>
            </a:r>
          </a:p>
          <a:p/>
          <a:p>
            <a:r>
              <a:t>C36 · 79.112–79.703s · In this example</a:t>
            </a:r>
          </a:p>
          <a:p/>
          <a:p>
            <a:r>
              <a:t>C37 · 79.964–82.253s · Branch review is still pending</a:t>
            </a:r>
          </a:p>
          <a:p/>
          <a:p>
            <a:r>
              <a:t>C38 · 82.744–83.196s · Pay attention</a:t>
            </a:r>
          </a:p>
          <a:p/>
          <a:p>
            <a:r>
              <a:t>C39 · 83.459–85.260s · This is the ticket’s note</a:t>
            </a:r>
          </a:p>
          <a:p/>
          <a:p>
            <a:r>
              <a:t>C40 · 85.441–87.188s · It need not be the status field</a:t>
            </a:r>
          </a:p>
          <a:p/>
          <a:p>
            <a:r>
              <a:t>C41 · 87.635–90.150s · Agent understands the last recorded position</a:t>
            </a:r>
          </a:p>
          <a:p/>
          <a:p>
            <a:r>
              <a:t>C42 · 90.444–93.644s · Continue without restarting every question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History is hidden during C43–C47. After the selection/verification phrase ends, the illustrative permitted Contact A history is disclosed. No automatic candidate selection or identity-authentication badge.</a:t>
            </a:r>
          </a:p>
          <a:p/>
          <a:p>
            <a:r>
              <a:t>C43 · 94.098–97.381s · One number, multiple customers</a:t>
            </a:r>
          </a:p>
          <a:p/>
          <a:p>
            <a:r>
              <a:t>C44 · 97.969–102.387s · Do not automatically choose and expose history</a:t>
            </a:r>
          </a:p>
          <a:p/>
          <a:p>
            <a:r>
              <a:t>C45 · 102.777–105.249s · Possible matches</a:t>
            </a:r>
          </a:p>
          <a:p/>
          <a:p>
            <a:r>
              <a:t>C46 · 105.559–107.698s · Review permitted information</a:t>
            </a:r>
          </a:p>
          <a:p/>
          <a:p>
            <a:r>
              <a:t>C47 · 108.064–111.391s · Select after agreed verification steps</a:t>
            </a:r>
          </a:p>
          <a:p/>
          <a:p>
            <a:r>
              <a:t>C48 · 111.873–116.654s · Speed without compromising accuracy or privacy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No-match successful lookup and unavailable/error are distinct. During an actual Desk outage, manual Desk search is not guaranteed; the call and agreed usual follow-up procedure continue. Retry is illustrated, not performed or promised successful.</a:t>
            </a:r>
          </a:p>
          <a:p/>
          <a:p>
            <a:r>
              <a:t>C49 · 117.093–119.422s · Two different fallback conditions</a:t>
            </a:r>
          </a:p>
          <a:p/>
          <a:p>
            <a:r>
              <a:t>C50 · 119.955–120.517s · First condition</a:t>
            </a:r>
          </a:p>
          <a:p/>
          <a:p>
            <a:r>
              <a:t>C51 · 120.846–121.652s · Lookup completed</a:t>
            </a:r>
          </a:p>
          <a:p/>
          <a:p>
            <a:r>
              <a:t>C52 · 121.852–123.612s · No matching customer record</a:t>
            </a:r>
          </a:p>
          <a:p/>
          <a:p>
            <a:r>
              <a:t>C53 · 123.982–127.541s · Existing manual search procedure</a:t>
            </a:r>
          </a:p>
          <a:p/>
          <a:p>
            <a:r>
              <a:t>C54 · 128.022–128.558s · Second condition</a:t>
            </a:r>
          </a:p>
          <a:p/>
          <a:p>
            <a:r>
              <a:t>C55 · 128.862–131.034s · Zoho Desk unavailable or lookup failed</a:t>
            </a:r>
          </a:p>
          <a:p/>
          <a:p>
            <a:r>
              <a:t>C56 · 131.462–133.904s · Show an error / unavailable state</a:t>
            </a:r>
          </a:p>
          <a:p/>
          <a:p>
            <a:r>
              <a:t>C57 · 134.192–136.077s · Do not report no tickets found</a:t>
            </a:r>
          </a:p>
          <a:p/>
          <a:p>
            <a:r>
              <a:t>C58 · 136.607–137.304s · In either condition</a:t>
            </a:r>
          </a:p>
          <a:p/>
          <a:p>
            <a:r>
              <a:t>C59 · 137.516–138.695s · The call continues</a:t>
            </a:r>
          </a:p>
          <a:p/>
          <a:p>
            <a:r>
              <a:t>C60 · 138.974–141.328s · Keep the usual follow-up route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C61 · 142.327–143.156s · Implementation transition (short ASR uncertain)</a:t>
            </a:r>
          </a:p>
          <a:p/>
          <a:p>
            <a:r>
              <a:t>C62 · 143.633–146.966s · Review contracted screen pop / integration</a:t>
            </a:r>
          </a:p>
          <a:p/>
          <a:p>
            <a:r>
              <a:t>C63 · 147.218–150.431s · Inspect actual Genesys and Desk configuration</a:t>
            </a:r>
          </a:p>
          <a:p/>
          <a:p>
            <a:r>
              <a:t>C64 · 150.889–153.537s · Use native features if sufficient</a:t>
            </a:r>
          </a:p>
          <a:p/>
          <a:p>
            <a:r>
              <a:t>C65 · 153.728–154.215s · Use the suitable native configuration</a:t>
            </a:r>
          </a:p>
          <a:p/>
          <a:p>
            <a:r>
              <a:t>C66 · 154.688–155.918s · If there is a real gap</a:t>
            </a:r>
          </a:p>
          <a:p/>
          <a:p>
            <a:r>
              <a:t>C67 · 156.163–158.247s · Smallest necessary approved integration layer</a:t>
            </a:r>
          </a:p>
          <a:p/>
          <a:p>
            <a:r>
              <a:t>C68 · 158.674–159.521s · In every case</a:t>
            </a:r>
          </a:p>
          <a:p/>
          <a:p>
            <a:r>
              <a:t>C69 · 159.699–161.094s · Preserve permissions</a:t>
            </a:r>
          </a:p>
          <a:p/>
          <a:p>
            <a:r>
              <a:t>C70 · 161.375–164.971s · Call arrival does not change ticket status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The observation sheet contains measurement methods only: interactions, time to accurate usable context, matching, permissions and exception handling. No measured savings, percentages or fabricated baseline/results. Validate permissions as well as shared/unknown numbers and availability before valuing the proposal.</a:t>
            </a:r>
          </a:p>
          <a:p/>
          <a:p>
            <a:r>
              <a:t>C71 · 165.313–166.773s · How will we know it works?</a:t>
            </a:r>
          </a:p>
          <a:p/>
          <a:p>
            <a:r>
              <a:t>C72 · 167.251–169.087s · A good-looking animation is insufficient</a:t>
            </a:r>
          </a:p>
          <a:p/>
          <a:p>
            <a:r>
              <a:t>C73 · 169.660–172.204s · Authorized pilot test calls</a:t>
            </a:r>
          </a:p>
          <a:p/>
          <a:p>
            <a:r>
              <a:t>C74 · 172.483–175.059s · Compare manual and proposed workflows</a:t>
            </a:r>
          </a:p>
          <a:p/>
          <a:p>
            <a:r>
              <a:t>C75 · 175.652–179.741s · Measure interactions and time to correct context</a:t>
            </a:r>
          </a:p>
          <a:p/>
          <a:p>
            <a:r>
              <a:t>C76 · 180.146–181.076s · Matching accuracy</a:t>
            </a:r>
          </a:p>
          <a:p/>
          <a:p>
            <a:r>
              <a:t>C77 · 181.349–183.634s · Shared numbers and errors</a:t>
            </a:r>
          </a:p>
          <a:p/>
          <a:p>
            <a:r>
              <a:t>C78 · 184.169–185.331s · When results are available</a:t>
            </a:r>
          </a:p>
          <a:p/>
          <a:p>
            <a:r>
              <a:t>C79 · 185.554–187.901s · Establish the actual value for Concrete</a:t>
            </a:r>
          </a:p>
          <a:p/>
          <a:p>
            <a:r>
              <a:t>C80 · 188.221–189.320s · A sound first step</a:t>
            </a:r>
          </a:p>
          <a:p/>
          <a:p>
            <a:r>
              <a:t>C81 · 189.786–191.311s · A testable experience</a:t>
            </a:r>
          </a:p>
          <a:p/>
          <a:p>
            <a:r>
              <a:t>C82 · 191.615–193.679s · Built on the existing systems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No-match successful lookup and unavailable/error are distinct. During an actual Desk outage, manual Desk search is not guaranteed; the call and agreed usual follow-up procedure continue. Retry is illustrated, not performed or promised successful.</a:t>
            </a:r>
          </a:p>
          <a:p/>
          <a:p>
            <a:r>
              <a:t>C49 · 117.093–119.422s · Two different fallback conditions</a:t>
            </a:r>
          </a:p>
          <a:p/>
          <a:p>
            <a:r>
              <a:t>C50 · 119.955–120.517s · First condition</a:t>
            </a:r>
          </a:p>
          <a:p/>
          <a:p>
            <a:r>
              <a:t>C51 · 120.846–121.652s · Lookup completed</a:t>
            </a:r>
          </a:p>
          <a:p/>
          <a:p>
            <a:r>
              <a:t>C52 · 121.852–123.612s · No matching customer record</a:t>
            </a:r>
          </a:p>
          <a:p/>
          <a:p>
            <a:r>
              <a:t>C53 · 123.982–127.541s · Existing manual search procedure</a:t>
            </a:r>
          </a:p>
          <a:p/>
          <a:p>
            <a:r>
              <a:t>C54 · 128.022–128.558s · Second condition</a:t>
            </a:r>
          </a:p>
          <a:p/>
          <a:p>
            <a:r>
              <a:t>C55 · 128.862–131.034s · Zoho Desk unavailable or lookup failed</a:t>
            </a:r>
          </a:p>
          <a:p/>
          <a:p>
            <a:r>
              <a:t>C56 · 131.462–133.904s · Show an error / unavailable state</a:t>
            </a:r>
          </a:p>
          <a:p/>
          <a:p>
            <a:r>
              <a:t>C57 · 134.192–136.077s · Do not report no tickets found</a:t>
            </a:r>
          </a:p>
          <a:p/>
          <a:p>
            <a:r>
              <a:t>C58 · 136.607–137.304s · In either condition</a:t>
            </a:r>
          </a:p>
          <a:p/>
          <a:p>
            <a:r>
              <a:t>C59 · 137.516–138.695s · The call continues</a:t>
            </a:r>
          </a:p>
          <a:p/>
          <a:p>
            <a:r>
              <a:t>C60 · 138.974–141.328s · Keep the usual follow-up route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separate illustrative call/context composition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History is hidden during C43–C47. After the selection/verification phrase ends, the illustrative permitted Contact A history is disclosed. No automatic candidate selection or identity-authentication badge.</a:t>
            </a:r>
          </a:p>
          <a:p/>
          <a:p>
            <a:r>
              <a:t>C43 · 94.098–97.381s · One number, multiple customers</a:t>
            </a:r>
          </a:p>
          <a:p/>
          <a:p>
            <a:r>
              <a:t>C44 · 97.969–102.387s · Do not automatically choose and expose history</a:t>
            </a:r>
          </a:p>
          <a:p/>
          <a:p>
            <a:r>
              <a:t>C45 · 102.777–105.249s · Possible matches</a:t>
            </a:r>
          </a:p>
          <a:p/>
          <a:p>
            <a:r>
              <a:t>C46 · 105.559–107.698s · Review permitted information</a:t>
            </a:r>
          </a:p>
          <a:p/>
          <a:p>
            <a:r>
              <a:t>C47 · 108.064–111.391s · Select after agreed verification steps</a:t>
            </a:r>
          </a:p>
          <a:p/>
          <a:p>
            <a:r>
              <a:t>C48 · 111.873–116.654s · Speed without compromising accuracy or privacy</a:t>
            </a:r>
          </a:p>
          <a:p/>
          <a:p>
            <a:r>
              <a:t>SOURCES (PDF pages):</a:t>
            </a:r>
          </a:p>
          <a:p/>
          <a:p>
            <a:r>
              <a:t>Customer report in this conversation —  — Manual phone search retrieves prior tickets; automatic call context reportedly absent. Not independently verified.</a:t>
            </a:r>
          </a:p>
          <a:p/>
          <a:p>
            <a:r>
              <a:t>Concrete contract (29-11-2023).pdf — 4 — CRM URL pop up integration. Contracted scope is not evidence of live operation.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Ten pages: eight principal scenes plus no-match and selected-record reference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audio" Target="../media/grindctrl-part02-voiceover-ar.mp3"/><Relationship Id="rId13" Type="http://schemas.microsoft.com/office/2007/relationships/media" Target="../media/grindctrl-part02-voiceover-ar.mp3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2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2.png"/><Relationship Id="rId10" Type="http://schemas.openxmlformats.org/officeDocument/2006/relationships/image" Target="../media/image8.png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9.pn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0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1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The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Inside the workflow. One call, in detail.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543300" y="2390775"/>
            <a:ext cx="409575" cy="4095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1598" y="2489073"/>
            <a:ext cx="212979" cy="212979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124325" y="2371725"/>
            <a:ext cx="7143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Contact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4325" y="2781300"/>
            <a:ext cx="27622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Associated customer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2825" y="2771775"/>
            <a:ext cx="33337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+20 ••• 410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43300" y="3228975"/>
            <a:ext cx="7981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43300" y="3381375"/>
            <a:ext cx="2952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tickets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86150" y="3781425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-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0" y="3924300"/>
            <a:ext cx="228600" cy="228600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3981450" y="3895725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9500" y="4314825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9675" y="4314825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86150" y="4781550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-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0" y="4924425"/>
            <a:ext cx="228600" cy="228600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3981450" y="4895850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T098 · Size query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9500" y="5314950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Closed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9675" y="5314950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38925" y="3381375"/>
            <a:ext cx="0" cy="25241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86575" y="3390900"/>
            <a:ext cx="45434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6575" y="3829050"/>
            <a:ext cx="9525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6575" y="4124325"/>
            <a:ext cx="1524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8725" y="3829050"/>
            <a:ext cx="2362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Assigned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8725" y="4124325"/>
            <a:ext cx="23622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67525" y="4648200"/>
            <a:ext cx="4543425" cy="1266825"/>
          </a:xfrm>
          <a:prstGeom prst="roundRect">
            <a:avLst>
              <a:gd name="adj" fmla="val 526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con-fi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8975" y="4819650"/>
            <a:ext cx="228600" cy="228600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7400925" y="4800600"/>
            <a:ext cx="37338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965318"/>
                </a:solidFill>
                <a:latin typeface="Manrope"/>
              </a:rPr>
              <a:t>Latest recorded note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8975" y="5210175"/>
            <a:ext cx="413385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Branch review is still pending.</a:t>
            </a:r>
          </a:p>
        </p:txBody>
      </p:sp>
      <p:pic>
        <p:nvPicPr>
          <p:cNvPr id="61" name="Original Arabic narration — 194 seconds" descr="icon-mic.png">
            <a:hlinkClick action="ppaction://media" r:id=""/>
          </p:cNvPr>
          <p:cNvPicPr>
            <a:picLocks noChangeAspect="1"/>
          </p:cNvPicPr>
          <p:nvPr>
            <a:audioFile r:link="rId12"/>
            <p:extLst>
              <p:ext uri="{DAA4B4D4-6D71-4841-9C94-3DE7FCFB45AD}">
                <p14:media xmlns:p14="http://schemas.microsoft.com/office/powerpoint/2010/main" r:embed="rId1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7275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8" showWhenStopped="1">
                <p:cTn id="4" dur="194000" fill="hold" nodeType="withEffect">
                  <p:stCondLst>
                    <p:cond delay="0"/>
                  </p:st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Caller number →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The caller number starts a lookup.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Lookup · Proposed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2571750"/>
            <a:ext cx="285750" cy="285750"/>
          </a:xfrm>
          <a:prstGeom prst="rect">
            <a:avLst/>
          </a:prstGeom>
          <a:effectLst/>
        </p:spPr>
      </p:pic>
      <p:sp>
        <p:nvSpPr>
          <p:cNvPr id="35" name="Rounded Rectangle 34"/>
          <p:cNvSpPr/>
          <p:nvPr/>
        </p:nvSpPr>
        <p:spPr>
          <a:xfrm>
            <a:off x="3562350" y="2571750"/>
            <a:ext cx="7943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2375" y="2800350"/>
            <a:ext cx="266700" cy="266700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4210050" y="2743200"/>
            <a:ext cx="40576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5800" y="2800350"/>
            <a:ext cx="29241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965318"/>
                </a:solidFill>
                <a:latin typeface="Manrope"/>
              </a:rPr>
              <a:t>Lookup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450" y="3533775"/>
            <a:ext cx="74866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Existing Zoho Desk customer records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81400" y="4019550"/>
            <a:ext cx="3486150" cy="68580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91450" y="4019550"/>
            <a:ext cx="3695700" cy="68580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71900" y="4229100"/>
            <a:ext cx="31051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en-US">
                <a:solidFill>
                  <a:srgbClr val="262626"/>
                </a:solidFill>
                <a:latin typeface="Manrope"/>
              </a:rPr>
              <a:t>0••• 410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1950" y="4229100"/>
            <a:ext cx="33147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91375" y="4362450"/>
            <a:ext cx="466725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600450" y="4867275"/>
            <a:ext cx="77533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Illustrative equivalent formats · Matching rules to validate</a:t>
            </a:r>
          </a:p>
        </p:txBody>
      </p:sp>
      <p:pic>
        <p:nvPicPr>
          <p:cNvPr id="46" name="Picture 45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0450" y="5476875"/>
            <a:ext cx="257175" cy="257175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4038600" y="5457825"/>
            <a:ext cx="7286625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A number association does not verify identity.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What the employee sees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The relevant context, beside the call.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543300" y="2390775"/>
            <a:ext cx="409575" cy="4095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1598" y="2489073"/>
            <a:ext cx="212979" cy="212979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124325" y="2371725"/>
            <a:ext cx="7143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Contact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4325" y="2781300"/>
            <a:ext cx="27622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Associated customer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2825" y="2771775"/>
            <a:ext cx="33337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+20 ••• 410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43300" y="3228975"/>
            <a:ext cx="7981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875" y="2428875"/>
            <a:ext cx="209550" cy="209550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10344150" y="2390775"/>
            <a:ext cx="1076325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Permitted</a:t>
            </a:r>
          </a:p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3300" y="3381375"/>
            <a:ext cx="2952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tickets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86150" y="3781425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-c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500" y="3924300"/>
            <a:ext cx="228600" cy="228600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3981450" y="3895725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9500" y="4314825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9675" y="4314825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86150" y="4781550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con-c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9500" y="4924425"/>
            <a:ext cx="228600" cy="22860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3981450" y="4895850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T098 · Size query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9500" y="5314950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Closed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19675" y="5314950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638925" y="3381375"/>
            <a:ext cx="0" cy="25241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86575" y="3390900"/>
            <a:ext cx="45434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6575" y="3829050"/>
            <a:ext cx="9525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6575" y="4124325"/>
            <a:ext cx="1524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8725" y="3829050"/>
            <a:ext cx="2362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Assigned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48725" y="4124325"/>
            <a:ext cx="23622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67525" y="4648200"/>
            <a:ext cx="4543425" cy="1266825"/>
          </a:xfrm>
          <a:prstGeom prst="roundRect">
            <a:avLst>
              <a:gd name="adj" fmla="val 526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fi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8975" y="4819650"/>
            <a:ext cx="228600" cy="22860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7400925" y="4800600"/>
            <a:ext cx="37338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965318"/>
                </a:solidFill>
                <a:latin typeface="Manrope"/>
              </a:rPr>
              <a:t>Latest recorded note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38975" y="5210175"/>
            <a:ext cx="413385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Branch review is still pending.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Exchange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T101: read the note, keep the status clear.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Ticket T101 · Read-only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icon-c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2543175"/>
            <a:ext cx="266700" cy="26670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029075" y="2486025"/>
            <a:ext cx="72104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en-US">
                <a:solidFill>
                  <a:srgbClr val="262626"/>
                </a:solidFill>
                <a:latin typeface="Manrope"/>
              </a:rPr>
              <a:t>T101 · Exchange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450" y="2971800"/>
            <a:ext cx="75342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Contact A · Existing exchange follow-up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81400" y="3419475"/>
            <a:ext cx="78962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00450" y="3609975"/>
            <a:ext cx="25336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Ticket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450" y="3943350"/>
            <a:ext cx="25336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9900" y="3609975"/>
            <a:ext cx="4248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9900" y="3943350"/>
            <a:ext cx="42481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1400" y="4572000"/>
            <a:ext cx="7905750" cy="1285875"/>
          </a:xfrm>
          <a:prstGeom prst="roundRect">
            <a:avLst>
              <a:gd name="adj" fmla="val 5925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con-fi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1425" y="4762500"/>
            <a:ext cx="238125" cy="238125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4210050" y="4733925"/>
            <a:ext cx="694372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965318"/>
                </a:solidFill>
                <a:latin typeface="Manrope"/>
              </a:rPr>
              <a:t>Latest recorded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425" y="5219700"/>
            <a:ext cx="7372350" cy="4476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en-US">
                <a:solidFill>
                  <a:srgbClr val="262626"/>
                </a:solidFill>
                <a:latin typeface="Manrope"/>
              </a:rPr>
              <a:t>Branch review is still pending.</a:t>
            </a:r>
          </a:p>
        </p:txBody>
      </p:sp>
      <p:pic>
        <p:nvPicPr>
          <p:cNvPr id="46" name="Picture 45" descr="icon-spee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9850" y="2552700"/>
            <a:ext cx="304800" cy="304800"/>
          </a:xfrm>
          <a:prstGeom prst="rect">
            <a:avLst/>
          </a:prstGeom>
          <a:effectLst/>
        </p:spPr>
      </p:pic>
      <p:cxnSp>
        <p:nvCxnSpPr>
          <p:cNvPr id="47" name="Connector 46"/>
          <p:cNvCxnSpPr/>
          <p:nvPr/>
        </p:nvCxnSpPr>
        <p:spPr>
          <a:xfrm>
            <a:off x="2905125" y="2695575"/>
            <a:ext cx="333375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Ambiguity and human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One number. Two possible records.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Record choice · Proposed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450" y="2524125"/>
            <a:ext cx="77533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More than one possible customer</a:t>
            </a:r>
          </a:p>
        </p:txBody>
      </p:sp>
      <p:pic>
        <p:nvPicPr>
          <p:cNvPr id="35" name="Picture 34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0450" y="3162300"/>
            <a:ext cx="247650" cy="24765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029075" y="3133725"/>
            <a:ext cx="721995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Ticket history stays hidden until selection.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81400" y="3714750"/>
            <a:ext cx="7896225" cy="647700"/>
          </a:xfrm>
          <a:prstGeom prst="roundRect">
            <a:avLst>
              <a:gd name="adj" fmla="val 882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743325" y="3848100"/>
            <a:ext cx="381000" cy="3810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4765" y="3939540"/>
            <a:ext cx="198120" cy="198120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286250" y="3867150"/>
            <a:ext cx="3162300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Contact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905250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1400" y="4495800"/>
            <a:ext cx="7896225" cy="647700"/>
          </a:xfrm>
          <a:prstGeom prst="roundRect">
            <a:avLst>
              <a:gd name="adj" fmla="val 882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43325" y="4629150"/>
            <a:ext cx="381000" cy="3810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con-act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4765" y="4720590"/>
            <a:ext cx="198120" cy="198120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4286250" y="4648200"/>
            <a:ext cx="3162300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Contact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686300"/>
            <a:ext cx="30099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pic>
        <p:nvPicPr>
          <p:cNvPr id="47" name="Picture 46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500" y="5524500"/>
            <a:ext cx="228600" cy="228600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4010025" y="5505450"/>
            <a:ext cx="73342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965318"/>
                </a:solidFill>
                <a:latin typeface="Manrope"/>
              </a:rPr>
              <a:t>Use the agreed verification steps before choosing.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No match ≠ lookup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Different results. The call continues.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Lookup result · Proposed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450" y="2524125"/>
            <a:ext cx="769620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Lookup result for +20 ••• 410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81400" y="3105150"/>
            <a:ext cx="79057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icon-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2850" y="3486150"/>
            <a:ext cx="409575" cy="4095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4381500" y="3429000"/>
            <a:ext cx="677227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965318"/>
                </a:solidFill>
                <a:latin typeface="Manrope"/>
              </a:rPr>
              <a:t>Lookup could not 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2850" y="4067175"/>
            <a:ext cx="758190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262626"/>
                </a:solidFill>
                <a:latin typeface="Manrope"/>
              </a:rPr>
              <a:t>Lookup unavailable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2850" y="4638675"/>
            <a:ext cx="75819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An availability error. Not an empty ticket list.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52850" y="5238750"/>
            <a:ext cx="1905000" cy="523875"/>
          </a:xfrm>
          <a:prstGeom prst="roundRect">
            <a:avLst>
              <a:gd name="adj" fmla="val 9090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-retr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5250" y="5381625"/>
            <a:ext cx="219075" cy="21907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4286250" y="5353050"/>
            <a:ext cx="12001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Retry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2650" y="5257800"/>
            <a:ext cx="5381625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Keep the usual follow-up route.</a:t>
            </a:r>
          </a:p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Manual search when available.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0075" y="4619625"/>
            <a:ext cx="2362200" cy="5810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Implementation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Inspect first. Use the smallest supported change.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76400"/>
            <a:ext cx="3362325" cy="4057650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945388"/>
            <a:ext cx="1247775" cy="243073"/>
          </a:xfrm>
          <a:prstGeom prst="rect">
            <a:avLst/>
          </a:prstGeom>
          <a:effectLst/>
        </p:spPr>
      </p:pic>
      <p:pic>
        <p:nvPicPr>
          <p:cNvPr id="11" name="Picture 10" descr="zo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996" y="1943100"/>
            <a:ext cx="620684" cy="266700"/>
          </a:xfrm>
          <a:prstGeom prst="rect">
            <a:avLst/>
          </a:prstGeom>
          <a:effectLst/>
        </p:spPr>
      </p:pic>
      <p:pic>
        <p:nvPicPr>
          <p:cNvPr id="12" name="Picture 11" descr="icon-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43175"/>
            <a:ext cx="361950" cy="3619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714375" y="3067050"/>
            <a:ext cx="2857500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en-US">
                <a:solidFill>
                  <a:srgbClr val="262626"/>
                </a:solidFill>
                <a:latin typeface="Manrope"/>
              </a:rPr>
              <a:t>Inspect the</a:t>
            </a:r>
          </a:p>
          <a:p>
            <a:pPr algn="l" rtl="0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en-US">
                <a:solidFill>
                  <a:srgbClr val="262626"/>
                </a:solidFill>
                <a:latin typeface="Manrope"/>
              </a:rPr>
              <a:t>existing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7225" y="4048125"/>
            <a:ext cx="2943225" cy="1181100"/>
          </a:xfrm>
          <a:prstGeom prst="roundRect">
            <a:avLst>
              <a:gd name="adj" fmla="val 6451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725" y="4219575"/>
            <a:ext cx="2552700" cy="752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“CRM URL pop up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integration”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5343525"/>
            <a:ext cx="28765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2023 contract · p.4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29050" y="3705225"/>
            <a:ext cx="381000" cy="0"/>
          </a:xfrm>
          <a:prstGeom prst="line">
            <a:avLst/>
          </a:prstGeom>
          <a:ln w="19050">
            <a:solidFill>
              <a:srgbClr val="9653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10050" y="2676525"/>
            <a:ext cx="0" cy="1962150"/>
          </a:xfrm>
          <a:prstGeom prst="line">
            <a:avLst/>
          </a:prstGeom>
          <a:ln w="19050">
            <a:solidFill>
              <a:srgbClr val="9653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10050" y="2676525"/>
            <a:ext cx="333375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10050" y="4638675"/>
            <a:ext cx="333375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19625" y="1990725"/>
            <a:ext cx="4086225" cy="14859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2190750"/>
            <a:ext cx="304800" cy="30480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5314950" y="2190750"/>
            <a:ext cx="3152775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Native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8700" y="2762250"/>
            <a:ext cx="3609975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Use it if it supports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the required experience.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9625" y="3943350"/>
            <a:ext cx="4086225" cy="14859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4143375"/>
            <a:ext cx="304800" cy="30480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5314950" y="4143375"/>
            <a:ext cx="3152775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Minimal approved adapter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8700" y="4714875"/>
            <a:ext cx="3609975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Only for a verified gap.</a:t>
            </a:r>
          </a:p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Supported mechanisms only.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4950" y="1990725"/>
            <a:ext cx="2609850" cy="3438525"/>
          </a:xfrm>
          <a:prstGeom prst="roundRect">
            <a:avLst>
              <a:gd name="adj" fmla="val 328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4025" y="2209800"/>
            <a:ext cx="295275" cy="2952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9344025" y="2714625"/>
            <a:ext cx="2152650" cy="638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Permissions</a:t>
            </a:r>
          </a:p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preserved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4025" y="3571875"/>
            <a:ext cx="21717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icon-c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4025" y="3800475"/>
            <a:ext cx="247650" cy="2476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9753600" y="3762375"/>
            <a:ext cx="172402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T101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4025" y="4248150"/>
            <a:ext cx="21526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49654E"/>
                </a:solidFill>
                <a:latin typeface="Manrope"/>
              </a:rPr>
              <a:t>Status stays Open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4025" y="4714875"/>
            <a:ext cx="2152650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Call arrival does</a:t>
            </a:r>
          </a:p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not write to tickets.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53125"/>
            <a:ext cx="112776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965318"/>
                </a:solidFill>
                <a:latin typeface="Manrope"/>
              </a:rPr>
              <a:t>Read-only first scope · Actual display and configuration to validate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Pilot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Prove the value with authorized test calls.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7350"/>
            <a:ext cx="53816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68645E"/>
                </a:solidFill>
                <a:latin typeface="Manrope"/>
              </a:rPr>
              <a:t>Current manual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5025"/>
            <a:ext cx="5391150" cy="213360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87670"/>
            <a:ext cx="1009650" cy="196685"/>
          </a:xfrm>
          <a:prstGeom prst="rect">
            <a:avLst/>
          </a:prstGeom>
          <a:effectLst/>
        </p:spPr>
      </p:pic>
      <p:pic>
        <p:nvPicPr>
          <p:cNvPr id="12" name="Picture 11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2286000"/>
            <a:ext cx="228600" cy="22860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2314575" y="2257425"/>
            <a:ext cx="33242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724150"/>
            <a:ext cx="53911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zo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30" y="2905125"/>
            <a:ext cx="532015" cy="228600"/>
          </a:xfrm>
          <a:prstGeom prst="rect">
            <a:avLst/>
          </a:prstGeom>
          <a:effectLst/>
        </p:spPr>
      </p:pic>
      <p:sp>
        <p:nvSpPr>
          <p:cNvPr id="16" name="Rounded Rectangle 15"/>
          <p:cNvSpPr/>
          <p:nvPr/>
        </p:nvSpPr>
        <p:spPr>
          <a:xfrm>
            <a:off x="1371600" y="2857500"/>
            <a:ext cx="4267200" cy="542925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75" y="3009900"/>
            <a:ext cx="228600" cy="22860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905000" y="2962275"/>
            <a:ext cx="32480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pic>
        <p:nvPicPr>
          <p:cNvPr id="19" name="Picture 18" descr="icon-poin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4475" y="3219450"/>
            <a:ext cx="285750" cy="285750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371600" y="3609975"/>
            <a:ext cx="425767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Find Contact A → Open T101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650" y="1657350"/>
            <a:ext cx="53816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49654E"/>
                </a:solidFill>
                <a:latin typeface="Manrope"/>
              </a:rPr>
              <a:t>Proposed caller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3650" y="2105025"/>
            <a:ext cx="5391150" cy="213360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287670"/>
            <a:ext cx="1009650" cy="196685"/>
          </a:xfrm>
          <a:prstGeom prst="rect">
            <a:avLst/>
          </a:prstGeom>
          <a:effectLst/>
        </p:spPr>
      </p:pic>
      <p:pic>
        <p:nvPicPr>
          <p:cNvPr id="24" name="Picture 2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925" y="2286000"/>
            <a:ext cx="228600" cy="22860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8201025" y="2257425"/>
            <a:ext cx="33242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43650" y="2724150"/>
            <a:ext cx="53911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zo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080" y="2905125"/>
            <a:ext cx="532015" cy="22860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7258050" y="2895600"/>
            <a:ext cx="42576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5100" y="3390900"/>
            <a:ext cx="5048250" cy="666750"/>
          </a:xfrm>
          <a:prstGeom prst="roundRect">
            <a:avLst>
              <a:gd name="adj" fmla="val 71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3571875"/>
            <a:ext cx="219075" cy="2190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7019925" y="3533775"/>
            <a:ext cx="428625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Branch review is still pending.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62450"/>
            <a:ext cx="11277600" cy="17621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476750"/>
            <a:ext cx="770572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Pilot observation 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9175" y="4505325"/>
            <a:ext cx="2857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965318"/>
                </a:solidFill>
                <a:latin typeface="Manrope"/>
              </a:rPr>
              <a:t>To measure during pilot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4895850"/>
            <a:ext cx="108108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icon-c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5057775"/>
            <a:ext cx="219075" cy="2190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1104900" y="5048250"/>
            <a:ext cx="78486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Manual interactions · Time to correct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5950" y="5048250"/>
            <a:ext cx="19621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To measure</a:t>
            </a:r>
          </a:p>
        </p:txBody>
      </p:sp>
      <p:pic>
        <p:nvPicPr>
          <p:cNvPr id="39" name="Picture 38" descr="icon-qual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5419725"/>
            <a:ext cx="219075" cy="2190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104900" y="5410200"/>
            <a:ext cx="78486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Correct matching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5950" y="5410200"/>
            <a:ext cx="19621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To measure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5781675"/>
            <a:ext cx="219075" cy="2190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1104900" y="5772150"/>
            <a:ext cx="78486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Shared / unknown numbers · Permissions · Errors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5950" y="5772150"/>
            <a:ext cx="19621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To measure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15075" y="2076450"/>
            <a:ext cx="5448300" cy="21907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No match ≠ lookup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completed lookup with no matching customer.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Lookup result · Proposed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450" y="2524125"/>
            <a:ext cx="769620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Lookup result for +20 ••• 410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81400" y="3105150"/>
            <a:ext cx="79057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2850" y="3486150"/>
            <a:ext cx="409575" cy="4095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4381500" y="3429000"/>
            <a:ext cx="677227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Lookup completed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2850" y="4067175"/>
            <a:ext cx="758190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688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en-US">
                <a:solidFill>
                  <a:srgbClr val="262626"/>
                </a:solidFill>
                <a:latin typeface="Manrope"/>
              </a:rPr>
              <a:t>No matching customer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2850" y="4638675"/>
            <a:ext cx="75819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Use the existing manual-search procedure.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52850" y="5238750"/>
            <a:ext cx="2647950" cy="523875"/>
          </a:xfrm>
          <a:prstGeom prst="roundRect">
            <a:avLst>
              <a:gd name="adj" fmla="val 9090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4775" y="5381625"/>
            <a:ext cx="219075" cy="21907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4305300" y="5353050"/>
            <a:ext cx="197167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Manual search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02 · Ambiguity and human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After verification and employee selection.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Illustrative proposed workflow · Fictional records · Display surface subject to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647950" cy="455295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785999"/>
            <a:ext cx="1123950" cy="2189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028825" y="17811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2647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6750" y="2476500"/>
            <a:ext cx="666750" cy="6667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57475"/>
            <a:ext cx="304800" cy="304800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666750" y="3390900"/>
            <a:ext cx="22288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Incoming caller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829050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4200525"/>
            <a:ext cx="2228850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+20 ••• 410</a:t>
            </a:r>
          </a:p>
        </p:txBody>
      </p:sp>
      <p:sp>
        <p:nvSpPr>
          <p:cNvPr id="19" name="Oval 18"/>
          <p:cNvSpPr/>
          <p:nvPr/>
        </p:nvSpPr>
        <p:spPr>
          <a:xfrm>
            <a:off x="676275" y="4800600"/>
            <a:ext cx="85725" cy="85725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775" y="4714875"/>
            <a:ext cx="202882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5114925"/>
            <a:ext cx="2228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Assigned to an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66675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695950"/>
            <a:ext cx="190500" cy="190500"/>
          </a:xfrm>
          <a:prstGeom prst="rect">
            <a:avLst/>
          </a:prstGeom>
          <a:effectLst/>
        </p:spPr>
      </p:pic>
      <p:sp>
        <p:nvSpPr>
          <p:cNvPr id="24" name="Oval 23"/>
          <p:cNvSpPr/>
          <p:nvPr/>
        </p:nvSpPr>
        <p:spPr>
          <a:xfrm>
            <a:off x="1247775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50" y="569595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828800" y="559117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575" y="5695950"/>
            <a:ext cx="190500" cy="190500"/>
          </a:xfrm>
          <a:prstGeom prst="rect">
            <a:avLst/>
          </a:prstGeom>
          <a:effectLst/>
        </p:spPr>
      </p:pic>
      <p:sp>
        <p:nvSpPr>
          <p:cNvPr id="28" name="Rounded Rectangle 27"/>
          <p:cNvSpPr/>
          <p:nvPr/>
        </p:nvSpPr>
        <p:spPr>
          <a:xfrm>
            <a:off x="3333750" y="16383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3750" y="1600200"/>
            <a:ext cx="840105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zo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50" y="1762460"/>
            <a:ext cx="619125" cy="26603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4324350" y="1762125"/>
            <a:ext cx="1809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Zoho 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300" y="1781175"/>
            <a:ext cx="52863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Record choice · Proposed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33750" y="2190750"/>
            <a:ext cx="84010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543300" y="2390775"/>
            <a:ext cx="409575" cy="4095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1598" y="2489073"/>
            <a:ext cx="212979" cy="212979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124325" y="2371725"/>
            <a:ext cx="7143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Contact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24325" y="2781300"/>
            <a:ext cx="27622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Associated customer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2825" y="2771775"/>
            <a:ext cx="33337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+20 ••• 410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43300" y="3228975"/>
            <a:ext cx="798195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43300" y="3381375"/>
            <a:ext cx="295275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tickets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86150" y="3781425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con-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0" y="3924300"/>
            <a:ext cx="228600" cy="228600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3981450" y="3895725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9500" y="4314825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9675" y="4314825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86150" y="4781550"/>
            <a:ext cx="296227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-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0" y="4924425"/>
            <a:ext cx="228600" cy="228600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3981450" y="4895850"/>
            <a:ext cx="22860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T098 · Size query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9500" y="5314950"/>
            <a:ext cx="10858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Closed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9675" y="5314950"/>
            <a:ext cx="12001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638925" y="3381375"/>
            <a:ext cx="0" cy="25241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86575" y="3390900"/>
            <a:ext cx="45434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T101 · Exchange follow-up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6575" y="3829050"/>
            <a:ext cx="9525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6575" y="4124325"/>
            <a:ext cx="1524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49654E"/>
                </a:solidFill>
                <a:latin typeface="Manrope"/>
              </a:rPr>
              <a:t>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8725" y="3829050"/>
            <a:ext cx="2362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Assigned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8725" y="4124325"/>
            <a:ext cx="23622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67525" y="4648200"/>
            <a:ext cx="4543425" cy="1266825"/>
          </a:xfrm>
          <a:prstGeom prst="roundRect">
            <a:avLst>
              <a:gd name="adj" fmla="val 526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con-fi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8975" y="4819650"/>
            <a:ext cx="228600" cy="228600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7400925" y="4800600"/>
            <a:ext cx="37338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965318"/>
                </a:solidFill>
                <a:latin typeface="Manrope"/>
              </a:rPr>
              <a:t>Latest recorded note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8975" y="5210175"/>
            <a:ext cx="4133850" cy="647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Branch review is still pending.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Concrete — Part 02: Inside the workflow</dc:title>
  <dc:subject>Reported caller-context gap: Genesys call assignment and Zoho Desk ticket lookup. Proposed workflow; fictional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